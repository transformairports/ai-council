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C6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60120"/>
            <a:ext cx="10545775" cy="457200"/>
          </a:xfrm>
          <a:prstGeom prst="rect">
            <a:avLst/>
          </a:prstGeom>
          <a:noFill/>
        </p:spPr>
        <p:txBody>
          <a:bodyPr wrap="square" lIns="0" rIns="0" tIns="0" bIns="0">
            <a:spAutoFit/>
          </a:bodyPr>
          <a:lstStyle/>
          <a:p>
            <a:pPr algn="l">
              <a:lnSpc>
                <a:spcPct val="105000"/>
              </a:lnSpc>
              <a:spcBef>
                <a:spcPts val="0"/>
              </a:spcBef>
              <a:spcAft>
                <a:spcPts val="0"/>
              </a:spcAft>
            </a:pPr>
            <a:r>
              <a:rPr sz="1400" b="1" i="0" spc="240">
                <a:solidFill>
                  <a:srgbClr val="E7ECF2"/>
                </a:solidFill>
                <a:latin typeface="Calibri"/>
              </a:rPr>
              <a:t>METROPOLITAN WASHINGTON AIRPORTS AUTHORITY</a:t>
            </a:r>
          </a:p>
        </p:txBody>
      </p:sp>
      <p:sp>
        <p:nvSpPr>
          <p:cNvPr id="4" name="TextBox 3"/>
          <p:cNvSpPr txBox="1"/>
          <p:nvPr/>
        </p:nvSpPr>
        <p:spPr>
          <a:xfrm>
            <a:off x="822960" y="1965960"/>
            <a:ext cx="10545775" cy="2377440"/>
          </a:xfrm>
          <a:prstGeom prst="rect">
            <a:avLst/>
          </a:prstGeom>
          <a:noFill/>
        </p:spPr>
        <p:txBody>
          <a:bodyPr wrap="square" lIns="0" rIns="0" tIns="0" bIns="0">
            <a:spAutoFit/>
          </a:bodyPr>
          <a:lstStyle/>
          <a:p>
            <a:pPr algn="l">
              <a:lnSpc>
                <a:spcPct val="100000"/>
              </a:lnSpc>
              <a:spcBef>
                <a:spcPts val="0"/>
              </a:spcBef>
              <a:spcAft>
                <a:spcPts val="800"/>
              </a:spcAft>
            </a:pPr>
            <a:r>
              <a:rPr sz="5200" b="1" i="0">
                <a:solidFill>
                  <a:srgbClr val="FFFFFF"/>
                </a:solidFill>
                <a:latin typeface="Georgia"/>
              </a:rPr>
              <a:t>From Compliance to Capability</a:t>
            </a:r>
          </a:p>
          <a:p>
            <a:pPr algn="l">
              <a:lnSpc>
                <a:spcPct val="105000"/>
              </a:lnSpc>
              <a:spcBef>
                <a:spcPts val="0"/>
              </a:spcBef>
              <a:spcAft>
                <a:spcPts val="0"/>
              </a:spcAft>
            </a:pPr>
            <a:r>
              <a:rPr sz="2600" b="0" i="1">
                <a:solidFill>
                  <a:srgbClr val="E7ECF2"/>
                </a:solidFill>
                <a:latin typeface="Georgia"/>
              </a:rPr>
              <a:t>A Strategic Review of the MWAA Contracting Manual</a:t>
            </a:r>
          </a:p>
        </p:txBody>
      </p:sp>
      <p:sp>
        <p:nvSpPr>
          <p:cNvPr id="5" name="Rectangle 4"/>
          <p:cNvSpPr/>
          <p:nvPr/>
        </p:nvSpPr>
        <p:spPr>
          <a:xfrm>
            <a:off x="822960" y="46177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846320"/>
            <a:ext cx="10545775" cy="1097280"/>
          </a:xfrm>
          <a:prstGeom prst="rect">
            <a:avLst/>
          </a:prstGeom>
          <a:noFill/>
        </p:spPr>
        <p:txBody>
          <a:bodyPr wrap="square" lIns="0" rIns="0" tIns="0" bIns="0">
            <a:spAutoFit/>
          </a:bodyPr>
          <a:lstStyle/>
          <a:p>
            <a:pPr algn="l">
              <a:lnSpc>
                <a:spcPct val="105000"/>
              </a:lnSpc>
              <a:spcBef>
                <a:spcPts val="0"/>
              </a:spcBef>
              <a:spcAft>
                <a:spcPts val="200"/>
              </a:spcAft>
            </a:pPr>
            <a:r>
              <a:rPr sz="1800" b="0" i="0">
                <a:solidFill>
                  <a:srgbClr val="FFFFFF"/>
                </a:solidFill>
                <a:latin typeface="Calibri"/>
              </a:rPr>
              <a:t>The binding constraint is not what the manual forbids.</a:t>
            </a:r>
          </a:p>
          <a:p>
            <a:pPr algn="l">
              <a:lnSpc>
                <a:spcPct val="105000"/>
              </a:lnSpc>
              <a:spcBef>
                <a:spcPts val="0"/>
              </a:spcBef>
              <a:spcAft>
                <a:spcPts val="0"/>
              </a:spcAft>
            </a:pPr>
            <a:r>
              <a:rPr sz="1800" b="0" i="0">
                <a:solidFill>
                  <a:srgbClr val="FFFFFF"/>
                </a:solidFill>
                <a:latin typeface="Calibri"/>
              </a:rPr>
              <a:t>It is what the manual never measures.</a:t>
            </a:r>
          </a:p>
        </p:txBody>
      </p:sp>
      <p:sp>
        <p:nvSpPr>
          <p:cNvPr id="7" name="TextBox 6"/>
          <p:cNvSpPr txBox="1"/>
          <p:nvPr/>
        </p:nvSpPr>
        <p:spPr>
          <a:xfrm>
            <a:off x="822960" y="617220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00" b="0" i="0">
                <a:solidFill>
                  <a:srgbClr val="9FB0C6"/>
                </a:solidFill>
                <a:latin typeface="Calibri"/>
              </a:rPr>
              <a:t>Transform Airports AI Council  ·  Executive Companion Deck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THE THESIS IN ONE SENTENCE</a:t>
            </a:r>
          </a:p>
        </p:txBody>
      </p:sp>
      <p:sp>
        <p:nvSpPr>
          <p:cNvPr id="3" name="Rectangle 2"/>
          <p:cNvSpPr/>
          <p:nvPr/>
        </p:nvSpPr>
        <p:spPr>
          <a:xfrm>
            <a:off x="822960" y="9601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10545775" cy="3108960"/>
          </a:xfrm>
          <a:prstGeom prst="rect">
            <a:avLst/>
          </a:prstGeom>
          <a:noFill/>
        </p:spPr>
        <p:txBody>
          <a:bodyPr wrap="square" lIns="0" rIns="0" tIns="0" bIns="0">
            <a:spAutoFit/>
          </a:bodyPr>
          <a:lstStyle/>
          <a:p>
            <a:pPr algn="l">
              <a:lnSpc>
                <a:spcPct val="112000"/>
              </a:lnSpc>
              <a:spcBef>
                <a:spcPts val="0"/>
              </a:spcBef>
              <a:spcAft>
                <a:spcPts val="0"/>
              </a:spcAft>
            </a:pPr>
            <a:r>
              <a:rPr sz="3800" b="0" i="0">
                <a:solidFill>
                  <a:srgbClr val="143C6E"/>
                </a:solidFill>
                <a:latin typeface="Georgia"/>
              </a:rPr>
              <a:t>The manual is not a cage. It is a modern toolbox whose tools are rarely the default and whose clock is never timed.</a:t>
            </a:r>
          </a:p>
        </p:txBody>
      </p:sp>
      <p:sp>
        <p:nvSpPr>
          <p:cNvPr id="5" name="TextBox 4"/>
          <p:cNvSpPr txBox="1"/>
          <p:nvPr/>
        </p:nvSpPr>
        <p:spPr>
          <a:xfrm>
            <a:off x="822960" y="4937760"/>
            <a:ext cx="10545775" cy="1188720"/>
          </a:xfrm>
          <a:prstGeom prst="rect">
            <a:avLst/>
          </a:prstGeom>
          <a:noFill/>
        </p:spPr>
        <p:txBody>
          <a:bodyPr wrap="square" lIns="0" rIns="0" tIns="0" bIns="0">
            <a:spAutoFit/>
          </a:bodyPr>
          <a:lstStyle/>
          <a:p>
            <a:pPr algn="l">
              <a:lnSpc>
                <a:spcPct val="125000"/>
              </a:lnSpc>
              <a:spcBef>
                <a:spcPts val="0"/>
              </a:spcBef>
              <a:spcAft>
                <a:spcPts val="0"/>
              </a:spcAft>
            </a:pPr>
            <a:r>
              <a:rPr sz="1700" b="0" i="0">
                <a:solidFill>
                  <a:srgbClr val="555B66"/>
                </a:solidFill>
                <a:latin typeface="Calibri"/>
              </a:rPr>
              <a:t>MWAA's binding constraint is not what the manual forbids — it forbids remarkably little. The constraint is what it fails to measure, to presume, and to instrument. The reform that matters is not less control. It is the same accountability, delivered faster and proven cleaner.</a:t>
            </a:r>
          </a:p>
        </p:txBody>
      </p:sp>
      <p:sp>
        <p:nvSpPr>
          <p:cNvPr id="6" name="TextBox 5"/>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THE CLOCK THE MANUAL FORGOT TO KEEP</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700" b="0" i="0">
                <a:solidFill>
                  <a:srgbClr val="143C6E"/>
                </a:solidFill>
                <a:latin typeface="Georgia"/>
              </a:rPr>
              <a:t>A $4.9 million buy took nine months to award — and the manual sets a clock for everyone except itself.</a:t>
            </a:r>
          </a:p>
        </p:txBody>
      </p:sp>
      <p:sp>
        <p:nvSpPr>
          <p:cNvPr id="4" name="Rectangle 3"/>
          <p:cNvSpPr/>
          <p:nvPr/>
        </p:nvSpPr>
        <p:spPr>
          <a:xfrm>
            <a:off x="822960" y="23317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743200"/>
            <a:ext cx="4023360" cy="310896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063240"/>
            <a:ext cx="4023360" cy="2377440"/>
          </a:xfrm>
          <a:prstGeom prst="rect">
            <a:avLst/>
          </a:prstGeom>
          <a:noFill/>
        </p:spPr>
        <p:txBody>
          <a:bodyPr wrap="square" lIns="0" rIns="0" tIns="0" bIns="0">
            <a:spAutoFit/>
          </a:bodyPr>
          <a:lstStyle/>
          <a:p>
            <a:pPr algn="ctr">
              <a:lnSpc>
                <a:spcPct val="90000"/>
              </a:lnSpc>
              <a:spcBef>
                <a:spcPts val="0"/>
              </a:spcBef>
              <a:spcAft>
                <a:spcPts val="0"/>
              </a:spcAft>
            </a:pPr>
            <a:r>
              <a:rPr sz="12000" b="1" i="0">
                <a:solidFill>
                  <a:srgbClr val="143C6E"/>
                </a:solidFill>
                <a:latin typeface="Georgia"/>
              </a:rPr>
              <a:t>9</a:t>
            </a:r>
          </a:p>
          <a:p>
            <a:pPr algn="ctr">
              <a:lnSpc>
                <a:spcPct val="105000"/>
              </a:lnSpc>
              <a:spcBef>
                <a:spcPts val="0"/>
              </a:spcBef>
              <a:spcAft>
                <a:spcPts val="0"/>
              </a:spcAft>
            </a:pPr>
            <a:r>
              <a:rPr sz="1300" b="1" i="0">
                <a:solidFill>
                  <a:srgbClr val="143C6E"/>
                </a:solidFill>
                <a:latin typeface="Calibri"/>
              </a:rPr>
              <a:t>MONTHS FROM SOLICITATION TO AWARD</a:t>
            </a:r>
          </a:p>
        </p:txBody>
      </p:sp>
      <p:sp>
        <p:nvSpPr>
          <p:cNvPr id="7" name="TextBox 6"/>
          <p:cNvSpPr txBox="1"/>
          <p:nvPr/>
        </p:nvSpPr>
        <p:spPr>
          <a:xfrm>
            <a:off x="1097280" y="5349240"/>
            <a:ext cx="3474720" cy="457200"/>
          </a:xfrm>
          <a:prstGeom prst="rect">
            <a:avLst/>
          </a:prstGeom>
          <a:noFill/>
        </p:spPr>
        <p:txBody>
          <a:bodyPr wrap="square" lIns="0" rIns="0" tIns="0" bIns="0">
            <a:spAutoFit/>
          </a:bodyPr>
          <a:lstStyle/>
          <a:p>
            <a:pPr algn="ctr">
              <a:lnSpc>
                <a:spcPct val="105000"/>
              </a:lnSpc>
              <a:spcBef>
                <a:spcPts val="0"/>
              </a:spcBef>
              <a:spcAft>
                <a:spcPts val="0"/>
              </a:spcAft>
            </a:pPr>
            <a:r>
              <a:rPr sz="1150" b="0" i="0">
                <a:solidFill>
                  <a:srgbClr val="555B66"/>
                </a:solidFill>
                <a:latin typeface="Calibri"/>
              </a:rPr>
              <a:t>Issued Aug 25, 2025 · closed Dec 10 · awarded May 22, 2026</a:t>
            </a:r>
          </a:p>
        </p:txBody>
      </p:sp>
      <p:sp>
        <p:nvSpPr>
          <p:cNvPr id="8" name="TextBox 7"/>
          <p:cNvSpPr txBox="1"/>
          <p:nvPr/>
        </p:nvSpPr>
        <p:spPr>
          <a:xfrm>
            <a:off x="5303520" y="2743200"/>
            <a:ext cx="6065215" cy="3291840"/>
          </a:xfrm>
          <a:prstGeom prst="rect">
            <a:avLst/>
          </a:prstGeom>
          <a:noFill/>
        </p:spPr>
        <p:txBody>
          <a:bodyPr wrap="square" lIns="0" rIns="0" tIns="0" bIns="0">
            <a:spAutoFit/>
          </a:bodyPr>
          <a:lstStyle/>
          <a:p>
            <a:pPr algn="l">
              <a:lnSpc>
                <a:spcPct val="105000"/>
              </a:lnSpc>
              <a:spcBef>
                <a:spcPts val="0"/>
              </a:spcBef>
              <a:spcAft>
                <a:spcPts val="800"/>
              </a:spcAft>
            </a:pPr>
            <a:r>
              <a:rPr sz="1600" b="1" i="0">
                <a:solidFill>
                  <a:srgbClr val="143C6E"/>
                </a:solidFill>
                <a:latin typeface="Calibri"/>
              </a:rPr>
              <a:t>Every clock that constrains an outside party is instrumented:</a:t>
            </a:r>
          </a:p>
          <a:p>
            <a:pPr algn="l">
              <a:lnSpc>
                <a:spcPct val="110000"/>
              </a:lnSpc>
              <a:spcBef>
                <a:spcPts val="0"/>
              </a:spcBef>
              <a:spcAft>
                <a:spcPts val="600"/>
              </a:spcAft>
            </a:pPr>
            <a:r>
              <a:rPr sz="1550" b="0" i="0">
                <a:solidFill>
                  <a:srgbClr val="555B66"/>
                </a:solidFill>
                <a:latin typeface="Calibri"/>
              </a:rPr>
              <a:t>—  30-day minimum bid advertisement</a:t>
            </a:r>
          </a:p>
          <a:p>
            <a:pPr algn="l">
              <a:lnSpc>
                <a:spcPct val="110000"/>
              </a:lnSpc>
              <a:spcBef>
                <a:spcPts val="0"/>
              </a:spcBef>
              <a:spcAft>
                <a:spcPts val="600"/>
              </a:spcAft>
            </a:pPr>
            <a:r>
              <a:rPr sz="1550" b="0" i="0">
                <a:solidFill>
                  <a:srgbClr val="555B66"/>
                </a:solidFill>
                <a:latin typeface="Calibri"/>
              </a:rPr>
              <a:t>—  15-day sole-source notice, posted for 30</a:t>
            </a:r>
          </a:p>
          <a:p>
            <a:pPr algn="l">
              <a:lnSpc>
                <a:spcPct val="110000"/>
              </a:lnSpc>
              <a:spcBef>
                <a:spcPts val="0"/>
              </a:spcBef>
              <a:spcAft>
                <a:spcPts val="600"/>
              </a:spcAft>
            </a:pPr>
            <a:r>
              <a:rPr sz="1550" b="0" i="0">
                <a:solidFill>
                  <a:srgbClr val="555B66"/>
                </a:solidFill>
                <a:latin typeface="Calibri"/>
              </a:rPr>
              <a:t>—  7 days for a protester to file</a:t>
            </a:r>
          </a:p>
          <a:p>
            <a:pPr algn="l">
              <a:lnSpc>
                <a:spcPct val="115000"/>
              </a:lnSpc>
              <a:spcBef>
                <a:spcPts val="800"/>
              </a:spcBef>
              <a:spcAft>
                <a:spcPts val="0"/>
              </a:spcAft>
            </a:pPr>
            <a:r>
              <a:rPr sz="1550" b="1" i="0">
                <a:solidFill>
                  <a:srgbClr val="143C6E"/>
                </a:solidFill>
                <a:latin typeface="Calibri"/>
              </a:rPr>
              <a:t>The one interval the requesting office actually feels — time-to-award — has no target, no commitment, no measurement.</a:t>
            </a:r>
          </a:p>
        </p:txBody>
      </p:sp>
      <p:sp>
        <p:nvSpPr>
          <p:cNvPr id="9" name="TextBox 8"/>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FINDING 1 · THE DOCUMENT IS NOT BEHIND. IT IS ASLEEP.</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800" b="0" i="0">
                <a:solidFill>
                  <a:srgbClr val="143C6E"/>
                </a:solidFill>
                <a:latin typeface="Georgia"/>
              </a:rPr>
              <a:t>The toolkit is already modern; the deficit is dormancy, not absence.</a:t>
            </a:r>
          </a:p>
        </p:txBody>
      </p:sp>
      <p:sp>
        <p:nvSpPr>
          <p:cNvPr id="4" name="Rectangle 3"/>
          <p:cNvSpPr/>
          <p:nvPr/>
        </p:nvSpPr>
        <p:spPr>
          <a:xfrm>
            <a:off x="822960" y="20116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77440"/>
            <a:ext cx="6126480" cy="3840480"/>
          </a:xfrm>
          <a:prstGeom prst="rect">
            <a:avLst/>
          </a:prstGeom>
          <a:noFill/>
        </p:spPr>
        <p:txBody>
          <a:bodyPr wrap="square" lIns="0" rIns="0" tIns="0" bIns="0">
            <a:spAutoFit/>
          </a:bodyPr>
          <a:lstStyle/>
          <a:p>
            <a:pPr algn="l">
              <a:lnSpc>
                <a:spcPct val="105000"/>
              </a:lnSpc>
              <a:spcBef>
                <a:spcPts val="0"/>
              </a:spcBef>
              <a:spcAft>
                <a:spcPts val="800"/>
              </a:spcAft>
            </a:pPr>
            <a:r>
              <a:rPr sz="1600" b="1" i="0">
                <a:solidFill>
                  <a:srgbClr val="143C6E"/>
                </a:solidFill>
                <a:latin typeface="Calibri"/>
              </a:rPr>
              <a:t>Edition 6.0 already authorizes:</a:t>
            </a:r>
          </a:p>
          <a:p>
            <a:pPr algn="l">
              <a:lnSpc>
                <a:spcPct val="112000"/>
              </a:lnSpc>
              <a:spcBef>
                <a:spcPts val="0"/>
              </a:spcBef>
              <a:spcAft>
                <a:spcPts val="700"/>
              </a:spcAft>
            </a:pPr>
            <a:r>
              <a:rPr sz="1500" b="0" i="0">
                <a:solidFill>
                  <a:srgbClr val="555B66"/>
                </a:solidFill>
                <a:latin typeface="Calibri"/>
              </a:rPr>
              <a:t>•  Construction manager-at-risk</a:t>
            </a:r>
          </a:p>
          <a:p>
            <a:pPr algn="l">
              <a:lnSpc>
                <a:spcPct val="112000"/>
              </a:lnSpc>
              <a:spcBef>
                <a:spcPts val="0"/>
              </a:spcBef>
              <a:spcAft>
                <a:spcPts val="700"/>
              </a:spcAft>
            </a:pPr>
            <a:r>
              <a:rPr sz="1500" b="0" i="0">
                <a:solidFill>
                  <a:srgbClr val="555B66"/>
                </a:solidFill>
                <a:latin typeface="Calibri"/>
              </a:rPr>
              <a:t>•  All three flavors of design-build — including progressive design-build, named outright</a:t>
            </a:r>
          </a:p>
          <a:p>
            <a:pPr algn="l">
              <a:lnSpc>
                <a:spcPct val="112000"/>
              </a:lnSpc>
              <a:spcBef>
                <a:spcPts val="0"/>
              </a:spcBef>
              <a:spcAft>
                <a:spcPts val="700"/>
              </a:spcAft>
            </a:pPr>
            <a:r>
              <a:rPr sz="1500" b="0" i="0">
                <a:solidFill>
                  <a:srgbClr val="555B66"/>
                </a:solidFill>
                <a:latin typeface="Calibri"/>
              </a:rPr>
              <a:t>•  Multiple Award Construction Contracts</a:t>
            </a:r>
          </a:p>
          <a:p>
            <a:pPr algn="l">
              <a:lnSpc>
                <a:spcPct val="112000"/>
              </a:lnSpc>
              <a:spcBef>
                <a:spcPts val="0"/>
              </a:spcBef>
              <a:spcAft>
                <a:spcPts val="700"/>
              </a:spcAft>
            </a:pPr>
            <a:r>
              <a:rPr sz="1500" b="0" i="0">
                <a:solidFill>
                  <a:srgbClr val="555B66"/>
                </a:solidFill>
                <a:latin typeface="Calibri"/>
              </a:rPr>
              <a:t>•  Qualifications-based selection and best-value tradeoff</a:t>
            </a:r>
          </a:p>
          <a:p>
            <a:pPr algn="l">
              <a:lnSpc>
                <a:spcPct val="112000"/>
              </a:lnSpc>
              <a:spcBef>
                <a:spcPts val="0"/>
              </a:spcBef>
              <a:spcAft>
                <a:spcPts val="700"/>
              </a:spcAft>
            </a:pPr>
            <a:r>
              <a:rPr sz="1500" b="0" i="0">
                <a:solidFill>
                  <a:srgbClr val="555B66"/>
                </a:solidFill>
                <a:latin typeface="Calibri"/>
              </a:rPr>
              <a:t>•  Pilot programs, unsolicited proposals, stipends</a:t>
            </a:r>
          </a:p>
          <a:p>
            <a:pPr algn="l">
              <a:lnSpc>
                <a:spcPct val="112000"/>
              </a:lnSpc>
              <a:spcBef>
                <a:spcPts val="0"/>
              </a:spcBef>
              <a:spcAft>
                <a:spcPts val="700"/>
              </a:spcAft>
            </a:pPr>
            <a:r>
              <a:rPr sz="1500" b="0" i="0">
                <a:solidFill>
                  <a:srgbClr val="555B66"/>
                </a:solidFill>
                <a:latin typeface="Calibri"/>
              </a:rPr>
              <a:t>•  Cooperative purchasing off other governments' contracts</a:t>
            </a:r>
          </a:p>
          <a:p>
            <a:pPr algn="l">
              <a:lnSpc>
                <a:spcPct val="118000"/>
              </a:lnSpc>
              <a:spcBef>
                <a:spcPts val="600"/>
              </a:spcBef>
              <a:spcAft>
                <a:spcPts val="0"/>
              </a:spcAft>
            </a:pPr>
            <a:r>
              <a:rPr sz="1500" b="0" i="1">
                <a:solidFill>
                  <a:srgbClr val="143C6E"/>
                </a:solidFill>
                <a:latin typeface="Calibri"/>
              </a:rPr>
              <a:t>A 2026 manual that names progressive design-build is ahead of most public owners. The reform target is how these tools get defaulted — not whether they exist.</a:t>
            </a:r>
          </a:p>
        </p:txBody>
      </p:sp>
      <p:sp>
        <p:nvSpPr>
          <p:cNvPr id="6" name="Rectangle 5"/>
          <p:cNvSpPr/>
          <p:nvPr/>
        </p:nvSpPr>
        <p:spPr>
          <a:xfrm>
            <a:off x="7406640" y="2377440"/>
            <a:ext cx="3017520" cy="32004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2697480"/>
            <a:ext cx="3017520" cy="2560320"/>
          </a:xfrm>
          <a:prstGeom prst="rect">
            <a:avLst/>
          </a:prstGeom>
          <a:noFill/>
        </p:spPr>
        <p:txBody>
          <a:bodyPr wrap="square" lIns="0" rIns="0" tIns="0" bIns="0">
            <a:spAutoFit/>
          </a:bodyPr>
          <a:lstStyle/>
          <a:p>
            <a:pPr algn="ctr">
              <a:lnSpc>
                <a:spcPct val="95000"/>
              </a:lnSpc>
              <a:spcBef>
                <a:spcPts val="0"/>
              </a:spcBef>
              <a:spcAft>
                <a:spcPts val="400"/>
              </a:spcAft>
            </a:pPr>
            <a:r>
              <a:rPr sz="5800" b="1" i="0">
                <a:solidFill>
                  <a:srgbClr val="FFFFFF"/>
                </a:solidFill>
                <a:latin typeface="Georgia"/>
              </a:rPr>
              <a:t>50–75%</a:t>
            </a:r>
          </a:p>
          <a:p>
            <a:pPr algn="ctr">
              <a:lnSpc>
                <a:spcPct val="118000"/>
              </a:lnSpc>
              <a:spcBef>
                <a:spcPts val="0"/>
              </a:spcBef>
              <a:spcAft>
                <a:spcPts val="0"/>
              </a:spcAft>
            </a:pPr>
            <a:r>
              <a:rPr sz="1400" b="0" i="0">
                <a:solidFill>
                  <a:srgbClr val="E7ECF2"/>
                </a:solidFill>
                <a:latin typeface="Calibri"/>
              </a:rPr>
              <a:t>of major airport programs now run CMAR or progressive design-build as their baseline</a:t>
            </a:r>
          </a:p>
        </p:txBody>
      </p:sp>
      <p:sp>
        <p:nvSpPr>
          <p:cNvPr id="8" name="TextBox 7"/>
          <p:cNvSpPr txBox="1"/>
          <p:nvPr/>
        </p:nvSpPr>
        <p:spPr>
          <a:xfrm>
            <a:off x="7406640" y="5715000"/>
            <a:ext cx="3017520" cy="365760"/>
          </a:xfrm>
          <a:prstGeom prst="rect">
            <a:avLst/>
          </a:prstGeom>
          <a:noFill/>
        </p:spPr>
        <p:txBody>
          <a:bodyPr wrap="square" lIns="0" rIns="0" tIns="0" bIns="0">
            <a:spAutoFit/>
          </a:bodyPr>
          <a:lstStyle/>
          <a:p>
            <a:pPr algn="ctr">
              <a:lnSpc>
                <a:spcPct val="105000"/>
              </a:lnSpc>
              <a:spcBef>
                <a:spcPts val="0"/>
              </a:spcBef>
              <a:spcAft>
                <a:spcPts val="0"/>
              </a:spcAft>
            </a:pPr>
            <a:r>
              <a:rPr sz="1200" b="0" i="1">
                <a:solidFill>
                  <a:srgbClr val="555B66"/>
                </a:solidFill>
                <a:latin typeface="Calibri"/>
              </a:rPr>
              <a:t>Yet Chapter 3 still treats sealed bid as the default.</a:t>
            </a:r>
          </a:p>
        </p:txBody>
      </p:sp>
      <p:sp>
        <p:nvSpPr>
          <p:cNvPr id="9" name="TextBox 8"/>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FINDING 2 · THE FREEDOM MWAA DECLINES TO USE</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600" b="0" i="0">
                <a:solidFill>
                  <a:srgbClr val="143C6E"/>
                </a:solidFill>
                <a:latin typeface="Georgia"/>
              </a:rPr>
              <a:t>MWAA writes its own procurement law — so roughly 90% of any reform is a Board vote, not a legislative act.</a:t>
            </a:r>
          </a:p>
        </p:txBody>
      </p:sp>
      <p:sp>
        <p:nvSpPr>
          <p:cNvPr id="4" name="Rectangle 3"/>
          <p:cNvSpPr/>
          <p:nvPr/>
        </p:nvSpPr>
        <p:spPr>
          <a:xfrm>
            <a:off x="822960" y="23317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788920"/>
            <a:ext cx="4023360" cy="301752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200400"/>
            <a:ext cx="4023360" cy="2377440"/>
          </a:xfrm>
          <a:prstGeom prst="rect">
            <a:avLst/>
          </a:prstGeom>
          <a:noFill/>
        </p:spPr>
        <p:txBody>
          <a:bodyPr wrap="square" lIns="0" rIns="0" tIns="0" bIns="0">
            <a:spAutoFit/>
          </a:bodyPr>
          <a:lstStyle/>
          <a:p>
            <a:pPr algn="ctr">
              <a:lnSpc>
                <a:spcPct val="90000"/>
              </a:lnSpc>
              <a:spcBef>
                <a:spcPts val="0"/>
              </a:spcBef>
              <a:spcAft>
                <a:spcPts val="0"/>
              </a:spcAft>
            </a:pPr>
            <a:r>
              <a:rPr sz="9600" b="1" i="0">
                <a:solidFill>
                  <a:srgbClr val="143C6E"/>
                </a:solidFill>
                <a:latin typeface="Georgia"/>
              </a:rPr>
              <a:t>~90%</a:t>
            </a:r>
          </a:p>
          <a:p>
            <a:pPr algn="ctr">
              <a:lnSpc>
                <a:spcPct val="105000"/>
              </a:lnSpc>
              <a:spcBef>
                <a:spcPts val="0"/>
              </a:spcBef>
              <a:spcAft>
                <a:spcPts val="0"/>
              </a:spcAft>
            </a:pPr>
            <a:r>
              <a:rPr sz="1300" b="1" i="0">
                <a:solidFill>
                  <a:srgbClr val="143C6E"/>
                </a:solidFill>
                <a:latin typeface="Calibri"/>
              </a:rPr>
              <a:t>OF REFORM IS WITHIN THE BOARD'S OWN GIFT</a:t>
            </a:r>
          </a:p>
        </p:txBody>
      </p:sp>
      <p:sp>
        <p:nvSpPr>
          <p:cNvPr id="7" name="TextBox 6"/>
          <p:cNvSpPr txBox="1"/>
          <p:nvPr/>
        </p:nvSpPr>
        <p:spPr>
          <a:xfrm>
            <a:off x="5303520" y="2788920"/>
            <a:ext cx="6065215" cy="3291840"/>
          </a:xfrm>
          <a:prstGeom prst="rect">
            <a:avLst/>
          </a:prstGeom>
          <a:noFill/>
        </p:spPr>
        <p:txBody>
          <a:bodyPr wrap="square" lIns="0" rIns="0" tIns="0" bIns="0">
            <a:spAutoFit/>
          </a:bodyPr>
          <a:lstStyle/>
          <a:p>
            <a:pPr algn="l">
              <a:lnSpc>
                <a:spcPct val="115000"/>
              </a:lnSpc>
              <a:spcBef>
                <a:spcPts val="0"/>
              </a:spcBef>
              <a:spcAft>
                <a:spcPts val="1000"/>
              </a:spcAft>
            </a:pPr>
            <a:r>
              <a:rPr sz="1650" b="1" i="0">
                <a:solidFill>
                  <a:srgbClr val="143C6E"/>
                </a:solidFill>
                <a:latin typeface="Calibri"/>
              </a:rPr>
              <a:t>Section 1.7 exempts the Authority from the Federal Acquisition Regulation and from Virginia and D.C. procurement codes.</a:t>
            </a:r>
          </a:p>
          <a:p>
            <a:pPr algn="l">
              <a:lnSpc>
                <a:spcPct val="118000"/>
              </a:lnSpc>
              <a:spcBef>
                <a:spcPts val="0"/>
              </a:spcBef>
              <a:spcAft>
                <a:spcPts val="800"/>
              </a:spcAft>
            </a:pPr>
            <a:r>
              <a:rPr sz="1550" b="0" i="0">
                <a:solidFill>
                  <a:srgbClr val="555B66"/>
                </a:solidFill>
                <a:latin typeface="Calibri"/>
              </a:rPr>
              <a:t>The most common excuse in public procurement — the state code won't let us — is unavailable here. Only two constraints bind:</a:t>
            </a:r>
          </a:p>
          <a:p>
            <a:pPr algn="l">
              <a:lnSpc>
                <a:spcPct val="105000"/>
              </a:lnSpc>
              <a:spcBef>
                <a:spcPts val="0"/>
              </a:spcBef>
              <a:spcAft>
                <a:spcPts val="500"/>
              </a:spcAft>
            </a:pPr>
            <a:r>
              <a:rPr sz="1550" b="0" i="0">
                <a:solidFill>
                  <a:srgbClr val="143C6E"/>
                </a:solidFill>
                <a:latin typeface="Calibri"/>
              </a:rPr>
              <a:t>—  The federal strings on grant money</a:t>
            </a:r>
          </a:p>
          <a:p>
            <a:pPr algn="l">
              <a:lnSpc>
                <a:spcPct val="105000"/>
              </a:lnSpc>
              <a:spcBef>
                <a:spcPts val="0"/>
              </a:spcBef>
              <a:spcAft>
                <a:spcPts val="1000"/>
              </a:spcAft>
            </a:pPr>
            <a:r>
              <a:rPr sz="1550" b="0" i="0">
                <a:solidFill>
                  <a:srgbClr val="143C6E"/>
                </a:solidFill>
                <a:latin typeface="Calibri"/>
              </a:rPr>
              <a:t>—  Political memory</a:t>
            </a:r>
          </a:p>
          <a:p>
            <a:pPr algn="l">
              <a:lnSpc>
                <a:spcPct val="118000"/>
              </a:lnSpc>
              <a:spcBef>
                <a:spcPts val="0"/>
              </a:spcBef>
              <a:spcAft>
                <a:spcPts val="0"/>
              </a:spcAft>
            </a:pPr>
            <a:r>
              <a:rPr sz="1550" b="0" i="1">
                <a:solidFill>
                  <a:srgbClr val="555B66"/>
                </a:solidFill>
                <a:latin typeface="Calibri"/>
              </a:rPr>
              <a:t>The Authority spends that freedom imitating the conservative defaults of leagues it does not have to play in.</a:t>
            </a:r>
          </a:p>
        </p:txBody>
      </p:sp>
      <p:sp>
        <p:nvSpPr>
          <p:cNvPr id="8" name="TextBox 7"/>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FINDING 3 · THE THRESHOLD HAS NOT KEPT PACE</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700" b="0" i="0">
                <a:solidFill>
                  <a:srgbClr val="143C6E"/>
                </a:solidFill>
                <a:latin typeface="Georgia"/>
              </a:rPr>
              <a:t>The $3 million Board threshold is a rounding error against a $9 billion capital program.</a:t>
            </a:r>
          </a:p>
        </p:txBody>
      </p:sp>
      <p:sp>
        <p:nvSpPr>
          <p:cNvPr id="4" name="Rectangle 3"/>
          <p:cNvSpPr/>
          <p:nvPr/>
        </p:nvSpPr>
        <p:spPr>
          <a:xfrm>
            <a:off x="822960" y="210312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651760"/>
            <a:ext cx="4846320" cy="228600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4846320" cy="1920240"/>
          </a:xfrm>
          <a:prstGeom prst="rect">
            <a:avLst/>
          </a:prstGeom>
          <a:noFill/>
        </p:spPr>
        <p:txBody>
          <a:bodyPr wrap="square" lIns="0" rIns="0" tIns="0" bIns="0">
            <a:spAutoFit/>
          </a:bodyPr>
          <a:lstStyle/>
          <a:p>
            <a:pPr algn="ctr">
              <a:lnSpc>
                <a:spcPct val="95000"/>
              </a:lnSpc>
              <a:spcBef>
                <a:spcPts val="0"/>
              </a:spcBef>
              <a:spcAft>
                <a:spcPts val="200"/>
              </a:spcAft>
            </a:pPr>
            <a:r>
              <a:rPr sz="7200" b="1" i="0">
                <a:solidFill>
                  <a:srgbClr val="143C6E"/>
                </a:solidFill>
                <a:latin typeface="Georgia"/>
              </a:rPr>
              <a:t>$3M</a:t>
            </a:r>
          </a:p>
          <a:p>
            <a:pPr algn="ctr">
              <a:lnSpc>
                <a:spcPct val="115000"/>
              </a:lnSpc>
              <a:spcBef>
                <a:spcPts val="0"/>
              </a:spcBef>
              <a:spcAft>
                <a:spcPts val="0"/>
              </a:spcAft>
            </a:pPr>
            <a:r>
              <a:rPr sz="1400" b="0" i="0">
                <a:solidFill>
                  <a:srgbClr val="555B66"/>
                </a:solidFill>
                <a:latin typeface="Calibri"/>
              </a:rPr>
              <a:t>Board reserves approval of any contract at or above this line</a:t>
            </a:r>
          </a:p>
        </p:txBody>
      </p:sp>
      <p:sp>
        <p:nvSpPr>
          <p:cNvPr id="7" name="Rectangle 6"/>
          <p:cNvSpPr/>
          <p:nvPr/>
        </p:nvSpPr>
        <p:spPr>
          <a:xfrm>
            <a:off x="6172200" y="2651760"/>
            <a:ext cx="4846320" cy="22860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2880360"/>
            <a:ext cx="4846320" cy="1920240"/>
          </a:xfrm>
          <a:prstGeom prst="rect">
            <a:avLst/>
          </a:prstGeom>
          <a:noFill/>
        </p:spPr>
        <p:txBody>
          <a:bodyPr wrap="square" lIns="0" rIns="0" tIns="0" bIns="0">
            <a:spAutoFit/>
          </a:bodyPr>
          <a:lstStyle/>
          <a:p>
            <a:pPr algn="ctr">
              <a:lnSpc>
                <a:spcPct val="95000"/>
              </a:lnSpc>
              <a:spcBef>
                <a:spcPts val="0"/>
              </a:spcBef>
              <a:spcAft>
                <a:spcPts val="200"/>
              </a:spcAft>
            </a:pPr>
            <a:r>
              <a:rPr sz="7200" b="1" i="0">
                <a:solidFill>
                  <a:srgbClr val="FFFFFF"/>
                </a:solidFill>
                <a:latin typeface="Georgia"/>
              </a:rPr>
              <a:t>$9B</a:t>
            </a:r>
          </a:p>
          <a:p>
            <a:pPr algn="ctr">
              <a:lnSpc>
                <a:spcPct val="115000"/>
              </a:lnSpc>
              <a:spcBef>
                <a:spcPts val="0"/>
              </a:spcBef>
              <a:spcAft>
                <a:spcPts val="0"/>
              </a:spcAft>
            </a:pPr>
            <a:r>
              <a:rPr sz="1400" b="0" i="0">
                <a:solidFill>
                  <a:srgbClr val="E7ECF2"/>
                </a:solidFill>
                <a:latin typeface="Calibri"/>
              </a:rPr>
              <a:t>capital program — $6.99B of it at Dulles; a Dulles master plan reportedly scoped up to $22B through 2034</a:t>
            </a:r>
          </a:p>
        </p:txBody>
      </p:sp>
      <p:sp>
        <p:nvSpPr>
          <p:cNvPr id="9" name="TextBox 8"/>
          <p:cNvSpPr txBox="1"/>
          <p:nvPr/>
        </p:nvSpPr>
        <p:spPr>
          <a:xfrm>
            <a:off x="822960" y="5257800"/>
            <a:ext cx="10545775" cy="1280160"/>
          </a:xfrm>
          <a:prstGeom prst="rect">
            <a:avLst/>
          </a:prstGeom>
          <a:noFill/>
        </p:spPr>
        <p:txBody>
          <a:bodyPr wrap="square" lIns="0" rIns="0" tIns="0" bIns="0">
            <a:spAutoFit/>
          </a:bodyPr>
          <a:lstStyle/>
          <a:p>
            <a:pPr algn="l">
              <a:lnSpc>
                <a:spcPct val="125000"/>
              </a:lnSpc>
              <a:spcBef>
                <a:spcPts val="0"/>
              </a:spcBef>
              <a:spcAft>
                <a:spcPts val="0"/>
              </a:spcAft>
            </a:pPr>
            <a:r>
              <a:rPr sz="1600" b="0" i="0">
                <a:solidFill>
                  <a:srgbClr val="143C6E"/>
                </a:solidFill>
                <a:latin typeface="Calibri"/>
              </a:rPr>
              <a:t>MWAA already fully delegates ALL competitively offered construction to the CEO — proof it trusts delegation where schedule matters most. Re-indexing the threshold and moving routine awards to a consent agenda frees transaction speed while the Board still governs at the program tier.</a:t>
            </a:r>
          </a:p>
        </p:txBody>
      </p:sp>
      <p:sp>
        <p:nvSpPr>
          <p:cNvPr id="10" name="TextBox 9"/>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FINDING 4 · THE DEFAULT</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800" b="0" i="0">
                <a:solidFill>
                  <a:srgbClr val="143C6E"/>
                </a:solidFill>
                <a:latin typeface="Georgia"/>
              </a:rPr>
              <a:t>The largest operational losses are designed in at award — where the manual goes silent.</a:t>
            </a:r>
          </a:p>
        </p:txBody>
      </p:sp>
      <p:sp>
        <p:nvSpPr>
          <p:cNvPr id="4" name="Rectangle 3"/>
          <p:cNvSpPr/>
          <p:nvPr/>
        </p:nvSpPr>
        <p:spPr>
          <a:xfrm>
            <a:off x="822960" y="20116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423160"/>
            <a:ext cx="3657600" cy="320040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0"/>
            <a:ext cx="3657600" cy="2651760"/>
          </a:xfrm>
          <a:prstGeom prst="rect">
            <a:avLst/>
          </a:prstGeom>
          <a:noFill/>
        </p:spPr>
        <p:txBody>
          <a:bodyPr wrap="square" lIns="0" rIns="0" tIns="0" bIns="0">
            <a:spAutoFit/>
          </a:bodyPr>
          <a:lstStyle/>
          <a:p>
            <a:pPr algn="ctr">
              <a:lnSpc>
                <a:spcPct val="85000"/>
              </a:lnSpc>
              <a:spcBef>
                <a:spcPts val="0"/>
              </a:spcBef>
              <a:spcAft>
                <a:spcPts val="0"/>
              </a:spcAft>
            </a:pPr>
            <a:r>
              <a:rPr sz="12000" b="1" i="0">
                <a:solidFill>
                  <a:srgbClr val="FFFFFF"/>
                </a:solidFill>
                <a:latin typeface="Georgia"/>
              </a:rPr>
              <a:t>25</a:t>
            </a:r>
          </a:p>
          <a:p>
            <a:pPr algn="ctr">
              <a:lnSpc>
                <a:spcPct val="120000"/>
              </a:lnSpc>
              <a:spcBef>
                <a:spcPts val="0"/>
              </a:spcBef>
              <a:spcAft>
                <a:spcPts val="0"/>
              </a:spcAft>
            </a:pPr>
            <a:r>
              <a:rPr sz="1300" b="1" i="0">
                <a:solidFill>
                  <a:srgbClr val="E7ECF2"/>
                </a:solidFill>
                <a:latin typeface="Calibri"/>
              </a:rPr>
              <a:t>YEARS OPERATIONS WILL RUN THE ASSET THE BID WAS OPENED ON</a:t>
            </a:r>
          </a:p>
        </p:txBody>
      </p:sp>
      <p:sp>
        <p:nvSpPr>
          <p:cNvPr id="7" name="TextBox 6"/>
          <p:cNvSpPr txBox="1"/>
          <p:nvPr/>
        </p:nvSpPr>
        <p:spPr>
          <a:xfrm>
            <a:off x="4937760" y="2423160"/>
            <a:ext cx="6430975" cy="3657600"/>
          </a:xfrm>
          <a:prstGeom prst="rect">
            <a:avLst/>
          </a:prstGeom>
          <a:noFill/>
        </p:spPr>
        <p:txBody>
          <a:bodyPr wrap="square" lIns="0" rIns="0" tIns="0" bIns="0">
            <a:spAutoFit/>
          </a:bodyPr>
          <a:lstStyle/>
          <a:p>
            <a:pPr algn="l">
              <a:lnSpc>
                <a:spcPct val="105000"/>
              </a:lnSpc>
              <a:spcBef>
                <a:spcPts val="0"/>
              </a:spcBef>
              <a:spcAft>
                <a:spcPts val="800"/>
              </a:spcAft>
            </a:pPr>
            <a:r>
              <a:rPr sz="1600" b="1" i="0">
                <a:solidFill>
                  <a:srgbClr val="143C6E"/>
                </a:solidFill>
                <a:latin typeface="Calibri"/>
              </a:rPr>
              <a:t>The manual requires none of:</a:t>
            </a:r>
          </a:p>
          <a:p>
            <a:pPr algn="l">
              <a:lnSpc>
                <a:spcPct val="115000"/>
              </a:lnSpc>
              <a:spcBef>
                <a:spcPts val="0"/>
              </a:spcBef>
              <a:spcAft>
                <a:spcPts val="700"/>
              </a:spcAft>
            </a:pPr>
            <a:r>
              <a:rPr sz="1550" b="0" i="0">
                <a:solidFill>
                  <a:srgbClr val="555B66"/>
                </a:solidFill>
                <a:latin typeface="Calibri"/>
              </a:rPr>
              <a:t>—  Total-cost-of-ownership scoring</a:t>
            </a:r>
          </a:p>
          <a:p>
            <a:pPr algn="l">
              <a:lnSpc>
                <a:spcPct val="115000"/>
              </a:lnSpc>
              <a:spcBef>
                <a:spcPts val="0"/>
              </a:spcBef>
              <a:spcAft>
                <a:spcPts val="700"/>
              </a:spcAft>
            </a:pPr>
            <a:r>
              <a:rPr sz="1550" b="0" i="0">
                <a:solidFill>
                  <a:srgbClr val="555B66"/>
                </a:solidFill>
                <a:latin typeface="Calibri"/>
              </a:rPr>
              <a:t>—  An operations representative on the source-selection committee</a:t>
            </a:r>
          </a:p>
          <a:p>
            <a:pPr algn="l">
              <a:lnSpc>
                <a:spcPct val="115000"/>
              </a:lnSpc>
              <a:spcBef>
                <a:spcPts val="0"/>
              </a:spcBef>
              <a:spcAft>
                <a:spcPts val="700"/>
              </a:spcAft>
            </a:pPr>
            <a:r>
              <a:rPr sz="1550" b="0" i="0">
                <a:solidFill>
                  <a:srgbClr val="555B66"/>
                </a:solidFill>
                <a:latin typeface="Calibri"/>
              </a:rPr>
              <a:t>—  Operational acceptance as a condition of final payment</a:t>
            </a:r>
          </a:p>
          <a:p>
            <a:pPr algn="l">
              <a:lnSpc>
                <a:spcPct val="120000"/>
              </a:lnSpc>
              <a:spcBef>
                <a:spcPts val="600"/>
              </a:spcBef>
              <a:spcAft>
                <a:spcPts val="800"/>
              </a:spcAft>
            </a:pPr>
            <a:r>
              <a:rPr sz="1550" b="0" i="1">
                <a:solidFill>
                  <a:srgbClr val="143C6E"/>
                </a:solidFill>
                <a:latin typeface="Calibri"/>
              </a:rPr>
              <a:t>The jet bridge bought on first cost throws faults in year seven — and the operator knew it the day the bid was opened.</a:t>
            </a:r>
          </a:p>
          <a:p>
            <a:pPr algn="l">
              <a:lnSpc>
                <a:spcPct val="120000"/>
              </a:lnSpc>
              <a:spcBef>
                <a:spcPts val="0"/>
              </a:spcBef>
              <a:spcAft>
                <a:spcPts val="0"/>
              </a:spcAft>
            </a:pPr>
            <a:r>
              <a:rPr sz="1550" b="1" i="0">
                <a:solidFill>
                  <a:srgbClr val="143C6E"/>
                </a:solidFill>
                <a:latin typeface="Calibri"/>
              </a:rPr>
              <a:t>This bundle adds days at the front and saves a decade of write-ups. Off-the-shelf ACRP practice.</a:t>
            </a:r>
          </a:p>
        </p:txBody>
      </p:sp>
      <p:sp>
        <p:nvSpPr>
          <p:cNvPr id="8" name="TextBox 7"/>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FINDING 5 · THE INSTRUMENT</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800" b="0" i="0">
                <a:solidFill>
                  <a:srgbClr val="143C6E"/>
                </a:solidFill>
                <a:latin typeface="Georgia"/>
              </a:rPr>
              <a:t>The technology gap is a binder that should be software — the real prize is Tier 1, not AI.</a:t>
            </a:r>
          </a:p>
        </p:txBody>
      </p:sp>
      <p:sp>
        <p:nvSpPr>
          <p:cNvPr id="4" name="Rectangle 3"/>
          <p:cNvSpPr/>
          <p:nvPr/>
        </p:nvSpPr>
        <p:spPr>
          <a:xfrm>
            <a:off x="822960" y="20116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77440"/>
            <a:ext cx="6035040" cy="3657600"/>
          </a:xfrm>
          <a:prstGeom prst="rect">
            <a:avLst/>
          </a:prstGeom>
          <a:noFill/>
        </p:spPr>
        <p:txBody>
          <a:bodyPr wrap="square" lIns="0" rIns="0" tIns="0" bIns="0">
            <a:spAutoFit/>
          </a:bodyPr>
          <a:lstStyle/>
          <a:p>
            <a:pPr algn="l">
              <a:lnSpc>
                <a:spcPct val="122000"/>
              </a:lnSpc>
              <a:spcBef>
                <a:spcPts val="0"/>
              </a:spcBef>
              <a:spcAft>
                <a:spcPts val="1000"/>
              </a:spcAft>
            </a:pPr>
            <a:r>
              <a:rPr sz="1600" b="0" i="0">
                <a:solidFill>
                  <a:srgbClr val="143C6E"/>
                </a:solidFill>
                <a:latin typeface="Calibri"/>
              </a:rPr>
              <a:t>The manual defines its “contract management system” as one that “consists of procurement policies and processes” — a governance binder, not software.</a:t>
            </a:r>
          </a:p>
          <a:p>
            <a:pPr algn="l">
              <a:lnSpc>
                <a:spcPct val="122000"/>
              </a:lnSpc>
              <a:spcBef>
                <a:spcPts val="0"/>
              </a:spcBef>
              <a:spcAft>
                <a:spcPts val="1000"/>
              </a:spcAft>
            </a:pPr>
            <a:r>
              <a:rPr sz="1550" b="0" i="0">
                <a:solidFill>
                  <a:srgbClr val="555B66"/>
                </a:solidFill>
                <a:latin typeface="Calibri"/>
              </a:rPr>
              <a:t>In 2026, protests “sent electronically will not be accepted” — certified mail or hand delivery only — while the GAO runs its entire 1,803-protest docket online.</a:t>
            </a:r>
          </a:p>
          <a:p>
            <a:pPr algn="l">
              <a:lnSpc>
                <a:spcPct val="122000"/>
              </a:lnSpc>
              <a:spcBef>
                <a:spcPts val="0"/>
              </a:spcBef>
              <a:spcAft>
                <a:spcPts val="0"/>
              </a:spcAft>
            </a:pPr>
            <a:r>
              <a:rPr sz="1550" b="1" i="0">
                <a:solidFill>
                  <a:srgbClr val="143C6E"/>
                </a:solidFill>
                <a:latin typeface="Calibri"/>
              </a:rPr>
              <a:t>The proven wins are electronic sourcing, structured supplier data, spend analytics. Buy the foundation; discount the autonomous-AI pitch.</a:t>
            </a:r>
          </a:p>
        </p:txBody>
      </p:sp>
      <p:sp>
        <p:nvSpPr>
          <p:cNvPr id="6" name="Rectangle 5"/>
          <p:cNvSpPr/>
          <p:nvPr/>
        </p:nvSpPr>
        <p:spPr>
          <a:xfrm>
            <a:off x="7315200" y="2377440"/>
            <a:ext cx="3108960" cy="338328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2697480"/>
            <a:ext cx="3108960" cy="2743200"/>
          </a:xfrm>
          <a:prstGeom prst="rect">
            <a:avLst/>
          </a:prstGeom>
          <a:noFill/>
        </p:spPr>
        <p:txBody>
          <a:bodyPr wrap="square" lIns="0" rIns="0" tIns="0" bIns="0">
            <a:spAutoFit/>
          </a:bodyPr>
          <a:lstStyle/>
          <a:p>
            <a:pPr algn="ctr">
              <a:lnSpc>
                <a:spcPct val="95000"/>
              </a:lnSpc>
              <a:spcBef>
                <a:spcPts val="0"/>
              </a:spcBef>
              <a:spcAft>
                <a:spcPts val="200"/>
              </a:spcAft>
            </a:pPr>
            <a:r>
              <a:rPr sz="6600" b="1" i="0">
                <a:solidFill>
                  <a:srgbClr val="143C6E"/>
                </a:solidFill>
                <a:latin typeface="Georgia"/>
              </a:rPr>
              <a:t>8 → 4</a:t>
            </a:r>
          </a:p>
          <a:p>
            <a:pPr algn="ctr">
              <a:lnSpc>
                <a:spcPct val="105000"/>
              </a:lnSpc>
              <a:spcBef>
                <a:spcPts val="0"/>
              </a:spcBef>
              <a:spcAft>
                <a:spcPts val="800"/>
              </a:spcAft>
            </a:pPr>
            <a:r>
              <a:rPr sz="1800" b="1" i="0">
                <a:solidFill>
                  <a:srgbClr val="143C6E"/>
                </a:solidFill>
                <a:latin typeface="Calibri"/>
              </a:rPr>
              <a:t>DAYS</a:t>
            </a:r>
          </a:p>
          <a:p>
            <a:pPr algn="ctr">
              <a:lnSpc>
                <a:spcPct val="120000"/>
              </a:lnSpc>
              <a:spcBef>
                <a:spcPts val="0"/>
              </a:spcBef>
              <a:spcAft>
                <a:spcPts val="800"/>
              </a:spcAft>
            </a:pPr>
            <a:r>
              <a:rPr sz="1350" b="0" i="0">
                <a:solidFill>
                  <a:srgbClr val="555B66"/>
                </a:solidFill>
                <a:latin typeface="Calibri"/>
              </a:rPr>
              <a:t>Peer-reviewed cycle time at an airport company after digital procurement.</a:t>
            </a:r>
          </a:p>
          <a:p>
            <a:pPr algn="ctr">
              <a:lnSpc>
                <a:spcPct val="120000"/>
              </a:lnSpc>
              <a:spcBef>
                <a:spcPts val="0"/>
              </a:spcBef>
              <a:spcAft>
                <a:spcPts val="0"/>
              </a:spcAft>
            </a:pPr>
            <a:r>
              <a:rPr sz="1350" b="0" i="1">
                <a:solidFill>
                  <a:srgbClr val="143C6E"/>
                </a:solidFill>
                <a:latin typeface="Calibri"/>
              </a:rPr>
              <a:t>Halving turnaround is the realistic prize — not the vendor's 60%.</a:t>
            </a:r>
          </a:p>
        </p:txBody>
      </p:sp>
      <p:sp>
        <p:nvSpPr>
          <p:cNvPr id="8" name="TextBox 7"/>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3C6E"/>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THE COUNTER-CASE, HONESTLY PRESENTED</a:t>
            </a:r>
          </a:p>
        </p:txBody>
      </p:sp>
      <p:sp>
        <p:nvSpPr>
          <p:cNvPr id="3" name="TextBox 2"/>
          <p:cNvSpPr txBox="1"/>
          <p:nvPr/>
        </p:nvSpPr>
        <p:spPr>
          <a:xfrm>
            <a:off x="822960" y="96012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600" b="0" i="0">
                <a:solidFill>
                  <a:srgbClr val="FFFFFF"/>
                </a:solidFill>
                <a:latin typeface="Georgia"/>
              </a:rPr>
              <a:t>The controls were bought with a scandal — and the credit window makes execution risk maximally expensive right now.</a:t>
            </a:r>
          </a:p>
        </p:txBody>
      </p:sp>
      <p:sp>
        <p:nvSpPr>
          <p:cNvPr id="4" name="Rectangle 3"/>
          <p:cNvSpPr/>
          <p:nvPr/>
        </p:nvSpPr>
        <p:spPr>
          <a:xfrm>
            <a:off x="822960" y="251460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880360"/>
            <a:ext cx="3271418" cy="3200400"/>
          </a:xfrm>
          <a:prstGeom prst="rect">
            <a:avLst/>
          </a:prstGeom>
          <a:solidFill>
            <a:srgbClr val="1C4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108960"/>
            <a:ext cx="2814218" cy="2834640"/>
          </a:xfrm>
          <a:prstGeom prst="rect">
            <a:avLst/>
          </a:prstGeom>
          <a:noFill/>
        </p:spPr>
        <p:txBody>
          <a:bodyPr wrap="square" lIns="0" rIns="0" tIns="0" bIns="0">
            <a:spAutoFit/>
          </a:bodyPr>
          <a:lstStyle/>
          <a:p>
            <a:pPr algn="l">
              <a:lnSpc>
                <a:spcPct val="95000"/>
              </a:lnSpc>
              <a:spcBef>
                <a:spcPts val="0"/>
              </a:spcBef>
              <a:spcAft>
                <a:spcPts val="800"/>
              </a:spcAft>
            </a:pPr>
            <a:r>
              <a:rPr sz="4400" b="1" i="0">
                <a:solidFill>
                  <a:srgbClr val="FFFFFF"/>
                </a:solidFill>
                <a:latin typeface="Georgia"/>
              </a:rPr>
              <a:t>2012</a:t>
            </a:r>
          </a:p>
          <a:p>
            <a:pPr algn="l">
              <a:lnSpc>
                <a:spcPct val="120000"/>
              </a:lnSpc>
              <a:spcBef>
                <a:spcPts val="0"/>
              </a:spcBef>
              <a:spcAft>
                <a:spcPts val="0"/>
              </a:spcAft>
            </a:pPr>
            <a:r>
              <a:rPr sz="1300" b="0" i="0">
                <a:solidFill>
                  <a:srgbClr val="E7ECF2"/>
                </a:solidFill>
                <a:latin typeface="Calibri"/>
              </a:rPr>
              <a:t>DOT IG found a culture, not a paperwork problem: competition limited on ~two-thirds of contracts over $200K (117 of 190), ~$83.6M spent without required Board approval. The $200K trigger and quarterly report are a settlement with Congress.</a:t>
            </a:r>
          </a:p>
        </p:txBody>
      </p:sp>
      <p:sp>
        <p:nvSpPr>
          <p:cNvPr id="7" name="Rectangle 6"/>
          <p:cNvSpPr/>
          <p:nvPr/>
        </p:nvSpPr>
        <p:spPr>
          <a:xfrm>
            <a:off x="4460138" y="2880360"/>
            <a:ext cx="3271418" cy="3200400"/>
          </a:xfrm>
          <a:prstGeom prst="rect">
            <a:avLst/>
          </a:prstGeom>
          <a:solidFill>
            <a:srgbClr val="1C4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8738" y="3108960"/>
            <a:ext cx="2814218" cy="2834640"/>
          </a:xfrm>
          <a:prstGeom prst="rect">
            <a:avLst/>
          </a:prstGeom>
          <a:noFill/>
        </p:spPr>
        <p:txBody>
          <a:bodyPr wrap="square" lIns="0" rIns="0" tIns="0" bIns="0">
            <a:spAutoFit/>
          </a:bodyPr>
          <a:lstStyle/>
          <a:p>
            <a:pPr algn="l">
              <a:lnSpc>
                <a:spcPct val="95000"/>
              </a:lnSpc>
              <a:spcBef>
                <a:spcPts val="0"/>
              </a:spcBef>
              <a:spcAft>
                <a:spcPts val="800"/>
              </a:spcAft>
            </a:pPr>
            <a:r>
              <a:rPr sz="4400" b="1" i="0">
                <a:solidFill>
                  <a:srgbClr val="FFFFFF"/>
                </a:solidFill>
                <a:latin typeface="Georgia"/>
              </a:rPr>
              <a:t>$5.5B</a:t>
            </a:r>
          </a:p>
          <a:p>
            <a:pPr algn="l">
              <a:lnSpc>
                <a:spcPct val="120000"/>
              </a:lnSpc>
              <a:spcBef>
                <a:spcPts val="0"/>
              </a:spcBef>
              <a:spcAft>
                <a:spcPts val="0"/>
              </a:spcAft>
            </a:pPr>
            <a:r>
              <a:rPr sz="1300" b="0" i="0">
                <a:solidFill>
                  <a:srgbClr val="E7ECF2"/>
                </a:solidFill>
                <a:latin typeface="Calibri"/>
              </a:rPr>
              <a:t>New debt 2025–2028. Coverage falls toward ~1.3x. Rating agencies reward predictability of delivery, not velocity — “faster procurement” can read as “weakened controls.”</a:t>
            </a:r>
          </a:p>
        </p:txBody>
      </p:sp>
      <p:sp>
        <p:nvSpPr>
          <p:cNvPr id="9" name="Rectangle 8"/>
          <p:cNvSpPr/>
          <p:nvPr/>
        </p:nvSpPr>
        <p:spPr>
          <a:xfrm>
            <a:off x="8097316" y="2880360"/>
            <a:ext cx="3271418" cy="3200400"/>
          </a:xfrm>
          <a:prstGeom prst="rect">
            <a:avLst/>
          </a:prstGeom>
          <a:solidFill>
            <a:srgbClr val="1C4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5916" y="3108960"/>
            <a:ext cx="2814218" cy="2834640"/>
          </a:xfrm>
          <a:prstGeom prst="rect">
            <a:avLst/>
          </a:prstGeom>
          <a:noFill/>
        </p:spPr>
        <p:txBody>
          <a:bodyPr wrap="square" lIns="0" rIns="0" tIns="0" bIns="0">
            <a:spAutoFit/>
          </a:bodyPr>
          <a:lstStyle/>
          <a:p>
            <a:pPr algn="l">
              <a:lnSpc>
                <a:spcPct val="95000"/>
              </a:lnSpc>
              <a:spcBef>
                <a:spcPts val="0"/>
              </a:spcBef>
              <a:spcAft>
                <a:spcPts val="800"/>
              </a:spcAft>
            </a:pPr>
            <a:r>
              <a:rPr sz="4400" b="1" i="0">
                <a:solidFill>
                  <a:srgbClr val="FFFFFF"/>
                </a:solidFill>
                <a:latin typeface="Georgia"/>
              </a:rPr>
              <a:t>$288M</a:t>
            </a:r>
          </a:p>
          <a:p>
            <a:pPr algn="l">
              <a:lnSpc>
                <a:spcPct val="120000"/>
              </a:lnSpc>
              <a:spcBef>
                <a:spcPts val="0"/>
              </a:spcBef>
              <a:spcAft>
                <a:spcPts val="0"/>
              </a:spcAft>
            </a:pPr>
            <a:r>
              <a:rPr sz="1300" b="0" i="0">
                <a:solidFill>
                  <a:srgbClr val="E7ECF2"/>
                </a:solidFill>
                <a:latin typeface="Calibri"/>
              </a:rPr>
              <a:t>Denver's Great Hall: signed at ~30% design, terminated 14 months later, the partner seeking ~$288M in claims. Speed without a design-maturity gate authors the most expensive failure a hub can.</a:t>
            </a:r>
          </a:p>
        </p:txBody>
      </p:sp>
      <p:sp>
        <p:nvSpPr>
          <p:cNvPr id="11" name="TextBox 10"/>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WHY THE COUNTER-CASE IS INSUFFICIENT</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800" b="0" i="0">
                <a:solidFill>
                  <a:srgbClr val="143C6E"/>
                </a:solidFill>
                <a:latin typeface="Georgia"/>
              </a:rPr>
              <a:t>Control is not pre-approval — so reform must substitute, never subtract.</a:t>
            </a:r>
          </a:p>
        </p:txBody>
      </p:sp>
      <p:sp>
        <p:nvSpPr>
          <p:cNvPr id="4" name="Rectangle 3"/>
          <p:cNvSpPr/>
          <p:nvPr/>
        </p:nvSpPr>
        <p:spPr>
          <a:xfrm>
            <a:off x="822960" y="1874519"/>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6126480" cy="3840480"/>
          </a:xfrm>
          <a:prstGeom prst="rect">
            <a:avLst/>
          </a:prstGeom>
          <a:noFill/>
        </p:spPr>
        <p:txBody>
          <a:bodyPr wrap="square" lIns="0" rIns="0" tIns="0" bIns="0">
            <a:spAutoFit/>
          </a:bodyPr>
          <a:lstStyle/>
          <a:p>
            <a:pPr algn="l">
              <a:lnSpc>
                <a:spcPct val="120000"/>
              </a:lnSpc>
              <a:spcBef>
                <a:spcPts val="0"/>
              </a:spcBef>
              <a:spcAft>
                <a:spcPts val="800"/>
              </a:spcAft>
            </a:pPr>
            <a:r>
              <a:rPr sz="1550" b="0" i="0">
                <a:solidFill>
                  <a:srgbClr val="143C6E"/>
                </a:solidFill>
                <a:latin typeface="Calibri"/>
              </a:rPr>
              <a:t>The 2012 IG punished uncompeted, unaccountable spend. The manual's response is a great deal of sequential pre-review that touches neither failure:</a:t>
            </a:r>
          </a:p>
          <a:p>
            <a:pPr algn="l">
              <a:lnSpc>
                <a:spcPct val="112000"/>
              </a:lnSpc>
              <a:spcBef>
                <a:spcPts val="0"/>
              </a:spcBef>
              <a:spcAft>
                <a:spcPts val="500"/>
              </a:spcAft>
            </a:pPr>
            <a:r>
              <a:rPr sz="1500" b="0" i="0">
                <a:solidFill>
                  <a:srgbClr val="555B66"/>
                </a:solidFill>
                <a:latin typeface="Calibri"/>
              </a:rPr>
              <a:t>—  Hard-copy evaluations returned in paper</a:t>
            </a:r>
          </a:p>
          <a:p>
            <a:pPr algn="l">
              <a:lnSpc>
                <a:spcPct val="112000"/>
              </a:lnSpc>
              <a:spcBef>
                <a:spcPts val="0"/>
              </a:spcBef>
              <a:spcAft>
                <a:spcPts val="500"/>
              </a:spcAft>
            </a:pPr>
            <a:r>
              <a:rPr sz="1500" b="0" i="0">
                <a:solidFill>
                  <a:srgbClr val="555B66"/>
                </a:solidFill>
                <a:latin typeface="Calibri"/>
              </a:rPr>
              <a:t>—  Serial approval chains that could run in parallel</a:t>
            </a:r>
          </a:p>
          <a:p>
            <a:pPr algn="l">
              <a:lnSpc>
                <a:spcPct val="112000"/>
              </a:lnSpc>
              <a:spcBef>
                <a:spcPts val="0"/>
              </a:spcBef>
              <a:spcAft>
                <a:spcPts val="500"/>
              </a:spcAft>
            </a:pPr>
            <a:r>
              <a:rPr sz="1500" b="0" i="0">
                <a:solidFill>
                  <a:srgbClr val="555B66"/>
                </a:solidFill>
                <a:latin typeface="Calibri"/>
              </a:rPr>
              <a:t>—  A mail-only protest channel</a:t>
            </a:r>
          </a:p>
          <a:p>
            <a:pPr algn="l">
              <a:lnSpc>
                <a:spcPct val="112000"/>
              </a:lnSpc>
              <a:spcBef>
                <a:spcPts val="0"/>
              </a:spcBef>
              <a:spcAft>
                <a:spcPts val="500"/>
              </a:spcAft>
            </a:pPr>
            <a:r>
              <a:rPr sz="1500" b="0" i="0">
                <a:solidFill>
                  <a:srgbClr val="555B66"/>
                </a:solidFill>
                <a:latin typeface="Calibri"/>
              </a:rPr>
              <a:t>—  A monthly Board cadence on a $3M goods buy</a:t>
            </a:r>
          </a:p>
          <a:p>
            <a:pPr algn="l">
              <a:lnSpc>
                <a:spcPct val="120000"/>
              </a:lnSpc>
              <a:spcBef>
                <a:spcPts val="800"/>
              </a:spcBef>
              <a:spcAft>
                <a:spcPts val="0"/>
              </a:spcAft>
            </a:pPr>
            <a:r>
              <a:rPr sz="1500" b="1" i="0">
                <a:solidFill>
                  <a:srgbClr val="143C6E"/>
                </a:solidFill>
                <a:latin typeface="Calibri"/>
              </a:rPr>
              <a:t>These touch order of operations, not competition or accountability. Tiering controls to risk is what Sarbanes-Oxley did after Enron — scaled testing, not repeal. Net control quality rises.</a:t>
            </a:r>
          </a:p>
        </p:txBody>
      </p:sp>
      <p:sp>
        <p:nvSpPr>
          <p:cNvPr id="6" name="Rectangle 5"/>
          <p:cNvSpPr/>
          <p:nvPr/>
        </p:nvSpPr>
        <p:spPr>
          <a:xfrm>
            <a:off x="7406640" y="2286000"/>
            <a:ext cx="3017520" cy="3566160"/>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2560320"/>
            <a:ext cx="3017520" cy="3108960"/>
          </a:xfrm>
          <a:prstGeom prst="rect">
            <a:avLst/>
          </a:prstGeom>
          <a:noFill/>
        </p:spPr>
        <p:txBody>
          <a:bodyPr wrap="square" lIns="0" rIns="0" tIns="0" bIns="0">
            <a:spAutoFit/>
          </a:bodyPr>
          <a:lstStyle/>
          <a:p>
            <a:pPr algn="ctr">
              <a:lnSpc>
                <a:spcPct val="95000"/>
              </a:lnSpc>
              <a:spcBef>
                <a:spcPts val="0"/>
              </a:spcBef>
              <a:spcAft>
                <a:spcPts val="200"/>
              </a:spcAft>
            </a:pPr>
            <a:r>
              <a:rPr sz="7200" b="1" i="0">
                <a:solidFill>
                  <a:srgbClr val="143C6E"/>
                </a:solidFill>
                <a:latin typeface="Georgia"/>
              </a:rPr>
              <a:t>62%</a:t>
            </a:r>
          </a:p>
          <a:p>
            <a:pPr algn="ctr">
              <a:lnSpc>
                <a:spcPct val="120000"/>
              </a:lnSpc>
              <a:spcBef>
                <a:spcPts val="0"/>
              </a:spcBef>
              <a:spcAft>
                <a:spcPts val="1000"/>
              </a:spcAft>
            </a:pPr>
            <a:r>
              <a:rPr sz="1400" b="0" i="0">
                <a:solidFill>
                  <a:srgbClr val="555B66"/>
                </a:solidFill>
                <a:latin typeface="Calibri"/>
              </a:rPr>
              <a:t>of a $527.7M contingency burned on Silver Line Phase 2 — one package's change orders alone topped $41.9M.</a:t>
            </a:r>
          </a:p>
          <a:p>
            <a:pPr algn="ctr">
              <a:lnSpc>
                <a:spcPct val="120000"/>
              </a:lnSpc>
              <a:spcBef>
                <a:spcPts val="0"/>
              </a:spcBef>
              <a:spcAft>
                <a:spcPts val="0"/>
              </a:spcAft>
            </a:pPr>
            <a:r>
              <a:rPr sz="1350" b="0" i="1">
                <a:solidFill>
                  <a:srgbClr val="143C6E"/>
                </a:solidFill>
                <a:latin typeface="Calibri"/>
              </a:rPr>
              <a:t>Every change order that waits on a Board cycle turns cost risk into schedule risk. The credit-protective reform is faster, not slower.</a:t>
            </a:r>
          </a:p>
        </p:txBody>
      </p:sp>
      <p:sp>
        <p:nvSpPr>
          <p:cNvPr id="8" name="TextBox 7"/>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IMPLICATIONS · A RANKED AGENDA</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600" b="0" i="0">
                <a:solidFill>
                  <a:srgbClr val="143C6E"/>
                </a:solidFill>
                <a:latin typeface="Georgia"/>
              </a:rPr>
              <a:t>The center of gravity is execution discipline and Board self-governance — not deregulation.</a:t>
            </a:r>
          </a:p>
        </p:txBody>
      </p:sp>
      <p:sp>
        <p:nvSpPr>
          <p:cNvPr id="4" name="Rectangle 3"/>
          <p:cNvSpPr/>
          <p:nvPr/>
        </p:nvSpPr>
        <p:spPr>
          <a:xfrm>
            <a:off x="822960" y="205740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468880"/>
            <a:ext cx="10545775" cy="41148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32888"/>
            <a:ext cx="7680960" cy="320040"/>
          </a:xfrm>
          <a:prstGeom prst="rect">
            <a:avLst/>
          </a:prstGeom>
          <a:noFill/>
        </p:spPr>
        <p:txBody>
          <a:bodyPr wrap="square" lIns="0" rIns="0" tIns="0" bIns="0">
            <a:spAutoFit/>
          </a:bodyPr>
          <a:lstStyle/>
          <a:p>
            <a:pPr algn="l">
              <a:lnSpc>
                <a:spcPct val="105000"/>
              </a:lnSpc>
              <a:spcBef>
                <a:spcPts val="0"/>
              </a:spcBef>
              <a:spcAft>
                <a:spcPts val="0"/>
              </a:spcAft>
            </a:pPr>
            <a:r>
              <a:rPr sz="1150" b="1" i="0">
                <a:solidFill>
                  <a:srgbClr val="FFFFFF"/>
                </a:solidFill>
                <a:latin typeface="Calibri"/>
              </a:rPr>
              <a:t>REFORM (TOP-RANKED)</a:t>
            </a:r>
          </a:p>
        </p:txBody>
      </p:sp>
      <p:sp>
        <p:nvSpPr>
          <p:cNvPr id="7" name="TextBox 6"/>
          <p:cNvSpPr txBox="1"/>
          <p:nvPr/>
        </p:nvSpPr>
        <p:spPr>
          <a:xfrm>
            <a:off x="8686800" y="2532888"/>
            <a:ext cx="914400" cy="320040"/>
          </a:xfrm>
          <a:prstGeom prst="rect">
            <a:avLst/>
          </a:prstGeom>
          <a:noFill/>
        </p:spPr>
        <p:txBody>
          <a:bodyPr wrap="square" lIns="0" rIns="0" tIns="0" bIns="0">
            <a:spAutoFit/>
          </a:bodyPr>
          <a:lstStyle/>
          <a:p>
            <a:pPr algn="ctr">
              <a:lnSpc>
                <a:spcPct val="105000"/>
              </a:lnSpc>
              <a:spcBef>
                <a:spcPts val="0"/>
              </a:spcBef>
              <a:spcAft>
                <a:spcPts val="0"/>
              </a:spcAft>
            </a:pPr>
            <a:r>
              <a:rPr sz="1150" b="1" i="0">
                <a:solidFill>
                  <a:srgbClr val="FFFFFF"/>
                </a:solidFill>
                <a:latin typeface="Calibri"/>
              </a:rPr>
              <a:t>IMPACT</a:t>
            </a:r>
          </a:p>
        </p:txBody>
      </p:sp>
      <p:sp>
        <p:nvSpPr>
          <p:cNvPr id="8" name="TextBox 7"/>
          <p:cNvSpPr txBox="1"/>
          <p:nvPr/>
        </p:nvSpPr>
        <p:spPr>
          <a:xfrm>
            <a:off x="9692640" y="2532888"/>
            <a:ext cx="914400" cy="320040"/>
          </a:xfrm>
          <a:prstGeom prst="rect">
            <a:avLst/>
          </a:prstGeom>
          <a:noFill/>
        </p:spPr>
        <p:txBody>
          <a:bodyPr wrap="square" lIns="0" rIns="0" tIns="0" bIns="0">
            <a:spAutoFit/>
          </a:bodyPr>
          <a:lstStyle/>
          <a:p>
            <a:pPr algn="ctr">
              <a:lnSpc>
                <a:spcPct val="105000"/>
              </a:lnSpc>
              <a:spcBef>
                <a:spcPts val="0"/>
              </a:spcBef>
              <a:spcAft>
                <a:spcPts val="0"/>
              </a:spcAft>
            </a:pPr>
            <a:r>
              <a:rPr sz="1150" b="1" i="0">
                <a:solidFill>
                  <a:srgbClr val="FFFFFF"/>
                </a:solidFill>
                <a:latin typeface="Calibri"/>
              </a:rPr>
              <a:t>EFFORT</a:t>
            </a:r>
          </a:p>
        </p:txBody>
      </p:sp>
      <p:sp>
        <p:nvSpPr>
          <p:cNvPr id="9" name="TextBox 8"/>
          <p:cNvSpPr txBox="1"/>
          <p:nvPr/>
        </p:nvSpPr>
        <p:spPr>
          <a:xfrm>
            <a:off x="10698480" y="2532888"/>
            <a:ext cx="914400" cy="320040"/>
          </a:xfrm>
          <a:prstGeom prst="rect">
            <a:avLst/>
          </a:prstGeom>
          <a:noFill/>
        </p:spPr>
        <p:txBody>
          <a:bodyPr wrap="square" lIns="0" rIns="0" tIns="0" bIns="0">
            <a:spAutoFit/>
          </a:bodyPr>
          <a:lstStyle/>
          <a:p>
            <a:pPr algn="ctr">
              <a:lnSpc>
                <a:spcPct val="105000"/>
              </a:lnSpc>
              <a:spcBef>
                <a:spcPts val="0"/>
              </a:spcBef>
              <a:spcAft>
                <a:spcPts val="0"/>
              </a:spcAft>
            </a:pPr>
            <a:r>
              <a:rPr sz="1150" b="1" i="0">
                <a:solidFill>
                  <a:srgbClr val="FFFFFF"/>
                </a:solidFill>
                <a:latin typeface="Calibri"/>
              </a:rPr>
              <a:t>PRIORITY</a:t>
            </a:r>
          </a:p>
        </p:txBody>
      </p:sp>
      <p:sp>
        <p:nvSpPr>
          <p:cNvPr id="10" name="Rectangle 9"/>
          <p:cNvSpPr/>
          <p:nvPr/>
        </p:nvSpPr>
        <p:spPr>
          <a:xfrm>
            <a:off x="822960" y="2880360"/>
            <a:ext cx="10545775" cy="56692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99232"/>
            <a:ext cx="7680960" cy="566928"/>
          </a:xfrm>
          <a:prstGeom prst="rect">
            <a:avLst/>
          </a:prstGeom>
          <a:noFill/>
        </p:spPr>
        <p:txBody>
          <a:bodyPr wrap="square" lIns="0" rIns="0" tIns="0" bIns="0">
            <a:spAutoFit/>
          </a:bodyPr>
          <a:lstStyle/>
          <a:p>
            <a:pPr algn="l">
              <a:lnSpc>
                <a:spcPct val="100000"/>
              </a:lnSpc>
              <a:spcBef>
                <a:spcPts val="0"/>
              </a:spcBef>
              <a:spcAft>
                <a:spcPts val="0"/>
              </a:spcAft>
            </a:pPr>
            <a:r>
              <a:rPr sz="1350" b="0" i="0">
                <a:solidFill>
                  <a:srgbClr val="143C6E"/>
                </a:solidFill>
                <a:latin typeface="Calibri"/>
              </a:rPr>
              <a:t>Re-index the $3M Board threshold; route routine awards to a consent agenda</a:t>
            </a:r>
          </a:p>
        </p:txBody>
      </p:sp>
      <p:sp>
        <p:nvSpPr>
          <p:cNvPr id="12" name="TextBox 11"/>
          <p:cNvSpPr txBox="1"/>
          <p:nvPr/>
        </p:nvSpPr>
        <p:spPr>
          <a:xfrm>
            <a:off x="8595360" y="2971800"/>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9</a:t>
            </a:r>
          </a:p>
        </p:txBody>
      </p:sp>
      <p:sp>
        <p:nvSpPr>
          <p:cNvPr id="13" name="TextBox 12"/>
          <p:cNvSpPr txBox="1"/>
          <p:nvPr/>
        </p:nvSpPr>
        <p:spPr>
          <a:xfrm>
            <a:off x="9601200" y="2971800"/>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4</a:t>
            </a:r>
          </a:p>
        </p:txBody>
      </p:sp>
      <p:sp>
        <p:nvSpPr>
          <p:cNvPr id="14" name="TextBox 13"/>
          <p:cNvSpPr txBox="1"/>
          <p:nvPr/>
        </p:nvSpPr>
        <p:spPr>
          <a:xfrm>
            <a:off x="10607040" y="2971800"/>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15" name="TextBox 14"/>
          <p:cNvSpPr txBox="1"/>
          <p:nvPr/>
        </p:nvSpPr>
        <p:spPr>
          <a:xfrm>
            <a:off x="914400" y="3566160"/>
            <a:ext cx="7680960" cy="566928"/>
          </a:xfrm>
          <a:prstGeom prst="rect">
            <a:avLst/>
          </a:prstGeom>
          <a:noFill/>
        </p:spPr>
        <p:txBody>
          <a:bodyPr wrap="square" lIns="0" rIns="0" tIns="0" bIns="0">
            <a:spAutoFit/>
          </a:bodyPr>
          <a:lstStyle/>
          <a:p>
            <a:pPr algn="l">
              <a:lnSpc>
                <a:spcPct val="100000"/>
              </a:lnSpc>
              <a:spcBef>
                <a:spcPts val="0"/>
              </a:spcBef>
              <a:spcAft>
                <a:spcPts val="0"/>
              </a:spcAft>
            </a:pPr>
            <a:r>
              <a:rPr sz="1350" b="0" i="0">
                <a:solidFill>
                  <a:srgbClr val="143C6E"/>
                </a:solidFill>
                <a:latin typeface="Calibri"/>
              </a:rPr>
              <a:t>Mandate TCO scoring, an operations seat, and an acceptance-gate payment</a:t>
            </a:r>
          </a:p>
        </p:txBody>
      </p:sp>
      <p:sp>
        <p:nvSpPr>
          <p:cNvPr id="16" name="TextBox 15"/>
          <p:cNvSpPr txBox="1"/>
          <p:nvPr/>
        </p:nvSpPr>
        <p:spPr>
          <a:xfrm>
            <a:off x="8595360" y="3538728"/>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8</a:t>
            </a:r>
          </a:p>
        </p:txBody>
      </p:sp>
      <p:sp>
        <p:nvSpPr>
          <p:cNvPr id="17" name="TextBox 16"/>
          <p:cNvSpPr txBox="1"/>
          <p:nvPr/>
        </p:nvSpPr>
        <p:spPr>
          <a:xfrm>
            <a:off x="9601200" y="3538728"/>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3</a:t>
            </a:r>
          </a:p>
        </p:txBody>
      </p:sp>
      <p:sp>
        <p:nvSpPr>
          <p:cNvPr id="18" name="TextBox 17"/>
          <p:cNvSpPr txBox="1"/>
          <p:nvPr/>
        </p:nvSpPr>
        <p:spPr>
          <a:xfrm>
            <a:off x="10607040" y="3538728"/>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19" name="Rectangle 18"/>
          <p:cNvSpPr/>
          <p:nvPr/>
        </p:nvSpPr>
        <p:spPr>
          <a:xfrm>
            <a:off x="822960" y="4014216"/>
            <a:ext cx="10545775" cy="56692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133088"/>
            <a:ext cx="7680960" cy="566928"/>
          </a:xfrm>
          <a:prstGeom prst="rect">
            <a:avLst/>
          </a:prstGeom>
          <a:noFill/>
        </p:spPr>
        <p:txBody>
          <a:bodyPr wrap="square" lIns="0" rIns="0" tIns="0" bIns="0">
            <a:spAutoFit/>
          </a:bodyPr>
          <a:lstStyle/>
          <a:p>
            <a:pPr algn="l">
              <a:lnSpc>
                <a:spcPct val="100000"/>
              </a:lnSpc>
              <a:spcBef>
                <a:spcPts val="0"/>
              </a:spcBef>
              <a:spcAft>
                <a:spcPts val="0"/>
              </a:spcAft>
            </a:pPr>
            <a:r>
              <a:rPr sz="1350" b="0" i="0">
                <a:solidFill>
                  <a:srgbClr val="143C6E"/>
                </a:solidFill>
                <a:latin typeface="Calibri"/>
              </a:rPr>
              <a:t>Invert the burden of proof: alternative delivery presumptive for major capital</a:t>
            </a:r>
          </a:p>
        </p:txBody>
      </p:sp>
      <p:sp>
        <p:nvSpPr>
          <p:cNvPr id="21" name="TextBox 20"/>
          <p:cNvSpPr txBox="1"/>
          <p:nvPr/>
        </p:nvSpPr>
        <p:spPr>
          <a:xfrm>
            <a:off x="8595360" y="4105656"/>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8</a:t>
            </a:r>
          </a:p>
        </p:txBody>
      </p:sp>
      <p:sp>
        <p:nvSpPr>
          <p:cNvPr id="22" name="TextBox 21"/>
          <p:cNvSpPr txBox="1"/>
          <p:nvPr/>
        </p:nvSpPr>
        <p:spPr>
          <a:xfrm>
            <a:off x="9601200" y="4105656"/>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4</a:t>
            </a:r>
          </a:p>
        </p:txBody>
      </p:sp>
      <p:sp>
        <p:nvSpPr>
          <p:cNvPr id="23" name="TextBox 22"/>
          <p:cNvSpPr txBox="1"/>
          <p:nvPr/>
        </p:nvSpPr>
        <p:spPr>
          <a:xfrm>
            <a:off x="10607040" y="4105656"/>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24" name="TextBox 23"/>
          <p:cNvSpPr txBox="1"/>
          <p:nvPr/>
        </p:nvSpPr>
        <p:spPr>
          <a:xfrm>
            <a:off x="914400" y="4700016"/>
            <a:ext cx="7680960" cy="566928"/>
          </a:xfrm>
          <a:prstGeom prst="rect">
            <a:avLst/>
          </a:prstGeom>
          <a:noFill/>
        </p:spPr>
        <p:txBody>
          <a:bodyPr wrap="square" lIns="0" rIns="0" tIns="0" bIns="0">
            <a:spAutoFit/>
          </a:bodyPr>
          <a:lstStyle/>
          <a:p>
            <a:pPr algn="l">
              <a:lnSpc>
                <a:spcPct val="100000"/>
              </a:lnSpc>
              <a:spcBef>
                <a:spcPts val="0"/>
              </a:spcBef>
              <a:spcAft>
                <a:spcPts val="0"/>
              </a:spcAft>
            </a:pPr>
            <a:r>
              <a:rPr sz="1350" b="0" i="0">
                <a:solidFill>
                  <a:srgbClr val="143C6E"/>
                </a:solidFill>
                <a:latin typeface="Calibri"/>
              </a:rPr>
              <a:t>Install a design-maturity gate — never sign a contract at immature design</a:t>
            </a:r>
          </a:p>
        </p:txBody>
      </p:sp>
      <p:sp>
        <p:nvSpPr>
          <p:cNvPr id="25" name="TextBox 24"/>
          <p:cNvSpPr txBox="1"/>
          <p:nvPr/>
        </p:nvSpPr>
        <p:spPr>
          <a:xfrm>
            <a:off x="8595360" y="4672584"/>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8</a:t>
            </a:r>
          </a:p>
        </p:txBody>
      </p:sp>
      <p:sp>
        <p:nvSpPr>
          <p:cNvPr id="26" name="TextBox 25"/>
          <p:cNvSpPr txBox="1"/>
          <p:nvPr/>
        </p:nvSpPr>
        <p:spPr>
          <a:xfrm>
            <a:off x="9601200" y="4672584"/>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3</a:t>
            </a:r>
          </a:p>
        </p:txBody>
      </p:sp>
      <p:sp>
        <p:nvSpPr>
          <p:cNvPr id="27" name="TextBox 26"/>
          <p:cNvSpPr txBox="1"/>
          <p:nvPr/>
        </p:nvSpPr>
        <p:spPr>
          <a:xfrm>
            <a:off x="10607040" y="4672584"/>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1" i="0">
                <a:solidFill>
                  <a:srgbClr val="143C6E"/>
                </a:solidFill>
                <a:latin typeface="Georgia"/>
              </a:rPr>
              <a:t>20</a:t>
            </a:r>
          </a:p>
        </p:txBody>
      </p:sp>
      <p:sp>
        <p:nvSpPr>
          <p:cNvPr id="28" name="Rectangle 27"/>
          <p:cNvSpPr/>
          <p:nvPr/>
        </p:nvSpPr>
        <p:spPr>
          <a:xfrm>
            <a:off x="822960" y="5148072"/>
            <a:ext cx="10545775" cy="56692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266944"/>
            <a:ext cx="7680960" cy="566928"/>
          </a:xfrm>
          <a:prstGeom prst="rect">
            <a:avLst/>
          </a:prstGeom>
          <a:noFill/>
        </p:spPr>
        <p:txBody>
          <a:bodyPr wrap="square" lIns="0" rIns="0" tIns="0" bIns="0">
            <a:spAutoFit/>
          </a:bodyPr>
          <a:lstStyle/>
          <a:p>
            <a:pPr algn="l">
              <a:lnSpc>
                <a:spcPct val="100000"/>
              </a:lnSpc>
              <a:spcBef>
                <a:spcPts val="0"/>
              </a:spcBef>
              <a:spcAft>
                <a:spcPts val="0"/>
              </a:spcAft>
            </a:pPr>
            <a:r>
              <a:rPr sz="1350" b="1" i="0">
                <a:solidFill>
                  <a:srgbClr val="B18A3E"/>
                </a:solidFill>
                <a:latin typeface="Calibri"/>
              </a:rPr>
              <a:t>Risk-tiered control architecture — the SOX-scaling move</a:t>
            </a:r>
          </a:p>
        </p:txBody>
      </p:sp>
      <p:sp>
        <p:nvSpPr>
          <p:cNvPr id="30" name="TextBox 29"/>
          <p:cNvSpPr txBox="1"/>
          <p:nvPr/>
        </p:nvSpPr>
        <p:spPr>
          <a:xfrm>
            <a:off x="8595360" y="5239512"/>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9</a:t>
            </a:r>
          </a:p>
        </p:txBody>
      </p:sp>
      <p:sp>
        <p:nvSpPr>
          <p:cNvPr id="31" name="TextBox 30"/>
          <p:cNvSpPr txBox="1"/>
          <p:nvPr/>
        </p:nvSpPr>
        <p:spPr>
          <a:xfrm>
            <a:off x="9601200" y="5239512"/>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0" i="0">
                <a:solidFill>
                  <a:srgbClr val="143C6E"/>
                </a:solidFill>
                <a:latin typeface="Georgia"/>
              </a:rPr>
              <a:t>7</a:t>
            </a:r>
          </a:p>
        </p:txBody>
      </p:sp>
      <p:sp>
        <p:nvSpPr>
          <p:cNvPr id="32" name="TextBox 31"/>
          <p:cNvSpPr txBox="1"/>
          <p:nvPr/>
        </p:nvSpPr>
        <p:spPr>
          <a:xfrm>
            <a:off x="10607040" y="5239512"/>
            <a:ext cx="914400" cy="566928"/>
          </a:xfrm>
          <a:prstGeom prst="rect">
            <a:avLst/>
          </a:prstGeom>
          <a:noFill/>
        </p:spPr>
        <p:txBody>
          <a:bodyPr wrap="square" lIns="0" rIns="0" tIns="0" bIns="0">
            <a:spAutoFit/>
          </a:bodyPr>
          <a:lstStyle/>
          <a:p>
            <a:pPr algn="ctr">
              <a:lnSpc>
                <a:spcPct val="105000"/>
              </a:lnSpc>
              <a:spcBef>
                <a:spcPts val="0"/>
              </a:spcBef>
              <a:spcAft>
                <a:spcPts val="0"/>
              </a:spcAft>
            </a:pPr>
            <a:r>
              <a:rPr sz="2000" b="1" i="0">
                <a:solidFill>
                  <a:srgbClr val="143C6E"/>
                </a:solidFill>
                <a:latin typeface="Georgia"/>
              </a:rPr>
              <a:t>21</a:t>
            </a:r>
          </a:p>
        </p:txBody>
      </p:sp>
      <p:sp>
        <p:nvSpPr>
          <p:cNvPr id="33" name="TextBox 32"/>
          <p:cNvSpPr txBox="1"/>
          <p:nvPr/>
        </p:nvSpPr>
        <p:spPr>
          <a:xfrm>
            <a:off x="822960" y="5943600"/>
            <a:ext cx="10545775" cy="640080"/>
          </a:xfrm>
          <a:prstGeom prst="rect">
            <a:avLst/>
          </a:prstGeom>
          <a:noFill/>
        </p:spPr>
        <p:txBody>
          <a:bodyPr wrap="square" lIns="0" rIns="0" tIns="0" bIns="0">
            <a:spAutoFit/>
          </a:bodyPr>
          <a:lstStyle/>
          <a:p>
            <a:pPr algn="l">
              <a:lnSpc>
                <a:spcPct val="115000"/>
              </a:lnSpc>
              <a:spcBef>
                <a:spcPts val="0"/>
              </a:spcBef>
              <a:spcAft>
                <a:spcPts val="0"/>
              </a:spcAft>
            </a:pPr>
            <a:r>
              <a:rPr sz="1200" b="0" i="1">
                <a:solidFill>
                  <a:srgbClr val="555B66"/>
                </a:solidFill>
                <a:latin typeface="Calibri"/>
              </a:rPr>
              <a:t>Priority = Impact + Innovation + (10 − Effort), 1–10, analyst judgment. Four reforms tie at the top at 20; the moonshot scores 21. The flat top is the honest result — there is no single heroic fix.</a:t>
            </a:r>
          </a:p>
        </p:txBody>
      </p:sp>
      <p:sp>
        <p:nvSpPr>
          <p:cNvPr id="34" name="TextBox 33"/>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250" b="1" i="0" spc="180">
                <a:solidFill>
                  <a:srgbClr val="B18A3E"/>
                </a:solidFill>
                <a:latin typeface="Calibri"/>
              </a:rPr>
              <a:t>QUICK WINS · NEAR-ZERO POLITICAL RISK</a:t>
            </a:r>
          </a:p>
        </p:txBody>
      </p:sp>
      <p:sp>
        <p:nvSpPr>
          <p:cNvPr id="3" name="TextBox 2"/>
          <p:cNvSpPr txBox="1"/>
          <p:nvPr/>
        </p:nvSpPr>
        <p:spPr>
          <a:xfrm>
            <a:off x="822960" y="914400"/>
            <a:ext cx="10545775" cy="1554480"/>
          </a:xfrm>
          <a:prstGeom prst="rect">
            <a:avLst/>
          </a:prstGeom>
          <a:noFill/>
        </p:spPr>
        <p:txBody>
          <a:bodyPr wrap="square" lIns="0" rIns="0" tIns="0" bIns="0">
            <a:spAutoFit/>
          </a:bodyPr>
          <a:lstStyle/>
          <a:p>
            <a:pPr algn="l">
              <a:lnSpc>
                <a:spcPct val="104000"/>
              </a:lnSpc>
              <a:spcBef>
                <a:spcPts val="0"/>
              </a:spcBef>
              <a:spcAft>
                <a:spcPts val="0"/>
              </a:spcAft>
            </a:pPr>
            <a:r>
              <a:rPr sz="2900" b="0" i="0">
                <a:solidFill>
                  <a:srgbClr val="143C6E"/>
                </a:solidFill>
                <a:latin typeface="Georgia"/>
              </a:rPr>
              <a:t>Five quick wins cost almost nothing and can start now.</a:t>
            </a:r>
          </a:p>
        </p:txBody>
      </p:sp>
      <p:sp>
        <p:nvSpPr>
          <p:cNvPr id="4" name="Rectangle 3"/>
          <p:cNvSpPr/>
          <p:nvPr/>
        </p:nvSpPr>
        <p:spPr>
          <a:xfrm>
            <a:off x="822960" y="178308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240280"/>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304288"/>
            <a:ext cx="502920" cy="411480"/>
          </a:xfrm>
          <a:prstGeom prst="rect">
            <a:avLst/>
          </a:prstGeom>
          <a:noFill/>
        </p:spPr>
        <p:txBody>
          <a:bodyPr wrap="square" lIns="0" rIns="0" tIns="0" bIns="0">
            <a:spAutoFit/>
          </a:bodyPr>
          <a:lstStyle/>
          <a:p>
            <a:pPr algn="ctr">
              <a:lnSpc>
                <a:spcPct val="105000"/>
              </a:lnSpc>
              <a:spcBef>
                <a:spcPts val="0"/>
              </a:spcBef>
              <a:spcAft>
                <a:spcPts val="0"/>
              </a:spcAft>
            </a:pPr>
            <a:r>
              <a:rPr sz="2200" b="1" i="0">
                <a:solidFill>
                  <a:srgbClr val="FFFFFF"/>
                </a:solidFill>
                <a:latin typeface="Georgia"/>
              </a:rPr>
              <a:t>1</a:t>
            </a:r>
          </a:p>
        </p:txBody>
      </p:sp>
      <p:sp>
        <p:nvSpPr>
          <p:cNvPr id="7" name="TextBox 6"/>
          <p:cNvSpPr txBox="1"/>
          <p:nvPr/>
        </p:nvSpPr>
        <p:spPr>
          <a:xfrm>
            <a:off x="1554480" y="2221992"/>
            <a:ext cx="9814255" cy="822960"/>
          </a:xfrm>
          <a:prstGeom prst="rect">
            <a:avLst/>
          </a:prstGeom>
          <a:noFill/>
        </p:spPr>
        <p:txBody>
          <a:bodyPr wrap="square" lIns="0" rIns="0" tIns="0" bIns="0">
            <a:spAutoFit/>
          </a:bodyPr>
          <a:lstStyle/>
          <a:p>
            <a:pPr algn="l">
              <a:lnSpc>
                <a:spcPct val="100000"/>
              </a:lnSpc>
              <a:spcBef>
                <a:spcPts val="0"/>
              </a:spcBef>
              <a:spcAft>
                <a:spcPts val="200"/>
              </a:spcAft>
            </a:pPr>
            <a:r>
              <a:rPr sz="1650" b="1" i="0">
                <a:solidFill>
                  <a:srgbClr val="143C6E"/>
                </a:solidFill>
                <a:latin typeface="Calibri"/>
              </a:rPr>
              <a:t>Adopt a cycle-time standard</a:t>
            </a:r>
          </a:p>
          <a:p>
            <a:pPr algn="l">
              <a:lnSpc>
                <a:spcPct val="112000"/>
              </a:lnSpc>
              <a:spcBef>
                <a:spcPts val="0"/>
              </a:spcBef>
              <a:spcAft>
                <a:spcPts val="0"/>
              </a:spcAft>
            </a:pPr>
            <a:r>
              <a:rPr sz="1300" b="0" i="0">
                <a:solidFill>
                  <a:srgbClr val="555B66"/>
                </a:solidFill>
                <a:latin typeface="Calibri"/>
              </a:rPr>
              <a:t>One KPI — days from requisition to award, by method and dollar band — plus quarterly variance review. Free, and it measures the band where most volume lives.</a:t>
            </a:r>
          </a:p>
        </p:txBody>
      </p:sp>
      <p:sp>
        <p:nvSpPr>
          <p:cNvPr id="8" name="Rectangle 7"/>
          <p:cNvSpPr/>
          <p:nvPr/>
        </p:nvSpPr>
        <p:spPr>
          <a:xfrm>
            <a:off x="822960" y="3081528"/>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45536"/>
            <a:ext cx="502920" cy="411480"/>
          </a:xfrm>
          <a:prstGeom prst="rect">
            <a:avLst/>
          </a:prstGeom>
          <a:noFill/>
        </p:spPr>
        <p:txBody>
          <a:bodyPr wrap="square" lIns="0" rIns="0" tIns="0" bIns="0">
            <a:spAutoFit/>
          </a:bodyPr>
          <a:lstStyle/>
          <a:p>
            <a:pPr algn="ctr">
              <a:lnSpc>
                <a:spcPct val="105000"/>
              </a:lnSpc>
              <a:spcBef>
                <a:spcPts val="0"/>
              </a:spcBef>
              <a:spcAft>
                <a:spcPts val="0"/>
              </a:spcAft>
            </a:pPr>
            <a:r>
              <a:rPr sz="2200" b="1" i="0">
                <a:solidFill>
                  <a:srgbClr val="FFFFFF"/>
                </a:solidFill>
                <a:latin typeface="Georgia"/>
              </a:rPr>
              <a:t>2</a:t>
            </a:r>
          </a:p>
        </p:txBody>
      </p:sp>
      <p:sp>
        <p:nvSpPr>
          <p:cNvPr id="10" name="TextBox 9"/>
          <p:cNvSpPr txBox="1"/>
          <p:nvPr/>
        </p:nvSpPr>
        <p:spPr>
          <a:xfrm>
            <a:off x="1554480" y="3063240"/>
            <a:ext cx="9814255" cy="822960"/>
          </a:xfrm>
          <a:prstGeom prst="rect">
            <a:avLst/>
          </a:prstGeom>
          <a:noFill/>
        </p:spPr>
        <p:txBody>
          <a:bodyPr wrap="square" lIns="0" rIns="0" tIns="0" bIns="0">
            <a:spAutoFit/>
          </a:bodyPr>
          <a:lstStyle/>
          <a:p>
            <a:pPr algn="l">
              <a:lnSpc>
                <a:spcPct val="100000"/>
              </a:lnSpc>
              <a:spcBef>
                <a:spcPts val="0"/>
              </a:spcBef>
              <a:spcAft>
                <a:spcPts val="200"/>
              </a:spcAft>
            </a:pPr>
            <a:r>
              <a:rPr sz="1650" b="1" i="0">
                <a:solidFill>
                  <a:srgbClr val="143C6E"/>
                </a:solidFill>
                <a:latin typeface="Calibri"/>
              </a:rPr>
              <a:t>Publish a cooperative-purchasing playbook</a:t>
            </a:r>
          </a:p>
          <a:p>
            <a:pPr algn="l">
              <a:lnSpc>
                <a:spcPct val="112000"/>
              </a:lnSpc>
              <a:spcBef>
                <a:spcPts val="0"/>
              </a:spcBef>
              <a:spcAft>
                <a:spcPts val="0"/>
              </a:spcAft>
            </a:pPr>
            <a:r>
              <a:rPr sz="1300" b="0" i="0">
                <a:solidFill>
                  <a:srgbClr val="555B66"/>
                </a:solidFill>
                <a:latin typeface="Calibri"/>
              </a:rPr>
              <a:t>Approved-vehicle list and a one-page piggyback decision tree with a price-reasonableness check. Authority already in §3.7.</a:t>
            </a:r>
          </a:p>
        </p:txBody>
      </p:sp>
      <p:sp>
        <p:nvSpPr>
          <p:cNvPr id="11" name="Rectangle 10"/>
          <p:cNvSpPr/>
          <p:nvPr/>
        </p:nvSpPr>
        <p:spPr>
          <a:xfrm>
            <a:off x="822960" y="3922776"/>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986784"/>
            <a:ext cx="502920" cy="411480"/>
          </a:xfrm>
          <a:prstGeom prst="rect">
            <a:avLst/>
          </a:prstGeom>
          <a:noFill/>
        </p:spPr>
        <p:txBody>
          <a:bodyPr wrap="square" lIns="0" rIns="0" tIns="0" bIns="0">
            <a:spAutoFit/>
          </a:bodyPr>
          <a:lstStyle/>
          <a:p>
            <a:pPr algn="ctr">
              <a:lnSpc>
                <a:spcPct val="105000"/>
              </a:lnSpc>
              <a:spcBef>
                <a:spcPts val="0"/>
              </a:spcBef>
              <a:spcAft>
                <a:spcPts val="0"/>
              </a:spcAft>
            </a:pPr>
            <a:r>
              <a:rPr sz="2200" b="1" i="0">
                <a:solidFill>
                  <a:srgbClr val="FFFFFF"/>
                </a:solidFill>
                <a:latin typeface="Georgia"/>
              </a:rPr>
              <a:t>3</a:t>
            </a:r>
          </a:p>
        </p:txBody>
      </p:sp>
      <p:sp>
        <p:nvSpPr>
          <p:cNvPr id="13" name="TextBox 12"/>
          <p:cNvSpPr txBox="1"/>
          <p:nvPr/>
        </p:nvSpPr>
        <p:spPr>
          <a:xfrm>
            <a:off x="1554480" y="3904488"/>
            <a:ext cx="9814255" cy="822960"/>
          </a:xfrm>
          <a:prstGeom prst="rect">
            <a:avLst/>
          </a:prstGeom>
          <a:noFill/>
        </p:spPr>
        <p:txBody>
          <a:bodyPr wrap="square" lIns="0" rIns="0" tIns="0" bIns="0">
            <a:spAutoFit/>
          </a:bodyPr>
          <a:lstStyle/>
          <a:p>
            <a:pPr algn="l">
              <a:lnSpc>
                <a:spcPct val="100000"/>
              </a:lnSpc>
              <a:spcBef>
                <a:spcPts val="0"/>
              </a:spcBef>
              <a:spcAft>
                <a:spcPts val="200"/>
              </a:spcAft>
            </a:pPr>
            <a:r>
              <a:rPr sz="1650" b="1" i="0">
                <a:solidFill>
                  <a:srgbClr val="143C6E"/>
                </a:solidFill>
                <a:latin typeface="Calibri"/>
              </a:rPr>
              <a:t>Convert the §1.5 forecast into an industry-and-teaming day</a:t>
            </a:r>
          </a:p>
          <a:p>
            <a:pPr algn="l">
              <a:lnSpc>
                <a:spcPct val="112000"/>
              </a:lnSpc>
              <a:spcBef>
                <a:spcPts val="0"/>
              </a:spcBef>
              <a:spcAft>
                <a:spcPts val="0"/>
              </a:spcAft>
            </a:pPr>
            <a:r>
              <a:rPr sz="1300" b="0" i="0">
                <a:solidFill>
                  <a:srgbClr val="555B66"/>
                </a:solidFill>
                <a:latin typeface="Calibri"/>
              </a:rPr>
              <a:t>A compliance artifact doubles as a supplier-engagement engine that raises competition and seeds SLBE teaming.</a:t>
            </a:r>
          </a:p>
        </p:txBody>
      </p:sp>
      <p:sp>
        <p:nvSpPr>
          <p:cNvPr id="14" name="Rectangle 13"/>
          <p:cNvSpPr/>
          <p:nvPr/>
        </p:nvSpPr>
        <p:spPr>
          <a:xfrm>
            <a:off x="822960" y="4764024"/>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828032"/>
            <a:ext cx="502920" cy="411480"/>
          </a:xfrm>
          <a:prstGeom prst="rect">
            <a:avLst/>
          </a:prstGeom>
          <a:noFill/>
        </p:spPr>
        <p:txBody>
          <a:bodyPr wrap="square" lIns="0" rIns="0" tIns="0" bIns="0">
            <a:spAutoFit/>
          </a:bodyPr>
          <a:lstStyle/>
          <a:p>
            <a:pPr algn="ctr">
              <a:lnSpc>
                <a:spcPct val="105000"/>
              </a:lnSpc>
              <a:spcBef>
                <a:spcPts val="0"/>
              </a:spcBef>
              <a:spcAft>
                <a:spcPts val="0"/>
              </a:spcAft>
            </a:pPr>
            <a:r>
              <a:rPr sz="2200" b="1" i="0">
                <a:solidFill>
                  <a:srgbClr val="FFFFFF"/>
                </a:solidFill>
                <a:latin typeface="Georgia"/>
              </a:rPr>
              <a:t>4</a:t>
            </a:r>
          </a:p>
        </p:txBody>
      </p:sp>
      <p:sp>
        <p:nvSpPr>
          <p:cNvPr id="16" name="TextBox 15"/>
          <p:cNvSpPr txBox="1"/>
          <p:nvPr/>
        </p:nvSpPr>
        <p:spPr>
          <a:xfrm>
            <a:off x="1554480" y="4745736"/>
            <a:ext cx="9814255" cy="822960"/>
          </a:xfrm>
          <a:prstGeom prst="rect">
            <a:avLst/>
          </a:prstGeom>
          <a:noFill/>
        </p:spPr>
        <p:txBody>
          <a:bodyPr wrap="square" lIns="0" rIns="0" tIns="0" bIns="0">
            <a:spAutoFit/>
          </a:bodyPr>
          <a:lstStyle/>
          <a:p>
            <a:pPr algn="l">
              <a:lnSpc>
                <a:spcPct val="100000"/>
              </a:lnSpc>
              <a:spcBef>
                <a:spcPts val="0"/>
              </a:spcBef>
              <a:spcAft>
                <a:spcPts val="200"/>
              </a:spcAft>
            </a:pPr>
            <a:r>
              <a:rPr sz="1650" b="1" i="0">
                <a:solidFill>
                  <a:srgbClr val="143C6E"/>
                </a:solidFill>
                <a:latin typeface="Calibri"/>
              </a:rPr>
              <a:t>Digitize the analog channels</a:t>
            </a:r>
          </a:p>
          <a:p>
            <a:pPr algn="l">
              <a:lnSpc>
                <a:spcPct val="112000"/>
              </a:lnSpc>
              <a:spcBef>
                <a:spcPts val="0"/>
              </a:spcBef>
              <a:spcAft>
                <a:spcPts val="0"/>
              </a:spcAft>
            </a:pPr>
            <a:r>
              <a:rPr sz="1300" b="0" i="0">
                <a:solidFill>
                  <a:srgbClr val="555B66"/>
                </a:solidFill>
                <a:latin typeface="Calibri"/>
              </a:rPr>
              <a:t>Accept electronic protest filing; end hard-copy evaluation. Both are pure dwell with no integrity value.</a:t>
            </a:r>
          </a:p>
        </p:txBody>
      </p:sp>
      <p:sp>
        <p:nvSpPr>
          <p:cNvPr id="17" name="Rectangle 16"/>
          <p:cNvSpPr/>
          <p:nvPr/>
        </p:nvSpPr>
        <p:spPr>
          <a:xfrm>
            <a:off x="822960" y="5605272"/>
            <a:ext cx="502920" cy="502920"/>
          </a:xfrm>
          <a:prstGeom prst="rect">
            <a:avLst/>
          </a:prstGeom>
          <a:solidFill>
            <a:srgbClr val="14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69280"/>
            <a:ext cx="502920" cy="411480"/>
          </a:xfrm>
          <a:prstGeom prst="rect">
            <a:avLst/>
          </a:prstGeom>
          <a:noFill/>
        </p:spPr>
        <p:txBody>
          <a:bodyPr wrap="square" lIns="0" rIns="0" tIns="0" bIns="0">
            <a:spAutoFit/>
          </a:bodyPr>
          <a:lstStyle/>
          <a:p>
            <a:pPr algn="ctr">
              <a:lnSpc>
                <a:spcPct val="105000"/>
              </a:lnSpc>
              <a:spcBef>
                <a:spcPts val="0"/>
              </a:spcBef>
              <a:spcAft>
                <a:spcPts val="0"/>
              </a:spcAft>
            </a:pPr>
            <a:r>
              <a:rPr sz="2200" b="1" i="0">
                <a:solidFill>
                  <a:srgbClr val="FFFFFF"/>
                </a:solidFill>
                <a:latin typeface="Georgia"/>
              </a:rPr>
              <a:t>5</a:t>
            </a:r>
          </a:p>
        </p:txBody>
      </p:sp>
      <p:sp>
        <p:nvSpPr>
          <p:cNvPr id="19" name="TextBox 18"/>
          <p:cNvSpPr txBox="1"/>
          <p:nvPr/>
        </p:nvSpPr>
        <p:spPr>
          <a:xfrm>
            <a:off x="1554480" y="5586984"/>
            <a:ext cx="9814255" cy="822960"/>
          </a:xfrm>
          <a:prstGeom prst="rect">
            <a:avLst/>
          </a:prstGeom>
          <a:noFill/>
        </p:spPr>
        <p:txBody>
          <a:bodyPr wrap="square" lIns="0" rIns="0" tIns="0" bIns="0">
            <a:spAutoFit/>
          </a:bodyPr>
          <a:lstStyle/>
          <a:p>
            <a:pPr algn="l">
              <a:lnSpc>
                <a:spcPct val="100000"/>
              </a:lnSpc>
              <a:spcBef>
                <a:spcPts val="0"/>
              </a:spcBef>
              <a:spcAft>
                <a:spcPts val="200"/>
              </a:spcAft>
            </a:pPr>
            <a:r>
              <a:rPr sz="1650" b="1" i="0">
                <a:solidFill>
                  <a:srgbClr val="143C6E"/>
                </a:solidFill>
                <a:latin typeface="Calibri"/>
              </a:rPr>
              <a:t>Correct the FTA circular citation (4220.1F → 4220.1G)</a:t>
            </a:r>
          </a:p>
          <a:p>
            <a:pPr algn="l">
              <a:lnSpc>
                <a:spcPct val="112000"/>
              </a:lnSpc>
              <a:spcBef>
                <a:spcPts val="0"/>
              </a:spcBef>
              <a:spcAft>
                <a:spcPts val="0"/>
              </a:spcAft>
            </a:pPr>
            <a:r>
              <a:rPr sz="1300" b="0" i="0">
                <a:solidFill>
                  <a:srgbClr val="555B66"/>
                </a:solidFill>
                <a:latin typeface="Calibri"/>
              </a:rPr>
              <a:t>A currency defect a federal reviewer will catch first if MWAA does not.</a:t>
            </a:r>
          </a:p>
        </p:txBody>
      </p:sp>
      <p:sp>
        <p:nvSpPr>
          <p:cNvPr id="20" name="TextBox 19"/>
          <p:cNvSpPr txBox="1"/>
          <p:nvPr/>
        </p:nvSpPr>
        <p:spPr>
          <a:xfrm>
            <a:off x="11368735" y="6355080"/>
            <a:ext cx="548640" cy="320040"/>
          </a:xfrm>
          <a:prstGeom prst="rect">
            <a:avLst/>
          </a:prstGeom>
          <a:noFill/>
        </p:spPr>
        <p:txBody>
          <a:bodyPr wrap="square" lIns="0" rIns="0" tIns="0" bIns="0">
            <a:spAutoFit/>
          </a:bodyPr>
          <a:lstStyle/>
          <a:p>
            <a:pPr algn="r">
              <a:lnSpc>
                <a:spcPct val="105000"/>
              </a:lnSpc>
              <a:spcBef>
                <a:spcPts val="0"/>
              </a:spcBef>
              <a:spcAft>
                <a:spcPts val="0"/>
              </a:spcAft>
            </a:pPr>
            <a:r>
              <a:rPr sz="11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3C6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45775" cy="2377440"/>
          </a:xfrm>
          <a:prstGeom prst="rect">
            <a:avLst/>
          </a:prstGeom>
          <a:noFill/>
        </p:spPr>
        <p:txBody>
          <a:bodyPr wrap="square" lIns="0" rIns="0" tIns="0" bIns="0">
            <a:spAutoFit/>
          </a:bodyPr>
          <a:lstStyle/>
          <a:p>
            <a:pPr algn="l">
              <a:lnSpc>
                <a:spcPct val="105000"/>
              </a:lnSpc>
              <a:spcBef>
                <a:spcPts val="0"/>
              </a:spcBef>
              <a:spcAft>
                <a:spcPts val="600"/>
              </a:spcAft>
            </a:pPr>
            <a:r>
              <a:rPr sz="4600" b="1" i="0">
                <a:solidFill>
                  <a:srgbClr val="FFFFFF"/>
                </a:solidFill>
                <a:latin typeface="Georgia"/>
              </a:rPr>
              <a:t>Integrity is not what slows MWAA down.</a:t>
            </a:r>
          </a:p>
          <a:p>
            <a:pPr algn="l">
              <a:lnSpc>
                <a:spcPct val="105000"/>
              </a:lnSpc>
              <a:spcBef>
                <a:spcPts val="0"/>
              </a:spcBef>
              <a:spcAft>
                <a:spcPts val="0"/>
              </a:spcAft>
            </a:pPr>
            <a:r>
              <a:rPr sz="4600" b="1" i="0">
                <a:solidFill>
                  <a:srgbClr val="B18A3E"/>
                </a:solidFill>
                <a:latin typeface="Georgia"/>
              </a:rPr>
              <a:t>Sequence is.</a:t>
            </a:r>
          </a:p>
        </p:txBody>
      </p:sp>
      <p:sp>
        <p:nvSpPr>
          <p:cNvPr id="4" name="Rectangle 3"/>
          <p:cNvSpPr/>
          <p:nvPr/>
        </p:nvSpPr>
        <p:spPr>
          <a:xfrm>
            <a:off x="822960" y="4114800"/>
            <a:ext cx="2011680" cy="30480"/>
          </a:xfrm>
          <a:prstGeom prst="rect">
            <a:avLst/>
          </a:prstGeom>
          <a:solidFill>
            <a:srgbClr val="B1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389120"/>
            <a:ext cx="10545775" cy="1463040"/>
          </a:xfrm>
          <a:prstGeom prst="rect">
            <a:avLst/>
          </a:prstGeom>
          <a:noFill/>
        </p:spPr>
        <p:txBody>
          <a:bodyPr wrap="square" lIns="0" rIns="0" tIns="0" bIns="0">
            <a:spAutoFit/>
          </a:bodyPr>
          <a:lstStyle/>
          <a:p>
            <a:pPr algn="l">
              <a:lnSpc>
                <a:spcPct val="130000"/>
              </a:lnSpc>
              <a:spcBef>
                <a:spcPts val="0"/>
              </a:spcBef>
              <a:spcAft>
                <a:spcPts val="0"/>
              </a:spcAft>
            </a:pPr>
            <a:r>
              <a:rPr sz="1800" b="0" i="0">
                <a:solidFill>
                  <a:srgbClr val="E7ECF2"/>
                </a:solidFill>
                <a:latin typeface="Calibri"/>
              </a:rPr>
              <a:t>The integrity the 2012 scandal bought stays untouched. The reform MWAA needs for the multi-billion-dollar decade ahead is one built to make sure the right thing happens fast enough to matter — and provably, auditable to the last signature.</a:t>
            </a:r>
          </a:p>
        </p:txBody>
      </p:sp>
      <p:sp>
        <p:nvSpPr>
          <p:cNvPr id="6" name="TextBox 5"/>
          <p:cNvSpPr txBox="1"/>
          <p:nvPr/>
        </p:nvSpPr>
        <p:spPr>
          <a:xfrm>
            <a:off x="822960" y="6126480"/>
            <a:ext cx="10545775" cy="365760"/>
          </a:xfrm>
          <a:prstGeom prst="rect">
            <a:avLst/>
          </a:prstGeom>
          <a:noFill/>
        </p:spPr>
        <p:txBody>
          <a:bodyPr wrap="square" lIns="0" rIns="0" tIns="0" bIns="0">
            <a:spAutoFit/>
          </a:bodyPr>
          <a:lstStyle/>
          <a:p>
            <a:pPr algn="l">
              <a:lnSpc>
                <a:spcPct val="105000"/>
              </a:lnSpc>
              <a:spcBef>
                <a:spcPts val="0"/>
              </a:spcBef>
              <a:spcAft>
                <a:spcPts val="0"/>
              </a:spcAft>
            </a:pPr>
            <a:r>
              <a:rPr sz="1500" b="1" i="0">
                <a:solidFill>
                  <a:srgbClr val="9FB0C6"/>
                </a:solidFill>
                <a:latin typeface="Calibri"/>
              </a:rPr>
              <a:t>Same accountability. Less cycle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