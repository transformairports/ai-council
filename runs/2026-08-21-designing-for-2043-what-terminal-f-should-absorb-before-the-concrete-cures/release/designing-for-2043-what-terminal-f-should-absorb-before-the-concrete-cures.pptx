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photographs traveled well. What they hide: every consequential decision about that first module was finalized months earlier, in a factory, at a design-lock date the public record does not name. This briefing is about the decisions still open — and when each one closes.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opens 2027; the full program completes 2030. The premise throughout: the plan is sound and American is committed. The question is what the building should absorb before each module's decisions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savings are a repetition dividend — same module, same MEP tree, over and over. Every bespoke feature either forces an off-standard module or makes the base module carry provisions most positions don't need. Once a module clears release, changes propagate across the fabrication line. That inversion is why the register is non-optional.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repositioning is real — but it is a fleet and network story, executable inside cabins the airport does not build. Its physical anchor at F, on American's public record, is a grab-and-go and a widebody-feeder concourse. None of the register's premium items should be conditioned on the July 2026 posture holding through 2043.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a design decision has to be made, not assumed. Decision D4 adopts the denser-peak reading and re-tests it annually; two consecutive corroborations of the flatter profile unwind the affected geometry.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DTW's discipline — a hub form, not a Northwest form — cost nothing at design time. T5's warning — no premium optionality in original scope — cost $200M inside six years. ATL Concourse F shows a purpose-built premium floor plate can work at a mega-connecting hub. Read together: generic bones, priced shells.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scenario has a geometry test and an operating test. The operating test is a tabletop with AA Hub Ops, TSA FSD, CBP Port Director, Guest Experience, ARFF, police, and Skylink ops at the same table. If CBP will not staff the sized hall, the shell is a moot preservation.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it works for a tenant DFW has not met. The airport pays an option premium now — most of it inside the module template at repeat-part cost if D0 clears — and preserves the ability for American, or a future signatory, to fit out any envelope at the tenant's expense.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DFW remains well below JFK, LAX, EWR, and ORD on CPE — the peer table is in the read-ahead. The register's answer to affordability: a Finance &amp; Audit Committee forward-CPE ceiling the aggregate register premium may not breach, with unwind on breach.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register does not tell DFW what to build. It tells DFW what remains to be decided, before which date, at what price, from which funding source, against which federal dependency, inside which contract instrument. The customer it protects is the connecting passenger in the first bank of a bad morning.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Read-ahead only; the presenter references it if challenged. The sharpest objection is the shopping list — and its answer is the register's discipline, not its abandonment.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design bet that must survive to 2043 needs to survive several repetitions of the 2020–2022 cycle. That is the argument for shells American exercises at American's expense — not airport-side preload.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arbitrage is real and closing; the ceiling converts it from a talking point into a governance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affordability constraint does not repeal these lessons; it sharpens them. Under-scoping is often the more expensive error — and disciplined single-airline governance (LGA) is the existence proof for the delivery model DFW is running.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recommendation in the report is timed to the next module's fabrication release, not to a pour date. The unpopulated band is the point: the board cannot currently see when its own decisions close.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page that keeps the register from becoming decoration on a strategy deck: a percentage, a ceiling, and three tripwires with named conveners.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ver-field"/>
          <p:cNvSpPr/>
          <p:nvPr/>
        </p:nvSpPr>
        <p:spPr>
          <a:xfrm>
            <a:off x="0" y="0"/>
            <a:ext cx="12191695" cy="6858000"/>
          </a:xfrm>
          <a:prstGeom prst="rect">
            <a:avLst/>
          </a:prstGeom>
          <a:solidFill>
            <a:srgbClr val="0B2D4D"/>
          </a:solidFill>
          <a:ln>
            <a:noFill/>
          </a:ln>
          <a:effectLst/>
        </p:spPr>
        <p:txBody>
          <a:bodyPr rtlCol="0" anchor="ctr"/>
          <a:lstStyle/>
          <a:p>
            <a:pPr algn="ctr"/>
          </a:p>
        </p:txBody>
      </p:sp>
      <p:sp>
        <p:nvSpPr>
          <p:cNvPr id="3" name="slide-01-title"/>
          <p:cNvSpPr txBox="1"/>
          <p:nvPr/>
        </p:nvSpPr>
        <p:spPr>
          <a:xfrm>
            <a:off x="502920" y="566928"/>
            <a:ext cx="11155680" cy="1600200"/>
          </a:xfrm>
          <a:prstGeom prst="rect">
            <a:avLst/>
          </a:prstGeom>
          <a:noFill/>
        </p:spPr>
        <p:txBody>
          <a:bodyPr wrap="square" anchor="t" lIns="0" rIns="0" tIns="0" bIns="0">
            <a:spAutoFit/>
          </a:bodyPr>
          <a:lstStyle/>
          <a:p>
            <a:pPr algn="l">
              <a:lnSpc>
                <a:spcPct val="104000"/>
              </a:lnSpc>
            </a:pPr>
            <a:r>
              <a:rPr sz="4400" b="1" i="0">
                <a:solidFill>
                  <a:srgbClr val="FFFFFF"/>
                </a:solidFill>
                <a:latin typeface="Georgia"/>
              </a:rPr>
              <a:t>The concrete is a decoy. The register is the deadline.</a:t>
            </a:r>
          </a:p>
        </p:txBody>
      </p:sp>
      <p:sp>
        <p:nvSpPr>
          <p:cNvPr id="4" name="cover-rule"/>
          <p:cNvSpPr/>
          <p:nvPr/>
        </p:nvSpPr>
        <p:spPr>
          <a:xfrm>
            <a:off x="521207" y="2212848"/>
            <a:ext cx="2377440" cy="41148"/>
          </a:xfrm>
          <a:prstGeom prst="rect">
            <a:avLst/>
          </a:prstGeom>
          <a:solidFill>
            <a:srgbClr val="D4A24C"/>
          </a:solidFill>
          <a:ln>
            <a:noFill/>
          </a:ln>
          <a:effectLst/>
        </p:spPr>
        <p:txBody>
          <a:bodyPr rtlCol="0" anchor="ctr"/>
          <a:lstStyle/>
          <a:p>
            <a:pPr algn="ctr"/>
          </a:p>
        </p:txBody>
      </p:sp>
      <p:sp>
        <p:nvSpPr>
          <p:cNvPr id="5" name="cover-subtitle"/>
          <p:cNvSpPr txBox="1"/>
          <p:nvPr/>
        </p:nvSpPr>
        <p:spPr>
          <a:xfrm>
            <a:off x="502920" y="2395728"/>
            <a:ext cx="11155680" cy="365760"/>
          </a:xfrm>
          <a:prstGeom prst="rect">
            <a:avLst/>
          </a:prstGeom>
          <a:noFill/>
        </p:spPr>
        <p:txBody>
          <a:bodyPr wrap="square" anchor="t" lIns="0" rIns="0" tIns="0" bIns="0">
            <a:spAutoFit/>
          </a:bodyPr>
          <a:lstStyle/>
          <a:p>
            <a:pPr algn="l"/>
            <a:r>
              <a:rPr sz="1800" b="0" i="0">
                <a:solidFill>
                  <a:srgbClr val="EDF3F6"/>
                </a:solidFill>
                <a:latin typeface="Calibri"/>
              </a:rPr>
              <a:t>An executive briefing on Terminal F  ·  Dallas Fort Worth International Airport  ·  August 2026</a:t>
            </a:r>
          </a:p>
        </p:txBody>
      </p:sp>
      <p:grpSp>
        <p:nvGrpSpPr>
          <p:cNvPr id="6" name="cover-module-diagram" descr="Elevation diagram of a prefabricated Terminal F concourse module on self-propelled modular transporters; the largest module measures 278 by 136 feet, weighs 3,320 tons, and was set to about three-quarter-inch tolerance on August 8, 2025."/>
          <p:cNvGrpSpPr/>
          <p:nvPr/>
        </p:nvGrpSpPr>
        <p:grpSpPr>
          <a:xfrm>
            <a:off x="1234440" y="2999232"/>
            <a:ext cx="9692640" cy="3218688"/>
            <a:chOff x="1234440" y="2999232"/>
            <a:chExt cx="9692640" cy="3218688"/>
          </a:xfrm>
        </p:grpSpPr>
        <p:sp>
          <p:nvSpPr>
            <p:cNvPr id="7" name="TextBox 6"/>
            <p:cNvSpPr txBox="1"/>
            <p:nvPr/>
          </p:nvSpPr>
          <p:spPr>
            <a:xfrm>
              <a:off x="1234440" y="2999232"/>
              <a:ext cx="9692640" cy="292608"/>
            </a:xfrm>
            <a:prstGeom prst="rect">
              <a:avLst/>
            </a:prstGeom>
            <a:noFill/>
          </p:spPr>
          <p:txBody>
            <a:bodyPr wrap="square" anchor="t" lIns="0" rIns="0" tIns="0" bIns="0">
              <a:spAutoFit/>
            </a:bodyPr>
            <a:lstStyle/>
            <a:p>
              <a:pPr algn="ctr"/>
              <a:r>
                <a:rPr sz="1400" b="0" i="1">
                  <a:solidFill>
                    <a:srgbClr val="D4A24C"/>
                  </a:solidFill>
                  <a:latin typeface="Calibri"/>
                </a:rPr>
                <a:t>Factory-built concourse module — its design decisions closed before it arrived</a:t>
              </a:r>
            </a:p>
          </p:txBody>
        </p:sp>
        <p:sp>
          <p:nvSpPr>
            <p:cNvPr id="8" name="Rectangle 7"/>
            <p:cNvSpPr/>
            <p:nvPr/>
          </p:nvSpPr>
          <p:spPr>
            <a:xfrm>
              <a:off x="2103120" y="3429000"/>
              <a:ext cx="7955279" cy="1325880"/>
            </a:xfrm>
            <a:prstGeom prst="rect">
              <a:avLst/>
            </a:prstGeom>
            <a:solidFill>
              <a:srgbClr val="415669"/>
            </a:solidFill>
            <a:ln w="19050">
              <a:solidFill>
                <a:srgbClr val="FFFFFF"/>
              </a:solidFill>
            </a:ln>
            <a:effectLst/>
          </p:spPr>
          <p:txBody>
            <a:bodyPr rtlCol="0" anchor="ctr"/>
            <a:lstStyle/>
            <a:p>
              <a:pPr algn="ctr"/>
            </a:p>
          </p:txBody>
        </p:sp>
        <p:sp>
          <p:nvSpPr>
            <p:cNvPr id="9" name="Rectangle 8"/>
            <p:cNvSpPr/>
            <p:nvPr/>
          </p:nvSpPr>
          <p:spPr>
            <a:xfrm>
              <a:off x="2103120" y="3429000"/>
              <a:ext cx="7955279" cy="64008"/>
            </a:xfrm>
            <a:prstGeom prst="rect">
              <a:avLst/>
            </a:prstGeom>
            <a:solidFill>
              <a:srgbClr val="D4A24C"/>
            </a:solidFill>
            <a:ln>
              <a:noFill/>
            </a:ln>
            <a:effectLst/>
          </p:spPr>
          <p:txBody>
            <a:bodyPr rtlCol="0" anchor="ctr"/>
            <a:lstStyle/>
            <a:p>
              <a:pPr algn="ctr"/>
            </a:p>
          </p:txBody>
        </p:sp>
        <p:sp>
          <p:nvSpPr>
            <p:cNvPr id="10" name="Rectangle 9"/>
            <p:cNvSpPr/>
            <p:nvPr/>
          </p:nvSpPr>
          <p:spPr>
            <a:xfrm>
              <a:off x="3429000" y="3547872"/>
              <a:ext cx="10972" cy="1143000"/>
            </a:xfrm>
            <a:prstGeom prst="rect">
              <a:avLst/>
            </a:prstGeom>
            <a:solidFill>
              <a:srgbClr val="FFFFFF"/>
            </a:solidFill>
            <a:ln>
              <a:noFill/>
            </a:ln>
            <a:effectLst/>
          </p:spPr>
          <p:txBody>
            <a:bodyPr rtlCol="0" anchor="ctr"/>
            <a:lstStyle/>
            <a:p>
              <a:pPr algn="ctr"/>
            </a:p>
          </p:txBody>
        </p:sp>
        <p:sp>
          <p:nvSpPr>
            <p:cNvPr id="11" name="Rectangle 10"/>
            <p:cNvSpPr/>
            <p:nvPr/>
          </p:nvSpPr>
          <p:spPr>
            <a:xfrm>
              <a:off x="4754879" y="3547872"/>
              <a:ext cx="10972" cy="1143000"/>
            </a:xfrm>
            <a:prstGeom prst="rect">
              <a:avLst/>
            </a:prstGeom>
            <a:solidFill>
              <a:srgbClr val="FFFFFF"/>
            </a:solidFill>
            <a:ln>
              <a:noFill/>
            </a:ln>
            <a:effectLst/>
          </p:spPr>
          <p:txBody>
            <a:bodyPr rtlCol="0" anchor="ctr"/>
            <a:lstStyle/>
            <a:p>
              <a:pPr algn="ctr"/>
            </a:p>
          </p:txBody>
        </p:sp>
        <p:sp>
          <p:nvSpPr>
            <p:cNvPr id="12" name="Rectangle 11"/>
            <p:cNvSpPr/>
            <p:nvPr/>
          </p:nvSpPr>
          <p:spPr>
            <a:xfrm>
              <a:off x="6080759" y="3547872"/>
              <a:ext cx="10972" cy="1143000"/>
            </a:xfrm>
            <a:prstGeom prst="rect">
              <a:avLst/>
            </a:prstGeom>
            <a:solidFill>
              <a:srgbClr val="FFFFFF"/>
            </a:solidFill>
            <a:ln>
              <a:noFill/>
            </a:ln>
            <a:effectLst/>
          </p:spPr>
          <p:txBody>
            <a:bodyPr rtlCol="0" anchor="ctr"/>
            <a:lstStyle/>
            <a:p>
              <a:pPr algn="ctr"/>
            </a:p>
          </p:txBody>
        </p:sp>
        <p:sp>
          <p:nvSpPr>
            <p:cNvPr id="13" name="Rectangle 12"/>
            <p:cNvSpPr/>
            <p:nvPr/>
          </p:nvSpPr>
          <p:spPr>
            <a:xfrm>
              <a:off x="7406640" y="3547872"/>
              <a:ext cx="10972" cy="1143000"/>
            </a:xfrm>
            <a:prstGeom prst="rect">
              <a:avLst/>
            </a:prstGeom>
            <a:solidFill>
              <a:srgbClr val="FFFFFF"/>
            </a:solidFill>
            <a:ln>
              <a:noFill/>
            </a:ln>
            <a:effectLst/>
          </p:spPr>
          <p:txBody>
            <a:bodyPr rtlCol="0" anchor="ctr"/>
            <a:lstStyle/>
            <a:p>
              <a:pPr algn="ctr"/>
            </a:p>
          </p:txBody>
        </p:sp>
        <p:sp>
          <p:nvSpPr>
            <p:cNvPr id="14" name="Rectangle 13"/>
            <p:cNvSpPr/>
            <p:nvPr/>
          </p:nvSpPr>
          <p:spPr>
            <a:xfrm>
              <a:off x="8732520" y="3547872"/>
              <a:ext cx="10972" cy="1143000"/>
            </a:xfrm>
            <a:prstGeom prst="rect">
              <a:avLst/>
            </a:prstGeom>
            <a:solidFill>
              <a:srgbClr val="FFFFFF"/>
            </a:solidFill>
            <a:ln>
              <a:noFill/>
            </a:ln>
            <a:effectLst/>
          </p:spPr>
          <p:txBody>
            <a:bodyPr rtlCol="0" anchor="ctr"/>
            <a:lstStyle/>
            <a:p>
              <a:pPr algn="ctr"/>
            </a:p>
          </p:txBody>
        </p:sp>
        <p:sp>
          <p:nvSpPr>
            <p:cNvPr id="15" name="Rectangle 14"/>
            <p:cNvSpPr/>
            <p:nvPr/>
          </p:nvSpPr>
          <p:spPr>
            <a:xfrm>
              <a:off x="2514600" y="4882896"/>
              <a:ext cx="868680" cy="274320"/>
            </a:xfrm>
            <a:prstGeom prst="rect">
              <a:avLst/>
            </a:prstGeom>
            <a:solidFill>
              <a:srgbClr val="EDF3F6"/>
            </a:solidFill>
            <a:ln>
              <a:noFill/>
            </a:ln>
            <a:effectLst/>
          </p:spPr>
          <p:txBody>
            <a:bodyPr rtlCol="0" anchor="ctr"/>
            <a:lstStyle/>
            <a:p>
              <a:pPr algn="ctr"/>
            </a:p>
          </p:txBody>
        </p:sp>
        <p:sp>
          <p:nvSpPr>
            <p:cNvPr id="16" name="Oval 15"/>
            <p:cNvSpPr/>
            <p:nvPr/>
          </p:nvSpPr>
          <p:spPr>
            <a:xfrm>
              <a:off x="2587752"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17" name="Oval 16"/>
            <p:cNvSpPr/>
            <p:nvPr/>
          </p:nvSpPr>
          <p:spPr>
            <a:xfrm>
              <a:off x="2862072"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18" name="Oval 17"/>
            <p:cNvSpPr/>
            <p:nvPr/>
          </p:nvSpPr>
          <p:spPr>
            <a:xfrm>
              <a:off x="3136392"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19" name="Rectangle 18"/>
            <p:cNvSpPr/>
            <p:nvPr/>
          </p:nvSpPr>
          <p:spPr>
            <a:xfrm>
              <a:off x="3776472" y="4882896"/>
              <a:ext cx="868680" cy="274320"/>
            </a:xfrm>
            <a:prstGeom prst="rect">
              <a:avLst/>
            </a:prstGeom>
            <a:solidFill>
              <a:srgbClr val="EDF3F6"/>
            </a:solidFill>
            <a:ln>
              <a:noFill/>
            </a:ln>
            <a:effectLst/>
          </p:spPr>
          <p:txBody>
            <a:bodyPr rtlCol="0" anchor="ctr"/>
            <a:lstStyle/>
            <a:p>
              <a:pPr algn="ctr"/>
            </a:p>
          </p:txBody>
        </p:sp>
        <p:sp>
          <p:nvSpPr>
            <p:cNvPr id="20" name="Oval 19"/>
            <p:cNvSpPr/>
            <p:nvPr/>
          </p:nvSpPr>
          <p:spPr>
            <a:xfrm>
              <a:off x="3849624"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21" name="Oval 20"/>
            <p:cNvSpPr/>
            <p:nvPr/>
          </p:nvSpPr>
          <p:spPr>
            <a:xfrm>
              <a:off x="4123944"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22" name="Oval 21"/>
            <p:cNvSpPr/>
            <p:nvPr/>
          </p:nvSpPr>
          <p:spPr>
            <a:xfrm>
              <a:off x="4398264"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23" name="Rectangle 22"/>
            <p:cNvSpPr/>
            <p:nvPr/>
          </p:nvSpPr>
          <p:spPr>
            <a:xfrm>
              <a:off x="5038344" y="4882896"/>
              <a:ext cx="868680" cy="274320"/>
            </a:xfrm>
            <a:prstGeom prst="rect">
              <a:avLst/>
            </a:prstGeom>
            <a:solidFill>
              <a:srgbClr val="EDF3F6"/>
            </a:solidFill>
            <a:ln>
              <a:noFill/>
            </a:ln>
            <a:effectLst/>
          </p:spPr>
          <p:txBody>
            <a:bodyPr rtlCol="0" anchor="ctr"/>
            <a:lstStyle/>
            <a:p>
              <a:pPr algn="ctr"/>
            </a:p>
          </p:txBody>
        </p:sp>
        <p:sp>
          <p:nvSpPr>
            <p:cNvPr id="24" name="Oval 23"/>
            <p:cNvSpPr/>
            <p:nvPr/>
          </p:nvSpPr>
          <p:spPr>
            <a:xfrm>
              <a:off x="5111496"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25" name="Oval 24"/>
            <p:cNvSpPr/>
            <p:nvPr/>
          </p:nvSpPr>
          <p:spPr>
            <a:xfrm>
              <a:off x="5385816"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26" name="Oval 25"/>
            <p:cNvSpPr/>
            <p:nvPr/>
          </p:nvSpPr>
          <p:spPr>
            <a:xfrm>
              <a:off x="5660136"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27" name="Rectangle 26"/>
            <p:cNvSpPr/>
            <p:nvPr/>
          </p:nvSpPr>
          <p:spPr>
            <a:xfrm>
              <a:off x="6300216" y="4882896"/>
              <a:ext cx="868680" cy="274320"/>
            </a:xfrm>
            <a:prstGeom prst="rect">
              <a:avLst/>
            </a:prstGeom>
            <a:solidFill>
              <a:srgbClr val="EDF3F6"/>
            </a:solidFill>
            <a:ln>
              <a:noFill/>
            </a:ln>
            <a:effectLst/>
          </p:spPr>
          <p:txBody>
            <a:bodyPr rtlCol="0" anchor="ctr"/>
            <a:lstStyle/>
            <a:p>
              <a:pPr algn="ctr"/>
            </a:p>
          </p:txBody>
        </p:sp>
        <p:sp>
          <p:nvSpPr>
            <p:cNvPr id="28" name="Oval 27"/>
            <p:cNvSpPr/>
            <p:nvPr/>
          </p:nvSpPr>
          <p:spPr>
            <a:xfrm>
              <a:off x="6373368"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29" name="Oval 28"/>
            <p:cNvSpPr/>
            <p:nvPr/>
          </p:nvSpPr>
          <p:spPr>
            <a:xfrm>
              <a:off x="6647688"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30" name="Oval 29"/>
            <p:cNvSpPr/>
            <p:nvPr/>
          </p:nvSpPr>
          <p:spPr>
            <a:xfrm>
              <a:off x="6922007"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31" name="Rectangle 30"/>
            <p:cNvSpPr/>
            <p:nvPr/>
          </p:nvSpPr>
          <p:spPr>
            <a:xfrm>
              <a:off x="7562088" y="4882896"/>
              <a:ext cx="868680" cy="274320"/>
            </a:xfrm>
            <a:prstGeom prst="rect">
              <a:avLst/>
            </a:prstGeom>
            <a:solidFill>
              <a:srgbClr val="EDF3F6"/>
            </a:solidFill>
            <a:ln>
              <a:noFill/>
            </a:ln>
            <a:effectLst/>
          </p:spPr>
          <p:txBody>
            <a:bodyPr rtlCol="0" anchor="ctr"/>
            <a:lstStyle/>
            <a:p>
              <a:pPr algn="ctr"/>
            </a:p>
          </p:txBody>
        </p:sp>
        <p:sp>
          <p:nvSpPr>
            <p:cNvPr id="32" name="Oval 31"/>
            <p:cNvSpPr/>
            <p:nvPr/>
          </p:nvSpPr>
          <p:spPr>
            <a:xfrm>
              <a:off x="7635240"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33" name="Oval 32"/>
            <p:cNvSpPr/>
            <p:nvPr/>
          </p:nvSpPr>
          <p:spPr>
            <a:xfrm>
              <a:off x="7909560"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34" name="Oval 33"/>
            <p:cNvSpPr/>
            <p:nvPr/>
          </p:nvSpPr>
          <p:spPr>
            <a:xfrm>
              <a:off x="8183879"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35" name="Rectangle 34"/>
            <p:cNvSpPr/>
            <p:nvPr/>
          </p:nvSpPr>
          <p:spPr>
            <a:xfrm>
              <a:off x="8823959" y="4882896"/>
              <a:ext cx="868680" cy="274320"/>
            </a:xfrm>
            <a:prstGeom prst="rect">
              <a:avLst/>
            </a:prstGeom>
            <a:solidFill>
              <a:srgbClr val="EDF3F6"/>
            </a:solidFill>
            <a:ln>
              <a:noFill/>
            </a:ln>
            <a:effectLst/>
          </p:spPr>
          <p:txBody>
            <a:bodyPr rtlCol="0" anchor="ctr"/>
            <a:lstStyle/>
            <a:p>
              <a:pPr algn="ctr"/>
            </a:p>
          </p:txBody>
        </p:sp>
        <p:sp>
          <p:nvSpPr>
            <p:cNvPr id="36" name="Oval 35"/>
            <p:cNvSpPr/>
            <p:nvPr/>
          </p:nvSpPr>
          <p:spPr>
            <a:xfrm>
              <a:off x="8897111"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37" name="Oval 36"/>
            <p:cNvSpPr/>
            <p:nvPr/>
          </p:nvSpPr>
          <p:spPr>
            <a:xfrm>
              <a:off x="9171432"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38" name="Oval 37"/>
            <p:cNvSpPr/>
            <p:nvPr/>
          </p:nvSpPr>
          <p:spPr>
            <a:xfrm>
              <a:off x="9445751" y="5120640"/>
              <a:ext cx="182880" cy="182880"/>
            </a:xfrm>
            <a:prstGeom prst="ellipse">
              <a:avLst/>
            </a:prstGeom>
            <a:solidFill>
              <a:srgbClr val="0B2D4D"/>
            </a:solidFill>
            <a:ln w="12700">
              <a:solidFill>
                <a:srgbClr val="EDF3F6"/>
              </a:solidFill>
            </a:ln>
            <a:effectLst/>
          </p:spPr>
          <p:txBody>
            <a:bodyPr rtlCol="0" anchor="ctr"/>
            <a:lstStyle/>
            <a:p>
              <a:pPr algn="ctr"/>
            </a:p>
          </p:txBody>
        </p:sp>
        <p:sp>
          <p:nvSpPr>
            <p:cNvPr id="39" name="Rectangle 38"/>
            <p:cNvSpPr/>
            <p:nvPr/>
          </p:nvSpPr>
          <p:spPr>
            <a:xfrm>
              <a:off x="1417320" y="5340096"/>
              <a:ext cx="9418320" cy="16459"/>
            </a:xfrm>
            <a:prstGeom prst="rect">
              <a:avLst/>
            </a:prstGeom>
            <a:solidFill>
              <a:srgbClr val="EDF3F6"/>
            </a:solidFill>
            <a:ln>
              <a:noFill/>
            </a:ln>
            <a:effectLst/>
          </p:spPr>
          <p:txBody>
            <a:bodyPr rtlCol="0" anchor="ctr"/>
            <a:lstStyle/>
            <a:p>
              <a:pPr algn="ctr"/>
            </a:p>
          </p:txBody>
        </p:sp>
        <p:sp>
          <p:nvSpPr>
            <p:cNvPr id="40" name="Rectangle 39"/>
            <p:cNvSpPr/>
            <p:nvPr/>
          </p:nvSpPr>
          <p:spPr>
            <a:xfrm>
              <a:off x="2103120" y="5541264"/>
              <a:ext cx="7955279" cy="12801"/>
            </a:xfrm>
            <a:prstGeom prst="rect">
              <a:avLst/>
            </a:prstGeom>
            <a:solidFill>
              <a:srgbClr val="FFFFFF"/>
            </a:solidFill>
            <a:ln>
              <a:noFill/>
            </a:ln>
            <a:effectLst/>
          </p:spPr>
          <p:txBody>
            <a:bodyPr rtlCol="0" anchor="ctr"/>
            <a:lstStyle/>
            <a:p>
              <a:pPr algn="ctr"/>
            </a:p>
          </p:txBody>
        </p:sp>
        <p:sp>
          <p:nvSpPr>
            <p:cNvPr id="41" name="Rectangle 40"/>
            <p:cNvSpPr/>
            <p:nvPr/>
          </p:nvSpPr>
          <p:spPr>
            <a:xfrm>
              <a:off x="2103120" y="5477256"/>
              <a:ext cx="12801" cy="137160"/>
            </a:xfrm>
            <a:prstGeom prst="rect">
              <a:avLst/>
            </a:prstGeom>
            <a:solidFill>
              <a:srgbClr val="FFFFFF"/>
            </a:solidFill>
            <a:ln>
              <a:noFill/>
            </a:ln>
            <a:effectLst/>
          </p:spPr>
          <p:txBody>
            <a:bodyPr rtlCol="0" anchor="ctr"/>
            <a:lstStyle/>
            <a:p>
              <a:pPr algn="ctr"/>
            </a:p>
          </p:txBody>
        </p:sp>
        <p:sp>
          <p:nvSpPr>
            <p:cNvPr id="42" name="Rectangle 41"/>
            <p:cNvSpPr/>
            <p:nvPr/>
          </p:nvSpPr>
          <p:spPr>
            <a:xfrm>
              <a:off x="10045598" y="5477256"/>
              <a:ext cx="12801" cy="137160"/>
            </a:xfrm>
            <a:prstGeom prst="rect">
              <a:avLst/>
            </a:prstGeom>
            <a:solidFill>
              <a:srgbClr val="FFFFFF"/>
            </a:solidFill>
            <a:ln>
              <a:noFill/>
            </a:ln>
            <a:effectLst/>
          </p:spPr>
          <p:txBody>
            <a:bodyPr rtlCol="0" anchor="ctr"/>
            <a:lstStyle/>
            <a:p>
              <a:pPr algn="ctr"/>
            </a:p>
          </p:txBody>
        </p:sp>
        <p:sp>
          <p:nvSpPr>
            <p:cNvPr id="43" name="TextBox 42"/>
            <p:cNvSpPr txBox="1"/>
            <p:nvPr/>
          </p:nvSpPr>
          <p:spPr>
            <a:xfrm>
              <a:off x="2103120" y="5632704"/>
              <a:ext cx="7955279" cy="274320"/>
            </a:xfrm>
            <a:prstGeom prst="rect">
              <a:avLst/>
            </a:prstGeom>
            <a:noFill/>
          </p:spPr>
          <p:txBody>
            <a:bodyPr wrap="square" anchor="t" lIns="0" rIns="0" tIns="0" bIns="0">
              <a:spAutoFit/>
            </a:bodyPr>
            <a:lstStyle/>
            <a:p>
              <a:pPr algn="ctr"/>
              <a:r>
                <a:rPr sz="1400" b="1" i="0">
                  <a:solidFill>
                    <a:srgbClr val="FFFFFF"/>
                  </a:solidFill>
                  <a:latin typeface="Calibri"/>
                </a:rPr>
                <a:t>Largest module 278 ft × 136 ft</a:t>
              </a:r>
            </a:p>
          </p:txBody>
        </p:sp>
        <p:sp>
          <p:nvSpPr>
            <p:cNvPr id="44" name="TextBox 43"/>
            <p:cNvSpPr txBox="1"/>
            <p:nvPr/>
          </p:nvSpPr>
          <p:spPr>
            <a:xfrm>
              <a:off x="1234440" y="5943600"/>
              <a:ext cx="9692640" cy="274320"/>
            </a:xfrm>
            <a:prstGeom prst="rect">
              <a:avLst/>
            </a:prstGeom>
            <a:noFill/>
          </p:spPr>
          <p:txBody>
            <a:bodyPr wrap="square" anchor="t" lIns="0" rIns="0" tIns="0" bIns="0">
              <a:spAutoFit/>
            </a:bodyPr>
            <a:lstStyle/>
            <a:p>
              <a:pPr algn="ctr"/>
              <a:r>
                <a:rPr sz="1400" b="0" i="0">
                  <a:solidFill>
                    <a:srgbClr val="EDF3F6"/>
                  </a:solidFill>
                  <a:latin typeface="Calibri"/>
                </a:rPr>
                <a:t>3,320 tons  ·  moved by self-propelled modular transporter  ·  set to ~3/4-inch tolerance  ·  completed August 8, 2025</a:t>
              </a:r>
            </a:p>
          </p:txBody>
        </p:sp>
      </p:grpSp>
      <p:sp>
        <p:nvSpPr>
          <p:cNvPr id="45" name="slide-01-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9AA8B3"/>
                </a:solidFill>
                <a:latin typeface="Calibri"/>
              </a:rPr>
              <a:t>Source: Innovation Next+ JV / Walsh Group release, module set completed August 8, 2025; dimensions per Dallas Innovates (2025); tolerance corroborated by International Airport Review (Aug 2026).</a:t>
            </a:r>
          </a:p>
        </p:txBody>
      </p:sp>
      <p:sp>
        <p:nvSpPr>
          <p:cNvPr id="46" name="slide-01-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9AA8B3"/>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02-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A $4 billion, 31-gate building committed to one carrier through 2043</a:t>
            </a:r>
          </a:p>
        </p:txBody>
      </p:sp>
      <p:grpSp>
        <p:nvGrpSpPr>
          <p:cNvPr id="3" name="slide-02-stats" descr="Four statistics: Terminal F scope grew from 1.6 billion dollars and 15 gates to 4 billion dollars and 31 gates in May 2025; the use and lease agreement runs through 2043 with American as sole occupant; American carried 82.6 percent of DFW passengers in 2025; about 100,000 peak-day American customers travel on about 930 peak-day departures."/>
          <p:cNvGrpSpPr/>
          <p:nvPr/>
        </p:nvGrpSpPr>
        <p:grpSpPr>
          <a:xfrm>
            <a:off x="502920" y="1874519"/>
            <a:ext cx="11228832" cy="2926081"/>
            <a:chOff x="502920" y="1874519"/>
            <a:chExt cx="11228832" cy="2926081"/>
          </a:xfrm>
        </p:grpSpPr>
        <p:sp>
          <p:nvSpPr>
            <p:cNvPr id="4" name="Rectangle 3"/>
            <p:cNvSpPr/>
            <p:nvPr/>
          </p:nvSpPr>
          <p:spPr>
            <a:xfrm>
              <a:off x="502920" y="1874519"/>
              <a:ext cx="2670048" cy="45720"/>
            </a:xfrm>
            <a:prstGeom prst="rect">
              <a:avLst/>
            </a:prstGeom>
            <a:solidFill>
              <a:srgbClr val="D4A24C"/>
            </a:solidFill>
            <a:ln>
              <a:noFill/>
            </a:ln>
            <a:effectLst/>
          </p:spPr>
          <p:txBody>
            <a:bodyPr rtlCol="0" anchor="ctr"/>
            <a:lstStyle/>
            <a:p>
              <a:pPr algn="ctr"/>
            </a:p>
          </p:txBody>
        </p:sp>
        <p:sp>
          <p:nvSpPr>
            <p:cNvPr id="5" name="TextBox 4"/>
            <p:cNvSpPr txBox="1"/>
            <p:nvPr/>
          </p:nvSpPr>
          <p:spPr>
            <a:xfrm>
              <a:off x="502920" y="2148840"/>
              <a:ext cx="2670048" cy="914400"/>
            </a:xfrm>
            <a:prstGeom prst="rect">
              <a:avLst/>
            </a:prstGeom>
            <a:noFill/>
          </p:spPr>
          <p:txBody>
            <a:bodyPr wrap="square" anchor="t" lIns="0" rIns="0" tIns="0" bIns="0">
              <a:spAutoFit/>
            </a:bodyPr>
            <a:lstStyle/>
            <a:p>
              <a:pPr algn="l"/>
              <a:r>
                <a:rPr sz="3000" b="1" i="0">
                  <a:solidFill>
                    <a:srgbClr val="0B2D4D"/>
                  </a:solidFill>
                  <a:latin typeface="Georgia"/>
                </a:rPr>
                <a:t>$1.6B → $4B</a:t>
              </a:r>
            </a:p>
          </p:txBody>
        </p:sp>
        <p:sp>
          <p:nvSpPr>
            <p:cNvPr id="6" name="TextBox 5"/>
            <p:cNvSpPr txBox="1"/>
            <p:nvPr/>
          </p:nvSpPr>
          <p:spPr>
            <a:xfrm>
              <a:off x="502920" y="3063240"/>
              <a:ext cx="2670048" cy="1737360"/>
            </a:xfrm>
            <a:prstGeom prst="rect">
              <a:avLst/>
            </a:prstGeom>
            <a:noFill/>
          </p:spPr>
          <p:txBody>
            <a:bodyPr wrap="square" anchor="t" lIns="0" rIns="0" tIns="0" bIns="0">
              <a:spAutoFit/>
            </a:bodyPr>
            <a:lstStyle/>
            <a:p>
              <a:pPr algn="l">
                <a:lnSpc>
                  <a:spcPct val="112000"/>
                </a:lnSpc>
              </a:pPr>
              <a:r>
                <a:rPr sz="1600" b="0" i="0">
                  <a:solidFill>
                    <a:srgbClr val="17232D"/>
                  </a:solidFill>
                  <a:latin typeface="Calibri"/>
                </a:rPr>
                <a:t>Scope growth, May 2025 — from 15 gates to 31 gates</a:t>
              </a:r>
            </a:p>
          </p:txBody>
        </p:sp>
        <p:sp>
          <p:nvSpPr>
            <p:cNvPr id="7" name="Rectangle 6"/>
            <p:cNvSpPr/>
            <p:nvPr/>
          </p:nvSpPr>
          <p:spPr>
            <a:xfrm>
              <a:off x="3355848" y="1874519"/>
              <a:ext cx="2670048" cy="45720"/>
            </a:xfrm>
            <a:prstGeom prst="rect">
              <a:avLst/>
            </a:prstGeom>
            <a:solidFill>
              <a:srgbClr val="D4A24C"/>
            </a:solidFill>
            <a:ln>
              <a:noFill/>
            </a:ln>
            <a:effectLst/>
          </p:spPr>
          <p:txBody>
            <a:bodyPr rtlCol="0" anchor="ctr"/>
            <a:lstStyle/>
            <a:p>
              <a:pPr algn="ctr"/>
            </a:p>
          </p:txBody>
        </p:sp>
        <p:sp>
          <p:nvSpPr>
            <p:cNvPr id="8" name="TextBox 7"/>
            <p:cNvSpPr txBox="1"/>
            <p:nvPr/>
          </p:nvSpPr>
          <p:spPr>
            <a:xfrm>
              <a:off x="3355848" y="2148840"/>
              <a:ext cx="2670048" cy="914400"/>
            </a:xfrm>
            <a:prstGeom prst="rect">
              <a:avLst/>
            </a:prstGeom>
            <a:noFill/>
          </p:spPr>
          <p:txBody>
            <a:bodyPr wrap="square" anchor="t" lIns="0" rIns="0" tIns="0" bIns="0">
              <a:spAutoFit/>
            </a:bodyPr>
            <a:lstStyle/>
            <a:p>
              <a:pPr algn="l"/>
              <a:r>
                <a:rPr sz="3000" b="1" i="0">
                  <a:solidFill>
                    <a:srgbClr val="0B2D4D"/>
                  </a:solidFill>
                  <a:latin typeface="Georgia"/>
                </a:rPr>
                <a:t>2043</a:t>
              </a:r>
            </a:p>
          </p:txBody>
        </p:sp>
        <p:sp>
          <p:nvSpPr>
            <p:cNvPr id="9" name="TextBox 8"/>
            <p:cNvSpPr txBox="1"/>
            <p:nvPr/>
          </p:nvSpPr>
          <p:spPr>
            <a:xfrm>
              <a:off x="3355848" y="3063240"/>
              <a:ext cx="2670048" cy="1737360"/>
            </a:xfrm>
            <a:prstGeom prst="rect">
              <a:avLst/>
            </a:prstGeom>
            <a:noFill/>
          </p:spPr>
          <p:txBody>
            <a:bodyPr wrap="square" anchor="t" lIns="0" rIns="0" tIns="0" bIns="0">
              <a:spAutoFit/>
            </a:bodyPr>
            <a:lstStyle/>
            <a:p>
              <a:pPr algn="l">
                <a:lnSpc>
                  <a:spcPct val="112000"/>
                </a:lnSpc>
              </a:pPr>
              <a:r>
                <a:rPr sz="1600" b="0" i="0">
                  <a:solidFill>
                    <a:srgbClr val="17232D"/>
                  </a:solidFill>
                  <a:latin typeface="Calibri"/>
                </a:rPr>
                <a:t>Use &amp; Lease term; American Airlines is the sole occupant</a:t>
              </a:r>
            </a:p>
          </p:txBody>
        </p:sp>
        <p:sp>
          <p:nvSpPr>
            <p:cNvPr id="10" name="Rectangle 9"/>
            <p:cNvSpPr/>
            <p:nvPr/>
          </p:nvSpPr>
          <p:spPr>
            <a:xfrm>
              <a:off x="6208776" y="1874519"/>
              <a:ext cx="2670048" cy="45720"/>
            </a:xfrm>
            <a:prstGeom prst="rect">
              <a:avLst/>
            </a:prstGeom>
            <a:solidFill>
              <a:srgbClr val="D4A24C"/>
            </a:solidFill>
            <a:ln>
              <a:noFill/>
            </a:ln>
            <a:effectLst/>
          </p:spPr>
          <p:txBody>
            <a:bodyPr rtlCol="0" anchor="ctr"/>
            <a:lstStyle/>
            <a:p>
              <a:pPr algn="ctr"/>
            </a:p>
          </p:txBody>
        </p:sp>
        <p:sp>
          <p:nvSpPr>
            <p:cNvPr id="11" name="TextBox 10"/>
            <p:cNvSpPr txBox="1"/>
            <p:nvPr/>
          </p:nvSpPr>
          <p:spPr>
            <a:xfrm>
              <a:off x="6208776" y="2148840"/>
              <a:ext cx="2670048" cy="914400"/>
            </a:xfrm>
            <a:prstGeom prst="rect">
              <a:avLst/>
            </a:prstGeom>
            <a:noFill/>
          </p:spPr>
          <p:txBody>
            <a:bodyPr wrap="square" anchor="t" lIns="0" rIns="0" tIns="0" bIns="0">
              <a:spAutoFit/>
            </a:bodyPr>
            <a:lstStyle/>
            <a:p>
              <a:pPr algn="l"/>
              <a:r>
                <a:rPr sz="3000" b="1" i="0">
                  <a:solidFill>
                    <a:srgbClr val="0B2D4D"/>
                  </a:solidFill>
                  <a:latin typeface="Georgia"/>
                </a:rPr>
                <a:t>82.6%</a:t>
              </a:r>
            </a:p>
          </p:txBody>
        </p:sp>
        <p:sp>
          <p:nvSpPr>
            <p:cNvPr id="12" name="TextBox 11"/>
            <p:cNvSpPr txBox="1"/>
            <p:nvPr/>
          </p:nvSpPr>
          <p:spPr>
            <a:xfrm>
              <a:off x="6208776" y="3063240"/>
              <a:ext cx="2670048" cy="1737360"/>
            </a:xfrm>
            <a:prstGeom prst="rect">
              <a:avLst/>
            </a:prstGeom>
            <a:noFill/>
          </p:spPr>
          <p:txBody>
            <a:bodyPr wrap="square" anchor="t" lIns="0" rIns="0" tIns="0" bIns="0">
              <a:spAutoFit/>
            </a:bodyPr>
            <a:lstStyle/>
            <a:p>
              <a:pPr algn="l">
                <a:lnSpc>
                  <a:spcPct val="112000"/>
                </a:lnSpc>
              </a:pPr>
              <a:r>
                <a:rPr sz="1600" b="0" i="0">
                  <a:solidFill>
                    <a:srgbClr val="17232D"/>
                  </a:solidFill>
                  <a:latin typeface="Calibri"/>
                </a:rPr>
                <a:t>American's share of DFW passengers, 2025</a:t>
              </a:r>
            </a:p>
          </p:txBody>
        </p:sp>
        <p:sp>
          <p:nvSpPr>
            <p:cNvPr id="13" name="Rectangle 12"/>
            <p:cNvSpPr/>
            <p:nvPr/>
          </p:nvSpPr>
          <p:spPr>
            <a:xfrm>
              <a:off x="9061704" y="1874519"/>
              <a:ext cx="2670048" cy="45720"/>
            </a:xfrm>
            <a:prstGeom prst="rect">
              <a:avLst/>
            </a:prstGeom>
            <a:solidFill>
              <a:srgbClr val="D4A24C"/>
            </a:solidFill>
            <a:ln>
              <a:noFill/>
            </a:ln>
            <a:effectLst/>
          </p:spPr>
          <p:txBody>
            <a:bodyPr rtlCol="0" anchor="ctr"/>
            <a:lstStyle/>
            <a:p>
              <a:pPr algn="ctr"/>
            </a:p>
          </p:txBody>
        </p:sp>
        <p:sp>
          <p:nvSpPr>
            <p:cNvPr id="14" name="TextBox 13"/>
            <p:cNvSpPr txBox="1"/>
            <p:nvPr/>
          </p:nvSpPr>
          <p:spPr>
            <a:xfrm>
              <a:off x="9061704" y="2148840"/>
              <a:ext cx="2670048" cy="914400"/>
            </a:xfrm>
            <a:prstGeom prst="rect">
              <a:avLst/>
            </a:prstGeom>
            <a:noFill/>
          </p:spPr>
          <p:txBody>
            <a:bodyPr wrap="square" anchor="t" lIns="0" rIns="0" tIns="0" bIns="0">
              <a:spAutoFit/>
            </a:bodyPr>
            <a:lstStyle/>
            <a:p>
              <a:pPr algn="l"/>
              <a:r>
                <a:rPr sz="3000" b="1" i="0">
                  <a:solidFill>
                    <a:srgbClr val="0B2D4D"/>
                  </a:solidFill>
                  <a:latin typeface="Georgia"/>
                </a:rPr>
                <a:t>~100,000</a:t>
              </a:r>
            </a:p>
          </p:txBody>
        </p:sp>
        <p:sp>
          <p:nvSpPr>
            <p:cNvPr id="15" name="TextBox 14"/>
            <p:cNvSpPr txBox="1"/>
            <p:nvPr/>
          </p:nvSpPr>
          <p:spPr>
            <a:xfrm>
              <a:off x="9061704" y="3063240"/>
              <a:ext cx="2670048" cy="1737360"/>
            </a:xfrm>
            <a:prstGeom prst="rect">
              <a:avLst/>
            </a:prstGeom>
            <a:noFill/>
          </p:spPr>
          <p:txBody>
            <a:bodyPr wrap="square" anchor="t" lIns="0" rIns="0" tIns="0" bIns="0">
              <a:spAutoFit/>
            </a:bodyPr>
            <a:lstStyle/>
            <a:p>
              <a:pPr algn="l">
                <a:lnSpc>
                  <a:spcPct val="112000"/>
                </a:lnSpc>
              </a:pPr>
              <a:r>
                <a:rPr sz="1600" b="0" i="0">
                  <a:solidFill>
                    <a:srgbClr val="17232D"/>
                  </a:solidFill>
                  <a:latin typeface="Calibri"/>
                </a:rPr>
                <a:t>peak-day American customers, on ~930 peak-day departures</a:t>
              </a:r>
            </a:p>
          </p:txBody>
        </p:sp>
      </p:grpSp>
      <p:sp>
        <p:nvSpPr>
          <p:cNvPr id="16" name="slide-02-context"/>
          <p:cNvSpPr txBox="1"/>
          <p:nvPr/>
        </p:nvSpPr>
        <p:spPr>
          <a:xfrm>
            <a:off x="502920" y="5257800"/>
            <a:ext cx="11183112" cy="457200"/>
          </a:xfrm>
          <a:prstGeom prst="rect">
            <a:avLst/>
          </a:prstGeom>
          <a:noFill/>
        </p:spPr>
        <p:txBody>
          <a:bodyPr wrap="square" anchor="t" lIns="0" rIns="0" tIns="0" bIns="0">
            <a:spAutoFit/>
          </a:bodyPr>
          <a:lstStyle/>
          <a:p>
            <a:pPr algn="l">
              <a:lnSpc>
                <a:spcPct val="110000"/>
              </a:lnSpc>
            </a:pPr>
            <a:r>
              <a:rPr sz="1600" b="0" i="1">
                <a:solidFill>
                  <a:srgbClr val="415669"/>
                </a:solidFill>
                <a:latin typeface="Calibri"/>
              </a:rPr>
              <a:t>Phase 1 opens in 2027; the full program completes in 2030. The plan is sound and the carrier is committed — the question is what the building should absorb before each module's decisions close.</a:t>
            </a:r>
          </a:p>
        </p:txBody>
      </p:sp>
      <p:sp>
        <p:nvSpPr>
          <p:cNvPr id="17" name="slide-02-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DFW Airport / American Airlines joint release, May 2025; DFW airport statistics via secondary reporting (2025); American Airlines newsroom, July 2026 and December 2025.</a:t>
            </a:r>
          </a:p>
        </p:txBody>
      </p:sp>
      <p:sp>
        <p:nvSpPr>
          <p:cNvPr id="18" name="slide-02-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03-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The deadline is release-for-fabrication — and for six modules it has already passed</a:t>
            </a:r>
          </a:p>
        </p:txBody>
      </p:sp>
      <p:grpSp>
        <p:nvGrpSpPr>
          <p:cNvPr id="3" name="SIGNATURE VISUAL — The Reversibility Clock" descr="Timeline from 2025 to 2030 showing that each Terminal F module's design decisions close at its release-for-fabrication date, months before concrete placement; the six modules set in August 2025 are already closed, future modules' windows close at unpublished release dates."/>
          <p:cNvGrpSpPr/>
          <p:nvPr/>
        </p:nvGrpSpPr>
        <p:grpSpPr>
          <a:xfrm>
            <a:off x="502920" y="1371600"/>
            <a:ext cx="11338560" cy="3337560"/>
            <a:chOff x="502920" y="1371600"/>
            <a:chExt cx="11338560" cy="3337560"/>
          </a:xfrm>
        </p:grpSpPr>
        <p:sp>
          <p:nvSpPr>
            <p:cNvPr id="4" name="Rectangle 3"/>
            <p:cNvSpPr/>
            <p:nvPr/>
          </p:nvSpPr>
          <p:spPr>
            <a:xfrm>
              <a:off x="2606040" y="2084831"/>
              <a:ext cx="8869680" cy="20116"/>
            </a:xfrm>
            <a:prstGeom prst="rect">
              <a:avLst/>
            </a:prstGeom>
            <a:solidFill>
              <a:srgbClr val="415669"/>
            </a:solidFill>
            <a:ln>
              <a:noFill/>
            </a:ln>
            <a:effectLst/>
          </p:spPr>
          <p:txBody>
            <a:bodyPr rtlCol="0" anchor="ctr"/>
            <a:lstStyle/>
            <a:p>
              <a:pPr algn="ctr"/>
            </a:p>
          </p:txBody>
        </p:sp>
        <p:sp>
          <p:nvSpPr>
            <p:cNvPr id="5" name="Rectangle 4"/>
            <p:cNvSpPr/>
            <p:nvPr/>
          </p:nvSpPr>
          <p:spPr>
            <a:xfrm>
              <a:off x="2598724" y="2039112"/>
              <a:ext cx="14630" cy="109728"/>
            </a:xfrm>
            <a:prstGeom prst="rect">
              <a:avLst/>
            </a:prstGeom>
            <a:solidFill>
              <a:srgbClr val="415669"/>
            </a:solidFill>
            <a:ln>
              <a:noFill/>
            </a:ln>
            <a:effectLst/>
          </p:spPr>
          <p:txBody>
            <a:bodyPr rtlCol="0" anchor="ctr"/>
            <a:lstStyle/>
            <a:p>
              <a:pPr algn="ctr"/>
            </a:p>
          </p:txBody>
        </p:sp>
        <p:sp>
          <p:nvSpPr>
            <p:cNvPr id="6" name="TextBox 5"/>
            <p:cNvSpPr txBox="1"/>
            <p:nvPr/>
          </p:nvSpPr>
          <p:spPr>
            <a:xfrm>
              <a:off x="2240280" y="2194560"/>
              <a:ext cx="731520" cy="219456"/>
            </a:xfrm>
            <a:prstGeom prst="rect">
              <a:avLst/>
            </a:prstGeom>
            <a:noFill/>
          </p:spPr>
          <p:txBody>
            <a:bodyPr wrap="square" anchor="t" lIns="0" rIns="0" tIns="0" bIns="0">
              <a:spAutoFit/>
            </a:bodyPr>
            <a:lstStyle/>
            <a:p>
              <a:pPr algn="ctr"/>
              <a:r>
                <a:rPr sz="1250" b="0" i="0">
                  <a:solidFill>
                    <a:srgbClr val="415669"/>
                  </a:solidFill>
                  <a:latin typeface="Calibri"/>
                </a:rPr>
                <a:t>2025</a:t>
              </a:r>
            </a:p>
          </p:txBody>
        </p:sp>
        <p:sp>
          <p:nvSpPr>
            <p:cNvPr id="7" name="Rectangle 6"/>
            <p:cNvSpPr/>
            <p:nvPr/>
          </p:nvSpPr>
          <p:spPr>
            <a:xfrm>
              <a:off x="4372660" y="2039112"/>
              <a:ext cx="14630" cy="109728"/>
            </a:xfrm>
            <a:prstGeom prst="rect">
              <a:avLst/>
            </a:prstGeom>
            <a:solidFill>
              <a:srgbClr val="415669"/>
            </a:solidFill>
            <a:ln>
              <a:noFill/>
            </a:ln>
            <a:effectLst/>
          </p:spPr>
          <p:txBody>
            <a:bodyPr rtlCol="0" anchor="ctr"/>
            <a:lstStyle/>
            <a:p>
              <a:pPr algn="ctr"/>
            </a:p>
          </p:txBody>
        </p:sp>
        <p:sp>
          <p:nvSpPr>
            <p:cNvPr id="8" name="TextBox 7"/>
            <p:cNvSpPr txBox="1"/>
            <p:nvPr/>
          </p:nvSpPr>
          <p:spPr>
            <a:xfrm>
              <a:off x="4014215" y="2194560"/>
              <a:ext cx="731520" cy="219456"/>
            </a:xfrm>
            <a:prstGeom prst="rect">
              <a:avLst/>
            </a:prstGeom>
            <a:noFill/>
          </p:spPr>
          <p:txBody>
            <a:bodyPr wrap="square" anchor="t" lIns="0" rIns="0" tIns="0" bIns="0">
              <a:spAutoFit/>
            </a:bodyPr>
            <a:lstStyle/>
            <a:p>
              <a:pPr algn="ctr"/>
              <a:r>
                <a:rPr sz="1250" b="0" i="0">
                  <a:solidFill>
                    <a:srgbClr val="415669"/>
                  </a:solidFill>
                  <a:latin typeface="Calibri"/>
                </a:rPr>
                <a:t>2026</a:t>
              </a:r>
            </a:p>
          </p:txBody>
        </p:sp>
        <p:sp>
          <p:nvSpPr>
            <p:cNvPr id="9" name="Rectangle 8"/>
            <p:cNvSpPr/>
            <p:nvPr/>
          </p:nvSpPr>
          <p:spPr>
            <a:xfrm>
              <a:off x="6146596" y="2039112"/>
              <a:ext cx="14630" cy="109728"/>
            </a:xfrm>
            <a:prstGeom prst="rect">
              <a:avLst/>
            </a:prstGeom>
            <a:solidFill>
              <a:srgbClr val="415669"/>
            </a:solidFill>
            <a:ln>
              <a:noFill/>
            </a:ln>
            <a:effectLst/>
          </p:spPr>
          <p:txBody>
            <a:bodyPr rtlCol="0" anchor="ctr"/>
            <a:lstStyle/>
            <a:p>
              <a:pPr algn="ctr"/>
            </a:p>
          </p:txBody>
        </p:sp>
        <p:sp>
          <p:nvSpPr>
            <p:cNvPr id="10" name="TextBox 9"/>
            <p:cNvSpPr txBox="1"/>
            <p:nvPr/>
          </p:nvSpPr>
          <p:spPr>
            <a:xfrm>
              <a:off x="5788152" y="2194560"/>
              <a:ext cx="731520" cy="219456"/>
            </a:xfrm>
            <a:prstGeom prst="rect">
              <a:avLst/>
            </a:prstGeom>
            <a:noFill/>
          </p:spPr>
          <p:txBody>
            <a:bodyPr wrap="square" anchor="t" lIns="0" rIns="0" tIns="0" bIns="0">
              <a:spAutoFit/>
            </a:bodyPr>
            <a:lstStyle/>
            <a:p>
              <a:pPr algn="ctr"/>
              <a:r>
                <a:rPr sz="1250" b="0" i="0">
                  <a:solidFill>
                    <a:srgbClr val="415669"/>
                  </a:solidFill>
                  <a:latin typeface="Calibri"/>
                </a:rPr>
                <a:t>2027</a:t>
              </a:r>
            </a:p>
          </p:txBody>
        </p:sp>
        <p:sp>
          <p:nvSpPr>
            <p:cNvPr id="11" name="Rectangle 10"/>
            <p:cNvSpPr/>
            <p:nvPr/>
          </p:nvSpPr>
          <p:spPr>
            <a:xfrm>
              <a:off x="7920532" y="2039112"/>
              <a:ext cx="14630" cy="109728"/>
            </a:xfrm>
            <a:prstGeom prst="rect">
              <a:avLst/>
            </a:prstGeom>
            <a:solidFill>
              <a:srgbClr val="415669"/>
            </a:solidFill>
            <a:ln>
              <a:noFill/>
            </a:ln>
            <a:effectLst/>
          </p:spPr>
          <p:txBody>
            <a:bodyPr rtlCol="0" anchor="ctr"/>
            <a:lstStyle/>
            <a:p>
              <a:pPr algn="ctr"/>
            </a:p>
          </p:txBody>
        </p:sp>
        <p:sp>
          <p:nvSpPr>
            <p:cNvPr id="12" name="TextBox 11"/>
            <p:cNvSpPr txBox="1"/>
            <p:nvPr/>
          </p:nvSpPr>
          <p:spPr>
            <a:xfrm>
              <a:off x="7562088" y="2194560"/>
              <a:ext cx="731520" cy="219456"/>
            </a:xfrm>
            <a:prstGeom prst="rect">
              <a:avLst/>
            </a:prstGeom>
            <a:noFill/>
          </p:spPr>
          <p:txBody>
            <a:bodyPr wrap="square" anchor="t" lIns="0" rIns="0" tIns="0" bIns="0">
              <a:spAutoFit/>
            </a:bodyPr>
            <a:lstStyle/>
            <a:p>
              <a:pPr algn="ctr"/>
              <a:r>
                <a:rPr sz="1250" b="0" i="0">
                  <a:solidFill>
                    <a:srgbClr val="415669"/>
                  </a:solidFill>
                  <a:latin typeface="Calibri"/>
                </a:rPr>
                <a:t>2028</a:t>
              </a:r>
            </a:p>
          </p:txBody>
        </p:sp>
        <p:sp>
          <p:nvSpPr>
            <p:cNvPr id="13" name="Rectangle 12"/>
            <p:cNvSpPr/>
            <p:nvPr/>
          </p:nvSpPr>
          <p:spPr>
            <a:xfrm>
              <a:off x="9694468" y="2039112"/>
              <a:ext cx="14630" cy="109728"/>
            </a:xfrm>
            <a:prstGeom prst="rect">
              <a:avLst/>
            </a:prstGeom>
            <a:solidFill>
              <a:srgbClr val="415669"/>
            </a:solidFill>
            <a:ln>
              <a:noFill/>
            </a:ln>
            <a:effectLst/>
          </p:spPr>
          <p:txBody>
            <a:bodyPr rtlCol="0" anchor="ctr"/>
            <a:lstStyle/>
            <a:p>
              <a:pPr algn="ctr"/>
            </a:p>
          </p:txBody>
        </p:sp>
        <p:sp>
          <p:nvSpPr>
            <p:cNvPr id="14" name="TextBox 13"/>
            <p:cNvSpPr txBox="1"/>
            <p:nvPr/>
          </p:nvSpPr>
          <p:spPr>
            <a:xfrm>
              <a:off x="9336024" y="2194560"/>
              <a:ext cx="731520" cy="219456"/>
            </a:xfrm>
            <a:prstGeom prst="rect">
              <a:avLst/>
            </a:prstGeom>
            <a:noFill/>
          </p:spPr>
          <p:txBody>
            <a:bodyPr wrap="square" anchor="t" lIns="0" rIns="0" tIns="0" bIns="0">
              <a:spAutoFit/>
            </a:bodyPr>
            <a:lstStyle/>
            <a:p>
              <a:pPr algn="ctr"/>
              <a:r>
                <a:rPr sz="1250" b="0" i="0">
                  <a:solidFill>
                    <a:srgbClr val="415669"/>
                  </a:solidFill>
                  <a:latin typeface="Calibri"/>
                </a:rPr>
                <a:t>2029</a:t>
              </a:r>
            </a:p>
          </p:txBody>
        </p:sp>
        <p:sp>
          <p:nvSpPr>
            <p:cNvPr id="15" name="Rectangle 14"/>
            <p:cNvSpPr/>
            <p:nvPr/>
          </p:nvSpPr>
          <p:spPr>
            <a:xfrm>
              <a:off x="11468404" y="2039112"/>
              <a:ext cx="14630" cy="109728"/>
            </a:xfrm>
            <a:prstGeom prst="rect">
              <a:avLst/>
            </a:prstGeom>
            <a:solidFill>
              <a:srgbClr val="415669"/>
            </a:solidFill>
            <a:ln>
              <a:noFill/>
            </a:ln>
            <a:effectLst/>
          </p:spPr>
          <p:txBody>
            <a:bodyPr rtlCol="0" anchor="ctr"/>
            <a:lstStyle/>
            <a:p>
              <a:pPr algn="ctr"/>
            </a:p>
          </p:txBody>
        </p:sp>
        <p:sp>
          <p:nvSpPr>
            <p:cNvPr id="16" name="TextBox 15"/>
            <p:cNvSpPr txBox="1"/>
            <p:nvPr/>
          </p:nvSpPr>
          <p:spPr>
            <a:xfrm>
              <a:off x="11109960" y="2194560"/>
              <a:ext cx="731520" cy="219456"/>
            </a:xfrm>
            <a:prstGeom prst="rect">
              <a:avLst/>
            </a:prstGeom>
            <a:noFill/>
          </p:spPr>
          <p:txBody>
            <a:bodyPr wrap="square" anchor="t" lIns="0" rIns="0" tIns="0" bIns="0">
              <a:spAutoFit/>
            </a:bodyPr>
            <a:lstStyle/>
            <a:p>
              <a:pPr algn="ctr"/>
              <a:r>
                <a:rPr sz="1250" b="0" i="0">
                  <a:solidFill>
                    <a:srgbClr val="415669"/>
                  </a:solidFill>
                  <a:latin typeface="Calibri"/>
                </a:rPr>
                <a:t>2030</a:t>
              </a:r>
            </a:p>
          </p:txBody>
        </p:sp>
        <p:sp>
          <p:nvSpPr>
            <p:cNvPr id="17" name="Diamond 16"/>
            <p:cNvSpPr/>
            <p:nvPr/>
          </p:nvSpPr>
          <p:spPr>
            <a:xfrm>
              <a:off x="3558539" y="2011679"/>
              <a:ext cx="164592" cy="164592"/>
            </a:xfrm>
            <a:prstGeom prst="diamond">
              <a:avLst/>
            </a:prstGeom>
            <a:solidFill>
              <a:srgbClr val="0B2D4D"/>
            </a:solidFill>
            <a:ln>
              <a:noFill/>
            </a:ln>
            <a:effectLst/>
          </p:spPr>
          <p:txBody>
            <a:bodyPr rtlCol="0" anchor="ctr"/>
            <a:lstStyle/>
            <a:p>
              <a:pPr algn="ctr"/>
            </a:p>
          </p:txBody>
        </p:sp>
        <p:sp>
          <p:nvSpPr>
            <p:cNvPr id="18" name="TextBox 17"/>
            <p:cNvSpPr txBox="1"/>
            <p:nvPr/>
          </p:nvSpPr>
          <p:spPr>
            <a:xfrm>
              <a:off x="2606040" y="1755648"/>
              <a:ext cx="2011680" cy="274320"/>
            </a:xfrm>
            <a:prstGeom prst="rect">
              <a:avLst/>
            </a:prstGeom>
            <a:noFill/>
          </p:spPr>
          <p:txBody>
            <a:bodyPr wrap="square" anchor="t" lIns="0" rIns="0" tIns="0" bIns="0">
              <a:spAutoFit/>
            </a:bodyPr>
            <a:lstStyle/>
            <a:p>
              <a:pPr algn="ctr">
                <a:lnSpc>
                  <a:spcPct val="105000"/>
                </a:lnSpc>
              </a:pPr>
              <a:r>
                <a:rPr sz="1250" b="1" i="0">
                  <a:solidFill>
                    <a:srgbClr val="0B2D4D"/>
                  </a:solidFill>
                  <a:latin typeface="Calibri"/>
                </a:rPr>
                <a:t>Modules set — Aug 2025</a:t>
              </a:r>
            </a:p>
          </p:txBody>
        </p:sp>
        <p:sp>
          <p:nvSpPr>
            <p:cNvPr id="19" name="Diamond 18"/>
            <p:cNvSpPr/>
            <p:nvPr/>
          </p:nvSpPr>
          <p:spPr>
            <a:xfrm>
              <a:off x="6071616" y="2011679"/>
              <a:ext cx="164592" cy="164592"/>
            </a:xfrm>
            <a:prstGeom prst="diamond">
              <a:avLst/>
            </a:prstGeom>
            <a:solidFill>
              <a:srgbClr val="0B2D4D"/>
            </a:solidFill>
            <a:ln>
              <a:noFill/>
            </a:ln>
            <a:effectLst/>
          </p:spPr>
          <p:txBody>
            <a:bodyPr rtlCol="0" anchor="ctr"/>
            <a:lstStyle/>
            <a:p>
              <a:pPr algn="ctr"/>
            </a:p>
          </p:txBody>
        </p:sp>
        <p:sp>
          <p:nvSpPr>
            <p:cNvPr id="20" name="TextBox 19"/>
            <p:cNvSpPr txBox="1"/>
            <p:nvPr/>
          </p:nvSpPr>
          <p:spPr>
            <a:xfrm>
              <a:off x="5486400" y="1755648"/>
              <a:ext cx="1783080" cy="274320"/>
            </a:xfrm>
            <a:prstGeom prst="rect">
              <a:avLst/>
            </a:prstGeom>
            <a:noFill/>
          </p:spPr>
          <p:txBody>
            <a:bodyPr wrap="square" anchor="t" lIns="0" rIns="0" tIns="0" bIns="0">
              <a:spAutoFit/>
            </a:bodyPr>
            <a:lstStyle/>
            <a:p>
              <a:pPr algn="ctr">
                <a:lnSpc>
                  <a:spcPct val="105000"/>
                </a:lnSpc>
              </a:pPr>
              <a:r>
                <a:rPr sz="1250" b="1" i="0">
                  <a:solidFill>
                    <a:srgbClr val="0B2D4D"/>
                  </a:solidFill>
                  <a:latin typeface="Calibri"/>
                </a:rPr>
                <a:t>Phase 1 opens — 2027</a:t>
              </a:r>
            </a:p>
          </p:txBody>
        </p:sp>
        <p:sp>
          <p:nvSpPr>
            <p:cNvPr id="21" name="Diamond 20"/>
            <p:cNvSpPr/>
            <p:nvPr/>
          </p:nvSpPr>
          <p:spPr>
            <a:xfrm>
              <a:off x="11393424" y="2011679"/>
              <a:ext cx="164592" cy="164592"/>
            </a:xfrm>
            <a:prstGeom prst="diamond">
              <a:avLst/>
            </a:prstGeom>
            <a:solidFill>
              <a:srgbClr val="0B2D4D"/>
            </a:solidFill>
            <a:ln>
              <a:noFill/>
            </a:ln>
            <a:effectLst/>
          </p:spPr>
          <p:txBody>
            <a:bodyPr rtlCol="0" anchor="ctr"/>
            <a:lstStyle/>
            <a:p>
              <a:pPr algn="ctr"/>
            </a:p>
          </p:txBody>
        </p:sp>
        <p:sp>
          <p:nvSpPr>
            <p:cNvPr id="22" name="TextBox 21"/>
            <p:cNvSpPr txBox="1"/>
            <p:nvPr/>
          </p:nvSpPr>
          <p:spPr>
            <a:xfrm>
              <a:off x="9144000" y="1463040"/>
              <a:ext cx="2331720" cy="566928"/>
            </a:xfrm>
            <a:prstGeom prst="rect">
              <a:avLst/>
            </a:prstGeom>
            <a:noFill/>
          </p:spPr>
          <p:txBody>
            <a:bodyPr wrap="square" anchor="t" lIns="0" rIns="0" tIns="0" bIns="0">
              <a:spAutoFit/>
            </a:bodyPr>
            <a:lstStyle/>
            <a:p>
              <a:pPr algn="r">
                <a:lnSpc>
                  <a:spcPct val="105000"/>
                </a:lnSpc>
              </a:pPr>
              <a:r>
                <a:rPr sz="1250" b="1" i="0">
                  <a:solidFill>
                    <a:srgbClr val="0B2D4D"/>
                  </a:solidFill>
                  <a:latin typeface="Calibri"/>
                </a:rPr>
                <a:t>Program completes — 2030; window closes</a:t>
              </a:r>
            </a:p>
          </p:txBody>
        </p:sp>
        <p:sp>
          <p:nvSpPr>
            <p:cNvPr id="23" name="Rectangle 22"/>
            <p:cNvSpPr/>
            <p:nvPr/>
          </p:nvSpPr>
          <p:spPr>
            <a:xfrm>
              <a:off x="5396483" y="1645920"/>
              <a:ext cx="36576" cy="3063240"/>
            </a:xfrm>
            <a:prstGeom prst="rect">
              <a:avLst/>
            </a:prstGeom>
            <a:solidFill>
              <a:srgbClr val="D4A24C"/>
            </a:solidFill>
            <a:ln>
              <a:noFill/>
            </a:ln>
            <a:effectLst/>
          </p:spPr>
          <p:txBody>
            <a:bodyPr rtlCol="0" anchor="ctr"/>
            <a:lstStyle/>
            <a:p>
              <a:pPr algn="ctr"/>
            </a:p>
          </p:txBody>
        </p:sp>
        <p:sp>
          <p:nvSpPr>
            <p:cNvPr id="24" name="TextBox 23"/>
            <p:cNvSpPr txBox="1"/>
            <p:nvPr/>
          </p:nvSpPr>
          <p:spPr>
            <a:xfrm>
              <a:off x="4500371" y="1371600"/>
              <a:ext cx="1828800" cy="256032"/>
            </a:xfrm>
            <a:prstGeom prst="rect">
              <a:avLst/>
            </a:prstGeom>
            <a:noFill/>
          </p:spPr>
          <p:txBody>
            <a:bodyPr wrap="square" anchor="t" lIns="0" rIns="0" tIns="0" bIns="0">
              <a:spAutoFit/>
            </a:bodyPr>
            <a:lstStyle/>
            <a:p>
              <a:pPr algn="ctr"/>
              <a:r>
                <a:rPr sz="1250" b="1" i="0">
                  <a:solidFill>
                    <a:srgbClr val="D4A24C"/>
                  </a:solidFill>
                  <a:latin typeface="Calibri"/>
                </a:rPr>
                <a:t>TODAY — AUG 2026</a:t>
              </a:r>
            </a:p>
          </p:txBody>
        </p:sp>
        <p:sp>
          <p:nvSpPr>
            <p:cNvPr id="25" name="TextBox 24"/>
            <p:cNvSpPr txBox="1"/>
            <p:nvPr/>
          </p:nvSpPr>
          <p:spPr>
            <a:xfrm>
              <a:off x="502920" y="2542032"/>
              <a:ext cx="1965960" cy="566928"/>
            </a:xfrm>
            <a:prstGeom prst="rect">
              <a:avLst/>
            </a:prstGeom>
            <a:noFill/>
          </p:spPr>
          <p:txBody>
            <a:bodyPr wrap="square" anchor="t" lIns="0" rIns="0" tIns="0" bIns="0">
              <a:spAutoFit/>
            </a:bodyPr>
            <a:lstStyle/>
            <a:p>
              <a:pPr algn="l">
                <a:lnSpc>
                  <a:spcPct val="105000"/>
                </a:lnSpc>
              </a:pPr>
              <a:r>
                <a:rPr sz="1250" b="1" i="0">
                  <a:solidFill>
                    <a:srgbClr val="0B2D4D"/>
                  </a:solidFill>
                  <a:latin typeface="Calibri"/>
                </a:rPr>
                <a:t>Six modules set Aug 2025</a:t>
              </a:r>
            </a:p>
          </p:txBody>
        </p:sp>
        <p:sp>
          <p:nvSpPr>
            <p:cNvPr id="26" name="Rectangle 25"/>
            <p:cNvSpPr/>
            <p:nvPr/>
          </p:nvSpPr>
          <p:spPr>
            <a:xfrm>
              <a:off x="2606040" y="2560320"/>
              <a:ext cx="640080" cy="310896"/>
            </a:xfrm>
            <a:prstGeom prst="rect">
              <a:avLst/>
            </a:prstGeom>
            <a:solidFill>
              <a:srgbClr val="415669"/>
            </a:solidFill>
            <a:ln>
              <a:noFill/>
            </a:ln>
            <a:effectLst/>
          </p:spPr>
          <p:txBody>
            <a:bodyPr rtlCol="0" anchor="ctr"/>
            <a:lstStyle/>
            <a:p>
              <a:pPr algn="ctr"/>
            </a:p>
          </p:txBody>
        </p:sp>
        <p:sp>
          <p:nvSpPr>
            <p:cNvPr id="27" name="Oval 26"/>
            <p:cNvSpPr/>
            <p:nvPr/>
          </p:nvSpPr>
          <p:spPr>
            <a:xfrm>
              <a:off x="3337560" y="2551176"/>
              <a:ext cx="128016" cy="118872"/>
            </a:xfrm>
            <a:prstGeom prst="ellipse">
              <a:avLst/>
            </a:prstGeom>
            <a:noFill/>
            <a:ln w="22225">
              <a:solidFill>
                <a:srgbClr val="415669"/>
              </a:solidFill>
            </a:ln>
            <a:effectLst/>
          </p:spPr>
          <p:txBody>
            <a:bodyPr rtlCol="0" anchor="ctr"/>
            <a:lstStyle/>
            <a:p>
              <a:pPr algn="ctr"/>
            </a:p>
          </p:txBody>
        </p:sp>
        <p:sp>
          <p:nvSpPr>
            <p:cNvPr id="28" name="Rectangle 27"/>
            <p:cNvSpPr/>
            <p:nvPr/>
          </p:nvSpPr>
          <p:spPr>
            <a:xfrm>
              <a:off x="3310128" y="2651760"/>
              <a:ext cx="182880" cy="137160"/>
            </a:xfrm>
            <a:prstGeom prst="rect">
              <a:avLst/>
            </a:prstGeom>
            <a:solidFill>
              <a:srgbClr val="415669"/>
            </a:solidFill>
            <a:ln>
              <a:noFill/>
            </a:ln>
            <a:effectLst/>
          </p:spPr>
          <p:txBody>
            <a:bodyPr rtlCol="0" anchor="ctr"/>
            <a:lstStyle/>
            <a:p>
              <a:pPr algn="ctr"/>
            </a:p>
          </p:txBody>
        </p:sp>
        <p:sp>
          <p:nvSpPr>
            <p:cNvPr id="29" name="Rectangle 28"/>
            <p:cNvSpPr/>
            <p:nvPr/>
          </p:nvSpPr>
          <p:spPr>
            <a:xfrm>
              <a:off x="3558539" y="2596896"/>
              <a:ext cx="164592" cy="237744"/>
            </a:xfrm>
            <a:prstGeom prst="rect">
              <a:avLst/>
            </a:prstGeom>
            <a:solidFill>
              <a:srgbClr val="0B2D4D"/>
            </a:solidFill>
            <a:ln>
              <a:noFill/>
            </a:ln>
            <a:effectLst/>
          </p:spPr>
          <p:txBody>
            <a:bodyPr rtlCol="0" anchor="ctr"/>
            <a:lstStyle/>
            <a:p>
              <a:pPr algn="ctr"/>
            </a:p>
          </p:txBody>
        </p:sp>
        <p:sp>
          <p:nvSpPr>
            <p:cNvPr id="30" name="TextBox 29"/>
            <p:cNvSpPr txBox="1"/>
            <p:nvPr/>
          </p:nvSpPr>
          <p:spPr>
            <a:xfrm>
              <a:off x="3931920" y="2578608"/>
              <a:ext cx="5120640" cy="292608"/>
            </a:xfrm>
            <a:prstGeom prst="rect">
              <a:avLst/>
            </a:prstGeom>
            <a:noFill/>
          </p:spPr>
          <p:txBody>
            <a:bodyPr wrap="square" anchor="t" lIns="0" rIns="0" tIns="0" bIns="0">
              <a:spAutoFit/>
            </a:bodyPr>
            <a:lstStyle/>
            <a:p>
              <a:pPr algn="l"/>
              <a:r>
                <a:rPr sz="1250" b="0" i="0">
                  <a:solidFill>
                    <a:srgbClr val="415669"/>
                  </a:solidFill>
                  <a:latin typeface="Calibri"/>
                </a:rPr>
                <a:t>decision window closed at release — months before the set</a:t>
              </a:r>
            </a:p>
          </p:txBody>
        </p:sp>
        <p:sp>
          <p:nvSpPr>
            <p:cNvPr id="31" name="TextBox 30"/>
            <p:cNvSpPr txBox="1"/>
            <p:nvPr/>
          </p:nvSpPr>
          <p:spPr>
            <a:xfrm>
              <a:off x="502920" y="3310128"/>
              <a:ext cx="1965960" cy="566928"/>
            </a:xfrm>
            <a:prstGeom prst="rect">
              <a:avLst/>
            </a:prstGeom>
            <a:noFill/>
          </p:spPr>
          <p:txBody>
            <a:bodyPr wrap="square" anchor="t" lIns="0" rIns="0" tIns="0" bIns="0">
              <a:spAutoFit/>
            </a:bodyPr>
            <a:lstStyle/>
            <a:p>
              <a:pPr algn="l">
                <a:lnSpc>
                  <a:spcPct val="105000"/>
                </a:lnSpc>
              </a:pPr>
              <a:r>
                <a:rPr sz="1250" b="1" i="0">
                  <a:solidFill>
                    <a:srgbClr val="0B2D4D"/>
                  </a:solidFill>
                  <a:latin typeface="Calibri"/>
                </a:rPr>
                <a:t>Next modules in the queue</a:t>
              </a:r>
            </a:p>
          </p:txBody>
        </p:sp>
        <p:sp>
          <p:nvSpPr>
            <p:cNvPr id="32" name="Rectangle 31"/>
            <p:cNvSpPr/>
            <p:nvPr/>
          </p:nvSpPr>
          <p:spPr>
            <a:xfrm>
              <a:off x="3977639" y="3328416"/>
              <a:ext cx="2926080" cy="310896"/>
            </a:xfrm>
            <a:prstGeom prst="rect">
              <a:avLst/>
            </a:prstGeom>
            <a:solidFill>
              <a:srgbClr val="EDF3F6"/>
            </a:solidFill>
            <a:ln w="22225">
              <a:solidFill>
                <a:srgbClr val="2E84A5"/>
              </a:solidFill>
              <a:prstDash val="dash"/>
            </a:ln>
            <a:effectLst/>
          </p:spPr>
          <p:txBody>
            <a:bodyPr rtlCol="0" anchor="ctr"/>
            <a:lstStyle/>
            <a:p>
              <a:pPr algn="ctr"/>
            </a:p>
          </p:txBody>
        </p:sp>
        <p:sp>
          <p:nvSpPr>
            <p:cNvPr id="33" name="Rectangle 32"/>
            <p:cNvSpPr/>
            <p:nvPr/>
          </p:nvSpPr>
          <p:spPr>
            <a:xfrm>
              <a:off x="4270248" y="3346704"/>
              <a:ext cx="10972" cy="274320"/>
            </a:xfrm>
            <a:prstGeom prst="rect">
              <a:avLst/>
            </a:prstGeom>
            <a:solidFill>
              <a:srgbClr val="2E84A5"/>
            </a:solidFill>
            <a:ln>
              <a:noFill/>
            </a:ln>
            <a:effectLst/>
          </p:spPr>
          <p:txBody>
            <a:bodyPr rtlCol="0" anchor="ctr"/>
            <a:lstStyle/>
            <a:p>
              <a:pPr algn="ctr"/>
            </a:p>
          </p:txBody>
        </p:sp>
        <p:sp>
          <p:nvSpPr>
            <p:cNvPr id="34" name="Rectangle 33"/>
            <p:cNvSpPr/>
            <p:nvPr/>
          </p:nvSpPr>
          <p:spPr>
            <a:xfrm>
              <a:off x="4562855" y="3346704"/>
              <a:ext cx="10972" cy="274320"/>
            </a:xfrm>
            <a:prstGeom prst="rect">
              <a:avLst/>
            </a:prstGeom>
            <a:solidFill>
              <a:srgbClr val="2E84A5"/>
            </a:solidFill>
            <a:ln>
              <a:noFill/>
            </a:ln>
            <a:effectLst/>
          </p:spPr>
          <p:txBody>
            <a:bodyPr rtlCol="0" anchor="ctr"/>
            <a:lstStyle/>
            <a:p>
              <a:pPr algn="ctr"/>
            </a:p>
          </p:txBody>
        </p:sp>
        <p:sp>
          <p:nvSpPr>
            <p:cNvPr id="35" name="Rectangle 34"/>
            <p:cNvSpPr/>
            <p:nvPr/>
          </p:nvSpPr>
          <p:spPr>
            <a:xfrm>
              <a:off x="4855464" y="3346704"/>
              <a:ext cx="10972" cy="274320"/>
            </a:xfrm>
            <a:prstGeom prst="rect">
              <a:avLst/>
            </a:prstGeom>
            <a:solidFill>
              <a:srgbClr val="2E84A5"/>
            </a:solidFill>
            <a:ln>
              <a:noFill/>
            </a:ln>
            <a:effectLst/>
          </p:spPr>
          <p:txBody>
            <a:bodyPr rtlCol="0" anchor="ctr"/>
            <a:lstStyle/>
            <a:p>
              <a:pPr algn="ctr"/>
            </a:p>
          </p:txBody>
        </p:sp>
        <p:sp>
          <p:nvSpPr>
            <p:cNvPr id="36" name="Rectangle 35"/>
            <p:cNvSpPr/>
            <p:nvPr/>
          </p:nvSpPr>
          <p:spPr>
            <a:xfrm>
              <a:off x="5148072" y="3346704"/>
              <a:ext cx="10972" cy="274320"/>
            </a:xfrm>
            <a:prstGeom prst="rect">
              <a:avLst/>
            </a:prstGeom>
            <a:solidFill>
              <a:srgbClr val="2E84A5"/>
            </a:solidFill>
            <a:ln>
              <a:noFill/>
            </a:ln>
            <a:effectLst/>
          </p:spPr>
          <p:txBody>
            <a:bodyPr rtlCol="0" anchor="ctr"/>
            <a:lstStyle/>
            <a:p>
              <a:pPr algn="ctr"/>
            </a:p>
          </p:txBody>
        </p:sp>
        <p:sp>
          <p:nvSpPr>
            <p:cNvPr id="37" name="Rectangle 36"/>
            <p:cNvSpPr/>
            <p:nvPr/>
          </p:nvSpPr>
          <p:spPr>
            <a:xfrm>
              <a:off x="5440679" y="3346704"/>
              <a:ext cx="10972" cy="274320"/>
            </a:xfrm>
            <a:prstGeom prst="rect">
              <a:avLst/>
            </a:prstGeom>
            <a:solidFill>
              <a:srgbClr val="2E84A5"/>
            </a:solidFill>
            <a:ln>
              <a:noFill/>
            </a:ln>
            <a:effectLst/>
          </p:spPr>
          <p:txBody>
            <a:bodyPr rtlCol="0" anchor="ctr"/>
            <a:lstStyle/>
            <a:p>
              <a:pPr algn="ctr"/>
            </a:p>
          </p:txBody>
        </p:sp>
        <p:sp>
          <p:nvSpPr>
            <p:cNvPr id="38" name="Rectangle 37"/>
            <p:cNvSpPr/>
            <p:nvPr/>
          </p:nvSpPr>
          <p:spPr>
            <a:xfrm>
              <a:off x="5733288" y="3346704"/>
              <a:ext cx="10972" cy="274320"/>
            </a:xfrm>
            <a:prstGeom prst="rect">
              <a:avLst/>
            </a:prstGeom>
            <a:solidFill>
              <a:srgbClr val="2E84A5"/>
            </a:solidFill>
            <a:ln>
              <a:noFill/>
            </a:ln>
            <a:effectLst/>
          </p:spPr>
          <p:txBody>
            <a:bodyPr rtlCol="0" anchor="ctr"/>
            <a:lstStyle/>
            <a:p>
              <a:pPr algn="ctr"/>
            </a:p>
          </p:txBody>
        </p:sp>
        <p:sp>
          <p:nvSpPr>
            <p:cNvPr id="39" name="Rectangle 38"/>
            <p:cNvSpPr/>
            <p:nvPr/>
          </p:nvSpPr>
          <p:spPr>
            <a:xfrm>
              <a:off x="6025896" y="3346704"/>
              <a:ext cx="10972" cy="274320"/>
            </a:xfrm>
            <a:prstGeom prst="rect">
              <a:avLst/>
            </a:prstGeom>
            <a:solidFill>
              <a:srgbClr val="2E84A5"/>
            </a:solidFill>
            <a:ln>
              <a:noFill/>
            </a:ln>
            <a:effectLst/>
          </p:spPr>
          <p:txBody>
            <a:bodyPr rtlCol="0" anchor="ctr"/>
            <a:lstStyle/>
            <a:p>
              <a:pPr algn="ctr"/>
            </a:p>
          </p:txBody>
        </p:sp>
        <p:sp>
          <p:nvSpPr>
            <p:cNvPr id="40" name="Rectangle 39"/>
            <p:cNvSpPr/>
            <p:nvPr/>
          </p:nvSpPr>
          <p:spPr>
            <a:xfrm>
              <a:off x="6318504" y="3346704"/>
              <a:ext cx="10972" cy="274320"/>
            </a:xfrm>
            <a:prstGeom prst="rect">
              <a:avLst/>
            </a:prstGeom>
            <a:solidFill>
              <a:srgbClr val="2E84A5"/>
            </a:solidFill>
            <a:ln>
              <a:noFill/>
            </a:ln>
            <a:effectLst/>
          </p:spPr>
          <p:txBody>
            <a:bodyPr rtlCol="0" anchor="ctr"/>
            <a:lstStyle/>
            <a:p>
              <a:pPr algn="ctr"/>
            </a:p>
          </p:txBody>
        </p:sp>
        <p:sp>
          <p:nvSpPr>
            <p:cNvPr id="41" name="Rectangle 40"/>
            <p:cNvSpPr/>
            <p:nvPr/>
          </p:nvSpPr>
          <p:spPr>
            <a:xfrm>
              <a:off x="6611112" y="3346704"/>
              <a:ext cx="10972" cy="274320"/>
            </a:xfrm>
            <a:prstGeom prst="rect">
              <a:avLst/>
            </a:prstGeom>
            <a:solidFill>
              <a:srgbClr val="2E84A5"/>
            </a:solidFill>
            <a:ln>
              <a:noFill/>
            </a:ln>
            <a:effectLst/>
          </p:spPr>
          <p:txBody>
            <a:bodyPr rtlCol="0" anchor="ctr"/>
            <a:lstStyle/>
            <a:p>
              <a:pPr algn="ctr"/>
            </a:p>
          </p:txBody>
        </p:sp>
        <p:sp>
          <p:nvSpPr>
            <p:cNvPr id="42" name="Oval 41"/>
            <p:cNvSpPr/>
            <p:nvPr/>
          </p:nvSpPr>
          <p:spPr>
            <a:xfrm>
              <a:off x="7114032" y="3319272"/>
              <a:ext cx="128016" cy="118872"/>
            </a:xfrm>
            <a:prstGeom prst="ellipse">
              <a:avLst/>
            </a:prstGeom>
            <a:noFill/>
            <a:ln w="22225">
              <a:solidFill>
                <a:srgbClr val="2E84A5"/>
              </a:solidFill>
            </a:ln>
            <a:effectLst/>
          </p:spPr>
          <p:txBody>
            <a:bodyPr rtlCol="0" anchor="ctr"/>
            <a:lstStyle/>
            <a:p>
              <a:pPr algn="ctr"/>
            </a:p>
          </p:txBody>
        </p:sp>
        <p:sp>
          <p:nvSpPr>
            <p:cNvPr id="43" name="Rectangle 42"/>
            <p:cNvSpPr/>
            <p:nvPr/>
          </p:nvSpPr>
          <p:spPr>
            <a:xfrm>
              <a:off x="6995160" y="3419856"/>
              <a:ext cx="182880" cy="137160"/>
            </a:xfrm>
            <a:prstGeom prst="rect">
              <a:avLst/>
            </a:prstGeom>
            <a:solidFill>
              <a:srgbClr val="2E84A5"/>
            </a:solidFill>
            <a:ln>
              <a:noFill/>
            </a:ln>
            <a:effectLst/>
          </p:spPr>
          <p:txBody>
            <a:bodyPr rtlCol="0" anchor="ctr"/>
            <a:lstStyle/>
            <a:p>
              <a:pPr algn="ctr"/>
            </a:p>
          </p:txBody>
        </p:sp>
        <p:sp>
          <p:nvSpPr>
            <p:cNvPr id="44" name="TextBox 43"/>
            <p:cNvSpPr txBox="1"/>
            <p:nvPr/>
          </p:nvSpPr>
          <p:spPr>
            <a:xfrm>
              <a:off x="7406640" y="3346704"/>
              <a:ext cx="4023360" cy="292608"/>
            </a:xfrm>
            <a:prstGeom prst="rect">
              <a:avLst/>
            </a:prstGeom>
            <a:noFill/>
          </p:spPr>
          <p:txBody>
            <a:bodyPr wrap="square" anchor="t" lIns="0" rIns="0" tIns="0" bIns="0">
              <a:spAutoFit/>
            </a:bodyPr>
            <a:lstStyle/>
            <a:p>
              <a:pPr algn="l"/>
              <a:r>
                <a:rPr sz="1250" b="1" i="0">
                  <a:solidFill>
                    <a:srgbClr val="2E84A5"/>
                  </a:solidFill>
                  <a:latin typeface="Calibri"/>
                </a:rPr>
                <a:t>window open — closes at release-for-fabrication</a:t>
              </a:r>
            </a:p>
          </p:txBody>
        </p:sp>
        <p:sp>
          <p:nvSpPr>
            <p:cNvPr id="45" name="TextBox 44"/>
            <p:cNvSpPr txBox="1"/>
            <p:nvPr/>
          </p:nvSpPr>
          <p:spPr>
            <a:xfrm>
              <a:off x="502920" y="4078224"/>
              <a:ext cx="1965960" cy="566928"/>
            </a:xfrm>
            <a:prstGeom prst="rect">
              <a:avLst/>
            </a:prstGeom>
            <a:noFill/>
          </p:spPr>
          <p:txBody>
            <a:bodyPr wrap="square" anchor="t" lIns="0" rIns="0" tIns="0" bIns="0">
              <a:spAutoFit/>
            </a:bodyPr>
            <a:lstStyle/>
            <a:p>
              <a:pPr algn="l"/>
              <a:r>
                <a:rPr sz="1250" b="1" i="0">
                  <a:solidFill>
                    <a:srgbClr val="0B2D4D"/>
                  </a:solidFill>
                  <a:latin typeface="Calibri"/>
                </a:rPr>
                <a:t>Later modules</a:t>
              </a:r>
            </a:p>
          </p:txBody>
        </p:sp>
        <p:sp>
          <p:nvSpPr>
            <p:cNvPr id="46" name="Rectangle 45"/>
            <p:cNvSpPr/>
            <p:nvPr/>
          </p:nvSpPr>
          <p:spPr>
            <a:xfrm>
              <a:off x="5440680" y="4096512"/>
              <a:ext cx="4297680" cy="310896"/>
            </a:xfrm>
            <a:prstGeom prst="rect">
              <a:avLst/>
            </a:prstGeom>
            <a:noFill/>
            <a:ln w="19050">
              <a:solidFill>
                <a:srgbClr val="415669"/>
              </a:solidFill>
              <a:prstDash val="dash"/>
            </a:ln>
            <a:effectLst/>
          </p:spPr>
          <p:txBody>
            <a:bodyPr rtlCol="0" anchor="ctr"/>
            <a:lstStyle/>
            <a:p>
              <a:pPr algn="ctr"/>
            </a:p>
          </p:txBody>
        </p:sp>
        <p:sp>
          <p:nvSpPr>
            <p:cNvPr id="47" name="TextBox 46"/>
            <p:cNvSpPr txBox="1"/>
            <p:nvPr/>
          </p:nvSpPr>
          <p:spPr>
            <a:xfrm>
              <a:off x="5577840" y="4133087"/>
              <a:ext cx="4069080" cy="274320"/>
            </a:xfrm>
            <a:prstGeom prst="rect">
              <a:avLst/>
            </a:prstGeom>
            <a:noFill/>
          </p:spPr>
          <p:txBody>
            <a:bodyPr wrap="square" anchor="t" lIns="0" rIns="0" tIns="0" bIns="0">
              <a:spAutoFit/>
            </a:bodyPr>
            <a:lstStyle/>
            <a:p>
              <a:pPr algn="l"/>
              <a:r>
                <a:rPr sz="1250" b="0" i="1">
                  <a:solidFill>
                    <a:srgbClr val="415669"/>
                  </a:solidFill>
                  <a:latin typeface="Calibri"/>
                </a:rPr>
                <a:t>schedule unpublished — D0/D2 disclosure</a:t>
              </a:r>
            </a:p>
          </p:txBody>
        </p:sp>
      </p:grpSp>
      <p:sp>
        <p:nvSpPr>
          <p:cNvPr id="48" name="slide-03-callout-rule"/>
          <p:cNvSpPr/>
          <p:nvPr/>
        </p:nvSpPr>
        <p:spPr>
          <a:xfrm>
            <a:off x="502920" y="4956048"/>
            <a:ext cx="64008" cy="1207008"/>
          </a:xfrm>
          <a:prstGeom prst="rect">
            <a:avLst/>
          </a:prstGeom>
          <a:solidFill>
            <a:srgbClr val="D4A24C"/>
          </a:solidFill>
          <a:ln>
            <a:noFill/>
          </a:ln>
          <a:effectLst/>
        </p:spPr>
        <p:txBody>
          <a:bodyPr rtlCol="0" anchor="ctr"/>
          <a:lstStyle/>
          <a:p>
            <a:pPr algn="ctr"/>
          </a:p>
        </p:txBody>
      </p:sp>
      <p:sp>
        <p:nvSpPr>
          <p:cNvPr id="49" name="slide-03-callout-bg"/>
          <p:cNvSpPr/>
          <p:nvPr/>
        </p:nvSpPr>
        <p:spPr>
          <a:xfrm>
            <a:off x="566928" y="4956048"/>
            <a:ext cx="11119104" cy="1207008"/>
          </a:xfrm>
          <a:prstGeom prst="rect">
            <a:avLst/>
          </a:prstGeom>
          <a:solidFill>
            <a:srgbClr val="EDF3F6"/>
          </a:solidFill>
          <a:ln>
            <a:noFill/>
          </a:ln>
          <a:effectLst/>
        </p:spPr>
        <p:txBody>
          <a:bodyPr rtlCol="0" anchor="ctr"/>
          <a:lstStyle/>
          <a:p>
            <a:pPr algn="ctr"/>
          </a:p>
        </p:txBody>
      </p:sp>
      <p:sp>
        <p:nvSpPr>
          <p:cNvPr id="50" name="slide-03-callout"/>
          <p:cNvSpPr txBox="1"/>
          <p:nvPr/>
        </p:nvSpPr>
        <p:spPr>
          <a:xfrm>
            <a:off x="777240" y="5102352"/>
            <a:ext cx="10698480" cy="960120"/>
          </a:xfrm>
          <a:prstGeom prst="rect">
            <a:avLst/>
          </a:prstGeom>
          <a:noFill/>
        </p:spPr>
        <p:txBody>
          <a:bodyPr wrap="square" anchor="t" lIns="0" rIns="0" tIns="0" bIns="0">
            <a:spAutoFit/>
          </a:bodyPr>
          <a:lstStyle/>
          <a:p>
            <a:pPr algn="l">
              <a:lnSpc>
                <a:spcPct val="112000"/>
              </a:lnSpc>
            </a:pPr>
            <a:r>
              <a:rPr sz="1600" b="1" i="0">
                <a:solidFill>
                  <a:srgbClr val="17232D"/>
                </a:solidFill>
                <a:latin typeface="Calibri"/>
              </a:rPr>
              <a:t>Post-release, modular is more change-hostile than stick-built: </a:t>
            </a:r>
            <a:r>
              <a:rPr sz="1600" b="0" i="0">
                <a:solidFill>
                  <a:srgbClr val="17232D"/>
                </a:solidFill>
                <a:latin typeface="Calibri"/>
              </a:rPr>
              <a:t>template changes propagate across the fabrication line. The ~30% cost and ~30% schedule savings is a repetition dividend — DFW-supplied, not independently audited.</a:t>
            </a:r>
          </a:p>
        </p:txBody>
      </p:sp>
      <p:sp>
        <p:nvSpPr>
          <p:cNvPr id="51" name="slide-03-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Module set: Innovation Next+ JV / Walsh Group, Aug 2025; Dallas Innovates (2025). ~30%/~30% savings are DFW-supplied trade-press figures; no independent audit exists. Per-module release dates unpublished; obtaining them is Decision D0/D2.</a:t>
            </a:r>
          </a:p>
        </p:txBody>
      </p:sp>
      <p:sp>
        <p:nvSpPr>
          <p:cNvPr id="52" name="slide-03-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04-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American has told the airport, for now, what F is for — a signal, not a settlement</a:t>
            </a:r>
          </a:p>
        </p:txBody>
      </p:sp>
      <p:grpSp>
        <p:nvGrpSpPr>
          <p:cNvPr id="3" name="slide-04-map" descr="Schematic of DFW terminals on the Skylink loop showing American's July 2026 premium placements: the largest-ever Admirals Club at Terminal C, Flagship Check-In at Terminal D, and a scaled-down Provisions grab-and-go at Terminal F."/>
          <p:cNvGrpSpPr/>
          <p:nvPr/>
        </p:nvGrpSpPr>
        <p:grpSpPr>
          <a:xfrm>
            <a:off x="822960" y="1481328"/>
            <a:ext cx="11247120" cy="4187952"/>
            <a:chOff x="822960" y="1481328"/>
            <a:chExt cx="11247120" cy="4187952"/>
          </a:xfrm>
        </p:grpSpPr>
        <p:sp>
          <p:nvSpPr>
            <p:cNvPr id="4" name="Rounded Rectangle 3"/>
            <p:cNvSpPr/>
            <p:nvPr/>
          </p:nvSpPr>
          <p:spPr>
            <a:xfrm>
              <a:off x="822960" y="1600200"/>
              <a:ext cx="5029200" cy="3520440"/>
            </a:xfrm>
            <a:prstGeom prst="roundRect">
              <a:avLst/>
            </a:prstGeom>
            <a:noFill/>
            <a:ln w="31750">
              <a:solidFill>
                <a:srgbClr val="2E84A5"/>
              </a:solidFill>
            </a:ln>
            <a:effectLst/>
          </p:spPr>
          <p:txBody>
            <a:bodyPr rtlCol="0" anchor="ctr"/>
            <a:lstStyle/>
            <a:p>
              <a:pPr algn="ctr"/>
            </a:p>
          </p:txBody>
        </p:sp>
        <p:sp>
          <p:nvSpPr>
            <p:cNvPr id="5" name="TextBox 4"/>
            <p:cNvSpPr txBox="1"/>
            <p:nvPr/>
          </p:nvSpPr>
          <p:spPr>
            <a:xfrm>
              <a:off x="2148840" y="1783080"/>
              <a:ext cx="2377440" cy="274320"/>
            </a:xfrm>
            <a:prstGeom prst="rect">
              <a:avLst/>
            </a:prstGeom>
            <a:noFill/>
          </p:spPr>
          <p:txBody>
            <a:bodyPr wrap="square" anchor="t" lIns="0" rIns="0" tIns="0" bIns="0">
              <a:spAutoFit/>
            </a:bodyPr>
            <a:lstStyle/>
            <a:p>
              <a:pPr algn="ctr"/>
              <a:r>
                <a:rPr sz="1300" b="1" i="0">
                  <a:solidFill>
                    <a:srgbClr val="2E84A5"/>
                  </a:solidFill>
                  <a:latin typeface="Calibri"/>
                </a:rPr>
                <a:t>Skylink</a:t>
              </a:r>
            </a:p>
          </p:txBody>
        </p:sp>
        <p:sp>
          <p:nvSpPr>
            <p:cNvPr id="6" name="Oval 5"/>
            <p:cNvSpPr/>
            <p:nvPr/>
          </p:nvSpPr>
          <p:spPr>
            <a:xfrm>
              <a:off x="1847088" y="1481328"/>
              <a:ext cx="237744" cy="237744"/>
            </a:xfrm>
            <a:prstGeom prst="ellipse">
              <a:avLst/>
            </a:prstGeom>
            <a:solidFill>
              <a:srgbClr val="9AA8B3"/>
            </a:solidFill>
            <a:ln>
              <a:noFill/>
            </a:ln>
            <a:effectLst/>
          </p:spPr>
          <p:txBody>
            <a:bodyPr rtlCol="0" anchor="ctr"/>
            <a:lstStyle/>
            <a:p>
              <a:pPr algn="ctr"/>
            </a:p>
          </p:txBody>
        </p:sp>
        <p:sp>
          <p:nvSpPr>
            <p:cNvPr id="7" name="TextBox 6"/>
            <p:cNvSpPr txBox="1"/>
            <p:nvPr/>
          </p:nvSpPr>
          <p:spPr>
            <a:xfrm>
              <a:off x="1737360" y="1773936"/>
              <a:ext cx="457200" cy="274320"/>
            </a:xfrm>
            <a:prstGeom prst="rect">
              <a:avLst/>
            </a:prstGeom>
            <a:noFill/>
          </p:spPr>
          <p:txBody>
            <a:bodyPr wrap="square" anchor="t" lIns="0" rIns="0" tIns="0" bIns="0">
              <a:spAutoFit/>
            </a:bodyPr>
            <a:lstStyle/>
            <a:p>
              <a:pPr algn="ctr"/>
              <a:r>
                <a:rPr sz="1250" b="1" i="0">
                  <a:solidFill>
                    <a:srgbClr val="415669"/>
                  </a:solidFill>
                  <a:latin typeface="Calibri"/>
                </a:rPr>
                <a:t>A</a:t>
              </a:r>
            </a:p>
          </p:txBody>
        </p:sp>
        <p:sp>
          <p:nvSpPr>
            <p:cNvPr id="8" name="Oval 7"/>
            <p:cNvSpPr/>
            <p:nvPr/>
          </p:nvSpPr>
          <p:spPr>
            <a:xfrm>
              <a:off x="3858768" y="1481328"/>
              <a:ext cx="237744" cy="237744"/>
            </a:xfrm>
            <a:prstGeom prst="ellipse">
              <a:avLst/>
            </a:prstGeom>
            <a:solidFill>
              <a:srgbClr val="9AA8B3"/>
            </a:solidFill>
            <a:ln>
              <a:noFill/>
            </a:ln>
            <a:effectLst/>
          </p:spPr>
          <p:txBody>
            <a:bodyPr rtlCol="0" anchor="ctr"/>
            <a:lstStyle/>
            <a:p>
              <a:pPr algn="ctr"/>
            </a:p>
          </p:txBody>
        </p:sp>
        <p:sp>
          <p:nvSpPr>
            <p:cNvPr id="9" name="TextBox 8"/>
            <p:cNvSpPr txBox="1"/>
            <p:nvPr/>
          </p:nvSpPr>
          <p:spPr>
            <a:xfrm>
              <a:off x="3749039" y="1773936"/>
              <a:ext cx="457200" cy="274320"/>
            </a:xfrm>
            <a:prstGeom prst="rect">
              <a:avLst/>
            </a:prstGeom>
            <a:noFill/>
          </p:spPr>
          <p:txBody>
            <a:bodyPr wrap="square" anchor="t" lIns="0" rIns="0" tIns="0" bIns="0">
              <a:spAutoFit/>
            </a:bodyPr>
            <a:lstStyle/>
            <a:p>
              <a:pPr algn="ctr"/>
              <a:r>
                <a:rPr sz="1250" b="1" i="0">
                  <a:solidFill>
                    <a:srgbClr val="415669"/>
                  </a:solidFill>
                  <a:latin typeface="Calibri"/>
                </a:rPr>
                <a:t>B</a:t>
              </a:r>
            </a:p>
          </p:txBody>
        </p:sp>
        <p:sp>
          <p:nvSpPr>
            <p:cNvPr id="10" name="Oval 9"/>
            <p:cNvSpPr/>
            <p:nvPr/>
          </p:nvSpPr>
          <p:spPr>
            <a:xfrm>
              <a:off x="1847088" y="5001768"/>
              <a:ext cx="237744" cy="237744"/>
            </a:xfrm>
            <a:prstGeom prst="ellipse">
              <a:avLst/>
            </a:prstGeom>
            <a:solidFill>
              <a:srgbClr val="9AA8B3"/>
            </a:solidFill>
            <a:ln>
              <a:noFill/>
            </a:ln>
            <a:effectLst/>
          </p:spPr>
          <p:txBody>
            <a:bodyPr rtlCol="0" anchor="ctr"/>
            <a:lstStyle/>
            <a:p>
              <a:pPr algn="ctr"/>
            </a:p>
          </p:txBody>
        </p:sp>
        <p:sp>
          <p:nvSpPr>
            <p:cNvPr id="11" name="TextBox 10"/>
            <p:cNvSpPr txBox="1"/>
            <p:nvPr/>
          </p:nvSpPr>
          <p:spPr>
            <a:xfrm>
              <a:off x="1856231" y="5394960"/>
              <a:ext cx="457200" cy="274320"/>
            </a:xfrm>
            <a:prstGeom prst="rect">
              <a:avLst/>
            </a:prstGeom>
            <a:noFill/>
          </p:spPr>
          <p:txBody>
            <a:bodyPr wrap="square" anchor="t" lIns="0" rIns="0" tIns="0" bIns="0">
              <a:spAutoFit/>
            </a:bodyPr>
            <a:lstStyle/>
            <a:p>
              <a:pPr algn="ctr"/>
              <a:r>
                <a:rPr sz="1250" b="1" i="0">
                  <a:solidFill>
                    <a:srgbClr val="415669"/>
                  </a:solidFill>
                  <a:latin typeface="Calibri"/>
                </a:rPr>
                <a:t>E</a:t>
              </a:r>
            </a:p>
          </p:txBody>
        </p:sp>
        <p:sp>
          <p:nvSpPr>
            <p:cNvPr id="12" name="Oval 11"/>
            <p:cNvSpPr/>
            <p:nvPr/>
          </p:nvSpPr>
          <p:spPr>
            <a:xfrm>
              <a:off x="5678424" y="2157984"/>
              <a:ext cx="347472" cy="347472"/>
            </a:xfrm>
            <a:prstGeom prst="ellipse">
              <a:avLst/>
            </a:prstGeom>
            <a:solidFill>
              <a:srgbClr val="2E84A5"/>
            </a:solidFill>
            <a:ln>
              <a:noFill/>
            </a:ln>
            <a:effectLst/>
          </p:spPr>
          <p:txBody>
            <a:bodyPr rtlCol="0" anchor="ctr"/>
            <a:lstStyle/>
            <a:p>
              <a:pPr algn="ctr"/>
            </a:p>
          </p:txBody>
        </p:sp>
        <p:sp>
          <p:nvSpPr>
            <p:cNvPr id="13" name="TextBox 12"/>
            <p:cNvSpPr txBox="1"/>
            <p:nvPr/>
          </p:nvSpPr>
          <p:spPr>
            <a:xfrm>
              <a:off x="5678424" y="2189988"/>
              <a:ext cx="347472" cy="274320"/>
            </a:xfrm>
            <a:prstGeom prst="rect">
              <a:avLst/>
            </a:prstGeom>
            <a:noFill/>
          </p:spPr>
          <p:txBody>
            <a:bodyPr wrap="square" anchor="t" lIns="0" rIns="0" tIns="0" bIns="0">
              <a:spAutoFit/>
            </a:bodyPr>
            <a:lstStyle/>
            <a:p>
              <a:pPr algn="ctr"/>
              <a:r>
                <a:rPr sz="1300" b="1" i="0">
                  <a:solidFill>
                    <a:srgbClr val="FFFFFF"/>
                  </a:solidFill>
                  <a:latin typeface="Calibri"/>
                </a:rPr>
                <a:t>C</a:t>
              </a:r>
            </a:p>
          </p:txBody>
        </p:sp>
        <p:sp>
          <p:nvSpPr>
            <p:cNvPr id="14" name="Rectangle 13"/>
            <p:cNvSpPr/>
            <p:nvPr/>
          </p:nvSpPr>
          <p:spPr>
            <a:xfrm>
              <a:off x="6053328" y="2414015"/>
              <a:ext cx="274319" cy="14630"/>
            </a:xfrm>
            <a:prstGeom prst="rect">
              <a:avLst/>
            </a:prstGeom>
            <a:solidFill>
              <a:srgbClr val="415669"/>
            </a:solidFill>
            <a:ln>
              <a:noFill/>
            </a:ln>
            <a:effectLst/>
          </p:spPr>
          <p:txBody>
            <a:bodyPr rtlCol="0" anchor="ctr"/>
            <a:lstStyle/>
            <a:p>
              <a:pPr algn="ctr"/>
            </a:p>
          </p:txBody>
        </p:sp>
        <p:sp>
          <p:nvSpPr>
            <p:cNvPr id="15" name="TextBox 14"/>
            <p:cNvSpPr txBox="1"/>
            <p:nvPr/>
          </p:nvSpPr>
          <p:spPr>
            <a:xfrm>
              <a:off x="6400800" y="2084831"/>
              <a:ext cx="2880360" cy="777240"/>
            </a:xfrm>
            <a:prstGeom prst="rect">
              <a:avLst/>
            </a:prstGeom>
            <a:noFill/>
          </p:spPr>
          <p:txBody>
            <a:bodyPr wrap="square" anchor="t" lIns="0" rIns="0" tIns="0" bIns="0">
              <a:spAutoFit/>
            </a:bodyPr>
            <a:lstStyle/>
            <a:p>
              <a:pPr algn="l">
                <a:lnSpc>
                  <a:spcPct val="108000"/>
                </a:lnSpc>
              </a:pPr>
              <a:r>
                <a:rPr sz="1300" b="0" i="0">
                  <a:solidFill>
                    <a:srgbClr val="17232D"/>
                  </a:solidFill>
                  <a:latin typeface="Calibri"/>
                </a:rPr>
                <a:t>Terminal C — Admirals Club, 37,000 sq ft, American's largest ever, near the Skylink station</a:t>
              </a:r>
            </a:p>
          </p:txBody>
        </p:sp>
        <p:sp>
          <p:nvSpPr>
            <p:cNvPr id="16" name="Oval 15"/>
            <p:cNvSpPr/>
            <p:nvPr/>
          </p:nvSpPr>
          <p:spPr>
            <a:xfrm>
              <a:off x="5678424" y="3392424"/>
              <a:ext cx="347472" cy="347472"/>
            </a:xfrm>
            <a:prstGeom prst="ellipse">
              <a:avLst/>
            </a:prstGeom>
            <a:solidFill>
              <a:srgbClr val="2E84A5"/>
            </a:solidFill>
            <a:ln>
              <a:noFill/>
            </a:ln>
            <a:effectLst/>
          </p:spPr>
          <p:txBody>
            <a:bodyPr rtlCol="0" anchor="ctr"/>
            <a:lstStyle/>
            <a:p>
              <a:pPr algn="ctr"/>
            </a:p>
          </p:txBody>
        </p:sp>
        <p:sp>
          <p:nvSpPr>
            <p:cNvPr id="17" name="TextBox 16"/>
            <p:cNvSpPr txBox="1"/>
            <p:nvPr/>
          </p:nvSpPr>
          <p:spPr>
            <a:xfrm>
              <a:off x="5678424" y="3424428"/>
              <a:ext cx="347472" cy="274320"/>
            </a:xfrm>
            <a:prstGeom prst="rect">
              <a:avLst/>
            </a:prstGeom>
            <a:noFill/>
          </p:spPr>
          <p:txBody>
            <a:bodyPr wrap="square" anchor="t" lIns="0" rIns="0" tIns="0" bIns="0">
              <a:spAutoFit/>
            </a:bodyPr>
            <a:lstStyle/>
            <a:p>
              <a:pPr algn="ctr"/>
              <a:r>
                <a:rPr sz="1300" b="1" i="0">
                  <a:solidFill>
                    <a:srgbClr val="FFFFFF"/>
                  </a:solidFill>
                  <a:latin typeface="Calibri"/>
                </a:rPr>
                <a:t>D</a:t>
              </a:r>
            </a:p>
          </p:txBody>
        </p:sp>
        <p:sp>
          <p:nvSpPr>
            <p:cNvPr id="18" name="Rectangle 17"/>
            <p:cNvSpPr/>
            <p:nvPr/>
          </p:nvSpPr>
          <p:spPr>
            <a:xfrm>
              <a:off x="6053328" y="3694176"/>
              <a:ext cx="274319" cy="14630"/>
            </a:xfrm>
            <a:prstGeom prst="rect">
              <a:avLst/>
            </a:prstGeom>
            <a:solidFill>
              <a:srgbClr val="415669"/>
            </a:solidFill>
            <a:ln>
              <a:noFill/>
            </a:ln>
            <a:effectLst/>
          </p:spPr>
          <p:txBody>
            <a:bodyPr rtlCol="0" anchor="ctr"/>
            <a:lstStyle/>
            <a:p>
              <a:pPr algn="ctr"/>
            </a:p>
          </p:txBody>
        </p:sp>
        <p:sp>
          <p:nvSpPr>
            <p:cNvPr id="19" name="TextBox 18"/>
            <p:cNvSpPr txBox="1"/>
            <p:nvPr/>
          </p:nvSpPr>
          <p:spPr>
            <a:xfrm>
              <a:off x="6400800" y="3364992"/>
              <a:ext cx="2880360" cy="777240"/>
            </a:xfrm>
            <a:prstGeom prst="rect">
              <a:avLst/>
            </a:prstGeom>
            <a:noFill/>
          </p:spPr>
          <p:txBody>
            <a:bodyPr wrap="square" anchor="t" lIns="0" rIns="0" tIns="0" bIns="0">
              <a:spAutoFit/>
            </a:bodyPr>
            <a:lstStyle/>
            <a:p>
              <a:pPr algn="l">
                <a:lnSpc>
                  <a:spcPct val="108000"/>
                </a:lnSpc>
              </a:pPr>
              <a:r>
                <a:rPr sz="1300" b="0" i="0">
                  <a:solidFill>
                    <a:srgbClr val="17232D"/>
                  </a:solidFill>
                  <a:latin typeface="Calibri"/>
                </a:rPr>
                <a:t>Terminal D — Flagship Check-In near gate D30</a:t>
              </a:r>
            </a:p>
          </p:txBody>
        </p:sp>
        <p:sp>
          <p:nvSpPr>
            <p:cNvPr id="20" name="Oval 19"/>
            <p:cNvSpPr/>
            <p:nvPr/>
          </p:nvSpPr>
          <p:spPr>
            <a:xfrm>
              <a:off x="4306824" y="4946903"/>
              <a:ext cx="347472" cy="347472"/>
            </a:xfrm>
            <a:prstGeom prst="ellipse">
              <a:avLst/>
            </a:prstGeom>
            <a:solidFill>
              <a:srgbClr val="2E84A5"/>
            </a:solidFill>
            <a:ln>
              <a:noFill/>
            </a:ln>
            <a:effectLst/>
          </p:spPr>
          <p:txBody>
            <a:bodyPr rtlCol="0" anchor="ctr"/>
            <a:lstStyle/>
            <a:p>
              <a:pPr algn="ctr"/>
            </a:p>
          </p:txBody>
        </p:sp>
        <p:sp>
          <p:nvSpPr>
            <p:cNvPr id="21" name="TextBox 20"/>
            <p:cNvSpPr txBox="1"/>
            <p:nvPr/>
          </p:nvSpPr>
          <p:spPr>
            <a:xfrm>
              <a:off x="4306824" y="4978907"/>
              <a:ext cx="347472" cy="274320"/>
            </a:xfrm>
            <a:prstGeom prst="rect">
              <a:avLst/>
            </a:prstGeom>
            <a:noFill/>
          </p:spPr>
          <p:txBody>
            <a:bodyPr wrap="square" anchor="t" lIns="0" rIns="0" tIns="0" bIns="0">
              <a:spAutoFit/>
            </a:bodyPr>
            <a:lstStyle/>
            <a:p>
              <a:pPr algn="ctr"/>
              <a:r>
                <a:rPr sz="1300" b="1" i="0">
                  <a:solidFill>
                    <a:srgbClr val="FFFFFF"/>
                  </a:solidFill>
                  <a:latin typeface="Calibri"/>
                </a:rPr>
                <a:t>F</a:t>
              </a:r>
            </a:p>
          </p:txBody>
        </p:sp>
        <p:sp>
          <p:nvSpPr>
            <p:cNvPr id="22" name="Rectangle 21"/>
            <p:cNvSpPr/>
            <p:nvPr/>
          </p:nvSpPr>
          <p:spPr>
            <a:xfrm>
              <a:off x="4681728" y="4974336"/>
              <a:ext cx="1645919" cy="14630"/>
            </a:xfrm>
            <a:prstGeom prst="rect">
              <a:avLst/>
            </a:prstGeom>
            <a:solidFill>
              <a:srgbClr val="415669"/>
            </a:solidFill>
            <a:ln>
              <a:noFill/>
            </a:ln>
            <a:effectLst/>
          </p:spPr>
          <p:txBody>
            <a:bodyPr rtlCol="0" anchor="ctr"/>
            <a:lstStyle/>
            <a:p>
              <a:pPr algn="ctr"/>
            </a:p>
          </p:txBody>
        </p:sp>
        <p:sp>
          <p:nvSpPr>
            <p:cNvPr id="23" name="TextBox 22"/>
            <p:cNvSpPr txBox="1"/>
            <p:nvPr/>
          </p:nvSpPr>
          <p:spPr>
            <a:xfrm>
              <a:off x="6400800" y="4645152"/>
              <a:ext cx="2880360" cy="777240"/>
            </a:xfrm>
            <a:prstGeom prst="rect">
              <a:avLst/>
            </a:prstGeom>
            <a:noFill/>
          </p:spPr>
          <p:txBody>
            <a:bodyPr wrap="square" anchor="t" lIns="0" rIns="0" tIns="0" bIns="0">
              <a:spAutoFit/>
            </a:bodyPr>
            <a:lstStyle/>
            <a:p>
              <a:pPr algn="l">
                <a:lnSpc>
                  <a:spcPct val="108000"/>
                </a:lnSpc>
              </a:pPr>
              <a:r>
                <a:rPr sz="1300" b="0" i="0">
                  <a:solidFill>
                    <a:srgbClr val="17232D"/>
                  </a:solidFill>
                  <a:latin typeface="Calibri"/>
                </a:rPr>
                <a:t>Terminal F — Provisions by Admirals Club grab-and-go, explicitly scaled down</a:t>
              </a:r>
            </a:p>
          </p:txBody>
        </p:sp>
        <p:sp>
          <p:nvSpPr>
            <p:cNvPr id="24" name="Rectangle 23"/>
            <p:cNvSpPr/>
            <p:nvPr/>
          </p:nvSpPr>
          <p:spPr>
            <a:xfrm>
              <a:off x="9509760" y="1600200"/>
              <a:ext cx="41148" cy="3520440"/>
            </a:xfrm>
            <a:prstGeom prst="rect">
              <a:avLst/>
            </a:prstGeom>
            <a:solidFill>
              <a:srgbClr val="D4A24C"/>
            </a:solidFill>
            <a:ln>
              <a:noFill/>
            </a:ln>
            <a:effectLst/>
          </p:spPr>
          <p:txBody>
            <a:bodyPr rtlCol="0" anchor="ctr"/>
            <a:lstStyle/>
            <a:p>
              <a:pPr algn="ctr"/>
            </a:p>
          </p:txBody>
        </p:sp>
        <p:sp>
          <p:nvSpPr>
            <p:cNvPr id="25" name="TextBox 24"/>
            <p:cNvSpPr txBox="1"/>
            <p:nvPr/>
          </p:nvSpPr>
          <p:spPr>
            <a:xfrm>
              <a:off x="9692640" y="1645920"/>
              <a:ext cx="2286000" cy="320040"/>
            </a:xfrm>
            <a:prstGeom prst="rect">
              <a:avLst/>
            </a:prstGeom>
            <a:noFill/>
          </p:spPr>
          <p:txBody>
            <a:bodyPr wrap="square" anchor="t" lIns="0" rIns="0" tIns="0" bIns="0">
              <a:spAutoFit/>
            </a:bodyPr>
            <a:lstStyle/>
            <a:p>
              <a:pPr algn="l"/>
              <a:r>
                <a:rPr sz="1600" b="1" i="0">
                  <a:solidFill>
                    <a:srgbClr val="0B2D4D"/>
                  </a:solidFill>
                  <a:latin typeface="Calibri"/>
                </a:rPr>
                <a:t>Three readings</a:t>
              </a:r>
            </a:p>
          </p:txBody>
        </p:sp>
        <p:sp>
          <p:nvSpPr>
            <p:cNvPr id="26" name="TextBox 25"/>
            <p:cNvSpPr txBox="1"/>
            <p:nvPr/>
          </p:nvSpPr>
          <p:spPr>
            <a:xfrm>
              <a:off x="9692640" y="2148840"/>
              <a:ext cx="2377440" cy="822960"/>
            </a:xfrm>
            <a:prstGeom prst="rect">
              <a:avLst/>
            </a:prstGeom>
            <a:noFill/>
          </p:spPr>
          <p:txBody>
            <a:bodyPr wrap="square" anchor="t" lIns="0" rIns="0" tIns="0" bIns="0">
              <a:spAutoFit/>
            </a:bodyPr>
            <a:lstStyle/>
            <a:p>
              <a:pPr algn="l">
                <a:lnSpc>
                  <a:spcPct val="108000"/>
                </a:lnSpc>
              </a:pPr>
              <a:r>
                <a:rPr sz="1400" b="1" i="0">
                  <a:solidFill>
                    <a:srgbClr val="415669"/>
                  </a:solidFill>
                  <a:latin typeface="Calibri"/>
                </a:rPr>
                <a:t>1 — Revealed preference</a:t>
              </a:r>
            </a:p>
          </p:txBody>
        </p:sp>
        <p:sp>
          <p:nvSpPr>
            <p:cNvPr id="27" name="TextBox 26"/>
            <p:cNvSpPr txBox="1"/>
            <p:nvPr/>
          </p:nvSpPr>
          <p:spPr>
            <a:xfrm>
              <a:off x="9692640" y="3108960"/>
              <a:ext cx="2377440" cy="822960"/>
            </a:xfrm>
            <a:prstGeom prst="rect">
              <a:avLst/>
            </a:prstGeom>
            <a:noFill/>
          </p:spPr>
          <p:txBody>
            <a:bodyPr wrap="square" anchor="t" lIns="0" rIns="0" tIns="0" bIns="0">
              <a:spAutoFit/>
            </a:bodyPr>
            <a:lstStyle/>
            <a:p>
              <a:pPr algn="l">
                <a:lnSpc>
                  <a:spcPct val="108000"/>
                </a:lnSpc>
              </a:pPr>
              <a:r>
                <a:rPr sz="1400" b="1" i="0">
                  <a:solidFill>
                    <a:srgbClr val="415669"/>
                  </a:solidFill>
                  <a:latin typeface="Calibri"/>
                </a:rPr>
                <a:t>2 — Sequencing: F opens 2027</a:t>
              </a:r>
            </a:p>
          </p:txBody>
        </p:sp>
        <p:sp>
          <p:nvSpPr>
            <p:cNvPr id="28" name="TextBox 27"/>
            <p:cNvSpPr txBox="1"/>
            <p:nvPr/>
          </p:nvSpPr>
          <p:spPr>
            <a:xfrm>
              <a:off x="9692640" y="4069080"/>
              <a:ext cx="2377440" cy="822960"/>
            </a:xfrm>
            <a:prstGeom prst="rect">
              <a:avLst/>
            </a:prstGeom>
            <a:noFill/>
          </p:spPr>
          <p:txBody>
            <a:bodyPr wrap="square" anchor="t" lIns="0" rIns="0" tIns="0" bIns="0">
              <a:spAutoFit/>
            </a:bodyPr>
            <a:lstStyle/>
            <a:p>
              <a:pPr algn="l">
                <a:lnSpc>
                  <a:spcPct val="108000"/>
                </a:lnSpc>
              </a:pPr>
              <a:r>
                <a:rPr sz="1400" b="1" i="0">
                  <a:solidFill>
                    <a:srgbClr val="415669"/>
                  </a:solidFill>
                  <a:latin typeface="Calibri"/>
                </a:rPr>
                <a:t>3 — An Arrivals-premium node</a:t>
              </a:r>
            </a:p>
          </p:txBody>
        </p:sp>
      </p:grpSp>
      <p:sp>
        <p:nvSpPr>
          <p:cNvPr id="29" name="slide-04-caveat"/>
          <p:cNvSpPr txBox="1"/>
          <p:nvPr/>
        </p:nvSpPr>
        <p:spPr>
          <a:xfrm>
            <a:off x="502920" y="5669280"/>
            <a:ext cx="11183112" cy="457200"/>
          </a:xfrm>
          <a:prstGeom prst="rect">
            <a:avLst/>
          </a:prstGeom>
          <a:noFill/>
        </p:spPr>
        <p:txBody>
          <a:bodyPr wrap="square" anchor="t" lIns="0" rIns="0" tIns="0" bIns="0">
            <a:spAutoFit/>
          </a:bodyPr>
          <a:lstStyle/>
          <a:p>
            <a:pPr algn="l"/>
            <a:r>
              <a:rPr sz="1600" b="0" i="1">
                <a:solidFill>
                  <a:srgbClr val="415669"/>
                </a:solidFill>
                <a:latin typeface="Calibri"/>
              </a:rPr>
              <a:t>Convergence traces to one American press release plus secondary reporting.</a:t>
            </a:r>
          </a:p>
        </p:txBody>
      </p:sp>
      <p:sp>
        <p:nvSpPr>
          <p:cNvPr id="30" name="slide-04-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American Airlines newsroom, July 2026, corroborated by Dallas Morning News and View from the Wing. Fleet targets: AA newsroom, 2026 (narrowbody premium ~25% → ~40%; lie-flat count +50%+ by end of decade).</a:t>
            </a:r>
          </a:p>
        </p:txBody>
      </p:sp>
      <p:sp>
        <p:nvSpPr>
          <p:cNvPr id="31" name="slide-04-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05-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Size to the denser-peak reading: the rebank's flattening effect is claimed, not proven</a:t>
            </a:r>
          </a:p>
        </p:txBody>
      </p:sp>
      <p:grpSp>
        <p:nvGrpSpPr>
          <p:cNvPr id="3" name="slide-05-panel" descr="Two-column panel contrasting American's rebank claim — 13 banks and a 50 percent missed-connection reduction from internal data — with the Q2 2026 audit showing departure rate up about one percent and block times lengthened six minutes across 145 network markets."/>
          <p:cNvGrpSpPr/>
          <p:nvPr/>
        </p:nvGrpSpPr>
        <p:grpSpPr>
          <a:xfrm>
            <a:off x="502920" y="1463040"/>
            <a:ext cx="11183112" cy="3611880"/>
            <a:chOff x="502920" y="1463040"/>
            <a:chExt cx="11183112" cy="3611880"/>
          </a:xfrm>
        </p:grpSpPr>
        <p:sp>
          <p:nvSpPr>
            <p:cNvPr id="4" name="Rectangle 3"/>
            <p:cNvSpPr/>
            <p:nvPr/>
          </p:nvSpPr>
          <p:spPr>
            <a:xfrm>
              <a:off x="502920" y="1463040"/>
              <a:ext cx="5440680" cy="3611880"/>
            </a:xfrm>
            <a:prstGeom prst="rect">
              <a:avLst/>
            </a:prstGeom>
            <a:solidFill>
              <a:srgbClr val="EDF3F6"/>
            </a:solidFill>
            <a:ln>
              <a:noFill/>
            </a:ln>
            <a:effectLst/>
          </p:spPr>
          <p:txBody>
            <a:bodyPr rtlCol="0" anchor="ctr"/>
            <a:lstStyle/>
            <a:p>
              <a:pPr algn="ctr"/>
            </a:p>
          </p:txBody>
        </p:sp>
        <p:sp>
          <p:nvSpPr>
            <p:cNvPr id="5" name="Rectangle 4"/>
            <p:cNvSpPr/>
            <p:nvPr/>
          </p:nvSpPr>
          <p:spPr>
            <a:xfrm>
              <a:off x="502920" y="1463040"/>
              <a:ext cx="5440680" cy="475488"/>
            </a:xfrm>
            <a:prstGeom prst="rect">
              <a:avLst/>
            </a:prstGeom>
            <a:solidFill>
              <a:srgbClr val="2E84A5"/>
            </a:solidFill>
            <a:ln>
              <a:noFill/>
            </a:ln>
            <a:effectLst/>
          </p:spPr>
          <p:txBody>
            <a:bodyPr rtlCol="0" anchor="ctr"/>
            <a:lstStyle/>
            <a:p>
              <a:pPr algn="ctr"/>
            </a:p>
          </p:txBody>
        </p:sp>
        <p:sp>
          <p:nvSpPr>
            <p:cNvPr id="6" name="TextBox 5"/>
            <p:cNvSpPr txBox="1"/>
            <p:nvPr/>
          </p:nvSpPr>
          <p:spPr>
            <a:xfrm>
              <a:off x="731520" y="1554480"/>
              <a:ext cx="5029200" cy="320040"/>
            </a:xfrm>
            <a:prstGeom prst="rect">
              <a:avLst/>
            </a:prstGeom>
            <a:noFill/>
          </p:spPr>
          <p:txBody>
            <a:bodyPr wrap="square" anchor="t" lIns="0" rIns="0" tIns="0" bIns="0">
              <a:spAutoFit/>
            </a:bodyPr>
            <a:lstStyle/>
            <a:p>
              <a:pPr algn="l"/>
              <a:r>
                <a:rPr sz="1600" b="1" i="0">
                  <a:solidFill>
                    <a:srgbClr val="FFFFFF"/>
                  </a:solidFill>
                  <a:latin typeface="Calibri"/>
                </a:rPr>
                <a:t>American's case</a:t>
              </a:r>
            </a:p>
          </p:txBody>
        </p:sp>
        <p:sp>
          <p:nvSpPr>
            <p:cNvPr id="7" name="Rectangle 6"/>
            <p:cNvSpPr/>
            <p:nvPr/>
          </p:nvSpPr>
          <p:spPr>
            <a:xfrm>
              <a:off x="731520" y="2258568"/>
              <a:ext cx="109728" cy="109728"/>
            </a:xfrm>
            <a:prstGeom prst="rect">
              <a:avLst/>
            </a:prstGeom>
            <a:solidFill>
              <a:srgbClr val="2E84A5"/>
            </a:solidFill>
            <a:ln>
              <a:noFill/>
            </a:ln>
            <a:effectLst/>
          </p:spPr>
          <p:txBody>
            <a:bodyPr rtlCol="0" anchor="ctr"/>
            <a:lstStyle/>
            <a:p>
              <a:pPr algn="ctr"/>
            </a:p>
          </p:txBody>
        </p:sp>
        <p:sp>
          <p:nvSpPr>
            <p:cNvPr id="8" name="TextBox 7"/>
            <p:cNvSpPr txBox="1"/>
            <p:nvPr/>
          </p:nvSpPr>
          <p:spPr>
            <a:xfrm>
              <a:off x="1005840" y="2194560"/>
              <a:ext cx="4709160" cy="868680"/>
            </a:xfrm>
            <a:prstGeom prst="rect">
              <a:avLst/>
            </a:prstGeom>
            <a:noFill/>
          </p:spPr>
          <p:txBody>
            <a:bodyPr wrap="square" anchor="t" lIns="0" rIns="0" tIns="0" bIns="0">
              <a:spAutoFit/>
            </a:bodyPr>
            <a:lstStyle/>
            <a:p>
              <a:pPr algn="l">
                <a:lnSpc>
                  <a:spcPct val="110000"/>
                </a:lnSpc>
              </a:pPr>
              <a:r>
                <a:rPr sz="1450" b="0" i="0">
                  <a:solidFill>
                    <a:srgbClr val="17232D"/>
                  </a:solidFill>
                  <a:latin typeface="Calibri"/>
                </a:rPr>
                <a:t>9 → 13 daily banks, effective April 2026</a:t>
              </a:r>
            </a:p>
          </p:txBody>
        </p:sp>
        <p:sp>
          <p:nvSpPr>
            <p:cNvPr id="9" name="Rectangle 8"/>
            <p:cNvSpPr/>
            <p:nvPr/>
          </p:nvSpPr>
          <p:spPr>
            <a:xfrm>
              <a:off x="731520" y="3218688"/>
              <a:ext cx="109728" cy="109728"/>
            </a:xfrm>
            <a:prstGeom prst="rect">
              <a:avLst/>
            </a:prstGeom>
            <a:solidFill>
              <a:srgbClr val="2E84A5"/>
            </a:solidFill>
            <a:ln>
              <a:noFill/>
            </a:ln>
            <a:effectLst/>
          </p:spPr>
          <p:txBody>
            <a:bodyPr rtlCol="0" anchor="ctr"/>
            <a:lstStyle/>
            <a:p>
              <a:pPr algn="ctr"/>
            </a:p>
          </p:txBody>
        </p:sp>
        <p:sp>
          <p:nvSpPr>
            <p:cNvPr id="10" name="TextBox 9"/>
            <p:cNvSpPr txBox="1"/>
            <p:nvPr/>
          </p:nvSpPr>
          <p:spPr>
            <a:xfrm>
              <a:off x="1005840" y="3154680"/>
              <a:ext cx="4709160" cy="868680"/>
            </a:xfrm>
            <a:prstGeom prst="rect">
              <a:avLst/>
            </a:prstGeom>
            <a:noFill/>
          </p:spPr>
          <p:txBody>
            <a:bodyPr wrap="square" anchor="t" lIns="0" rIns="0" tIns="0" bIns="0">
              <a:spAutoFit/>
            </a:bodyPr>
            <a:lstStyle/>
            <a:p>
              <a:pPr algn="l">
                <a:lnSpc>
                  <a:spcPct val="110000"/>
                </a:lnSpc>
              </a:pPr>
              <a:r>
                <a:rPr sz="1450" b="0" i="0">
                  <a:solidFill>
                    <a:srgbClr val="17232D"/>
                  </a:solidFill>
                  <a:latin typeface="Calibri"/>
                </a:rPr>
                <a:t>Missed connections down 50% in the first 17 days</a:t>
              </a:r>
            </a:p>
          </p:txBody>
        </p:sp>
        <p:sp>
          <p:nvSpPr>
            <p:cNvPr id="11" name="TextBox 10"/>
            <p:cNvSpPr txBox="1"/>
            <p:nvPr/>
          </p:nvSpPr>
          <p:spPr>
            <a:xfrm>
              <a:off x="731520" y="4251960"/>
              <a:ext cx="4983480" cy="731520"/>
            </a:xfrm>
            <a:prstGeom prst="rect">
              <a:avLst/>
            </a:prstGeom>
            <a:noFill/>
          </p:spPr>
          <p:txBody>
            <a:bodyPr wrap="square" anchor="t" lIns="0" rIns="0" tIns="0" bIns="0">
              <a:spAutoFit/>
            </a:bodyPr>
            <a:lstStyle/>
            <a:p>
              <a:pPr algn="l">
                <a:lnSpc>
                  <a:spcPct val="110000"/>
                </a:lnSpc>
              </a:pPr>
              <a:r>
                <a:rPr sz="1250" b="0" i="1">
                  <a:solidFill>
                    <a:srgbClr val="415669"/>
                  </a:solidFill>
                  <a:latin typeface="Calibri"/>
                </a:rPr>
                <a:t>Flag — AA internal data — short window, not independently audited</a:t>
              </a:r>
            </a:p>
          </p:txBody>
        </p:sp>
        <p:sp>
          <p:nvSpPr>
            <p:cNvPr id="12" name="Rectangle 11"/>
            <p:cNvSpPr/>
            <p:nvPr/>
          </p:nvSpPr>
          <p:spPr>
            <a:xfrm>
              <a:off x="6245352" y="1463040"/>
              <a:ext cx="5440680" cy="3611880"/>
            </a:xfrm>
            <a:prstGeom prst="rect">
              <a:avLst/>
            </a:prstGeom>
            <a:solidFill>
              <a:srgbClr val="EDF3F6"/>
            </a:solidFill>
            <a:ln>
              <a:noFill/>
            </a:ln>
            <a:effectLst/>
          </p:spPr>
          <p:txBody>
            <a:bodyPr rtlCol="0" anchor="ctr"/>
            <a:lstStyle/>
            <a:p>
              <a:pPr algn="ctr"/>
            </a:p>
          </p:txBody>
        </p:sp>
        <p:sp>
          <p:nvSpPr>
            <p:cNvPr id="13" name="Rectangle 12"/>
            <p:cNvSpPr/>
            <p:nvPr/>
          </p:nvSpPr>
          <p:spPr>
            <a:xfrm>
              <a:off x="6245352" y="1463040"/>
              <a:ext cx="5440680" cy="475488"/>
            </a:xfrm>
            <a:prstGeom prst="rect">
              <a:avLst/>
            </a:prstGeom>
            <a:solidFill>
              <a:srgbClr val="415669"/>
            </a:solidFill>
            <a:ln>
              <a:noFill/>
            </a:ln>
            <a:effectLst/>
          </p:spPr>
          <p:txBody>
            <a:bodyPr rtlCol="0" anchor="ctr"/>
            <a:lstStyle/>
            <a:p>
              <a:pPr algn="ctr"/>
            </a:p>
          </p:txBody>
        </p:sp>
        <p:sp>
          <p:nvSpPr>
            <p:cNvPr id="14" name="TextBox 13"/>
            <p:cNvSpPr txBox="1"/>
            <p:nvPr/>
          </p:nvSpPr>
          <p:spPr>
            <a:xfrm>
              <a:off x="6473952" y="1554480"/>
              <a:ext cx="5029200" cy="320040"/>
            </a:xfrm>
            <a:prstGeom prst="rect">
              <a:avLst/>
            </a:prstGeom>
            <a:noFill/>
          </p:spPr>
          <p:txBody>
            <a:bodyPr wrap="square" anchor="t" lIns="0" rIns="0" tIns="0" bIns="0">
              <a:spAutoFit/>
            </a:bodyPr>
            <a:lstStyle/>
            <a:p>
              <a:pPr algn="l"/>
              <a:r>
                <a:rPr sz="1600" b="1" i="0">
                  <a:solidFill>
                    <a:srgbClr val="FFFFFF"/>
                  </a:solidFill>
                  <a:latin typeface="Calibri"/>
                </a:rPr>
                <a:t>The Q2 2026 audit</a:t>
              </a:r>
            </a:p>
          </p:txBody>
        </p:sp>
        <p:sp>
          <p:nvSpPr>
            <p:cNvPr id="15" name="Rectangle 14"/>
            <p:cNvSpPr/>
            <p:nvPr/>
          </p:nvSpPr>
          <p:spPr>
            <a:xfrm>
              <a:off x="6473952" y="2258568"/>
              <a:ext cx="109728" cy="109728"/>
            </a:xfrm>
            <a:prstGeom prst="rect">
              <a:avLst/>
            </a:prstGeom>
            <a:solidFill>
              <a:srgbClr val="415669"/>
            </a:solidFill>
            <a:ln>
              <a:noFill/>
            </a:ln>
            <a:effectLst/>
          </p:spPr>
          <p:txBody>
            <a:bodyPr rtlCol="0" anchor="ctr"/>
            <a:lstStyle/>
            <a:p>
              <a:pPr algn="ctr"/>
            </a:p>
          </p:txBody>
        </p:sp>
        <p:sp>
          <p:nvSpPr>
            <p:cNvPr id="16" name="TextBox 15"/>
            <p:cNvSpPr txBox="1"/>
            <p:nvPr/>
          </p:nvSpPr>
          <p:spPr>
            <a:xfrm>
              <a:off x="6748272" y="2194560"/>
              <a:ext cx="4709160" cy="868680"/>
            </a:xfrm>
            <a:prstGeom prst="rect">
              <a:avLst/>
            </a:prstGeom>
            <a:noFill/>
          </p:spPr>
          <p:txBody>
            <a:bodyPr wrap="square" anchor="t" lIns="0" rIns="0" tIns="0" bIns="0">
              <a:spAutoFit/>
            </a:bodyPr>
            <a:lstStyle/>
            <a:p>
              <a:pPr algn="l">
                <a:lnSpc>
                  <a:spcPct val="110000"/>
                </a:lnSpc>
              </a:pPr>
              <a:r>
                <a:rPr sz="1450" b="0" i="0">
                  <a:solidFill>
                    <a:srgbClr val="17232D"/>
                  </a:solidFill>
                  <a:latin typeface="Calibri"/>
                </a:rPr>
                <a:t>Departure rate up ~1% year over year — second-worst among busy US airports</a:t>
              </a:r>
            </a:p>
          </p:txBody>
        </p:sp>
        <p:sp>
          <p:nvSpPr>
            <p:cNvPr id="17" name="Rectangle 16"/>
            <p:cNvSpPr/>
            <p:nvPr/>
          </p:nvSpPr>
          <p:spPr>
            <a:xfrm>
              <a:off x="6473952" y="3218688"/>
              <a:ext cx="109728" cy="109728"/>
            </a:xfrm>
            <a:prstGeom prst="rect">
              <a:avLst/>
            </a:prstGeom>
            <a:solidFill>
              <a:srgbClr val="415669"/>
            </a:solidFill>
            <a:ln>
              <a:noFill/>
            </a:ln>
            <a:effectLst/>
          </p:spPr>
          <p:txBody>
            <a:bodyPr rtlCol="0" anchor="ctr"/>
            <a:lstStyle/>
            <a:p>
              <a:pPr algn="ctr"/>
            </a:p>
          </p:txBody>
        </p:sp>
        <p:sp>
          <p:nvSpPr>
            <p:cNvPr id="18" name="TextBox 17"/>
            <p:cNvSpPr txBox="1"/>
            <p:nvPr/>
          </p:nvSpPr>
          <p:spPr>
            <a:xfrm>
              <a:off x="6748272" y="3154680"/>
              <a:ext cx="4709160" cy="868680"/>
            </a:xfrm>
            <a:prstGeom prst="rect">
              <a:avLst/>
            </a:prstGeom>
            <a:noFill/>
          </p:spPr>
          <p:txBody>
            <a:bodyPr wrap="square" anchor="t" lIns="0" rIns="0" tIns="0" bIns="0">
              <a:spAutoFit/>
            </a:bodyPr>
            <a:lstStyle/>
            <a:p>
              <a:pPr algn="l">
                <a:lnSpc>
                  <a:spcPct val="110000"/>
                </a:lnSpc>
              </a:pPr>
              <a:r>
                <a:rPr sz="1450" b="0" i="0">
                  <a:solidFill>
                    <a:srgbClr val="17232D"/>
                  </a:solidFill>
                  <a:latin typeface="Calibri"/>
                </a:rPr>
                <a:t>Block times +6 minutes average across 145 network markets (CLT +17, DCA +10, MIA +9)</a:t>
              </a:r>
            </a:p>
          </p:txBody>
        </p:sp>
        <p:sp>
          <p:nvSpPr>
            <p:cNvPr id="19" name="TextBox 18"/>
            <p:cNvSpPr txBox="1"/>
            <p:nvPr/>
          </p:nvSpPr>
          <p:spPr>
            <a:xfrm>
              <a:off x="6473952" y="4251960"/>
              <a:ext cx="4983480" cy="731520"/>
            </a:xfrm>
            <a:prstGeom prst="rect">
              <a:avLst/>
            </a:prstGeom>
            <a:noFill/>
          </p:spPr>
          <p:txBody>
            <a:bodyPr wrap="square" anchor="t" lIns="0" rIns="0" tIns="0" bIns="0">
              <a:spAutoFit/>
            </a:bodyPr>
            <a:lstStyle/>
            <a:p>
              <a:pPr algn="l">
                <a:lnSpc>
                  <a:spcPct val="110000"/>
                </a:lnSpc>
              </a:pPr>
              <a:r>
                <a:rPr sz="1250" b="0" i="1">
                  <a:solidFill>
                    <a:srgbClr val="415669"/>
                  </a:solidFill>
                  <a:latin typeface="Calibri"/>
                </a:rPr>
                <a:t>Flag — Network-wide measure — not DFW-specific</a:t>
              </a:r>
            </a:p>
          </p:txBody>
        </p:sp>
      </p:grpSp>
      <p:sp>
        <p:nvSpPr>
          <p:cNvPr id="20" name="slide-05-footer-bg"/>
          <p:cNvSpPr/>
          <p:nvPr/>
        </p:nvSpPr>
        <p:spPr>
          <a:xfrm>
            <a:off x="502920" y="5349240"/>
            <a:ext cx="11183112" cy="658368"/>
          </a:xfrm>
          <a:prstGeom prst="rect">
            <a:avLst/>
          </a:prstGeom>
          <a:solidFill>
            <a:srgbClr val="0B2D4D"/>
          </a:solidFill>
          <a:ln>
            <a:noFill/>
          </a:ln>
          <a:effectLst/>
        </p:spPr>
        <p:txBody>
          <a:bodyPr rtlCol="0" anchor="ctr"/>
          <a:lstStyle/>
          <a:p>
            <a:pPr algn="ctr"/>
          </a:p>
        </p:txBody>
      </p:sp>
      <p:sp>
        <p:nvSpPr>
          <p:cNvPr id="21" name="slide-05-footer"/>
          <p:cNvSpPr txBox="1"/>
          <p:nvPr/>
        </p:nvSpPr>
        <p:spPr>
          <a:xfrm>
            <a:off x="777240" y="5513832"/>
            <a:ext cx="10607040" cy="365760"/>
          </a:xfrm>
          <a:prstGeom prst="rect">
            <a:avLst/>
          </a:prstGeom>
          <a:noFill/>
        </p:spPr>
        <p:txBody>
          <a:bodyPr wrap="square" anchor="t" lIns="0" rIns="0" tIns="0" bIns="0">
            <a:spAutoFit/>
          </a:bodyPr>
          <a:lstStyle/>
          <a:p>
            <a:pPr algn="ctr"/>
            <a:r>
              <a:rPr sz="1600" b="1" i="0">
                <a:solidFill>
                  <a:srgbClr val="FFFFFF"/>
                </a:solidFill>
                <a:latin typeface="Calibri"/>
              </a:rPr>
              <a:t>The building must serve ~100,000 peak-day customers on ~930 peak-day departures.</a:t>
            </a:r>
          </a:p>
        </p:txBody>
      </p:sp>
      <p:sp>
        <p:nvSpPr>
          <p:cNvPr id="22" name="slide-05-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AA newsroom Dec 2025 (rebank) and Apr 2026; View from the Wing (2026) reporting AA internal briefing; Airline Geeks, July 31, 2026 (Q2 2026 performance); Cirium schedule-data analysis via trade press (block times).</a:t>
            </a:r>
          </a:p>
        </p:txBody>
      </p:sp>
      <p:sp>
        <p:nvSpPr>
          <p:cNvPr id="23" name="slide-05-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06-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Seven purpose-built hub bets since deregulation: the mixed cases carry the lesson</a:t>
            </a:r>
          </a:p>
        </p:txBody>
      </p:sp>
      <p:graphicFrame>
        <p:nvGraphicFramePr>
          <p:cNvPr id="3" name="slide-06-table" descr="Table of seven purpose-built hub terminals since deregulation: four dehubbed, Detroit's generic geometry absorbed a merger, JFK Terminal 5 paid 200 million dollars for omitted optionality, and Atlanta's Concourse F premium floor plate functioned as designed."/>
          <p:cNvGraphicFramePr>
            <a:graphicFrameLocks noGrp="1"/>
          </p:cNvGraphicFramePr>
          <p:nvPr/>
        </p:nvGraphicFramePr>
        <p:xfrm>
          <a:off x="502920" y="1417320"/>
          <a:ext cx="11183112" cy="4069080"/>
        </p:xfrm>
        <a:graphic>
          <a:graphicData uri="http://schemas.openxmlformats.org/drawingml/2006/table">
            <a:tbl>
              <a:tblPr>
                <a:tableStyleId>{5C22544A-7EE6-4342-B048-85BDC9FD1C3A}</a:tableStyleId>
              </a:tblPr>
              <a:tblGrid>
                <a:gridCol w="2880360"/>
                <a:gridCol w="4434840"/>
                <a:gridCol w="3867912"/>
              </a:tblGrid>
              <a:tr h="508635">
                <a:tc>
                  <a:txBody>
                    <a:bodyPr wrap="square"/>
                    <a:lstStyle/>
                    <a:p>
                      <a:pPr algn="l">
                        <a:lnSpc>
                          <a:spcPct val="100000"/>
                        </a:lnSpc>
                      </a:pPr>
                      <a:r>
                        <a:rPr sz="1250" b="1" i="0">
                          <a:solidFill>
                            <a:srgbClr val="FFFFFF"/>
                          </a:solidFill>
                          <a:latin typeface="Calibri"/>
                        </a:rPr>
                        <a:t>Terminal (opened)</a:t>
                      </a:r>
                    </a:p>
                  </a:txBody>
                  <a:tcPr anchor="ctr" marL="73152" marR="73152" marT="27432" marB="27432">
                    <a:solidFill>
                      <a:srgbClr val="0B2D4D"/>
                    </a:solidFill>
                  </a:tcPr>
                </a:tc>
                <a:tc>
                  <a:txBody>
                    <a:bodyPr wrap="square"/>
                    <a:lstStyle/>
                    <a:p>
                      <a:pPr algn="l">
                        <a:lnSpc>
                          <a:spcPct val="100000"/>
                        </a:lnSpc>
                      </a:pPr>
                      <a:r>
                        <a:rPr sz="1250" b="1" i="0">
                          <a:solidFill>
                            <a:srgbClr val="FFFFFF"/>
                          </a:solidFill>
                          <a:latin typeface="Calibri"/>
                        </a:rPr>
                        <a:t>Outcome</a:t>
                      </a:r>
                    </a:p>
                  </a:txBody>
                  <a:tcPr anchor="ctr" marL="73152" marR="73152" marT="27432" marB="27432">
                    <a:solidFill>
                      <a:srgbClr val="0B2D4D"/>
                    </a:solidFill>
                  </a:tcPr>
                </a:tc>
                <a:tc>
                  <a:txBody>
                    <a:bodyPr wrap="square"/>
                    <a:lstStyle/>
                    <a:p>
                      <a:pPr algn="l">
                        <a:lnSpc>
                          <a:spcPct val="100000"/>
                        </a:lnSpc>
                      </a:pPr>
                      <a:r>
                        <a:rPr sz="1250" b="1" i="0">
                          <a:solidFill>
                            <a:srgbClr val="FFFFFF"/>
                          </a:solidFill>
                          <a:latin typeface="Calibri"/>
                        </a:rPr>
                        <a:t>Design lesson</a:t>
                      </a:r>
                    </a:p>
                  </a:txBody>
                  <a:tcPr anchor="ctr" marL="73152" marR="73152" marT="27432" marB="27432">
                    <a:solidFill>
                      <a:srgbClr val="0B2D4D"/>
                    </a:solidFill>
                  </a:tcPr>
                </a:tc>
              </a:tr>
              <a:tr h="508635">
                <a:tc>
                  <a:txBody>
                    <a:bodyPr wrap="square"/>
                    <a:lstStyle/>
                    <a:p>
                      <a:pPr algn="l">
                        <a:lnSpc>
                          <a:spcPct val="102000"/>
                        </a:lnSpc>
                      </a:pPr>
                      <a:r>
                        <a:rPr sz="1200" b="1" i="0">
                          <a:solidFill>
                            <a:srgbClr val="0B2D4D"/>
                          </a:solidFill>
                          <a:latin typeface="Calibri"/>
                        </a:rPr>
                        <a:t>Pittsburgh Midfield (1992)</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US Airways dehubbed 2004 over a fee dispute; CPE nearly doubled to ~$14.97 by 2011</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Carrier-specific bet; debt outlived the hub</a:t>
                      </a:r>
                    </a:p>
                  </a:txBody>
                  <a:tcPr anchor="ctr" marL="73152" marR="73152" marT="27432" marB="27432">
                    <a:solidFill>
                      <a:srgbClr val="EDF3F6"/>
                    </a:solidFill>
                  </a:tcPr>
                </a:tc>
              </a:tr>
              <a:tr h="508635">
                <a:tc>
                  <a:txBody>
                    <a:bodyPr wrap="square"/>
                    <a:lstStyle/>
                    <a:p>
                      <a:pPr algn="l">
                        <a:lnSpc>
                          <a:spcPct val="102000"/>
                        </a:lnSpc>
                      </a:pPr>
                      <a:r>
                        <a:rPr sz="1200" b="1" i="0">
                          <a:solidFill>
                            <a:srgbClr val="0B2D4D"/>
                          </a:solidFill>
                          <a:latin typeface="Calibri"/>
                        </a:rPr>
                        <a:t>Cincinnati CVG (2005 peak)</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22.7M passengers, 600+ daily flights → under 6M, under 180 daily by 2013</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Unwind can take a decade and still be total</a:t>
                      </a:r>
                    </a:p>
                  </a:txBody>
                  <a:tcPr anchor="ctr" marL="73152" marR="73152" marT="27432" marB="27432">
                    <a:solidFill>
                      <a:srgbClr val="FFFFFF"/>
                    </a:solidFill>
                  </a:tcPr>
                </a:tc>
              </a:tr>
              <a:tr h="508635">
                <a:tc>
                  <a:txBody>
                    <a:bodyPr wrap="square"/>
                    <a:lstStyle/>
                    <a:p>
                      <a:pPr algn="l">
                        <a:lnSpc>
                          <a:spcPct val="102000"/>
                        </a:lnSpc>
                      </a:pPr>
                      <a:r>
                        <a:rPr sz="1200" b="1" i="0">
                          <a:solidFill>
                            <a:srgbClr val="0B2D4D"/>
                          </a:solidFill>
                          <a:latin typeface="Calibri"/>
                        </a:rPr>
                        <a:t>St. Louis (2001 peak)</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500+ daily flights July 2001 → 207 by 2003</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The fastest dehub in the set: two years</a:t>
                      </a:r>
                    </a:p>
                  </a:txBody>
                  <a:tcPr anchor="ctr" marL="73152" marR="73152" marT="27432" marB="27432">
                    <a:solidFill>
                      <a:srgbClr val="EDF3F6"/>
                    </a:solidFill>
                  </a:tcPr>
                </a:tc>
              </a:tr>
              <a:tr h="508635">
                <a:tc>
                  <a:txBody>
                    <a:bodyPr wrap="square"/>
                    <a:lstStyle/>
                    <a:p>
                      <a:pPr algn="l">
                        <a:lnSpc>
                          <a:spcPct val="102000"/>
                        </a:lnSpc>
                      </a:pPr>
                      <a:r>
                        <a:rPr sz="1200" b="1" i="0">
                          <a:solidFill>
                            <a:srgbClr val="0B2D4D"/>
                          </a:solidFill>
                          <a:latin typeface="Calibri"/>
                        </a:rPr>
                        <a:t>Cleveland Concourse D</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Went dark May 2014; daily departures ~200 → 72</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A purpose-built concourse can simply go dark</a:t>
                      </a:r>
                    </a:p>
                  </a:txBody>
                  <a:tcPr anchor="ctr" marL="73152" marR="73152" marT="27432" marB="27432">
                    <a:solidFill>
                      <a:srgbClr val="FFFFFF"/>
                    </a:solidFill>
                  </a:tcPr>
                </a:tc>
              </a:tr>
              <a:tr h="508635">
                <a:tc>
                  <a:txBody>
                    <a:bodyPr wrap="square"/>
                    <a:lstStyle/>
                    <a:p>
                      <a:pPr algn="l">
                        <a:lnSpc>
                          <a:spcPct val="102000"/>
                        </a:lnSpc>
                      </a:pPr>
                      <a:r>
                        <a:rPr sz="1200" b="1" i="0">
                          <a:solidFill>
                            <a:srgbClr val="0B2D4D"/>
                          </a:solidFill>
                          <a:latin typeface="Calibri"/>
                        </a:rPr>
                        <a:t>Detroit McNamara (2002)</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Absorbed the 2008 Delta–Northwest merger without material retrofit</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A hub form, not a Northwest form — generic geometry cost nothing</a:t>
                      </a:r>
                    </a:p>
                  </a:txBody>
                  <a:tcPr anchor="ctr" marL="73152" marR="73152" marT="27432" marB="27432">
                    <a:solidFill>
                      <a:srgbClr val="EDF3F6"/>
                    </a:solidFill>
                  </a:tcPr>
                </a:tc>
              </a:tr>
              <a:tr h="508635">
                <a:tc>
                  <a:txBody>
                    <a:bodyPr wrap="square"/>
                    <a:lstStyle/>
                    <a:p>
                      <a:pPr algn="l">
                        <a:lnSpc>
                          <a:spcPct val="102000"/>
                        </a:lnSpc>
                      </a:pPr>
                      <a:r>
                        <a:rPr sz="1200" b="1" i="0">
                          <a:solidFill>
                            <a:srgbClr val="0B2D4D"/>
                          </a:solidFill>
                          <a:latin typeface="Calibri"/>
                        </a:rPr>
                        <a:t>JetBlue JFK Terminal 5 (2008)</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Required $200M international-arrivals extension (2014); 2025–26 premium refresh</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Omitted optionality was paid for inside six years</a:t>
                      </a:r>
                    </a:p>
                  </a:txBody>
                  <a:tcPr anchor="ctr" marL="73152" marR="73152" marT="27432" marB="27432">
                    <a:solidFill>
                      <a:srgbClr val="FFFFFF"/>
                    </a:solidFill>
                  </a:tcPr>
                </a:tc>
              </a:tr>
              <a:tr h="508635">
                <a:tc>
                  <a:txBody>
                    <a:bodyPr wrap="square"/>
                    <a:lstStyle/>
                    <a:p>
                      <a:pPr algn="l">
                        <a:lnSpc>
                          <a:spcPct val="102000"/>
                        </a:lnSpc>
                      </a:pPr>
                      <a:r>
                        <a:rPr sz="1200" b="1" i="0">
                          <a:solidFill>
                            <a:srgbClr val="0B2D4D"/>
                          </a:solidFill>
                          <a:latin typeface="Calibri"/>
                        </a:rPr>
                        <a:t>Atlanta Concourse F (2012)</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Purpose-built premium international floor plate; functioned as designed</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Premium floor plates work when priced and sited deliberately</a:t>
                      </a:r>
                    </a:p>
                  </a:txBody>
                  <a:tcPr anchor="ctr" marL="73152" marR="73152" marT="27432" marB="27432">
                    <a:solidFill>
                      <a:srgbClr val="EDF3F6"/>
                    </a:solidFill>
                  </a:tcPr>
                </a:tc>
              </a:tr>
            </a:tbl>
          </a:graphicData>
        </a:graphic>
      </p:graphicFrame>
      <p:sp>
        <p:nvSpPr>
          <p:cNvPr id="4" name="slide-06-bar-bg"/>
          <p:cNvSpPr/>
          <p:nvPr/>
        </p:nvSpPr>
        <p:spPr>
          <a:xfrm>
            <a:off x="502920" y="5687568"/>
            <a:ext cx="11183112" cy="530352"/>
          </a:xfrm>
          <a:prstGeom prst="rect">
            <a:avLst/>
          </a:prstGeom>
          <a:solidFill>
            <a:srgbClr val="D4A24C"/>
          </a:solidFill>
          <a:ln>
            <a:noFill/>
          </a:ln>
          <a:effectLst/>
        </p:spPr>
        <p:txBody>
          <a:bodyPr rtlCol="0" anchor="ctr"/>
          <a:lstStyle/>
          <a:p>
            <a:pPr algn="ctr"/>
          </a:p>
        </p:txBody>
      </p:sp>
      <p:sp>
        <p:nvSpPr>
          <p:cNvPr id="5" name="slide-06-takeaway"/>
          <p:cNvSpPr txBox="1"/>
          <p:nvPr/>
        </p:nvSpPr>
        <p:spPr>
          <a:xfrm>
            <a:off x="777240" y="5797296"/>
            <a:ext cx="10607040" cy="347472"/>
          </a:xfrm>
          <a:prstGeom prst="rect">
            <a:avLst/>
          </a:prstGeom>
          <a:noFill/>
        </p:spPr>
        <p:txBody>
          <a:bodyPr wrap="square" anchor="t" lIns="0" rIns="0" tIns="0" bIns="0">
            <a:spAutoFit/>
          </a:bodyPr>
          <a:lstStyle/>
          <a:p>
            <a:pPr algn="ctr"/>
            <a:r>
              <a:rPr sz="1700" b="1" i="0">
                <a:solidFill>
                  <a:srgbClr val="0B2D4D"/>
                </a:solidFill>
                <a:latin typeface="Georgia"/>
              </a:rPr>
              <a:t>Hub-generic bones plus priced, conditioned premium shells — not either alone.</a:t>
            </a:r>
          </a:p>
        </p:txBody>
      </p:sp>
      <p:sp>
        <p:nvSpPr>
          <p:cNvPr id="6" name="slide-06-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Cranky Flier (PIT, 2012); Simple Flying (CVG, STL, CLE); DTW McNamara record; JetBlue investor release 2014 and World Construction Network (T5/T5i); airport-technology.com (ATL Maynard Jackson, 2012). Small sample; DFW is not Pittsburgh — AA carried 82.6% of DFW passengers in 2025 on an ~8M-person O&amp;D economy.</a:t>
            </a:r>
          </a:p>
        </p:txBody>
      </p:sp>
      <p:sp>
        <p:nvSpPr>
          <p:cNvPr id="7" name="slide-06-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07-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The 6:15 a.m. case: size the pour-locked geometry for the morning the building is worst</a:t>
            </a:r>
          </a:p>
        </p:txBody>
      </p:sp>
      <p:grpSp>
        <p:nvGrpSpPr>
          <p:cNvPr id="3" name="slide-07-flow" descr="Left-to-right passenger flow for the degraded morning: Skylink on its overnight single loop with transit near 15 minutes, the Terminal F Skylink node, the checkpoint at the 300-passenger-per-hour-per-lane target, and the federal inspection hall at about 100 passengers per hour per double booth, overlaid with the January 2023 winter event."/>
          <p:cNvGrpSpPr/>
          <p:nvPr/>
        </p:nvGrpSpPr>
        <p:grpSpPr>
          <a:xfrm>
            <a:off x="502920" y="1600200"/>
            <a:ext cx="11210544" cy="3172968"/>
            <a:chOff x="502920" y="1600200"/>
            <a:chExt cx="11210544" cy="3172968"/>
          </a:xfrm>
        </p:grpSpPr>
        <p:sp>
          <p:nvSpPr>
            <p:cNvPr id="4" name="Rectangle 3"/>
            <p:cNvSpPr/>
            <p:nvPr/>
          </p:nvSpPr>
          <p:spPr>
            <a:xfrm>
              <a:off x="502920" y="1600200"/>
              <a:ext cx="2542032" cy="2331720"/>
            </a:xfrm>
            <a:prstGeom prst="rect">
              <a:avLst/>
            </a:prstGeom>
            <a:solidFill>
              <a:srgbClr val="EDF3F6"/>
            </a:solidFill>
            <a:ln>
              <a:noFill/>
            </a:ln>
            <a:effectLst/>
          </p:spPr>
          <p:txBody>
            <a:bodyPr rtlCol="0" anchor="ctr"/>
            <a:lstStyle/>
            <a:p>
              <a:pPr algn="ctr"/>
            </a:p>
          </p:txBody>
        </p:sp>
        <p:sp>
          <p:nvSpPr>
            <p:cNvPr id="5" name="Rectangle 4"/>
            <p:cNvSpPr/>
            <p:nvPr/>
          </p:nvSpPr>
          <p:spPr>
            <a:xfrm>
              <a:off x="502920" y="1600200"/>
              <a:ext cx="2542032" cy="475488"/>
            </a:xfrm>
            <a:prstGeom prst="rect">
              <a:avLst/>
            </a:prstGeom>
            <a:solidFill>
              <a:srgbClr val="0B2D4D"/>
            </a:solidFill>
            <a:ln>
              <a:noFill/>
            </a:ln>
            <a:effectLst/>
          </p:spPr>
          <p:txBody>
            <a:bodyPr rtlCol="0" anchor="ctr"/>
            <a:lstStyle/>
            <a:p>
              <a:pPr algn="ctr"/>
            </a:p>
          </p:txBody>
        </p:sp>
        <p:sp>
          <p:nvSpPr>
            <p:cNvPr id="6" name="TextBox 5"/>
            <p:cNvSpPr txBox="1"/>
            <p:nvPr/>
          </p:nvSpPr>
          <p:spPr>
            <a:xfrm>
              <a:off x="649224" y="1673352"/>
              <a:ext cx="2286000" cy="347472"/>
            </a:xfrm>
            <a:prstGeom prst="rect">
              <a:avLst/>
            </a:prstGeom>
            <a:noFill/>
          </p:spPr>
          <p:txBody>
            <a:bodyPr wrap="square" anchor="t" lIns="0" rIns="0" tIns="0" bIns="0">
              <a:spAutoFit/>
            </a:bodyPr>
            <a:lstStyle/>
            <a:p>
              <a:pPr algn="l"/>
              <a:r>
                <a:rPr sz="1450" b="1" i="0">
                  <a:solidFill>
                    <a:srgbClr val="FFFFFF"/>
                  </a:solidFill>
                  <a:latin typeface="Calibri"/>
                </a:rPr>
                <a:t>Skylink overnight</a:t>
              </a:r>
            </a:p>
          </p:txBody>
        </p:sp>
        <p:sp>
          <p:nvSpPr>
            <p:cNvPr id="7" name="TextBox 6"/>
            <p:cNvSpPr txBox="1"/>
            <p:nvPr/>
          </p:nvSpPr>
          <p:spPr>
            <a:xfrm>
              <a:off x="649224" y="2267712"/>
              <a:ext cx="2267712" cy="1554480"/>
            </a:xfrm>
            <a:prstGeom prst="rect">
              <a:avLst/>
            </a:prstGeom>
            <a:noFill/>
          </p:spPr>
          <p:txBody>
            <a:bodyPr wrap="square" anchor="t" lIns="0" rIns="0" tIns="0" bIns="0">
              <a:spAutoFit/>
            </a:bodyPr>
            <a:lstStyle/>
            <a:p>
              <a:pPr algn="l">
                <a:lnSpc>
                  <a:spcPct val="112000"/>
                </a:lnSpc>
              </a:pPr>
              <a:r>
                <a:rPr sz="1300" b="0" i="0">
                  <a:solidFill>
                    <a:srgbClr val="17232D"/>
                  </a:solidFill>
                  <a:latin typeface="Calibri"/>
                </a:rPr>
                <a:t>Single loop 22:00–06:00 maintenance window; transit ~doubles, 9 → ~15 minutes</a:t>
              </a:r>
            </a:p>
          </p:txBody>
        </p:sp>
        <p:sp>
          <p:nvSpPr>
            <p:cNvPr id="8" name="Right Arrow 7"/>
            <p:cNvSpPr/>
            <p:nvPr/>
          </p:nvSpPr>
          <p:spPr>
            <a:xfrm>
              <a:off x="3081528" y="2542032"/>
              <a:ext cx="274320" cy="384048"/>
            </a:xfrm>
            <a:prstGeom prst="rightArrow">
              <a:avLst/>
            </a:prstGeom>
            <a:solidFill>
              <a:srgbClr val="415669"/>
            </a:solidFill>
            <a:ln>
              <a:noFill/>
            </a:ln>
            <a:effectLst/>
          </p:spPr>
          <p:txBody>
            <a:bodyPr rtlCol="0" anchor="ctr"/>
            <a:lstStyle/>
            <a:p>
              <a:pPr algn="ctr"/>
            </a:p>
          </p:txBody>
        </p:sp>
        <p:sp>
          <p:nvSpPr>
            <p:cNvPr id="9" name="Rectangle 8"/>
            <p:cNvSpPr/>
            <p:nvPr/>
          </p:nvSpPr>
          <p:spPr>
            <a:xfrm>
              <a:off x="3392424" y="1600200"/>
              <a:ext cx="2542032" cy="2331720"/>
            </a:xfrm>
            <a:prstGeom prst="rect">
              <a:avLst/>
            </a:prstGeom>
            <a:solidFill>
              <a:srgbClr val="EDF3F6"/>
            </a:solidFill>
            <a:ln>
              <a:noFill/>
            </a:ln>
            <a:effectLst/>
          </p:spPr>
          <p:txBody>
            <a:bodyPr rtlCol="0" anchor="ctr"/>
            <a:lstStyle/>
            <a:p>
              <a:pPr algn="ctr"/>
            </a:p>
          </p:txBody>
        </p:sp>
        <p:sp>
          <p:nvSpPr>
            <p:cNvPr id="10" name="Rectangle 9"/>
            <p:cNvSpPr/>
            <p:nvPr/>
          </p:nvSpPr>
          <p:spPr>
            <a:xfrm>
              <a:off x="3392424" y="1600200"/>
              <a:ext cx="2542032" cy="475488"/>
            </a:xfrm>
            <a:prstGeom prst="rect">
              <a:avLst/>
            </a:prstGeom>
            <a:solidFill>
              <a:srgbClr val="0B2D4D"/>
            </a:solidFill>
            <a:ln>
              <a:noFill/>
            </a:ln>
            <a:effectLst/>
          </p:spPr>
          <p:txBody>
            <a:bodyPr rtlCol="0" anchor="ctr"/>
            <a:lstStyle/>
            <a:p>
              <a:pPr algn="ctr"/>
            </a:p>
          </p:txBody>
        </p:sp>
        <p:sp>
          <p:nvSpPr>
            <p:cNvPr id="11" name="TextBox 10"/>
            <p:cNvSpPr txBox="1"/>
            <p:nvPr/>
          </p:nvSpPr>
          <p:spPr>
            <a:xfrm>
              <a:off x="3538728" y="1673352"/>
              <a:ext cx="2286000" cy="347472"/>
            </a:xfrm>
            <a:prstGeom prst="rect">
              <a:avLst/>
            </a:prstGeom>
            <a:noFill/>
          </p:spPr>
          <p:txBody>
            <a:bodyPr wrap="square" anchor="t" lIns="0" rIns="0" tIns="0" bIns="0">
              <a:spAutoFit/>
            </a:bodyPr>
            <a:lstStyle/>
            <a:p>
              <a:pPr algn="l"/>
              <a:r>
                <a:rPr sz="1450" b="1" i="0">
                  <a:solidFill>
                    <a:srgbClr val="FFFFFF"/>
                  </a:solidFill>
                  <a:latin typeface="Calibri"/>
                </a:rPr>
                <a:t>Terminal F Skylink node</a:t>
              </a:r>
            </a:p>
          </p:txBody>
        </p:sp>
        <p:sp>
          <p:nvSpPr>
            <p:cNvPr id="12" name="TextBox 11"/>
            <p:cNvSpPr txBox="1"/>
            <p:nvPr/>
          </p:nvSpPr>
          <p:spPr>
            <a:xfrm>
              <a:off x="3538728" y="2267712"/>
              <a:ext cx="2267712" cy="1554480"/>
            </a:xfrm>
            <a:prstGeom prst="rect">
              <a:avLst/>
            </a:prstGeom>
            <a:noFill/>
          </p:spPr>
          <p:txBody>
            <a:bodyPr wrap="square" anchor="t" lIns="0" rIns="0" tIns="0" bIns="0">
              <a:spAutoFit/>
            </a:bodyPr>
            <a:lstStyle/>
            <a:p>
              <a:pPr algn="l">
                <a:lnSpc>
                  <a:spcPct val="112000"/>
                </a:lnSpc>
              </a:pPr>
              <a:r>
                <a:rPr sz="1300" b="0" i="0">
                  <a:solidFill>
                    <a:srgbClr val="17232D"/>
                  </a:solidFill>
                  <a:latin typeface="Calibri"/>
                </a:rPr>
                <a:t>Platform width, circulation cores, concourse-side queuing depth</a:t>
              </a:r>
            </a:p>
          </p:txBody>
        </p:sp>
        <p:sp>
          <p:nvSpPr>
            <p:cNvPr id="13" name="Right Arrow 12"/>
            <p:cNvSpPr/>
            <p:nvPr/>
          </p:nvSpPr>
          <p:spPr>
            <a:xfrm>
              <a:off x="5971031" y="2542032"/>
              <a:ext cx="274320" cy="384048"/>
            </a:xfrm>
            <a:prstGeom prst="rightArrow">
              <a:avLst/>
            </a:prstGeom>
            <a:solidFill>
              <a:srgbClr val="415669"/>
            </a:solidFill>
            <a:ln>
              <a:noFill/>
            </a:ln>
            <a:effectLst/>
          </p:spPr>
          <p:txBody>
            <a:bodyPr rtlCol="0" anchor="ctr"/>
            <a:lstStyle/>
            <a:p>
              <a:pPr algn="ctr"/>
            </a:p>
          </p:txBody>
        </p:sp>
        <p:sp>
          <p:nvSpPr>
            <p:cNvPr id="14" name="Rectangle 13"/>
            <p:cNvSpPr/>
            <p:nvPr/>
          </p:nvSpPr>
          <p:spPr>
            <a:xfrm>
              <a:off x="6281928" y="1600200"/>
              <a:ext cx="2542032" cy="2331720"/>
            </a:xfrm>
            <a:prstGeom prst="rect">
              <a:avLst/>
            </a:prstGeom>
            <a:solidFill>
              <a:srgbClr val="EDF3F6"/>
            </a:solidFill>
            <a:ln>
              <a:noFill/>
            </a:ln>
            <a:effectLst/>
          </p:spPr>
          <p:txBody>
            <a:bodyPr rtlCol="0" anchor="ctr"/>
            <a:lstStyle/>
            <a:p>
              <a:pPr algn="ctr"/>
            </a:p>
          </p:txBody>
        </p:sp>
        <p:sp>
          <p:nvSpPr>
            <p:cNvPr id="15" name="Rectangle 14"/>
            <p:cNvSpPr/>
            <p:nvPr/>
          </p:nvSpPr>
          <p:spPr>
            <a:xfrm>
              <a:off x="6281928" y="1600200"/>
              <a:ext cx="2542032" cy="475488"/>
            </a:xfrm>
            <a:prstGeom prst="rect">
              <a:avLst/>
            </a:prstGeom>
            <a:solidFill>
              <a:srgbClr val="0B2D4D"/>
            </a:solidFill>
            <a:ln>
              <a:noFill/>
            </a:ln>
            <a:effectLst/>
          </p:spPr>
          <p:txBody>
            <a:bodyPr rtlCol="0" anchor="ctr"/>
            <a:lstStyle/>
            <a:p>
              <a:pPr algn="ctr"/>
            </a:p>
          </p:txBody>
        </p:sp>
        <p:sp>
          <p:nvSpPr>
            <p:cNvPr id="16" name="TextBox 15"/>
            <p:cNvSpPr txBox="1"/>
            <p:nvPr/>
          </p:nvSpPr>
          <p:spPr>
            <a:xfrm>
              <a:off x="6428232" y="1673352"/>
              <a:ext cx="2286000" cy="347472"/>
            </a:xfrm>
            <a:prstGeom prst="rect">
              <a:avLst/>
            </a:prstGeom>
            <a:noFill/>
          </p:spPr>
          <p:txBody>
            <a:bodyPr wrap="square" anchor="t" lIns="0" rIns="0" tIns="0" bIns="0">
              <a:spAutoFit/>
            </a:bodyPr>
            <a:lstStyle/>
            <a:p>
              <a:pPr algn="l"/>
              <a:r>
                <a:rPr sz="1450" b="1" i="0">
                  <a:solidFill>
                    <a:srgbClr val="FFFFFF"/>
                  </a:solidFill>
                  <a:latin typeface="Calibri"/>
                </a:rPr>
                <a:t>Checkpoint</a:t>
              </a:r>
            </a:p>
          </p:txBody>
        </p:sp>
        <p:sp>
          <p:nvSpPr>
            <p:cNvPr id="17" name="TextBox 16"/>
            <p:cNvSpPr txBox="1"/>
            <p:nvPr/>
          </p:nvSpPr>
          <p:spPr>
            <a:xfrm>
              <a:off x="6428232" y="2267712"/>
              <a:ext cx="2267712" cy="1554480"/>
            </a:xfrm>
            <a:prstGeom prst="rect">
              <a:avLst/>
            </a:prstGeom>
            <a:noFill/>
          </p:spPr>
          <p:txBody>
            <a:bodyPr wrap="square" anchor="t" lIns="0" rIns="0" tIns="0" bIns="0">
              <a:spAutoFit/>
            </a:bodyPr>
            <a:lstStyle/>
            <a:p>
              <a:pPr algn="l">
                <a:lnSpc>
                  <a:spcPct val="112000"/>
                </a:lnSpc>
              </a:pPr>
              <a:r>
                <a:rPr sz="1300" b="0" i="0">
                  <a:solidFill>
                    <a:srgbClr val="17232D"/>
                  </a:solidFill>
                  <a:latin typeface="Calibri"/>
                </a:rPr>
                <a:t>Next-generation CT lane geometry; DHS target 300 passengers/hour per lane</a:t>
              </a:r>
            </a:p>
          </p:txBody>
        </p:sp>
        <p:sp>
          <p:nvSpPr>
            <p:cNvPr id="18" name="Right Arrow 17"/>
            <p:cNvSpPr/>
            <p:nvPr/>
          </p:nvSpPr>
          <p:spPr>
            <a:xfrm>
              <a:off x="8860536" y="2542032"/>
              <a:ext cx="274320" cy="384048"/>
            </a:xfrm>
            <a:prstGeom prst="rightArrow">
              <a:avLst/>
            </a:prstGeom>
            <a:solidFill>
              <a:srgbClr val="415669"/>
            </a:solidFill>
            <a:ln>
              <a:noFill/>
            </a:ln>
            <a:effectLst/>
          </p:spPr>
          <p:txBody>
            <a:bodyPr rtlCol="0" anchor="ctr"/>
            <a:lstStyle/>
            <a:p>
              <a:pPr algn="ctr"/>
            </a:p>
          </p:txBody>
        </p:sp>
        <p:sp>
          <p:nvSpPr>
            <p:cNvPr id="19" name="Rectangle 18"/>
            <p:cNvSpPr/>
            <p:nvPr/>
          </p:nvSpPr>
          <p:spPr>
            <a:xfrm>
              <a:off x="9171432" y="1600200"/>
              <a:ext cx="2542032" cy="2331720"/>
            </a:xfrm>
            <a:prstGeom prst="rect">
              <a:avLst/>
            </a:prstGeom>
            <a:solidFill>
              <a:srgbClr val="EDF3F6"/>
            </a:solidFill>
            <a:ln>
              <a:noFill/>
            </a:ln>
            <a:effectLst/>
          </p:spPr>
          <p:txBody>
            <a:bodyPr rtlCol="0" anchor="ctr"/>
            <a:lstStyle/>
            <a:p>
              <a:pPr algn="ctr"/>
            </a:p>
          </p:txBody>
        </p:sp>
        <p:sp>
          <p:nvSpPr>
            <p:cNvPr id="20" name="Rectangle 19"/>
            <p:cNvSpPr/>
            <p:nvPr/>
          </p:nvSpPr>
          <p:spPr>
            <a:xfrm>
              <a:off x="9171432" y="1600200"/>
              <a:ext cx="2542032" cy="475488"/>
            </a:xfrm>
            <a:prstGeom prst="rect">
              <a:avLst/>
            </a:prstGeom>
            <a:solidFill>
              <a:srgbClr val="0B2D4D"/>
            </a:solidFill>
            <a:ln>
              <a:noFill/>
            </a:ln>
            <a:effectLst/>
          </p:spPr>
          <p:txBody>
            <a:bodyPr rtlCol="0" anchor="ctr"/>
            <a:lstStyle/>
            <a:p>
              <a:pPr algn="ctr"/>
            </a:p>
          </p:txBody>
        </p:sp>
        <p:sp>
          <p:nvSpPr>
            <p:cNvPr id="21" name="TextBox 20"/>
            <p:cNvSpPr txBox="1"/>
            <p:nvPr/>
          </p:nvSpPr>
          <p:spPr>
            <a:xfrm>
              <a:off x="9317736" y="1673352"/>
              <a:ext cx="2286000" cy="347472"/>
            </a:xfrm>
            <a:prstGeom prst="rect">
              <a:avLst/>
            </a:prstGeom>
            <a:noFill/>
          </p:spPr>
          <p:txBody>
            <a:bodyPr wrap="square" anchor="t" lIns="0" rIns="0" tIns="0" bIns="0">
              <a:spAutoFit/>
            </a:bodyPr>
            <a:lstStyle/>
            <a:p>
              <a:pPr algn="l"/>
              <a:r>
                <a:rPr sz="1450" b="1" i="0">
                  <a:solidFill>
                    <a:srgbClr val="FFFFFF"/>
                  </a:solidFill>
                  <a:latin typeface="Calibri"/>
                </a:rPr>
                <a:t>FIS primary hall</a:t>
              </a:r>
            </a:p>
          </p:txBody>
        </p:sp>
        <p:sp>
          <p:nvSpPr>
            <p:cNvPr id="22" name="TextBox 21"/>
            <p:cNvSpPr txBox="1"/>
            <p:nvPr/>
          </p:nvSpPr>
          <p:spPr>
            <a:xfrm>
              <a:off x="9317736" y="2267712"/>
              <a:ext cx="2267712" cy="1554480"/>
            </a:xfrm>
            <a:prstGeom prst="rect">
              <a:avLst/>
            </a:prstGeom>
            <a:noFill/>
          </p:spPr>
          <p:txBody>
            <a:bodyPr wrap="square" anchor="t" lIns="0" rIns="0" tIns="0" bIns="0">
              <a:spAutoFit/>
            </a:bodyPr>
            <a:lstStyle/>
            <a:p>
              <a:pPr algn="l">
                <a:lnSpc>
                  <a:spcPct val="112000"/>
                </a:lnSpc>
              </a:pPr>
              <a:r>
                <a:rPr sz="1300" b="0" i="0">
                  <a:solidFill>
                    <a:srgbClr val="17232D"/>
                  </a:solidFill>
                  <a:latin typeface="Calibri"/>
                </a:rPr>
                <a:t>CBP ~100 passengers/hour per double booth; 50–75 ft queue depth</a:t>
              </a:r>
            </a:p>
          </p:txBody>
        </p:sp>
        <p:sp>
          <p:nvSpPr>
            <p:cNvPr id="23" name="Rectangle 22"/>
            <p:cNvSpPr/>
            <p:nvPr/>
          </p:nvSpPr>
          <p:spPr>
            <a:xfrm>
              <a:off x="502920" y="4224528"/>
              <a:ext cx="11183112" cy="548640"/>
            </a:xfrm>
            <a:prstGeom prst="rect">
              <a:avLst/>
            </a:prstGeom>
            <a:solidFill>
              <a:srgbClr val="0B2D4D"/>
            </a:solidFill>
            <a:ln>
              <a:noFill/>
            </a:ln>
            <a:effectLst/>
          </p:spPr>
          <p:txBody>
            <a:bodyPr rtlCol="0" anchor="ctr"/>
            <a:lstStyle/>
            <a:p>
              <a:pPr algn="ctr"/>
            </a:p>
          </p:txBody>
        </p:sp>
        <p:sp>
          <p:nvSpPr>
            <p:cNvPr id="24" name="TextBox 23"/>
            <p:cNvSpPr txBox="1"/>
            <p:nvPr/>
          </p:nvSpPr>
          <p:spPr>
            <a:xfrm>
              <a:off x="777240" y="4352544"/>
              <a:ext cx="10607040" cy="329184"/>
            </a:xfrm>
            <a:prstGeom prst="rect">
              <a:avLst/>
            </a:prstGeom>
            <a:noFill/>
          </p:spPr>
          <p:txBody>
            <a:bodyPr wrap="square" anchor="t" lIns="0" rIns="0" tIns="0" bIns="0">
              <a:spAutoFit/>
            </a:bodyPr>
            <a:lstStyle/>
            <a:p>
              <a:pPr algn="ctr"/>
              <a:r>
                <a:rPr sz="1400" b="1" i="0">
                  <a:solidFill>
                    <a:srgbClr val="FFFFFF"/>
                  </a:solidFill>
                  <a:latin typeface="Calibri"/>
                </a:rPr>
                <a:t>Stress overlay — January 2023 winter event: ground stop, 1,100+ peak-day cancellations, 600+ the next day</a:t>
              </a:r>
            </a:p>
          </p:txBody>
        </p:sp>
      </p:grpSp>
      <p:sp>
        <p:nvSpPr>
          <p:cNvPr id="25" name="slide-07-caveat"/>
          <p:cNvSpPr txBox="1"/>
          <p:nvPr/>
        </p:nvSpPr>
        <p:spPr>
          <a:xfrm>
            <a:off x="502920" y="5074920"/>
            <a:ext cx="11183112" cy="777240"/>
          </a:xfrm>
          <a:prstGeom prst="rect">
            <a:avLst/>
          </a:prstGeom>
          <a:noFill/>
        </p:spPr>
        <p:txBody>
          <a:bodyPr wrap="square" anchor="t" lIns="0" rIns="0" tIns="0" bIns="0">
            <a:spAutoFit/>
          </a:bodyPr>
          <a:lstStyle/>
          <a:p>
            <a:pPr algn="l">
              <a:lnSpc>
                <a:spcPct val="112000"/>
              </a:lnSpc>
            </a:pPr>
            <a:r>
              <a:rPr sz="1600" b="0" i="1">
                <a:solidFill>
                  <a:srgbClr val="415669"/>
                </a:solidFill>
                <a:latin typeface="Calibri"/>
              </a:rPr>
              <a:t>Constructed stress case — professional judgment, not a documented daily event; adopted as the formal sizing scenario for exactly that reason (D4).</a:t>
            </a:r>
          </a:p>
        </p:txBody>
      </p:sp>
      <p:sp>
        <p:nvSpPr>
          <p:cNvPr id="26" name="slide-07-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Skylink headway/transit and overnight single-loop window per operational guidance (see appendix); Spectrum News, Jan 2023 (storm); PARAS 0052 / CBP Airport Technical Design Standard 2021; DHS S&amp;T '300 People Per Hour Per Lane'.</a:t>
            </a:r>
          </a:p>
        </p:txBody>
      </p:sp>
      <p:sp>
        <p:nvSpPr>
          <p:cNvPr id="27" name="slide-07-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08-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Eight pour-locked items, none of them a Flagship Lounge</a:t>
            </a:r>
          </a:p>
        </p:txBody>
      </p:sp>
      <p:graphicFrame>
        <p:nvGraphicFramePr>
          <p:cNvPr id="3" name="slide-08-table" descr="Register table of eight pour-locked Terminal F items — MARS stands, federal inspection floor plate, checkpoint rooms, Skylink node, baggage trunk, lounge-capable shells, instrumentation baseline, and common-use gate hardware — each with its locking geometry and the federal or airline dependency that must clear first."/>
          <p:cNvGraphicFramePr>
            <a:graphicFrameLocks noGrp="1"/>
          </p:cNvGraphicFramePr>
          <p:nvPr/>
        </p:nvGraphicFramePr>
        <p:xfrm>
          <a:off x="502920" y="1417320"/>
          <a:ext cx="11183112" cy="4343400"/>
        </p:xfrm>
        <a:graphic>
          <a:graphicData uri="http://schemas.openxmlformats.org/drawingml/2006/table">
            <a:tbl>
              <a:tblPr>
                <a:tableStyleId>{5C22544A-7EE6-4342-B048-85BDC9FD1C3A}</a:tableStyleId>
              </a:tblPr>
              <a:tblGrid>
                <a:gridCol w="3063240"/>
                <a:gridCol w="4526280"/>
                <a:gridCol w="3593592"/>
              </a:tblGrid>
              <a:tr h="482600">
                <a:tc>
                  <a:txBody>
                    <a:bodyPr wrap="square"/>
                    <a:lstStyle/>
                    <a:p>
                      <a:pPr algn="l">
                        <a:lnSpc>
                          <a:spcPct val="100000"/>
                        </a:lnSpc>
                      </a:pPr>
                      <a:r>
                        <a:rPr sz="1250" b="1" i="0">
                          <a:solidFill>
                            <a:srgbClr val="FFFFFF"/>
                          </a:solidFill>
                          <a:latin typeface="Calibri"/>
                        </a:rPr>
                        <a:t>Register item</a:t>
                      </a:r>
                    </a:p>
                  </a:txBody>
                  <a:tcPr anchor="ctr" marL="73152" marR="73152" marT="27432" marB="27432">
                    <a:solidFill>
                      <a:srgbClr val="0B2D4D"/>
                    </a:solidFill>
                  </a:tcPr>
                </a:tc>
                <a:tc>
                  <a:txBody>
                    <a:bodyPr wrap="square"/>
                    <a:lstStyle/>
                    <a:p>
                      <a:pPr algn="l">
                        <a:lnSpc>
                          <a:spcPct val="100000"/>
                        </a:lnSpc>
                      </a:pPr>
                      <a:r>
                        <a:rPr sz="1250" b="1" i="0">
                          <a:solidFill>
                            <a:srgbClr val="FFFFFF"/>
                          </a:solidFill>
                          <a:latin typeface="Calibri"/>
                        </a:rPr>
                        <a:t>What locks at pour or release</a:t>
                      </a:r>
                    </a:p>
                  </a:txBody>
                  <a:tcPr anchor="ctr" marL="73152" marR="73152" marT="27432" marB="27432">
                    <a:solidFill>
                      <a:srgbClr val="0B2D4D"/>
                    </a:solidFill>
                  </a:tcPr>
                </a:tc>
                <a:tc>
                  <a:txBody>
                    <a:bodyPr wrap="square"/>
                    <a:lstStyle/>
                    <a:p>
                      <a:pPr algn="l">
                        <a:lnSpc>
                          <a:spcPct val="100000"/>
                        </a:lnSpc>
                      </a:pPr>
                      <a:r>
                        <a:rPr sz="1250" b="1" i="0">
                          <a:solidFill>
                            <a:srgbClr val="FFFFFF"/>
                          </a:solidFill>
                          <a:latin typeface="Calibri"/>
                        </a:rPr>
                        <a:t>Dependency to clear first</a:t>
                      </a:r>
                    </a:p>
                  </a:txBody>
                  <a:tcPr anchor="ctr" marL="73152" marR="73152" marT="27432" marB="27432">
                    <a:solidFill>
                      <a:srgbClr val="0B2D4D"/>
                    </a:solidFill>
                  </a:tcPr>
                </a:tc>
              </a:tr>
              <a:tr h="482600">
                <a:tc>
                  <a:txBody>
                    <a:bodyPr wrap="square"/>
                    <a:lstStyle/>
                    <a:p>
                      <a:pPr algn="l">
                        <a:lnSpc>
                          <a:spcPct val="102000"/>
                        </a:lnSpc>
                      </a:pPr>
                      <a:r>
                        <a:rPr sz="1200" b="1" i="0">
                          <a:solidFill>
                            <a:srgbClr val="0B2D4D"/>
                          </a:solidFill>
                          <a:latin typeface="Calibri"/>
                        </a:rPr>
                        <a:t>MARS-capable stands (minority of widebody positions)</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Fuel pit, PCA/400 Hz risers, jetbridge foundation, apron lead-in geometry</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FAA modification-of-standard letter</a:t>
                      </a:r>
                    </a:p>
                  </a:txBody>
                  <a:tcPr anchor="ctr" marL="73152" marR="73152" marT="27432" marB="27432">
                    <a:solidFill>
                      <a:srgbClr val="EDF3F6"/>
                    </a:solidFill>
                  </a:tcPr>
                </a:tc>
              </a:tr>
              <a:tr h="482600">
                <a:tc>
                  <a:txBody>
                    <a:bodyPr wrap="square"/>
                    <a:lstStyle/>
                    <a:p>
                      <a:pPr algn="l">
                        <a:lnSpc>
                          <a:spcPct val="102000"/>
                        </a:lnSpc>
                      </a:pPr>
                      <a:r>
                        <a:rPr sz="1200" b="1" i="0">
                          <a:solidFill>
                            <a:srgbClr val="0B2D4D"/>
                          </a:solidFill>
                          <a:latin typeface="Calibri"/>
                        </a:rPr>
                        <a:t>FIS floor plate &amp; sterile corridor</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Primary-hall dimensions; CBP ~100 pax/hr per double booth; 50–75 ft queues</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CBP Reimbursable Services agreement — a two-year negotiation</a:t>
                      </a:r>
                    </a:p>
                  </a:txBody>
                  <a:tcPr anchor="ctr" marL="73152" marR="73152" marT="27432" marB="27432">
                    <a:solidFill>
                      <a:srgbClr val="FFFFFF"/>
                    </a:solidFill>
                  </a:tcPr>
                </a:tc>
              </a:tr>
              <a:tr h="482600">
                <a:tc>
                  <a:txBody>
                    <a:bodyPr wrap="square"/>
                    <a:lstStyle/>
                    <a:p>
                      <a:pPr algn="l">
                        <a:lnSpc>
                          <a:spcPct val="102000"/>
                        </a:lnSpc>
                      </a:pPr>
                      <a:r>
                        <a:rPr sz="1200" b="1" i="0">
                          <a:solidFill>
                            <a:srgbClr val="0B2D4D"/>
                          </a:solidFill>
                          <a:latin typeface="Calibri"/>
                        </a:rPr>
                        <a:t>Checkpoint rooms</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Conveyor run, search depth, ceiling height; 300 pax/hr/lane CT geometry</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Written TSA concurrence — on the critical path</a:t>
                      </a:r>
                    </a:p>
                  </a:txBody>
                  <a:tcPr anchor="ctr" marL="73152" marR="73152" marT="27432" marB="27432">
                    <a:solidFill>
                      <a:srgbClr val="EDF3F6"/>
                    </a:solidFill>
                  </a:tcPr>
                </a:tc>
              </a:tr>
              <a:tr h="482600">
                <a:tc>
                  <a:txBody>
                    <a:bodyPr wrap="square"/>
                    <a:lstStyle/>
                    <a:p>
                      <a:pPr algn="l">
                        <a:lnSpc>
                          <a:spcPct val="102000"/>
                        </a:lnSpc>
                      </a:pPr>
                      <a:r>
                        <a:rPr sz="1200" b="1" i="0">
                          <a:solidFill>
                            <a:srgbClr val="0B2D4D"/>
                          </a:solidFill>
                          <a:latin typeface="Calibri"/>
                        </a:rPr>
                        <a:t>Skylink node</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Platform width, cores, queuing depth for the ~15-minute overnight loop</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Adopt the D4 sizing scenario</a:t>
                      </a:r>
                    </a:p>
                  </a:txBody>
                  <a:tcPr anchor="ctr" marL="73152" marR="73152" marT="27432" marB="27432">
                    <a:solidFill>
                      <a:srgbClr val="FFFFFF"/>
                    </a:solidFill>
                  </a:tcPr>
                </a:tc>
              </a:tr>
              <a:tr h="482600">
                <a:tc>
                  <a:txBody>
                    <a:bodyPr wrap="square"/>
                    <a:lstStyle/>
                    <a:p>
                      <a:pPr algn="l">
                        <a:lnSpc>
                          <a:spcPct val="102000"/>
                        </a:lnSpc>
                      </a:pPr>
                      <a:r>
                        <a:rPr sz="1200" b="1" i="0">
                          <a:solidFill>
                            <a:srgbClr val="0B2D4D"/>
                          </a:solidFill>
                          <a:latin typeface="Calibri"/>
                        </a:rPr>
                        <a:t>Baggage-handling trunk cross-section</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Trunk dimension through the concourse at next-decade bank volumes</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None federal; disruptive and costlier as an operating retrofit</a:t>
                      </a:r>
                    </a:p>
                  </a:txBody>
                  <a:tcPr anchor="ctr" marL="73152" marR="73152" marT="27432" marB="27432">
                    <a:solidFill>
                      <a:srgbClr val="EDF3F6"/>
                    </a:solidFill>
                  </a:tcPr>
                </a:tc>
              </a:tr>
              <a:tr h="482600">
                <a:tc>
                  <a:txBody>
                    <a:bodyPr wrap="square"/>
                    <a:lstStyle/>
                    <a:p>
                      <a:pPr algn="l">
                        <a:lnSpc>
                          <a:spcPct val="102000"/>
                        </a:lnSpc>
                      </a:pPr>
                      <a:r>
                        <a:rPr sz="1200" b="1" i="0">
                          <a:solidFill>
                            <a:srgbClr val="0B2D4D"/>
                          </a:solidFill>
                          <a:latin typeface="Calibri"/>
                        </a:rPr>
                        <a:t>Lounge-capable shells (head-of-pier)</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MEP risers, grease waste, structural allowance, curtain wall — deliberately not built out</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Terminal F Reversibility Side Letter with American</a:t>
                      </a:r>
                    </a:p>
                  </a:txBody>
                  <a:tcPr anchor="ctr" marL="73152" marR="73152" marT="27432" marB="27432">
                    <a:solidFill>
                      <a:srgbClr val="FFFFFF"/>
                    </a:solidFill>
                  </a:tcPr>
                </a:tc>
              </a:tr>
              <a:tr h="482600">
                <a:tc>
                  <a:txBody>
                    <a:bodyPr wrap="square"/>
                    <a:lstStyle/>
                    <a:p>
                      <a:pPr algn="l">
                        <a:lnSpc>
                          <a:spcPct val="102000"/>
                        </a:lnSpc>
                      </a:pPr>
                      <a:r>
                        <a:rPr sz="1200" b="1" i="0">
                          <a:solidFill>
                            <a:srgbClr val="0B2D4D"/>
                          </a:solidFill>
                          <a:latin typeface="Calibri"/>
                        </a:rPr>
                        <a:t>Instrumentation baseline</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Sensor conduit, PoE++ drops, fiber diversity — through the factory once</a:t>
                      </a:r>
                    </a:p>
                  </a:txBody>
                  <a:tcPr anchor="ctr" marL="73152" marR="73152" marT="27432" marB="27432">
                    <a:solidFill>
                      <a:srgbClr val="EDF3F6"/>
                    </a:solidFill>
                  </a:tcPr>
                </a:tc>
                <a:tc>
                  <a:txBody>
                    <a:bodyPr wrap="square"/>
                    <a:lstStyle/>
                    <a:p>
                      <a:pPr algn="l">
                        <a:lnSpc>
                          <a:spcPct val="102000"/>
                        </a:lnSpc>
                      </a:pPr>
                      <a:r>
                        <a:rPr sz="1200" b="0" i="0">
                          <a:solidFill>
                            <a:srgbClr val="17232D"/>
                          </a:solidFill>
                          <a:latin typeface="Calibri"/>
                        </a:rPr>
                        <a:t>D0 — template changes at repeat-part cost</a:t>
                      </a:r>
                    </a:p>
                  </a:txBody>
                  <a:tcPr anchor="ctr" marL="73152" marR="73152" marT="27432" marB="27432">
                    <a:solidFill>
                      <a:srgbClr val="EDF3F6"/>
                    </a:solidFill>
                  </a:tcPr>
                </a:tc>
              </a:tr>
              <a:tr h="482600">
                <a:tc>
                  <a:txBody>
                    <a:bodyPr wrap="square"/>
                    <a:lstStyle/>
                    <a:p>
                      <a:pPr algn="l">
                        <a:lnSpc>
                          <a:spcPct val="102000"/>
                        </a:lnSpc>
                      </a:pPr>
                      <a:r>
                        <a:rPr sz="1200" b="1" i="0">
                          <a:solidFill>
                            <a:srgbClr val="0B2D4D"/>
                          </a:solidFill>
                          <a:latin typeface="Calibri"/>
                        </a:rPr>
                        <a:t>CUPPS-capable gate hardware</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Common-use IT provision across the exclusive-use envelope</a:t>
                      </a:r>
                    </a:p>
                  </a:txBody>
                  <a:tcPr anchor="ctr" marL="73152" marR="73152" marT="27432" marB="27432">
                    <a:solidFill>
                      <a:srgbClr val="FFFFFF"/>
                    </a:solidFill>
                  </a:tcPr>
                </a:tc>
                <a:tc>
                  <a:txBody>
                    <a:bodyPr wrap="square"/>
                    <a:lstStyle/>
                    <a:p>
                      <a:pPr algn="l">
                        <a:lnSpc>
                          <a:spcPct val="102000"/>
                        </a:lnSpc>
                      </a:pPr>
                      <a:r>
                        <a:rPr sz="1200" b="0" i="0">
                          <a:solidFill>
                            <a:srgbClr val="17232D"/>
                          </a:solidFill>
                          <a:latin typeface="Calibri"/>
                        </a:rPr>
                        <a:t>American IT participation in factory witness testing</a:t>
                      </a:r>
                    </a:p>
                  </a:txBody>
                  <a:tcPr anchor="ctr" marL="73152" marR="73152" marT="27432" marB="27432">
                    <a:solidFill>
                      <a:srgbClr val="FFFFFF"/>
                    </a:solidFill>
                  </a:tcPr>
                </a:tc>
              </a:tr>
            </a:tbl>
          </a:graphicData>
        </a:graphic>
      </p:graphicFrame>
      <p:sp>
        <p:nvSpPr>
          <p:cNvPr id="4" name="slide-08-flag"/>
          <p:cNvSpPr txBox="1"/>
          <p:nvPr/>
        </p:nvSpPr>
        <p:spPr>
          <a:xfrm>
            <a:off x="502920" y="5925312"/>
            <a:ext cx="11183112" cy="384048"/>
          </a:xfrm>
          <a:prstGeom prst="rect">
            <a:avLst/>
          </a:prstGeom>
          <a:noFill/>
        </p:spPr>
        <p:txBody>
          <a:bodyPr wrap="square" anchor="t" lIns="0" rIns="0" tIns="0" bIns="0">
            <a:spAutoFit/>
          </a:bodyPr>
          <a:lstStyle/>
          <a:p>
            <a:pPr algn="l"/>
            <a:r>
              <a:rPr sz="1600" b="1" i="1">
                <a:solidFill>
                  <a:srgbClr val="415669"/>
                </a:solidFill>
                <a:latin typeface="Calibri"/>
              </a:rPr>
              <a:t>Costs are register-grade, not audit-grade — confirm before the Finance &amp; Audit Committee.</a:t>
            </a:r>
          </a:p>
        </p:txBody>
      </p:sp>
      <p:sp>
        <p:nvSpPr>
          <p:cNvPr id="5" name="slide-08-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ACI-NA MARS gates (Sept 2024); FAA AC 150/5300-13B; PARAS 0052 / CBP ATDS 2021; DHS S&amp;T CT-lane target; Skylink operational guidance. Order-of-magnitude cost characterizations are analyst-constructed and must be confirmed before the register goes to committee.</a:t>
            </a:r>
          </a:p>
        </p:txBody>
      </p:sp>
      <p:sp>
        <p:nvSpPr>
          <p:cNvPr id="6" name="slide-08-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09-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The affordability arbitrage is being spent — every option needs a number and a ceiling</a:t>
            </a:r>
          </a:p>
        </p:txBody>
      </p:sp>
      <p:grpSp>
        <p:nvGrpSpPr>
          <p:cNvPr id="3" name="slide-09-chart" descr="Two-panel chart: DFW signatory cost per enplanement rises from 13.59 dollars actual in fiscal 2025 to a projected 16.99 dollars in fiscal 2026, and outstanding debt rises from 7.2 billion dollars in 2024 to a projected 12.4 billion by fiscal 2029, a projection that pre-dates the May 2025 scope expansion."/>
          <p:cNvGrpSpPr/>
          <p:nvPr/>
        </p:nvGrpSpPr>
        <p:grpSpPr>
          <a:xfrm>
            <a:off x="502920" y="1481328"/>
            <a:ext cx="11247120" cy="4142232"/>
            <a:chOff x="502920" y="1481328"/>
            <a:chExt cx="11247120" cy="4142232"/>
          </a:xfrm>
        </p:grpSpPr>
        <p:sp>
          <p:nvSpPr>
            <p:cNvPr id="4" name="TextBox 3"/>
            <p:cNvSpPr txBox="1"/>
            <p:nvPr/>
          </p:nvSpPr>
          <p:spPr>
            <a:xfrm>
              <a:off x="502920" y="1481328"/>
              <a:ext cx="5394960" cy="320040"/>
            </a:xfrm>
            <a:prstGeom prst="rect">
              <a:avLst/>
            </a:prstGeom>
            <a:noFill/>
          </p:spPr>
          <p:txBody>
            <a:bodyPr wrap="square" anchor="t" lIns="0" rIns="0" tIns="0" bIns="0">
              <a:spAutoFit/>
            </a:bodyPr>
            <a:lstStyle/>
            <a:p>
              <a:pPr algn="l"/>
              <a:r>
                <a:rPr sz="1600" b="1" i="0">
                  <a:solidFill>
                    <a:srgbClr val="0B2D4D"/>
                  </a:solidFill>
                  <a:latin typeface="Calibri"/>
                </a:rPr>
                <a:t>Cost per enplanement — signatory CPE, USD</a:t>
              </a:r>
            </a:p>
          </p:txBody>
        </p:sp>
        <p:sp>
          <p:nvSpPr>
            <p:cNvPr id="5" name="Rectangle 4"/>
            <p:cNvSpPr/>
            <p:nvPr/>
          </p:nvSpPr>
          <p:spPr>
            <a:xfrm>
              <a:off x="1417320" y="2825759"/>
              <a:ext cx="868680" cy="1791960"/>
            </a:xfrm>
            <a:prstGeom prst="rect">
              <a:avLst/>
            </a:prstGeom>
            <a:solidFill>
              <a:srgbClr val="0B2D4D"/>
            </a:solidFill>
            <a:ln>
              <a:noFill/>
            </a:ln>
            <a:effectLst/>
          </p:spPr>
          <p:txBody>
            <a:bodyPr rtlCol="0" anchor="ctr"/>
            <a:lstStyle/>
            <a:p>
              <a:pPr algn="ctr"/>
            </a:p>
          </p:txBody>
        </p:sp>
        <p:sp>
          <p:nvSpPr>
            <p:cNvPr id="6" name="TextBox 5"/>
            <p:cNvSpPr txBox="1"/>
            <p:nvPr/>
          </p:nvSpPr>
          <p:spPr>
            <a:xfrm>
              <a:off x="1097280" y="2514863"/>
              <a:ext cx="1508760" cy="274320"/>
            </a:xfrm>
            <a:prstGeom prst="rect">
              <a:avLst/>
            </a:prstGeom>
            <a:noFill/>
          </p:spPr>
          <p:txBody>
            <a:bodyPr wrap="square" anchor="t" lIns="0" rIns="0" tIns="0" bIns="0">
              <a:spAutoFit/>
            </a:bodyPr>
            <a:lstStyle/>
            <a:p>
              <a:pPr algn="ctr"/>
              <a:r>
                <a:rPr sz="1400" b="1" i="0">
                  <a:solidFill>
                    <a:srgbClr val="0B2D4D"/>
                  </a:solidFill>
                  <a:latin typeface="Calibri"/>
                </a:rPr>
                <a:t>$13.59</a:t>
              </a:r>
            </a:p>
          </p:txBody>
        </p:sp>
        <p:sp>
          <p:nvSpPr>
            <p:cNvPr id="7" name="TextBox 6"/>
            <p:cNvSpPr txBox="1"/>
            <p:nvPr/>
          </p:nvSpPr>
          <p:spPr>
            <a:xfrm>
              <a:off x="1005840" y="4690872"/>
              <a:ext cx="1691640" cy="274320"/>
            </a:xfrm>
            <a:prstGeom prst="rect">
              <a:avLst/>
            </a:prstGeom>
            <a:noFill/>
          </p:spPr>
          <p:txBody>
            <a:bodyPr wrap="square" anchor="t" lIns="0" rIns="0" tIns="0" bIns="0">
              <a:spAutoFit/>
            </a:bodyPr>
            <a:lstStyle/>
            <a:p>
              <a:pPr algn="ctr"/>
              <a:r>
                <a:rPr sz="1250" b="0" i="0">
                  <a:solidFill>
                    <a:srgbClr val="415669"/>
                  </a:solidFill>
                  <a:latin typeface="Calibri"/>
                </a:rPr>
                <a:t>FY25 actual</a:t>
              </a:r>
            </a:p>
          </p:txBody>
        </p:sp>
        <p:sp>
          <p:nvSpPr>
            <p:cNvPr id="8" name="Rectangle 7"/>
            <p:cNvSpPr/>
            <p:nvPr/>
          </p:nvSpPr>
          <p:spPr>
            <a:xfrm>
              <a:off x="3429000" y="2377439"/>
              <a:ext cx="868680" cy="2240280"/>
            </a:xfrm>
            <a:prstGeom prst="rect">
              <a:avLst/>
            </a:prstGeom>
            <a:solidFill>
              <a:srgbClr val="EDF3F6"/>
            </a:solidFill>
            <a:ln w="22225">
              <a:solidFill>
                <a:srgbClr val="0B2D4D"/>
              </a:solidFill>
              <a:prstDash val="dash"/>
            </a:ln>
            <a:effectLst/>
          </p:spPr>
          <p:txBody>
            <a:bodyPr rtlCol="0" anchor="ctr"/>
            <a:lstStyle/>
            <a:p>
              <a:pPr algn="ctr"/>
            </a:p>
          </p:txBody>
        </p:sp>
        <p:sp>
          <p:nvSpPr>
            <p:cNvPr id="9" name="TextBox 8"/>
            <p:cNvSpPr txBox="1"/>
            <p:nvPr/>
          </p:nvSpPr>
          <p:spPr>
            <a:xfrm>
              <a:off x="3108960" y="2066543"/>
              <a:ext cx="1508760" cy="274320"/>
            </a:xfrm>
            <a:prstGeom prst="rect">
              <a:avLst/>
            </a:prstGeom>
            <a:noFill/>
          </p:spPr>
          <p:txBody>
            <a:bodyPr wrap="square" anchor="t" lIns="0" rIns="0" tIns="0" bIns="0">
              <a:spAutoFit/>
            </a:bodyPr>
            <a:lstStyle/>
            <a:p>
              <a:pPr algn="ctr"/>
              <a:r>
                <a:rPr sz="1400" b="1" i="0">
                  <a:solidFill>
                    <a:srgbClr val="0B2D4D"/>
                  </a:solidFill>
                  <a:latin typeface="Calibri"/>
                </a:rPr>
                <a:t>$16.99</a:t>
              </a:r>
            </a:p>
          </p:txBody>
        </p:sp>
        <p:sp>
          <p:nvSpPr>
            <p:cNvPr id="10" name="TextBox 9"/>
            <p:cNvSpPr txBox="1"/>
            <p:nvPr/>
          </p:nvSpPr>
          <p:spPr>
            <a:xfrm>
              <a:off x="3017520" y="4690872"/>
              <a:ext cx="1691640" cy="274320"/>
            </a:xfrm>
            <a:prstGeom prst="rect">
              <a:avLst/>
            </a:prstGeom>
            <a:noFill/>
          </p:spPr>
          <p:txBody>
            <a:bodyPr wrap="square" anchor="t" lIns="0" rIns="0" tIns="0" bIns="0">
              <a:spAutoFit/>
            </a:bodyPr>
            <a:lstStyle/>
            <a:p>
              <a:pPr algn="ctr"/>
              <a:r>
                <a:rPr sz="1250" b="0" i="0">
                  <a:solidFill>
                    <a:srgbClr val="415669"/>
                  </a:solidFill>
                  <a:latin typeface="Calibri"/>
                </a:rPr>
                <a:t>FY26 projected</a:t>
              </a:r>
            </a:p>
          </p:txBody>
        </p:sp>
        <p:sp>
          <p:nvSpPr>
            <p:cNvPr id="11" name="Rectangle 10"/>
            <p:cNvSpPr/>
            <p:nvPr/>
          </p:nvSpPr>
          <p:spPr>
            <a:xfrm>
              <a:off x="777240" y="4617720"/>
              <a:ext cx="4480560" cy="16459"/>
            </a:xfrm>
            <a:prstGeom prst="rect">
              <a:avLst/>
            </a:prstGeom>
            <a:solidFill>
              <a:srgbClr val="415669"/>
            </a:solidFill>
            <a:ln>
              <a:noFill/>
            </a:ln>
            <a:effectLst/>
          </p:spPr>
          <p:txBody>
            <a:bodyPr rtlCol="0" anchor="ctr"/>
            <a:lstStyle/>
            <a:p>
              <a:pPr algn="ctr"/>
            </a:p>
          </p:txBody>
        </p:sp>
        <p:sp>
          <p:nvSpPr>
            <p:cNvPr id="12" name="TextBox 11"/>
            <p:cNvSpPr txBox="1"/>
            <p:nvPr/>
          </p:nvSpPr>
          <p:spPr>
            <a:xfrm>
              <a:off x="4480560" y="2788920"/>
              <a:ext cx="1417320" cy="502920"/>
            </a:xfrm>
            <a:prstGeom prst="rect">
              <a:avLst/>
            </a:prstGeom>
            <a:noFill/>
          </p:spPr>
          <p:txBody>
            <a:bodyPr wrap="square" anchor="t" lIns="0" rIns="0" tIns="0" bIns="0">
              <a:spAutoFit/>
            </a:bodyPr>
            <a:lstStyle/>
            <a:p>
              <a:pPr algn="l">
                <a:lnSpc>
                  <a:spcPct val="105000"/>
                </a:lnSpc>
              </a:pPr>
              <a:r>
                <a:rPr sz="1250" b="1" i="0">
                  <a:solidFill>
                    <a:srgbClr val="0B2D4D"/>
                  </a:solidFill>
                  <a:latin typeface="Calibri"/>
                </a:rPr>
                <a:t>+25% in one year</a:t>
              </a:r>
            </a:p>
          </p:txBody>
        </p:sp>
        <p:sp>
          <p:nvSpPr>
            <p:cNvPr id="13" name="TextBox 12"/>
            <p:cNvSpPr txBox="1"/>
            <p:nvPr/>
          </p:nvSpPr>
          <p:spPr>
            <a:xfrm>
              <a:off x="502920" y="5074920"/>
              <a:ext cx="5394960" cy="320040"/>
            </a:xfrm>
            <a:prstGeom prst="rect">
              <a:avLst/>
            </a:prstGeom>
            <a:noFill/>
          </p:spPr>
          <p:txBody>
            <a:bodyPr wrap="square" anchor="t" lIns="0" rIns="0" tIns="0" bIns="0">
              <a:spAutoFit/>
            </a:bodyPr>
            <a:lstStyle/>
            <a:p>
              <a:pPr algn="l"/>
              <a:r>
                <a:rPr sz="1200" b="0" i="1">
                  <a:solidFill>
                    <a:srgbClr val="415669"/>
                  </a:solidFill>
                  <a:latin typeface="Calibri"/>
                </a:rPr>
                <a:t>Flag — no public CPE projection exists for FY27–FY30</a:t>
              </a:r>
            </a:p>
          </p:txBody>
        </p:sp>
        <p:sp>
          <p:nvSpPr>
            <p:cNvPr id="14" name="TextBox 13"/>
            <p:cNvSpPr txBox="1"/>
            <p:nvPr/>
          </p:nvSpPr>
          <p:spPr>
            <a:xfrm>
              <a:off x="6263640" y="1481328"/>
              <a:ext cx="5394960" cy="320040"/>
            </a:xfrm>
            <a:prstGeom prst="rect">
              <a:avLst/>
            </a:prstGeom>
            <a:noFill/>
          </p:spPr>
          <p:txBody>
            <a:bodyPr wrap="square" anchor="t" lIns="0" rIns="0" tIns="0" bIns="0">
              <a:spAutoFit/>
            </a:bodyPr>
            <a:lstStyle/>
            <a:p>
              <a:pPr algn="l"/>
              <a:r>
                <a:rPr sz="1600" b="1" i="0">
                  <a:solidFill>
                    <a:srgbClr val="0B2D4D"/>
                  </a:solidFill>
                  <a:latin typeface="Calibri"/>
                </a:rPr>
                <a:t>Outstanding debt — USD billions</a:t>
              </a:r>
            </a:p>
          </p:txBody>
        </p:sp>
        <p:sp>
          <p:nvSpPr>
            <p:cNvPr id="15" name="Rectangle 14"/>
            <p:cNvSpPr/>
            <p:nvPr/>
          </p:nvSpPr>
          <p:spPr>
            <a:xfrm>
              <a:off x="7178040" y="3312576"/>
              <a:ext cx="868680" cy="1305143"/>
            </a:xfrm>
            <a:prstGeom prst="rect">
              <a:avLst/>
            </a:prstGeom>
            <a:solidFill>
              <a:srgbClr val="0B2D4D"/>
            </a:solidFill>
            <a:ln>
              <a:noFill/>
            </a:ln>
            <a:effectLst/>
          </p:spPr>
          <p:txBody>
            <a:bodyPr rtlCol="0" anchor="ctr"/>
            <a:lstStyle/>
            <a:p>
              <a:pPr algn="ctr"/>
            </a:p>
          </p:txBody>
        </p:sp>
        <p:sp>
          <p:nvSpPr>
            <p:cNvPr id="16" name="TextBox 15"/>
            <p:cNvSpPr txBox="1"/>
            <p:nvPr/>
          </p:nvSpPr>
          <p:spPr>
            <a:xfrm>
              <a:off x="6858000" y="3001680"/>
              <a:ext cx="1508760" cy="274320"/>
            </a:xfrm>
            <a:prstGeom prst="rect">
              <a:avLst/>
            </a:prstGeom>
            <a:noFill/>
          </p:spPr>
          <p:txBody>
            <a:bodyPr wrap="square" anchor="t" lIns="0" rIns="0" tIns="0" bIns="0">
              <a:spAutoFit/>
            </a:bodyPr>
            <a:lstStyle/>
            <a:p>
              <a:pPr algn="ctr"/>
              <a:r>
                <a:rPr sz="1400" b="1" i="0">
                  <a:solidFill>
                    <a:srgbClr val="0B2D4D"/>
                  </a:solidFill>
                  <a:latin typeface="Calibri"/>
                </a:rPr>
                <a:t>$7.2B</a:t>
              </a:r>
            </a:p>
          </p:txBody>
        </p:sp>
        <p:sp>
          <p:nvSpPr>
            <p:cNvPr id="17" name="TextBox 16"/>
            <p:cNvSpPr txBox="1"/>
            <p:nvPr/>
          </p:nvSpPr>
          <p:spPr>
            <a:xfrm>
              <a:off x="6766559" y="4690872"/>
              <a:ext cx="1691640" cy="274320"/>
            </a:xfrm>
            <a:prstGeom prst="rect">
              <a:avLst/>
            </a:prstGeom>
            <a:noFill/>
          </p:spPr>
          <p:txBody>
            <a:bodyPr wrap="square" anchor="t" lIns="0" rIns="0" tIns="0" bIns="0">
              <a:spAutoFit/>
            </a:bodyPr>
            <a:lstStyle/>
            <a:p>
              <a:pPr algn="ctr"/>
              <a:r>
                <a:rPr sz="1250" b="0" i="0">
                  <a:solidFill>
                    <a:srgbClr val="415669"/>
                  </a:solidFill>
                  <a:latin typeface="Calibri"/>
                </a:rPr>
                <a:t>2024, at upgrade</a:t>
              </a:r>
            </a:p>
          </p:txBody>
        </p:sp>
        <p:sp>
          <p:nvSpPr>
            <p:cNvPr id="18" name="Rectangle 17"/>
            <p:cNvSpPr/>
            <p:nvPr/>
          </p:nvSpPr>
          <p:spPr>
            <a:xfrm>
              <a:off x="9189720" y="2377439"/>
              <a:ext cx="868680" cy="2240280"/>
            </a:xfrm>
            <a:prstGeom prst="rect">
              <a:avLst/>
            </a:prstGeom>
            <a:solidFill>
              <a:srgbClr val="EDF3F6"/>
            </a:solidFill>
            <a:ln w="22225">
              <a:solidFill>
                <a:srgbClr val="0B2D4D"/>
              </a:solidFill>
              <a:prstDash val="dash"/>
            </a:ln>
            <a:effectLst/>
          </p:spPr>
          <p:txBody>
            <a:bodyPr rtlCol="0" anchor="ctr"/>
            <a:lstStyle/>
            <a:p>
              <a:pPr algn="ctr"/>
            </a:p>
          </p:txBody>
        </p:sp>
        <p:sp>
          <p:nvSpPr>
            <p:cNvPr id="19" name="TextBox 18"/>
            <p:cNvSpPr txBox="1"/>
            <p:nvPr/>
          </p:nvSpPr>
          <p:spPr>
            <a:xfrm>
              <a:off x="8869680" y="2066543"/>
              <a:ext cx="1508760" cy="274320"/>
            </a:xfrm>
            <a:prstGeom prst="rect">
              <a:avLst/>
            </a:prstGeom>
            <a:noFill/>
          </p:spPr>
          <p:txBody>
            <a:bodyPr wrap="square" anchor="t" lIns="0" rIns="0" tIns="0" bIns="0">
              <a:spAutoFit/>
            </a:bodyPr>
            <a:lstStyle/>
            <a:p>
              <a:pPr algn="ctr"/>
              <a:r>
                <a:rPr sz="1400" b="1" i="0">
                  <a:solidFill>
                    <a:srgbClr val="0B2D4D"/>
                  </a:solidFill>
                  <a:latin typeface="Calibri"/>
                </a:rPr>
                <a:t>$12.4B</a:t>
              </a:r>
            </a:p>
          </p:txBody>
        </p:sp>
        <p:sp>
          <p:nvSpPr>
            <p:cNvPr id="20" name="TextBox 19"/>
            <p:cNvSpPr txBox="1"/>
            <p:nvPr/>
          </p:nvSpPr>
          <p:spPr>
            <a:xfrm>
              <a:off x="8778240" y="4690872"/>
              <a:ext cx="1691640" cy="274320"/>
            </a:xfrm>
            <a:prstGeom prst="rect">
              <a:avLst/>
            </a:prstGeom>
            <a:noFill/>
          </p:spPr>
          <p:txBody>
            <a:bodyPr wrap="square" anchor="t" lIns="0" rIns="0" tIns="0" bIns="0">
              <a:spAutoFit/>
            </a:bodyPr>
            <a:lstStyle/>
            <a:p>
              <a:pPr algn="ctr"/>
              <a:r>
                <a:rPr sz="1250" b="0" i="0">
                  <a:solidFill>
                    <a:srgbClr val="415669"/>
                  </a:solidFill>
                  <a:latin typeface="Calibri"/>
                </a:rPr>
                <a:t>projected FY29</a:t>
              </a:r>
            </a:p>
          </p:txBody>
        </p:sp>
        <p:sp>
          <p:nvSpPr>
            <p:cNvPr id="21" name="Rectangle 20"/>
            <p:cNvSpPr/>
            <p:nvPr/>
          </p:nvSpPr>
          <p:spPr>
            <a:xfrm>
              <a:off x="6537960" y="4617720"/>
              <a:ext cx="4480560" cy="16459"/>
            </a:xfrm>
            <a:prstGeom prst="rect">
              <a:avLst/>
            </a:prstGeom>
            <a:solidFill>
              <a:srgbClr val="415669"/>
            </a:solidFill>
            <a:ln>
              <a:noFill/>
            </a:ln>
            <a:effectLst/>
          </p:spPr>
          <p:txBody>
            <a:bodyPr rtlCol="0" anchor="ctr"/>
            <a:lstStyle/>
            <a:p>
              <a:pPr algn="ctr"/>
            </a:p>
          </p:txBody>
        </p:sp>
        <p:sp>
          <p:nvSpPr>
            <p:cNvPr id="22" name="TextBox 21"/>
            <p:cNvSpPr txBox="1"/>
            <p:nvPr/>
          </p:nvSpPr>
          <p:spPr>
            <a:xfrm>
              <a:off x="6263640" y="5074920"/>
              <a:ext cx="5486400" cy="548640"/>
            </a:xfrm>
            <a:prstGeom prst="rect">
              <a:avLst/>
            </a:prstGeom>
            <a:noFill/>
          </p:spPr>
          <p:txBody>
            <a:bodyPr wrap="square" anchor="t" lIns="0" rIns="0" tIns="0" bIns="0">
              <a:spAutoFit/>
            </a:bodyPr>
            <a:lstStyle/>
            <a:p>
              <a:pPr algn="l">
                <a:lnSpc>
                  <a:spcPct val="108000"/>
                </a:lnSpc>
              </a:pPr>
              <a:r>
                <a:rPr sz="1200" b="0" i="1">
                  <a:solidFill>
                    <a:srgbClr val="415669"/>
                  </a:solidFill>
                  <a:latin typeface="Calibri"/>
                </a:rPr>
                <a:t>Flag — projection pre-dates the May 2025 +$2.4B scope expansion — post-expansion path unpublished and higher</a:t>
              </a:r>
            </a:p>
          </p:txBody>
        </p:sp>
      </p:grpSp>
      <p:sp>
        <p:nvSpPr>
          <p:cNvPr id="23" name="slide-09-footer"/>
          <p:cNvSpPr txBox="1"/>
          <p:nvPr/>
        </p:nvSpPr>
        <p:spPr>
          <a:xfrm>
            <a:off x="502920" y="5742432"/>
            <a:ext cx="11183112" cy="566928"/>
          </a:xfrm>
          <a:prstGeom prst="rect">
            <a:avLst/>
          </a:prstGeom>
          <a:noFill/>
        </p:spPr>
        <p:txBody>
          <a:bodyPr wrap="square" anchor="t" lIns="0" rIns="0" tIns="0" bIns="0">
            <a:spAutoFit/>
          </a:bodyPr>
          <a:lstStyle/>
          <a:p>
            <a:pPr algn="l">
              <a:lnSpc>
                <a:spcPct val="110000"/>
              </a:lnSpc>
            </a:pPr>
            <a:r>
              <a:rPr sz="1600" b="0" i="0">
                <a:solidFill>
                  <a:srgbClr val="17232D"/>
                </a:solidFill>
                <a:latin typeface="Calibri"/>
              </a:rPr>
              <a:t>The 70th Supplemental Bond Ordinance authorizes $3.0B in new debt through February 2026; beyond it, both the Dallas and Fort Worth city councils must approve.</a:t>
            </a:r>
          </a:p>
        </p:txBody>
      </p:sp>
      <p:sp>
        <p:nvSpPr>
          <p:cNvPr id="24" name="slide-09-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Cost per Enplanement by Airport — CPE Data 2026 (industry aggregation of the 2025 A/B bond Official Statement); The Bond Buyer, Aug 2024 (S&amp;P upgrade to AA-; debt projection); DFW 70th Supplemental Bond Ordinance.</a:t>
            </a:r>
          </a:p>
        </p:txBody>
      </p:sp>
      <p:sp>
        <p:nvSpPr>
          <p:cNvPr id="25" name="slide-09-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10-title"/>
          <p:cNvSpPr txBox="1"/>
          <p:nvPr/>
        </p:nvSpPr>
        <p:spPr>
          <a:xfrm>
            <a:off x="502920" y="274320"/>
            <a:ext cx="11183112"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Six decisions before the fabrication window closes in 2030 — D0 precedes everything</a:t>
            </a:r>
          </a:p>
        </p:txBody>
      </p:sp>
      <p:grpSp>
        <p:nvGrpSpPr>
          <p:cNvPr id="3" name="slide-10-decisions" descr="Six sequenced decisions with owners: D0 confirms the joint venture template-change path and gates the rest; D1 through D5 cover the lease questions, the register, the Side Letter, the sizing case, and the instrumentation template — all before the fabrication-release window closes in 2030."/>
          <p:cNvGrpSpPr/>
          <p:nvPr/>
        </p:nvGrpSpPr>
        <p:grpSpPr>
          <a:xfrm>
            <a:off x="502920" y="1508760"/>
            <a:ext cx="11105388" cy="2953512"/>
            <a:chOff x="502920" y="1508760"/>
            <a:chExt cx="11105388" cy="2953512"/>
          </a:xfrm>
        </p:grpSpPr>
        <p:sp>
          <p:nvSpPr>
            <p:cNvPr id="4" name="Rectangle 3"/>
            <p:cNvSpPr/>
            <p:nvPr/>
          </p:nvSpPr>
          <p:spPr>
            <a:xfrm>
              <a:off x="502920" y="1508760"/>
              <a:ext cx="1755648" cy="2423160"/>
            </a:xfrm>
            <a:prstGeom prst="rect">
              <a:avLst/>
            </a:prstGeom>
            <a:solidFill>
              <a:srgbClr val="EDF3F6"/>
            </a:solidFill>
            <a:ln>
              <a:noFill/>
            </a:ln>
            <a:effectLst/>
          </p:spPr>
          <p:txBody>
            <a:bodyPr rtlCol="0" anchor="ctr"/>
            <a:lstStyle/>
            <a:p>
              <a:pPr algn="ctr"/>
            </a:p>
          </p:txBody>
        </p:sp>
        <p:sp>
          <p:nvSpPr>
            <p:cNvPr id="5" name="Rectangle 4"/>
            <p:cNvSpPr/>
            <p:nvPr/>
          </p:nvSpPr>
          <p:spPr>
            <a:xfrm>
              <a:off x="502920" y="1508760"/>
              <a:ext cx="1755648" cy="420624"/>
            </a:xfrm>
            <a:prstGeom prst="rect">
              <a:avLst/>
            </a:prstGeom>
            <a:solidFill>
              <a:srgbClr val="D4A24C"/>
            </a:solidFill>
            <a:ln>
              <a:noFill/>
            </a:ln>
            <a:effectLst/>
          </p:spPr>
          <p:txBody>
            <a:bodyPr rtlCol="0" anchor="ctr"/>
            <a:lstStyle/>
            <a:p>
              <a:pPr algn="ctr"/>
            </a:p>
          </p:txBody>
        </p:sp>
        <p:sp>
          <p:nvSpPr>
            <p:cNvPr id="6" name="TextBox 5"/>
            <p:cNvSpPr txBox="1"/>
            <p:nvPr/>
          </p:nvSpPr>
          <p:spPr>
            <a:xfrm>
              <a:off x="612648" y="1572768"/>
              <a:ext cx="1554480" cy="292608"/>
            </a:xfrm>
            <a:prstGeom prst="rect">
              <a:avLst/>
            </a:prstGeom>
            <a:noFill/>
          </p:spPr>
          <p:txBody>
            <a:bodyPr wrap="square" anchor="t" lIns="0" rIns="0" tIns="0" bIns="0">
              <a:spAutoFit/>
            </a:bodyPr>
            <a:lstStyle/>
            <a:p>
              <a:pPr algn="l"/>
              <a:r>
                <a:rPr sz="1500" b="1" i="0">
                  <a:solidFill>
                    <a:srgbClr val="0B2D4D"/>
                  </a:solidFill>
                  <a:latin typeface="Georgia"/>
                </a:rPr>
                <a:t>D0</a:t>
              </a:r>
            </a:p>
          </p:txBody>
        </p:sp>
        <p:sp>
          <p:nvSpPr>
            <p:cNvPr id="7" name="TextBox 6"/>
            <p:cNvSpPr txBox="1"/>
            <p:nvPr/>
          </p:nvSpPr>
          <p:spPr>
            <a:xfrm>
              <a:off x="612648" y="2057400"/>
              <a:ext cx="1554480" cy="1234440"/>
            </a:xfrm>
            <a:prstGeom prst="rect">
              <a:avLst/>
            </a:prstGeom>
            <a:noFill/>
          </p:spPr>
          <p:txBody>
            <a:bodyPr wrap="square" anchor="t" lIns="0" rIns="0" tIns="0" bIns="0">
              <a:spAutoFit/>
            </a:bodyPr>
            <a:lstStyle/>
            <a:p>
              <a:pPr algn="l">
                <a:lnSpc>
                  <a:spcPct val="108000"/>
                </a:lnSpc>
              </a:pPr>
              <a:r>
                <a:rPr sz="1250" b="0" i="0">
                  <a:solidFill>
                    <a:srgbClr val="17232D"/>
                  </a:solidFill>
                  <a:latin typeface="Calibri"/>
                </a:rPr>
                <a:t>Confirm the JV template-change path at repeat-part cost</a:t>
              </a:r>
            </a:p>
          </p:txBody>
        </p:sp>
        <p:sp>
          <p:nvSpPr>
            <p:cNvPr id="8" name="TextBox 7"/>
            <p:cNvSpPr txBox="1"/>
            <p:nvPr/>
          </p:nvSpPr>
          <p:spPr>
            <a:xfrm>
              <a:off x="612648" y="3310128"/>
              <a:ext cx="1554480" cy="566928"/>
            </a:xfrm>
            <a:prstGeom prst="rect">
              <a:avLst/>
            </a:prstGeom>
            <a:noFill/>
          </p:spPr>
          <p:txBody>
            <a:bodyPr wrap="square" anchor="t" lIns="0" rIns="0" tIns="0" bIns="0">
              <a:spAutoFit/>
            </a:bodyPr>
            <a:lstStyle/>
            <a:p>
              <a:pPr algn="l">
                <a:lnSpc>
                  <a:spcPct val="105000"/>
                </a:lnSpc>
              </a:pPr>
              <a:r>
                <a:rPr sz="1150" b="0" i="1">
                  <a:solidFill>
                    <a:srgbClr val="415669"/>
                  </a:solidFill>
                  <a:latin typeface="Calibri"/>
                </a:rPr>
                <a:t>Chief Procurement Officer</a:t>
              </a:r>
            </a:p>
          </p:txBody>
        </p:sp>
        <p:sp>
          <p:nvSpPr>
            <p:cNvPr id="9" name="Rectangle 8"/>
            <p:cNvSpPr/>
            <p:nvPr/>
          </p:nvSpPr>
          <p:spPr>
            <a:xfrm>
              <a:off x="2372868" y="1508760"/>
              <a:ext cx="1755648" cy="2423160"/>
            </a:xfrm>
            <a:prstGeom prst="rect">
              <a:avLst/>
            </a:prstGeom>
            <a:solidFill>
              <a:srgbClr val="EDF3F6"/>
            </a:solidFill>
            <a:ln>
              <a:noFill/>
            </a:ln>
            <a:effectLst/>
          </p:spPr>
          <p:txBody>
            <a:bodyPr rtlCol="0" anchor="ctr"/>
            <a:lstStyle/>
            <a:p>
              <a:pPr algn="ctr"/>
            </a:p>
          </p:txBody>
        </p:sp>
        <p:sp>
          <p:nvSpPr>
            <p:cNvPr id="10" name="Rectangle 9"/>
            <p:cNvSpPr/>
            <p:nvPr/>
          </p:nvSpPr>
          <p:spPr>
            <a:xfrm>
              <a:off x="2372868" y="1508760"/>
              <a:ext cx="1755648" cy="420624"/>
            </a:xfrm>
            <a:prstGeom prst="rect">
              <a:avLst/>
            </a:prstGeom>
            <a:solidFill>
              <a:srgbClr val="0B2D4D"/>
            </a:solidFill>
            <a:ln>
              <a:noFill/>
            </a:ln>
            <a:effectLst/>
          </p:spPr>
          <p:txBody>
            <a:bodyPr rtlCol="0" anchor="ctr"/>
            <a:lstStyle/>
            <a:p>
              <a:pPr algn="ctr"/>
            </a:p>
          </p:txBody>
        </p:sp>
        <p:sp>
          <p:nvSpPr>
            <p:cNvPr id="11" name="TextBox 10"/>
            <p:cNvSpPr txBox="1"/>
            <p:nvPr/>
          </p:nvSpPr>
          <p:spPr>
            <a:xfrm>
              <a:off x="2482596" y="1572768"/>
              <a:ext cx="1554480" cy="292608"/>
            </a:xfrm>
            <a:prstGeom prst="rect">
              <a:avLst/>
            </a:prstGeom>
            <a:noFill/>
          </p:spPr>
          <p:txBody>
            <a:bodyPr wrap="square" anchor="t" lIns="0" rIns="0" tIns="0" bIns="0">
              <a:spAutoFit/>
            </a:bodyPr>
            <a:lstStyle/>
            <a:p>
              <a:pPr algn="l"/>
              <a:r>
                <a:rPr sz="1500" b="1" i="0">
                  <a:solidFill>
                    <a:srgbClr val="FFFFFF"/>
                  </a:solidFill>
                  <a:latin typeface="Georgia"/>
                </a:rPr>
                <a:t>D1</a:t>
              </a:r>
            </a:p>
          </p:txBody>
        </p:sp>
        <p:sp>
          <p:nvSpPr>
            <p:cNvPr id="12" name="TextBox 11"/>
            <p:cNvSpPr txBox="1"/>
            <p:nvPr/>
          </p:nvSpPr>
          <p:spPr>
            <a:xfrm>
              <a:off x="2482596" y="2057400"/>
              <a:ext cx="1554480" cy="1234440"/>
            </a:xfrm>
            <a:prstGeom prst="rect">
              <a:avLst/>
            </a:prstGeom>
            <a:noFill/>
          </p:spPr>
          <p:txBody>
            <a:bodyPr wrap="square" anchor="t" lIns="0" rIns="0" tIns="0" bIns="0">
              <a:spAutoFit/>
            </a:bodyPr>
            <a:lstStyle/>
            <a:p>
              <a:pPr algn="l">
                <a:lnSpc>
                  <a:spcPct val="108000"/>
                </a:lnSpc>
              </a:pPr>
              <a:r>
                <a:rPr sz="1250" b="0" i="0">
                  <a:solidFill>
                    <a:srgbClr val="17232D"/>
                  </a:solidFill>
                  <a:latin typeface="Calibri"/>
                </a:rPr>
                <a:t>Close the two U&amp;L contract questions</a:t>
              </a:r>
            </a:p>
          </p:txBody>
        </p:sp>
        <p:sp>
          <p:nvSpPr>
            <p:cNvPr id="13" name="TextBox 12"/>
            <p:cNvSpPr txBox="1"/>
            <p:nvPr/>
          </p:nvSpPr>
          <p:spPr>
            <a:xfrm>
              <a:off x="2482596" y="3310128"/>
              <a:ext cx="1554480" cy="566928"/>
            </a:xfrm>
            <a:prstGeom prst="rect">
              <a:avLst/>
            </a:prstGeom>
            <a:noFill/>
          </p:spPr>
          <p:txBody>
            <a:bodyPr wrap="square" anchor="t" lIns="0" rIns="0" tIns="0" bIns="0">
              <a:spAutoFit/>
            </a:bodyPr>
            <a:lstStyle/>
            <a:p>
              <a:pPr algn="l">
                <a:lnSpc>
                  <a:spcPct val="105000"/>
                </a:lnSpc>
              </a:pPr>
              <a:r>
                <a:rPr sz="1150" b="0" i="1">
                  <a:solidFill>
                    <a:srgbClr val="415669"/>
                  </a:solidFill>
                  <a:latin typeface="Calibri"/>
                </a:rPr>
                <a:t>General Counsel</a:t>
              </a:r>
            </a:p>
          </p:txBody>
        </p:sp>
        <p:sp>
          <p:nvSpPr>
            <p:cNvPr id="14" name="Rectangle 13"/>
            <p:cNvSpPr/>
            <p:nvPr/>
          </p:nvSpPr>
          <p:spPr>
            <a:xfrm>
              <a:off x="4242816" y="1508760"/>
              <a:ext cx="1755648" cy="2423160"/>
            </a:xfrm>
            <a:prstGeom prst="rect">
              <a:avLst/>
            </a:prstGeom>
            <a:solidFill>
              <a:srgbClr val="EDF3F6"/>
            </a:solidFill>
            <a:ln>
              <a:noFill/>
            </a:ln>
            <a:effectLst/>
          </p:spPr>
          <p:txBody>
            <a:bodyPr rtlCol="0" anchor="ctr"/>
            <a:lstStyle/>
            <a:p>
              <a:pPr algn="ctr"/>
            </a:p>
          </p:txBody>
        </p:sp>
        <p:sp>
          <p:nvSpPr>
            <p:cNvPr id="15" name="Rectangle 14"/>
            <p:cNvSpPr/>
            <p:nvPr/>
          </p:nvSpPr>
          <p:spPr>
            <a:xfrm>
              <a:off x="4242816" y="1508760"/>
              <a:ext cx="1755648" cy="420624"/>
            </a:xfrm>
            <a:prstGeom prst="rect">
              <a:avLst/>
            </a:prstGeom>
            <a:solidFill>
              <a:srgbClr val="0B2D4D"/>
            </a:solidFill>
            <a:ln>
              <a:noFill/>
            </a:ln>
            <a:effectLst/>
          </p:spPr>
          <p:txBody>
            <a:bodyPr rtlCol="0" anchor="ctr"/>
            <a:lstStyle/>
            <a:p>
              <a:pPr algn="ctr"/>
            </a:p>
          </p:txBody>
        </p:sp>
        <p:sp>
          <p:nvSpPr>
            <p:cNvPr id="16" name="TextBox 15"/>
            <p:cNvSpPr txBox="1"/>
            <p:nvPr/>
          </p:nvSpPr>
          <p:spPr>
            <a:xfrm>
              <a:off x="4352544" y="1572768"/>
              <a:ext cx="1554480" cy="292608"/>
            </a:xfrm>
            <a:prstGeom prst="rect">
              <a:avLst/>
            </a:prstGeom>
            <a:noFill/>
          </p:spPr>
          <p:txBody>
            <a:bodyPr wrap="square" anchor="t" lIns="0" rIns="0" tIns="0" bIns="0">
              <a:spAutoFit/>
            </a:bodyPr>
            <a:lstStyle/>
            <a:p>
              <a:pPr algn="l"/>
              <a:r>
                <a:rPr sz="1500" b="1" i="0">
                  <a:solidFill>
                    <a:srgbClr val="FFFFFF"/>
                  </a:solidFill>
                  <a:latin typeface="Georgia"/>
                </a:rPr>
                <a:t>D2</a:t>
              </a:r>
            </a:p>
          </p:txBody>
        </p:sp>
        <p:sp>
          <p:nvSpPr>
            <p:cNvPr id="17" name="TextBox 16"/>
            <p:cNvSpPr txBox="1"/>
            <p:nvPr/>
          </p:nvSpPr>
          <p:spPr>
            <a:xfrm>
              <a:off x="4352544" y="2057400"/>
              <a:ext cx="1554480" cy="1234440"/>
            </a:xfrm>
            <a:prstGeom prst="rect">
              <a:avLst/>
            </a:prstGeom>
            <a:noFill/>
          </p:spPr>
          <p:txBody>
            <a:bodyPr wrap="square" anchor="t" lIns="0" rIns="0" tIns="0" bIns="0">
              <a:spAutoFit/>
            </a:bodyPr>
            <a:lstStyle/>
            <a:p>
              <a:pPr algn="l">
                <a:lnSpc>
                  <a:spcPct val="108000"/>
                </a:lnSpc>
              </a:pPr>
              <a:r>
                <a:rPr sz="1250" b="0" i="0">
                  <a:solidFill>
                    <a:srgbClr val="17232D"/>
                  </a:solidFill>
                  <a:latin typeface="Calibri"/>
                </a:rPr>
                <a:t>Publish the reversibility register, module by module</a:t>
              </a:r>
            </a:p>
          </p:txBody>
        </p:sp>
        <p:sp>
          <p:nvSpPr>
            <p:cNvPr id="18" name="TextBox 17"/>
            <p:cNvSpPr txBox="1"/>
            <p:nvPr/>
          </p:nvSpPr>
          <p:spPr>
            <a:xfrm>
              <a:off x="4352544" y="3310128"/>
              <a:ext cx="1554480" cy="566928"/>
            </a:xfrm>
            <a:prstGeom prst="rect">
              <a:avLst/>
            </a:prstGeom>
            <a:noFill/>
          </p:spPr>
          <p:txBody>
            <a:bodyPr wrap="square" anchor="t" lIns="0" rIns="0" tIns="0" bIns="0">
              <a:spAutoFit/>
            </a:bodyPr>
            <a:lstStyle/>
            <a:p>
              <a:pPr algn="l">
                <a:lnSpc>
                  <a:spcPct val="105000"/>
                </a:lnSpc>
              </a:pPr>
              <a:r>
                <a:rPr sz="1150" b="0" i="1">
                  <a:solidFill>
                    <a:srgbClr val="415669"/>
                  </a:solidFill>
                  <a:latin typeface="Calibri"/>
                </a:rPr>
                <a:t>VP Terminal Development</a:t>
              </a:r>
            </a:p>
          </p:txBody>
        </p:sp>
        <p:sp>
          <p:nvSpPr>
            <p:cNvPr id="19" name="Rectangle 18"/>
            <p:cNvSpPr/>
            <p:nvPr/>
          </p:nvSpPr>
          <p:spPr>
            <a:xfrm>
              <a:off x="6112764" y="1508760"/>
              <a:ext cx="1755648" cy="2423160"/>
            </a:xfrm>
            <a:prstGeom prst="rect">
              <a:avLst/>
            </a:prstGeom>
            <a:solidFill>
              <a:srgbClr val="EDF3F6"/>
            </a:solidFill>
            <a:ln>
              <a:noFill/>
            </a:ln>
            <a:effectLst/>
          </p:spPr>
          <p:txBody>
            <a:bodyPr rtlCol="0" anchor="ctr"/>
            <a:lstStyle/>
            <a:p>
              <a:pPr algn="ctr"/>
            </a:p>
          </p:txBody>
        </p:sp>
        <p:sp>
          <p:nvSpPr>
            <p:cNvPr id="20" name="Rectangle 19"/>
            <p:cNvSpPr/>
            <p:nvPr/>
          </p:nvSpPr>
          <p:spPr>
            <a:xfrm>
              <a:off x="6112764" y="1508760"/>
              <a:ext cx="1755648" cy="420624"/>
            </a:xfrm>
            <a:prstGeom prst="rect">
              <a:avLst/>
            </a:prstGeom>
            <a:solidFill>
              <a:srgbClr val="0B2D4D"/>
            </a:solidFill>
            <a:ln>
              <a:noFill/>
            </a:ln>
            <a:effectLst/>
          </p:spPr>
          <p:txBody>
            <a:bodyPr rtlCol="0" anchor="ctr"/>
            <a:lstStyle/>
            <a:p>
              <a:pPr algn="ctr"/>
            </a:p>
          </p:txBody>
        </p:sp>
        <p:sp>
          <p:nvSpPr>
            <p:cNvPr id="21" name="TextBox 20"/>
            <p:cNvSpPr txBox="1"/>
            <p:nvPr/>
          </p:nvSpPr>
          <p:spPr>
            <a:xfrm>
              <a:off x="6222492" y="1572768"/>
              <a:ext cx="1554480" cy="292608"/>
            </a:xfrm>
            <a:prstGeom prst="rect">
              <a:avLst/>
            </a:prstGeom>
            <a:noFill/>
          </p:spPr>
          <p:txBody>
            <a:bodyPr wrap="square" anchor="t" lIns="0" rIns="0" tIns="0" bIns="0">
              <a:spAutoFit/>
            </a:bodyPr>
            <a:lstStyle/>
            <a:p>
              <a:pPr algn="l"/>
              <a:r>
                <a:rPr sz="1500" b="1" i="0">
                  <a:solidFill>
                    <a:srgbClr val="FFFFFF"/>
                  </a:solidFill>
                  <a:latin typeface="Georgia"/>
                </a:rPr>
                <a:t>D3</a:t>
              </a:r>
            </a:p>
          </p:txBody>
        </p:sp>
        <p:sp>
          <p:nvSpPr>
            <p:cNvPr id="22" name="TextBox 21"/>
            <p:cNvSpPr txBox="1"/>
            <p:nvPr/>
          </p:nvSpPr>
          <p:spPr>
            <a:xfrm>
              <a:off x="6222492" y="2057400"/>
              <a:ext cx="1554480" cy="1234440"/>
            </a:xfrm>
            <a:prstGeom prst="rect">
              <a:avLst/>
            </a:prstGeom>
            <a:noFill/>
          </p:spPr>
          <p:txBody>
            <a:bodyPr wrap="square" anchor="t" lIns="0" rIns="0" tIns="0" bIns="0">
              <a:spAutoFit/>
            </a:bodyPr>
            <a:lstStyle/>
            <a:p>
              <a:pPr algn="l">
                <a:lnSpc>
                  <a:spcPct val="108000"/>
                </a:lnSpc>
              </a:pPr>
              <a:r>
                <a:rPr sz="1250" b="0" i="0">
                  <a:solidFill>
                    <a:srgbClr val="17232D"/>
                  </a:solidFill>
                  <a:latin typeface="Calibri"/>
                </a:rPr>
                <a:t>Execute the Reversibility Side Letter</a:t>
              </a:r>
            </a:p>
          </p:txBody>
        </p:sp>
        <p:sp>
          <p:nvSpPr>
            <p:cNvPr id="23" name="TextBox 22"/>
            <p:cNvSpPr txBox="1"/>
            <p:nvPr/>
          </p:nvSpPr>
          <p:spPr>
            <a:xfrm>
              <a:off x="6222492" y="3310128"/>
              <a:ext cx="1554480" cy="566928"/>
            </a:xfrm>
            <a:prstGeom prst="rect">
              <a:avLst/>
            </a:prstGeom>
            <a:noFill/>
          </p:spPr>
          <p:txBody>
            <a:bodyPr wrap="square" anchor="t" lIns="0" rIns="0" tIns="0" bIns="0">
              <a:spAutoFit/>
            </a:bodyPr>
            <a:lstStyle/>
            <a:p>
              <a:pPr algn="l">
                <a:lnSpc>
                  <a:spcPct val="105000"/>
                </a:lnSpc>
              </a:pPr>
              <a:r>
                <a:rPr sz="1150" b="0" i="1">
                  <a:solidFill>
                    <a:srgbClr val="415669"/>
                  </a:solidFill>
                  <a:latin typeface="Calibri"/>
                </a:rPr>
                <a:t>Chief Development Officer</a:t>
              </a:r>
            </a:p>
          </p:txBody>
        </p:sp>
        <p:sp>
          <p:nvSpPr>
            <p:cNvPr id="24" name="Rectangle 23"/>
            <p:cNvSpPr/>
            <p:nvPr/>
          </p:nvSpPr>
          <p:spPr>
            <a:xfrm>
              <a:off x="7982712" y="1508760"/>
              <a:ext cx="1755648" cy="2423160"/>
            </a:xfrm>
            <a:prstGeom prst="rect">
              <a:avLst/>
            </a:prstGeom>
            <a:solidFill>
              <a:srgbClr val="EDF3F6"/>
            </a:solidFill>
            <a:ln>
              <a:noFill/>
            </a:ln>
            <a:effectLst/>
          </p:spPr>
          <p:txBody>
            <a:bodyPr rtlCol="0" anchor="ctr"/>
            <a:lstStyle/>
            <a:p>
              <a:pPr algn="ctr"/>
            </a:p>
          </p:txBody>
        </p:sp>
        <p:sp>
          <p:nvSpPr>
            <p:cNvPr id="25" name="Rectangle 24"/>
            <p:cNvSpPr/>
            <p:nvPr/>
          </p:nvSpPr>
          <p:spPr>
            <a:xfrm>
              <a:off x="7982712" y="1508760"/>
              <a:ext cx="1755648" cy="420624"/>
            </a:xfrm>
            <a:prstGeom prst="rect">
              <a:avLst/>
            </a:prstGeom>
            <a:solidFill>
              <a:srgbClr val="0B2D4D"/>
            </a:solidFill>
            <a:ln>
              <a:noFill/>
            </a:ln>
            <a:effectLst/>
          </p:spPr>
          <p:txBody>
            <a:bodyPr rtlCol="0" anchor="ctr"/>
            <a:lstStyle/>
            <a:p>
              <a:pPr algn="ctr"/>
            </a:p>
          </p:txBody>
        </p:sp>
        <p:sp>
          <p:nvSpPr>
            <p:cNvPr id="26" name="TextBox 25"/>
            <p:cNvSpPr txBox="1"/>
            <p:nvPr/>
          </p:nvSpPr>
          <p:spPr>
            <a:xfrm>
              <a:off x="8092440" y="1572768"/>
              <a:ext cx="1554480" cy="292608"/>
            </a:xfrm>
            <a:prstGeom prst="rect">
              <a:avLst/>
            </a:prstGeom>
            <a:noFill/>
          </p:spPr>
          <p:txBody>
            <a:bodyPr wrap="square" anchor="t" lIns="0" rIns="0" tIns="0" bIns="0">
              <a:spAutoFit/>
            </a:bodyPr>
            <a:lstStyle/>
            <a:p>
              <a:pPr algn="l"/>
              <a:r>
                <a:rPr sz="1500" b="1" i="0">
                  <a:solidFill>
                    <a:srgbClr val="FFFFFF"/>
                  </a:solidFill>
                  <a:latin typeface="Georgia"/>
                </a:rPr>
                <a:t>D4</a:t>
              </a:r>
            </a:p>
          </p:txBody>
        </p:sp>
        <p:sp>
          <p:nvSpPr>
            <p:cNvPr id="27" name="TextBox 26"/>
            <p:cNvSpPr txBox="1"/>
            <p:nvPr/>
          </p:nvSpPr>
          <p:spPr>
            <a:xfrm>
              <a:off x="8092440" y="2057400"/>
              <a:ext cx="1554480" cy="1234440"/>
            </a:xfrm>
            <a:prstGeom prst="rect">
              <a:avLst/>
            </a:prstGeom>
            <a:noFill/>
          </p:spPr>
          <p:txBody>
            <a:bodyPr wrap="square" anchor="t" lIns="0" rIns="0" tIns="0" bIns="0">
              <a:spAutoFit/>
            </a:bodyPr>
            <a:lstStyle/>
            <a:p>
              <a:pPr algn="l">
                <a:lnSpc>
                  <a:spcPct val="108000"/>
                </a:lnSpc>
              </a:pPr>
              <a:r>
                <a:rPr sz="1250" b="0" i="0">
                  <a:solidFill>
                    <a:srgbClr val="17232D"/>
                  </a:solidFill>
                  <a:latin typeface="Calibri"/>
                </a:rPr>
                <a:t>Adopt the degraded-morning sizing case</a:t>
              </a:r>
            </a:p>
          </p:txBody>
        </p:sp>
        <p:sp>
          <p:nvSpPr>
            <p:cNvPr id="28" name="TextBox 27"/>
            <p:cNvSpPr txBox="1"/>
            <p:nvPr/>
          </p:nvSpPr>
          <p:spPr>
            <a:xfrm>
              <a:off x="8092440" y="3310128"/>
              <a:ext cx="1554480" cy="566928"/>
            </a:xfrm>
            <a:prstGeom prst="rect">
              <a:avLst/>
            </a:prstGeom>
            <a:noFill/>
          </p:spPr>
          <p:txBody>
            <a:bodyPr wrap="square" anchor="t" lIns="0" rIns="0" tIns="0" bIns="0">
              <a:spAutoFit/>
            </a:bodyPr>
            <a:lstStyle/>
            <a:p>
              <a:pPr algn="l">
                <a:lnSpc>
                  <a:spcPct val="105000"/>
                </a:lnSpc>
              </a:pPr>
              <a:r>
                <a:rPr sz="1150" b="0" i="1">
                  <a:solidFill>
                    <a:srgbClr val="415669"/>
                  </a:solidFill>
                  <a:latin typeface="Calibri"/>
                </a:rPr>
                <a:t>Chief Operating Officer</a:t>
              </a:r>
            </a:p>
          </p:txBody>
        </p:sp>
        <p:sp>
          <p:nvSpPr>
            <p:cNvPr id="29" name="Rectangle 28"/>
            <p:cNvSpPr/>
            <p:nvPr/>
          </p:nvSpPr>
          <p:spPr>
            <a:xfrm>
              <a:off x="9852660" y="1508760"/>
              <a:ext cx="1755648" cy="2423160"/>
            </a:xfrm>
            <a:prstGeom prst="rect">
              <a:avLst/>
            </a:prstGeom>
            <a:solidFill>
              <a:srgbClr val="EDF3F6"/>
            </a:solidFill>
            <a:ln>
              <a:noFill/>
            </a:ln>
            <a:effectLst/>
          </p:spPr>
          <p:txBody>
            <a:bodyPr rtlCol="0" anchor="ctr"/>
            <a:lstStyle/>
            <a:p>
              <a:pPr algn="ctr"/>
            </a:p>
          </p:txBody>
        </p:sp>
        <p:sp>
          <p:nvSpPr>
            <p:cNvPr id="30" name="Rectangle 29"/>
            <p:cNvSpPr/>
            <p:nvPr/>
          </p:nvSpPr>
          <p:spPr>
            <a:xfrm>
              <a:off x="9852660" y="1508760"/>
              <a:ext cx="1755648" cy="420624"/>
            </a:xfrm>
            <a:prstGeom prst="rect">
              <a:avLst/>
            </a:prstGeom>
            <a:solidFill>
              <a:srgbClr val="0B2D4D"/>
            </a:solidFill>
            <a:ln>
              <a:noFill/>
            </a:ln>
            <a:effectLst/>
          </p:spPr>
          <p:txBody>
            <a:bodyPr rtlCol="0" anchor="ctr"/>
            <a:lstStyle/>
            <a:p>
              <a:pPr algn="ctr"/>
            </a:p>
          </p:txBody>
        </p:sp>
        <p:sp>
          <p:nvSpPr>
            <p:cNvPr id="31" name="TextBox 30"/>
            <p:cNvSpPr txBox="1"/>
            <p:nvPr/>
          </p:nvSpPr>
          <p:spPr>
            <a:xfrm>
              <a:off x="9962388" y="1572768"/>
              <a:ext cx="1554480" cy="292608"/>
            </a:xfrm>
            <a:prstGeom prst="rect">
              <a:avLst/>
            </a:prstGeom>
            <a:noFill/>
          </p:spPr>
          <p:txBody>
            <a:bodyPr wrap="square" anchor="t" lIns="0" rIns="0" tIns="0" bIns="0">
              <a:spAutoFit/>
            </a:bodyPr>
            <a:lstStyle/>
            <a:p>
              <a:pPr algn="l"/>
              <a:r>
                <a:rPr sz="1500" b="1" i="0">
                  <a:solidFill>
                    <a:srgbClr val="FFFFFF"/>
                  </a:solidFill>
                  <a:latin typeface="Georgia"/>
                </a:rPr>
                <a:t>D5</a:t>
              </a:r>
            </a:p>
          </p:txBody>
        </p:sp>
        <p:sp>
          <p:nvSpPr>
            <p:cNvPr id="32" name="TextBox 31"/>
            <p:cNvSpPr txBox="1"/>
            <p:nvPr/>
          </p:nvSpPr>
          <p:spPr>
            <a:xfrm>
              <a:off x="9962388" y="2057400"/>
              <a:ext cx="1554480" cy="1234440"/>
            </a:xfrm>
            <a:prstGeom prst="rect">
              <a:avLst/>
            </a:prstGeom>
            <a:noFill/>
          </p:spPr>
          <p:txBody>
            <a:bodyPr wrap="square" anchor="t" lIns="0" rIns="0" tIns="0" bIns="0">
              <a:spAutoFit/>
            </a:bodyPr>
            <a:lstStyle/>
            <a:p>
              <a:pPr algn="l">
                <a:lnSpc>
                  <a:spcPct val="108000"/>
                </a:lnSpc>
              </a:pPr>
              <a:r>
                <a:rPr sz="1250" b="0" i="0">
                  <a:solidFill>
                    <a:srgbClr val="17232D"/>
                  </a:solidFill>
                  <a:latin typeface="Calibri"/>
                </a:rPr>
                <a:t>Fix the instrumentation template</a:t>
              </a:r>
            </a:p>
          </p:txBody>
        </p:sp>
        <p:sp>
          <p:nvSpPr>
            <p:cNvPr id="33" name="TextBox 32"/>
            <p:cNvSpPr txBox="1"/>
            <p:nvPr/>
          </p:nvSpPr>
          <p:spPr>
            <a:xfrm>
              <a:off x="9962388" y="3310128"/>
              <a:ext cx="1554480" cy="566928"/>
            </a:xfrm>
            <a:prstGeom prst="rect">
              <a:avLst/>
            </a:prstGeom>
            <a:noFill/>
          </p:spPr>
          <p:txBody>
            <a:bodyPr wrap="square" anchor="t" lIns="0" rIns="0" tIns="0" bIns="0">
              <a:spAutoFit/>
            </a:bodyPr>
            <a:lstStyle/>
            <a:p>
              <a:pPr algn="l">
                <a:lnSpc>
                  <a:spcPct val="105000"/>
                </a:lnSpc>
              </a:pPr>
              <a:r>
                <a:rPr sz="1150" b="0" i="1">
                  <a:solidFill>
                    <a:srgbClr val="415669"/>
                  </a:solidFill>
                  <a:latin typeface="Calibri"/>
                </a:rPr>
                <a:t>Chief Information Officer</a:t>
              </a:r>
            </a:p>
          </p:txBody>
        </p:sp>
        <p:sp>
          <p:nvSpPr>
            <p:cNvPr id="34" name="Rectangle 33"/>
            <p:cNvSpPr/>
            <p:nvPr/>
          </p:nvSpPr>
          <p:spPr>
            <a:xfrm>
              <a:off x="566928" y="4096512"/>
              <a:ext cx="10515600" cy="27432"/>
            </a:xfrm>
            <a:prstGeom prst="rect">
              <a:avLst/>
            </a:prstGeom>
            <a:solidFill>
              <a:srgbClr val="D4A24C"/>
            </a:solidFill>
            <a:ln>
              <a:noFill/>
            </a:ln>
            <a:effectLst/>
          </p:spPr>
          <p:txBody>
            <a:bodyPr rtlCol="0" anchor="ctr"/>
            <a:lstStyle/>
            <a:p>
              <a:pPr algn="ctr"/>
            </a:p>
          </p:txBody>
        </p:sp>
        <p:sp>
          <p:nvSpPr>
            <p:cNvPr id="35" name="Right Arrow 34"/>
            <p:cNvSpPr/>
            <p:nvPr/>
          </p:nvSpPr>
          <p:spPr>
            <a:xfrm>
              <a:off x="11082528" y="3986784"/>
              <a:ext cx="219456" cy="246888"/>
            </a:xfrm>
            <a:prstGeom prst="rightArrow">
              <a:avLst/>
            </a:prstGeom>
            <a:solidFill>
              <a:srgbClr val="D4A24C"/>
            </a:solidFill>
            <a:ln>
              <a:noFill/>
            </a:ln>
            <a:effectLst/>
          </p:spPr>
          <p:txBody>
            <a:bodyPr rtlCol="0" anchor="ctr"/>
            <a:lstStyle/>
            <a:p>
              <a:pPr algn="ctr"/>
            </a:p>
          </p:txBody>
        </p:sp>
        <p:sp>
          <p:nvSpPr>
            <p:cNvPr id="36" name="TextBox 35"/>
            <p:cNvSpPr txBox="1"/>
            <p:nvPr/>
          </p:nvSpPr>
          <p:spPr>
            <a:xfrm>
              <a:off x="566928" y="4187952"/>
              <a:ext cx="10698480" cy="274320"/>
            </a:xfrm>
            <a:prstGeom prst="rect">
              <a:avLst/>
            </a:prstGeom>
            <a:noFill/>
          </p:spPr>
          <p:txBody>
            <a:bodyPr wrap="square" anchor="t" lIns="0" rIns="0" tIns="0" bIns="0">
              <a:spAutoFit/>
            </a:bodyPr>
            <a:lstStyle/>
            <a:p>
              <a:pPr algn="l"/>
              <a:r>
                <a:rPr sz="1250" b="1" i="0">
                  <a:solidFill>
                    <a:srgbClr val="0B2D4D"/>
                  </a:solidFill>
                  <a:latin typeface="Calibri"/>
                </a:rPr>
                <a:t>D0 gates the register's cadence and the instrumentation rollout</a:t>
              </a:r>
            </a:p>
          </p:txBody>
        </p:sp>
      </p:grpSp>
      <p:sp>
        <p:nvSpPr>
          <p:cNvPr id="37" name="slide-10-stop-bg"/>
          <p:cNvSpPr/>
          <p:nvPr/>
        </p:nvSpPr>
        <p:spPr>
          <a:xfrm>
            <a:off x="502920" y="4663440"/>
            <a:ext cx="11183112" cy="1481328"/>
          </a:xfrm>
          <a:prstGeom prst="rect">
            <a:avLst/>
          </a:prstGeom>
          <a:solidFill>
            <a:srgbClr val="EDF3F6"/>
          </a:solidFill>
          <a:ln>
            <a:noFill/>
          </a:ln>
          <a:effectLst/>
        </p:spPr>
        <p:txBody>
          <a:bodyPr rtlCol="0" anchor="ctr"/>
          <a:lstStyle/>
          <a:p>
            <a:pPr algn="ctr"/>
          </a:p>
        </p:txBody>
      </p:sp>
      <p:grpSp>
        <p:nvGrpSpPr>
          <p:cNvPr id="38" name="slide-10-stop-band" descr="Three stop conditions that halt or convert the register program."/>
          <p:cNvGrpSpPr/>
          <p:nvPr/>
        </p:nvGrpSpPr>
        <p:grpSpPr>
          <a:xfrm>
            <a:off x="566928" y="4663440"/>
            <a:ext cx="10908792" cy="1481328"/>
            <a:chOff x="566928" y="4663440"/>
            <a:chExt cx="10908792" cy="1481328"/>
          </a:xfrm>
        </p:grpSpPr>
        <p:sp>
          <p:nvSpPr>
            <p:cNvPr id="39" name="TextBox 38"/>
            <p:cNvSpPr txBox="1"/>
            <p:nvPr/>
          </p:nvSpPr>
          <p:spPr>
            <a:xfrm>
              <a:off x="777240" y="4828032"/>
              <a:ext cx="10698480" cy="1188720"/>
            </a:xfrm>
            <a:prstGeom prst="rect">
              <a:avLst/>
            </a:prstGeom>
            <a:noFill/>
          </p:spPr>
          <p:txBody>
            <a:bodyPr wrap="square" anchor="t" lIns="0" rIns="0" tIns="0" bIns="0">
              <a:spAutoFit/>
            </a:bodyPr>
            <a:lstStyle/>
            <a:p>
              <a:pPr algn="l">
                <a:lnSpc>
                  <a:spcPct val="105000"/>
                </a:lnSpc>
                <a:spcAft>
                  <a:spcPts val="600"/>
                </a:spcAft>
              </a:pPr>
              <a:r>
                <a:rPr sz="1300" b="1" i="0">
                  <a:solidFill>
                    <a:srgbClr val="A6413A"/>
                  </a:solidFill>
                  <a:latin typeface="Calibri"/>
                </a:rPr>
                <a:t>STOP  </a:t>
              </a:r>
              <a:r>
                <a:rPr sz="1300" b="0" i="0">
                  <a:solidFill>
                    <a:srgbClr val="17232D"/>
                  </a:solidFill>
                  <a:latin typeface="Calibri"/>
                </a:rPr>
                <a:t>American announces a Flagship-tier build-out on a published schedule → a fit-out program replaces the register</a:t>
              </a:r>
            </a:p>
            <a:p>
              <a:pPr algn="l">
                <a:lnSpc>
                  <a:spcPct val="105000"/>
                </a:lnSpc>
                <a:spcAft>
                  <a:spcPts val="600"/>
                </a:spcAft>
              </a:pPr>
              <a:r>
                <a:rPr sz="1300" b="1" i="0">
                  <a:solidFill>
                    <a:srgbClr val="A6413A"/>
                  </a:solidFill>
                  <a:latin typeface="Calibri"/>
                </a:rPr>
                <a:t>STOP  </a:t>
              </a:r>
              <a:r>
                <a:rPr sz="1300" b="0" i="0">
                  <a:solidFill>
                    <a:srgbClr val="17232D"/>
                  </a:solidFill>
                  <a:latin typeface="Calibri"/>
                </a:rPr>
                <a:t>Connecting share falls below a connecting-majority floor for two consecutive cycles → re-test the affected geometry</a:t>
              </a:r>
            </a:p>
            <a:p>
              <a:pPr algn="l">
                <a:lnSpc>
                  <a:spcPct val="105000"/>
                </a:lnSpc>
                <a:spcAft>
                  <a:spcPts val="600"/>
                </a:spcAft>
              </a:pPr>
              <a:r>
                <a:rPr sz="1300" b="1" i="0">
                  <a:solidFill>
                    <a:srgbClr val="A6413A"/>
                  </a:solidFill>
                  <a:latin typeface="Calibri"/>
                </a:rPr>
                <a:t>STOP  </a:t>
              </a:r>
              <a:r>
                <a:rPr sz="1300" b="0" i="0">
                  <a:solidFill>
                    <a:srgbClr val="17232D"/>
                  </a:solidFill>
                  <a:latin typeface="Calibri"/>
                </a:rPr>
                <a:t>U&amp;L renegotiation opens before 2043 → the Side Letter folds into the amendment</a:t>
              </a:r>
            </a:p>
          </p:txBody>
        </p:sp>
        <p:sp>
          <p:nvSpPr>
            <p:cNvPr id="40" name="Rectangle 39"/>
            <p:cNvSpPr/>
            <p:nvPr/>
          </p:nvSpPr>
          <p:spPr>
            <a:xfrm>
              <a:off x="566928" y="4663440"/>
              <a:ext cx="64008" cy="1481328"/>
            </a:xfrm>
            <a:prstGeom prst="rect">
              <a:avLst/>
            </a:prstGeom>
            <a:solidFill>
              <a:srgbClr val="A6413A"/>
            </a:solidFill>
            <a:ln>
              <a:noFill/>
            </a:ln>
            <a:effectLst/>
          </p:spPr>
          <p:txBody>
            <a:bodyPr rtlCol="0" anchor="ctr"/>
            <a:lstStyle/>
            <a:p>
              <a:pPr algn="ctr"/>
            </a:p>
          </p:txBody>
        </p:sp>
      </p:grpSp>
      <p:sp>
        <p:nvSpPr>
          <p:cNvPr id="41" name="slide-10-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Decision program per this report; fabrication window bounded by program completion 2030 (DFW/AA joint release, May 2025).</a:t>
            </a:r>
          </a:p>
        </p:txBody>
      </p:sp>
      <p:sp>
        <p:nvSpPr>
          <p:cNvPr id="42" name="slide-10-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11-title"/>
          <p:cNvSpPr txBox="1"/>
          <p:nvPr/>
        </p:nvSpPr>
        <p:spPr>
          <a:xfrm>
            <a:off x="502920" y="274320"/>
            <a:ext cx="9509760"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The counter-case, honestly presented: four objections, four constraints</a:t>
            </a:r>
          </a:p>
        </p:txBody>
      </p:sp>
      <p:sp>
        <p:nvSpPr>
          <p:cNvPr id="3" name="slide-11-chip-bg"/>
          <p:cNvSpPr/>
          <p:nvPr/>
        </p:nvSpPr>
        <p:spPr>
          <a:xfrm>
            <a:off x="10177272" y="310896"/>
            <a:ext cx="1508760" cy="365760"/>
          </a:xfrm>
          <a:prstGeom prst="rect">
            <a:avLst/>
          </a:prstGeom>
          <a:solidFill>
            <a:srgbClr val="415669"/>
          </a:solidFill>
          <a:ln>
            <a:noFill/>
          </a:ln>
          <a:effectLst/>
        </p:spPr>
        <p:txBody>
          <a:bodyPr rtlCol="0" anchor="ctr"/>
          <a:lstStyle/>
          <a:p>
            <a:pPr algn="ctr"/>
          </a:p>
        </p:txBody>
      </p:sp>
      <p:sp>
        <p:nvSpPr>
          <p:cNvPr id="4" name="slide-11-chip"/>
          <p:cNvSpPr txBox="1"/>
          <p:nvPr/>
        </p:nvSpPr>
        <p:spPr>
          <a:xfrm>
            <a:off x="10177272" y="365760"/>
            <a:ext cx="1508760" cy="274320"/>
          </a:xfrm>
          <a:prstGeom prst="rect">
            <a:avLst/>
          </a:prstGeom>
          <a:noFill/>
        </p:spPr>
        <p:txBody>
          <a:bodyPr wrap="square" anchor="t" lIns="0" rIns="0" tIns="0" bIns="0">
            <a:spAutoFit/>
          </a:bodyPr>
          <a:lstStyle/>
          <a:p>
            <a:pPr algn="ctr"/>
            <a:r>
              <a:rPr sz="1600" b="1" i="0">
                <a:solidFill>
                  <a:srgbClr val="FFFFFF"/>
                </a:solidFill>
                <a:latin typeface="Calibri"/>
              </a:rPr>
              <a:t>READ-AHEAD</a:t>
            </a:r>
          </a:p>
        </p:txBody>
      </p:sp>
      <p:graphicFrame>
        <p:nvGraphicFramePr>
          <p:cNvPr id="5" name="slide-11-table" descr="Table pairing the four strongest objections to the reversibility register — the 2043 commitment, carrier-funded premium precedent at JFK Terminal 4, shopping-list risk, and affordability — with the constraint each imposes on the program."/>
          <p:cNvGraphicFramePr>
            <a:graphicFrameLocks noGrp="1"/>
          </p:cNvGraphicFramePr>
          <p:nvPr/>
        </p:nvGraphicFramePr>
        <p:xfrm>
          <a:off x="502920" y="1417320"/>
          <a:ext cx="11183112" cy="4709160"/>
        </p:xfrm>
        <a:graphic>
          <a:graphicData uri="http://schemas.openxmlformats.org/drawingml/2006/table">
            <a:tbl>
              <a:tblPr>
                <a:tableStyleId>{5C22544A-7EE6-4342-B048-85BDC9FD1C3A}</a:tableStyleId>
              </a:tblPr>
              <a:tblGrid>
                <a:gridCol w="5577840"/>
                <a:gridCol w="5605272"/>
              </a:tblGrid>
              <a:tr h="941832">
                <a:tc>
                  <a:txBody>
                    <a:bodyPr wrap="square"/>
                    <a:lstStyle/>
                    <a:p>
                      <a:pPr algn="l">
                        <a:lnSpc>
                          <a:spcPct val="100000"/>
                        </a:lnSpc>
                      </a:pPr>
                      <a:r>
                        <a:rPr sz="1250" b="1" i="0">
                          <a:solidFill>
                            <a:srgbClr val="FFFFFF"/>
                          </a:solidFill>
                          <a:latin typeface="Calibri"/>
                        </a:rPr>
                        <a:t>Objection, at full strength</a:t>
                      </a:r>
                    </a:p>
                  </a:txBody>
                  <a:tcPr anchor="ctr" marL="73152" marR="73152" marT="27432" marB="27432">
                    <a:solidFill>
                      <a:srgbClr val="0B2D4D"/>
                    </a:solidFill>
                  </a:tcPr>
                </a:tc>
                <a:tc>
                  <a:txBody>
                    <a:bodyPr wrap="square"/>
                    <a:lstStyle/>
                    <a:p>
                      <a:pPr algn="l">
                        <a:lnSpc>
                          <a:spcPct val="100000"/>
                        </a:lnSpc>
                      </a:pPr>
                      <a:r>
                        <a:rPr sz="1250" b="1" i="0">
                          <a:solidFill>
                            <a:srgbClr val="FFFFFF"/>
                          </a:solidFill>
                          <a:latin typeface="Calibri"/>
                        </a:rPr>
                        <a:t>Disposition — as a constraint, not a defeat</a:t>
                      </a:r>
                    </a:p>
                  </a:txBody>
                  <a:tcPr anchor="ctr" marL="73152" marR="73152" marT="27432" marB="27432">
                    <a:solidFill>
                      <a:srgbClr val="0B2D4D"/>
                    </a:solidFill>
                  </a:tcPr>
                </a:tc>
              </a:tr>
              <a:tr h="941832">
                <a:tc>
                  <a:txBody>
                    <a:bodyPr wrap="square"/>
                    <a:lstStyle/>
                    <a:p>
                      <a:pPr algn="l">
                        <a:lnSpc>
                          <a:spcPct val="102000"/>
                        </a:lnSpc>
                      </a:pPr>
                      <a:r>
                        <a:rPr sz="1250" b="0" i="0">
                          <a:solidFill>
                            <a:srgbClr val="17232D"/>
                          </a:solidFill>
                          <a:latin typeface="Calibri"/>
                        </a:rPr>
                        <a:t>American signed to 2043 — why insure a committed relationship?</a:t>
                      </a:r>
                    </a:p>
                  </a:txBody>
                  <a:tcPr anchor="ctr" marL="73152" marR="73152" marT="27432" marB="27432">
                    <a:solidFill>
                      <a:srgbClr val="EDF3F6"/>
                    </a:solidFill>
                  </a:tcPr>
                </a:tc>
                <a:tc>
                  <a:txBody>
                    <a:bodyPr wrap="square"/>
                    <a:lstStyle/>
                    <a:p>
                      <a:pPr algn="l">
                        <a:lnSpc>
                          <a:spcPct val="102000"/>
                        </a:lnSpc>
                      </a:pPr>
                      <a:r>
                        <a:rPr sz="1250" b="0" i="0">
                          <a:solidFill>
                            <a:srgbClr val="17232D"/>
                          </a:solidFill>
                          <a:latin typeface="Calibri"/>
                        </a:rPr>
                        <a:t>Generic geometry insures against strategy shifts inside a 17-year term — and protects the tenant as much as the airport</a:t>
                      </a:r>
                    </a:p>
                  </a:txBody>
                  <a:tcPr anchor="ctr" marL="73152" marR="73152" marT="27432" marB="27432">
                    <a:solidFill>
                      <a:srgbClr val="EDF3F6"/>
                    </a:solidFill>
                  </a:tcPr>
                </a:tc>
              </a:tr>
              <a:tr h="941832">
                <a:tc>
                  <a:txBody>
                    <a:bodyPr wrap="square"/>
                    <a:lstStyle/>
                    <a:p>
                      <a:pPr algn="l">
                        <a:lnSpc>
                          <a:spcPct val="102000"/>
                        </a:lnSpc>
                      </a:pPr>
                      <a:r>
                        <a:rPr sz="1250" b="0" i="0">
                          <a:solidFill>
                            <a:srgbClr val="17232D"/>
                          </a:solidFill>
                          <a:latin typeface="Calibri"/>
                        </a:rPr>
                        <a:t>Premium is the airline's side of the line: Delta's JFK T4 Delta One Lounge (~40,000 sq ft, 515 seats) was carrier-funded on someone else's base building</a:t>
                      </a:r>
                    </a:p>
                  </a:txBody>
                  <a:tcPr anchor="ctr" marL="73152" marR="73152" marT="27432" marB="27432">
                    <a:solidFill>
                      <a:srgbClr val="FFFFFF"/>
                    </a:solidFill>
                  </a:tcPr>
                </a:tc>
                <a:tc>
                  <a:txBody>
                    <a:bodyPr wrap="square"/>
                    <a:lstStyle/>
                    <a:p>
                      <a:pPr algn="l">
                        <a:lnSpc>
                          <a:spcPct val="102000"/>
                        </a:lnSpc>
                      </a:pPr>
                      <a:r>
                        <a:rPr sz="1250" b="0" i="0">
                          <a:solidFill>
                            <a:srgbClr val="17232D"/>
                          </a:solidFill>
                          <a:latin typeface="Calibri"/>
                        </a:rPr>
                        <a:t>Exactly — hence Side Letter conditioning: the airport builds shells only; American exercises at American's expense</a:t>
                      </a:r>
                    </a:p>
                  </a:txBody>
                  <a:tcPr anchor="ctr" marL="73152" marR="73152" marT="27432" marB="27432">
                    <a:solidFill>
                      <a:srgbClr val="FFFFFF"/>
                    </a:solidFill>
                  </a:tcPr>
                </a:tc>
              </a:tr>
              <a:tr h="941832">
                <a:tc>
                  <a:txBody>
                    <a:bodyPr wrap="square"/>
                    <a:lstStyle/>
                    <a:p>
                      <a:pPr algn="l">
                        <a:lnSpc>
                          <a:spcPct val="102000"/>
                        </a:lnSpc>
                      </a:pPr>
                      <a:r>
                        <a:rPr sz="1250" b="0" i="0">
                          <a:solidFill>
                            <a:srgbClr val="17232D"/>
                          </a:solidFill>
                          <a:latin typeface="Calibri"/>
                        </a:rPr>
                        <a:t>Options accumulate into an unfunded shopping list</a:t>
                      </a:r>
                    </a:p>
                  </a:txBody>
                  <a:tcPr anchor="ctr" marL="73152" marR="73152" marT="27432" marB="27432">
                    <a:solidFill>
                      <a:srgbClr val="EDF3F6"/>
                    </a:solidFill>
                  </a:tcPr>
                </a:tc>
                <a:tc>
                  <a:txBody>
                    <a:bodyPr wrap="square"/>
                    <a:lstStyle/>
                    <a:p>
                      <a:pPr algn="l">
                        <a:lnSpc>
                          <a:spcPct val="102000"/>
                        </a:lnSpc>
                      </a:pPr>
                      <a:r>
                        <a:rPr sz="1250" b="0" i="0">
                          <a:solidFill>
                            <a:srgbClr val="17232D"/>
                          </a:solidFill>
                          <a:latin typeface="Calibri"/>
                        </a:rPr>
                        <a:t>A three-to-four-line register that refuses everything else is the discipline, not the abandonment</a:t>
                      </a:r>
                    </a:p>
                  </a:txBody>
                  <a:tcPr anchor="ctr" marL="73152" marR="73152" marT="27432" marB="27432">
                    <a:solidFill>
                      <a:srgbClr val="EDF3F6"/>
                    </a:solidFill>
                  </a:tcPr>
                </a:tc>
              </a:tr>
              <a:tr h="941832">
                <a:tc>
                  <a:txBody>
                    <a:bodyPr wrap="square"/>
                    <a:lstStyle/>
                    <a:p>
                      <a:pPr algn="l">
                        <a:lnSpc>
                          <a:spcPct val="102000"/>
                        </a:lnSpc>
                      </a:pPr>
                      <a:r>
                        <a:rPr sz="1250" b="0" i="0">
                          <a:solidFill>
                            <a:srgbClr val="17232D"/>
                          </a:solidFill>
                          <a:latin typeface="Calibri"/>
                        </a:rPr>
                        <a:t>Affordability: signatory CPE is already rising ~25% in a single year</a:t>
                      </a:r>
                    </a:p>
                  </a:txBody>
                  <a:tcPr anchor="ctr" marL="73152" marR="73152" marT="27432" marB="27432">
                    <a:solidFill>
                      <a:srgbClr val="FFFFFF"/>
                    </a:solidFill>
                  </a:tcPr>
                </a:tc>
                <a:tc>
                  <a:txBody>
                    <a:bodyPr wrap="square"/>
                    <a:lstStyle/>
                    <a:p>
                      <a:pPr algn="l">
                        <a:lnSpc>
                          <a:spcPct val="102000"/>
                        </a:lnSpc>
                      </a:pPr>
                      <a:r>
                        <a:rPr sz="1250" b="0" i="0">
                          <a:solidFill>
                            <a:srgbClr val="17232D"/>
                          </a:solidFill>
                          <a:latin typeface="Calibri"/>
                        </a:rPr>
                        <a:t>The Finance &amp; Audit forward-CPE ceiling binds the aggregate premium — and under-scoping is often the more expensive error</a:t>
                      </a:r>
                    </a:p>
                  </a:txBody>
                  <a:tcPr anchor="ctr" marL="73152" marR="73152" marT="27432" marB="27432">
                    <a:solidFill>
                      <a:srgbClr val="FFFFFF"/>
                    </a:solidFill>
                  </a:tcPr>
                </a:tc>
              </a:tr>
            </a:tbl>
          </a:graphicData>
        </a:graphic>
      </p:graphicFrame>
      <p:sp>
        <p:nvSpPr>
          <p:cNvPr id="6" name="slide-11-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Delta News Hub (JFK T4 Delta One Lounge); DFW/AA joint release May 2025; CPE Data 2026; The Bond Buyer, Aug 2024.</a:t>
            </a:r>
          </a:p>
        </p:txBody>
      </p:sp>
      <p:sp>
        <p:nvSpPr>
          <p:cNvPr id="7" name="slide-11-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12-title"/>
          <p:cNvSpPr txBox="1"/>
          <p:nvPr/>
        </p:nvSpPr>
        <p:spPr>
          <a:xfrm>
            <a:off x="502920" y="274320"/>
            <a:ext cx="9509760"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Premium posture is a cycle, not a constant</a:t>
            </a:r>
          </a:p>
        </p:txBody>
      </p:sp>
      <p:sp>
        <p:nvSpPr>
          <p:cNvPr id="3" name="slide-12-chip-bg"/>
          <p:cNvSpPr/>
          <p:nvPr/>
        </p:nvSpPr>
        <p:spPr>
          <a:xfrm>
            <a:off x="10177272" y="310896"/>
            <a:ext cx="1508760" cy="365760"/>
          </a:xfrm>
          <a:prstGeom prst="rect">
            <a:avLst/>
          </a:prstGeom>
          <a:solidFill>
            <a:srgbClr val="415669"/>
          </a:solidFill>
          <a:ln>
            <a:noFill/>
          </a:ln>
          <a:effectLst/>
        </p:spPr>
        <p:txBody>
          <a:bodyPr rtlCol="0" anchor="ctr"/>
          <a:lstStyle/>
          <a:p>
            <a:pPr algn="ctr"/>
          </a:p>
        </p:txBody>
      </p:sp>
      <p:sp>
        <p:nvSpPr>
          <p:cNvPr id="4" name="slide-12-chip"/>
          <p:cNvSpPr txBox="1"/>
          <p:nvPr/>
        </p:nvSpPr>
        <p:spPr>
          <a:xfrm>
            <a:off x="10177272" y="365760"/>
            <a:ext cx="1508760" cy="274320"/>
          </a:xfrm>
          <a:prstGeom prst="rect">
            <a:avLst/>
          </a:prstGeom>
          <a:noFill/>
        </p:spPr>
        <p:txBody>
          <a:bodyPr wrap="square" anchor="t" lIns="0" rIns="0" tIns="0" bIns="0">
            <a:spAutoFit/>
          </a:bodyPr>
          <a:lstStyle/>
          <a:p>
            <a:pPr algn="ctr"/>
            <a:r>
              <a:rPr sz="1600" b="1" i="0">
                <a:solidFill>
                  <a:srgbClr val="FFFFFF"/>
                </a:solidFill>
                <a:latin typeface="Calibri"/>
              </a:rPr>
              <a:t>READ-AHEAD</a:t>
            </a:r>
          </a:p>
        </p:txBody>
      </p:sp>
      <p:grpSp>
        <p:nvGrpSpPr>
          <p:cNvPr id="5" name="slide-12-timeline" descr="Timeline 2020 to 2028: American closed every Flagship Lounge except JFK in March 2020 and reopened them through April 2022; Delta premium revenue crossed main cabin in the fourth quarter of 2025; American shifted long-haul capacity into DFW in 2026; Delta targets a 2028 Delta One Lounge in Atlanta."/>
          <p:cNvGrpSpPr/>
          <p:nvPr/>
        </p:nvGrpSpPr>
        <p:grpSpPr>
          <a:xfrm>
            <a:off x="548640" y="1737360"/>
            <a:ext cx="11292840" cy="3721608"/>
            <a:chOff x="548640" y="1737360"/>
            <a:chExt cx="11292840" cy="3721608"/>
          </a:xfrm>
        </p:grpSpPr>
        <p:sp>
          <p:nvSpPr>
            <p:cNvPr id="6" name="Rectangle 5"/>
            <p:cNvSpPr/>
            <p:nvPr/>
          </p:nvSpPr>
          <p:spPr>
            <a:xfrm>
              <a:off x="914400" y="3611880"/>
              <a:ext cx="10607040" cy="20116"/>
            </a:xfrm>
            <a:prstGeom prst="rect">
              <a:avLst/>
            </a:prstGeom>
            <a:solidFill>
              <a:srgbClr val="415669"/>
            </a:solidFill>
            <a:ln>
              <a:noFill/>
            </a:ln>
            <a:effectLst/>
          </p:spPr>
          <p:txBody>
            <a:bodyPr rtlCol="0" anchor="ctr"/>
            <a:lstStyle/>
            <a:p>
              <a:pPr algn="ctr"/>
            </a:p>
          </p:txBody>
        </p:sp>
        <p:sp>
          <p:nvSpPr>
            <p:cNvPr id="7" name="Rectangle 6"/>
            <p:cNvSpPr/>
            <p:nvPr/>
          </p:nvSpPr>
          <p:spPr>
            <a:xfrm>
              <a:off x="907084" y="3566160"/>
              <a:ext cx="14630" cy="109728"/>
            </a:xfrm>
            <a:prstGeom prst="rect">
              <a:avLst/>
            </a:prstGeom>
            <a:solidFill>
              <a:srgbClr val="415669"/>
            </a:solidFill>
            <a:ln>
              <a:noFill/>
            </a:ln>
            <a:effectLst/>
          </p:spPr>
          <p:txBody>
            <a:bodyPr rtlCol="0" anchor="ctr"/>
            <a:lstStyle/>
            <a:p>
              <a:pPr algn="ctr"/>
            </a:p>
          </p:txBody>
        </p:sp>
        <p:sp>
          <p:nvSpPr>
            <p:cNvPr id="8" name="TextBox 7"/>
            <p:cNvSpPr txBox="1"/>
            <p:nvPr/>
          </p:nvSpPr>
          <p:spPr>
            <a:xfrm>
              <a:off x="59436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2020</a:t>
              </a:r>
            </a:p>
          </p:txBody>
        </p:sp>
        <p:sp>
          <p:nvSpPr>
            <p:cNvPr id="9" name="Rectangle 8"/>
            <p:cNvSpPr/>
            <p:nvPr/>
          </p:nvSpPr>
          <p:spPr>
            <a:xfrm>
              <a:off x="2232964" y="3566160"/>
              <a:ext cx="14630" cy="109728"/>
            </a:xfrm>
            <a:prstGeom prst="rect">
              <a:avLst/>
            </a:prstGeom>
            <a:solidFill>
              <a:srgbClr val="415669"/>
            </a:solidFill>
            <a:ln>
              <a:noFill/>
            </a:ln>
            <a:effectLst/>
          </p:spPr>
          <p:txBody>
            <a:bodyPr rtlCol="0" anchor="ctr"/>
            <a:lstStyle/>
            <a:p>
              <a:pPr algn="ctr"/>
            </a:p>
          </p:txBody>
        </p:sp>
        <p:sp>
          <p:nvSpPr>
            <p:cNvPr id="10" name="TextBox 9"/>
            <p:cNvSpPr txBox="1"/>
            <p:nvPr/>
          </p:nvSpPr>
          <p:spPr>
            <a:xfrm>
              <a:off x="192024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2021</a:t>
              </a:r>
            </a:p>
          </p:txBody>
        </p:sp>
        <p:sp>
          <p:nvSpPr>
            <p:cNvPr id="11" name="Rectangle 10"/>
            <p:cNvSpPr/>
            <p:nvPr/>
          </p:nvSpPr>
          <p:spPr>
            <a:xfrm>
              <a:off x="3558844" y="3566160"/>
              <a:ext cx="14630" cy="109728"/>
            </a:xfrm>
            <a:prstGeom prst="rect">
              <a:avLst/>
            </a:prstGeom>
            <a:solidFill>
              <a:srgbClr val="415669"/>
            </a:solidFill>
            <a:ln>
              <a:noFill/>
            </a:ln>
            <a:effectLst/>
          </p:spPr>
          <p:txBody>
            <a:bodyPr rtlCol="0" anchor="ctr"/>
            <a:lstStyle/>
            <a:p>
              <a:pPr algn="ctr"/>
            </a:p>
          </p:txBody>
        </p:sp>
        <p:sp>
          <p:nvSpPr>
            <p:cNvPr id="12" name="TextBox 11"/>
            <p:cNvSpPr txBox="1"/>
            <p:nvPr/>
          </p:nvSpPr>
          <p:spPr>
            <a:xfrm>
              <a:off x="324612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2022</a:t>
              </a:r>
            </a:p>
          </p:txBody>
        </p:sp>
        <p:sp>
          <p:nvSpPr>
            <p:cNvPr id="13" name="Rectangle 12"/>
            <p:cNvSpPr/>
            <p:nvPr/>
          </p:nvSpPr>
          <p:spPr>
            <a:xfrm>
              <a:off x="4884724" y="3566160"/>
              <a:ext cx="14630" cy="109728"/>
            </a:xfrm>
            <a:prstGeom prst="rect">
              <a:avLst/>
            </a:prstGeom>
            <a:solidFill>
              <a:srgbClr val="415669"/>
            </a:solidFill>
            <a:ln>
              <a:noFill/>
            </a:ln>
            <a:effectLst/>
          </p:spPr>
          <p:txBody>
            <a:bodyPr rtlCol="0" anchor="ctr"/>
            <a:lstStyle/>
            <a:p>
              <a:pPr algn="ctr"/>
            </a:p>
          </p:txBody>
        </p:sp>
        <p:sp>
          <p:nvSpPr>
            <p:cNvPr id="14" name="TextBox 13"/>
            <p:cNvSpPr txBox="1"/>
            <p:nvPr/>
          </p:nvSpPr>
          <p:spPr>
            <a:xfrm>
              <a:off x="457200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2023</a:t>
              </a:r>
            </a:p>
          </p:txBody>
        </p:sp>
        <p:sp>
          <p:nvSpPr>
            <p:cNvPr id="15" name="Rectangle 14"/>
            <p:cNvSpPr/>
            <p:nvPr/>
          </p:nvSpPr>
          <p:spPr>
            <a:xfrm>
              <a:off x="6210604" y="3566160"/>
              <a:ext cx="14630" cy="109728"/>
            </a:xfrm>
            <a:prstGeom prst="rect">
              <a:avLst/>
            </a:prstGeom>
            <a:solidFill>
              <a:srgbClr val="415669"/>
            </a:solidFill>
            <a:ln>
              <a:noFill/>
            </a:ln>
            <a:effectLst/>
          </p:spPr>
          <p:txBody>
            <a:bodyPr rtlCol="0" anchor="ctr"/>
            <a:lstStyle/>
            <a:p>
              <a:pPr algn="ctr"/>
            </a:p>
          </p:txBody>
        </p:sp>
        <p:sp>
          <p:nvSpPr>
            <p:cNvPr id="16" name="TextBox 15"/>
            <p:cNvSpPr txBox="1"/>
            <p:nvPr/>
          </p:nvSpPr>
          <p:spPr>
            <a:xfrm>
              <a:off x="589788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2024</a:t>
              </a:r>
            </a:p>
          </p:txBody>
        </p:sp>
        <p:sp>
          <p:nvSpPr>
            <p:cNvPr id="17" name="Rectangle 16"/>
            <p:cNvSpPr/>
            <p:nvPr/>
          </p:nvSpPr>
          <p:spPr>
            <a:xfrm>
              <a:off x="7536484" y="3566160"/>
              <a:ext cx="14630" cy="109728"/>
            </a:xfrm>
            <a:prstGeom prst="rect">
              <a:avLst/>
            </a:prstGeom>
            <a:solidFill>
              <a:srgbClr val="415669"/>
            </a:solidFill>
            <a:ln>
              <a:noFill/>
            </a:ln>
            <a:effectLst/>
          </p:spPr>
          <p:txBody>
            <a:bodyPr rtlCol="0" anchor="ctr"/>
            <a:lstStyle/>
            <a:p>
              <a:pPr algn="ctr"/>
            </a:p>
          </p:txBody>
        </p:sp>
        <p:sp>
          <p:nvSpPr>
            <p:cNvPr id="18" name="TextBox 17"/>
            <p:cNvSpPr txBox="1"/>
            <p:nvPr/>
          </p:nvSpPr>
          <p:spPr>
            <a:xfrm>
              <a:off x="722376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2025</a:t>
              </a:r>
            </a:p>
          </p:txBody>
        </p:sp>
        <p:sp>
          <p:nvSpPr>
            <p:cNvPr id="19" name="Rectangle 18"/>
            <p:cNvSpPr/>
            <p:nvPr/>
          </p:nvSpPr>
          <p:spPr>
            <a:xfrm>
              <a:off x="8862364" y="3566160"/>
              <a:ext cx="14630" cy="109728"/>
            </a:xfrm>
            <a:prstGeom prst="rect">
              <a:avLst/>
            </a:prstGeom>
            <a:solidFill>
              <a:srgbClr val="415669"/>
            </a:solidFill>
            <a:ln>
              <a:noFill/>
            </a:ln>
            <a:effectLst/>
          </p:spPr>
          <p:txBody>
            <a:bodyPr rtlCol="0" anchor="ctr"/>
            <a:lstStyle/>
            <a:p>
              <a:pPr algn="ctr"/>
            </a:p>
          </p:txBody>
        </p:sp>
        <p:sp>
          <p:nvSpPr>
            <p:cNvPr id="20" name="TextBox 19"/>
            <p:cNvSpPr txBox="1"/>
            <p:nvPr/>
          </p:nvSpPr>
          <p:spPr>
            <a:xfrm>
              <a:off x="854964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2026</a:t>
              </a:r>
            </a:p>
          </p:txBody>
        </p:sp>
        <p:sp>
          <p:nvSpPr>
            <p:cNvPr id="21" name="Rectangle 20"/>
            <p:cNvSpPr/>
            <p:nvPr/>
          </p:nvSpPr>
          <p:spPr>
            <a:xfrm>
              <a:off x="10188244" y="3566160"/>
              <a:ext cx="14630" cy="109728"/>
            </a:xfrm>
            <a:prstGeom prst="rect">
              <a:avLst/>
            </a:prstGeom>
            <a:solidFill>
              <a:srgbClr val="415669"/>
            </a:solidFill>
            <a:ln>
              <a:noFill/>
            </a:ln>
            <a:effectLst/>
          </p:spPr>
          <p:txBody>
            <a:bodyPr rtlCol="0" anchor="ctr"/>
            <a:lstStyle/>
            <a:p>
              <a:pPr algn="ctr"/>
            </a:p>
          </p:txBody>
        </p:sp>
        <p:sp>
          <p:nvSpPr>
            <p:cNvPr id="22" name="TextBox 21"/>
            <p:cNvSpPr txBox="1"/>
            <p:nvPr/>
          </p:nvSpPr>
          <p:spPr>
            <a:xfrm>
              <a:off x="987552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2027</a:t>
              </a:r>
            </a:p>
          </p:txBody>
        </p:sp>
        <p:sp>
          <p:nvSpPr>
            <p:cNvPr id="23" name="Rectangle 22"/>
            <p:cNvSpPr/>
            <p:nvPr/>
          </p:nvSpPr>
          <p:spPr>
            <a:xfrm>
              <a:off x="11514124" y="3566160"/>
              <a:ext cx="14630" cy="109728"/>
            </a:xfrm>
            <a:prstGeom prst="rect">
              <a:avLst/>
            </a:prstGeom>
            <a:solidFill>
              <a:srgbClr val="415669"/>
            </a:solidFill>
            <a:ln>
              <a:noFill/>
            </a:ln>
            <a:effectLst/>
          </p:spPr>
          <p:txBody>
            <a:bodyPr rtlCol="0" anchor="ctr"/>
            <a:lstStyle/>
            <a:p>
              <a:pPr algn="ctr"/>
            </a:p>
          </p:txBody>
        </p:sp>
        <p:sp>
          <p:nvSpPr>
            <p:cNvPr id="24" name="TextBox 23"/>
            <p:cNvSpPr txBox="1"/>
            <p:nvPr/>
          </p:nvSpPr>
          <p:spPr>
            <a:xfrm>
              <a:off x="11201400" y="370332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2028</a:t>
              </a:r>
            </a:p>
          </p:txBody>
        </p:sp>
        <p:sp>
          <p:nvSpPr>
            <p:cNvPr id="25" name="Oval 24"/>
            <p:cNvSpPr/>
            <p:nvPr/>
          </p:nvSpPr>
          <p:spPr>
            <a:xfrm>
              <a:off x="1078992" y="3566160"/>
              <a:ext cx="109728" cy="109728"/>
            </a:xfrm>
            <a:prstGeom prst="ellipse">
              <a:avLst/>
            </a:prstGeom>
            <a:solidFill>
              <a:srgbClr val="0B2D4D"/>
            </a:solidFill>
            <a:ln>
              <a:noFill/>
            </a:ln>
            <a:effectLst/>
          </p:spPr>
          <p:txBody>
            <a:bodyPr rtlCol="0" anchor="ctr"/>
            <a:lstStyle/>
            <a:p>
              <a:pPr algn="ctr"/>
            </a:p>
          </p:txBody>
        </p:sp>
        <p:sp>
          <p:nvSpPr>
            <p:cNvPr id="26" name="Rectangle 25"/>
            <p:cNvSpPr/>
            <p:nvPr/>
          </p:nvSpPr>
          <p:spPr>
            <a:xfrm>
              <a:off x="1126540" y="2971800"/>
              <a:ext cx="14630" cy="640080"/>
            </a:xfrm>
            <a:prstGeom prst="rect">
              <a:avLst/>
            </a:prstGeom>
            <a:solidFill>
              <a:srgbClr val="9AA8B3"/>
            </a:solidFill>
            <a:ln>
              <a:noFill/>
            </a:ln>
            <a:effectLst/>
          </p:spPr>
          <p:txBody>
            <a:bodyPr rtlCol="0" anchor="ctr"/>
            <a:lstStyle/>
            <a:p>
              <a:pPr algn="ctr"/>
            </a:p>
          </p:txBody>
        </p:sp>
        <p:sp>
          <p:nvSpPr>
            <p:cNvPr id="27" name="Rectangle 26"/>
            <p:cNvSpPr/>
            <p:nvPr/>
          </p:nvSpPr>
          <p:spPr>
            <a:xfrm>
              <a:off x="548640" y="1737360"/>
              <a:ext cx="2331720" cy="1234440"/>
            </a:xfrm>
            <a:prstGeom prst="rect">
              <a:avLst/>
            </a:prstGeom>
            <a:solidFill>
              <a:srgbClr val="EDF3F6"/>
            </a:solidFill>
            <a:ln>
              <a:noFill/>
            </a:ln>
            <a:effectLst/>
          </p:spPr>
          <p:txBody>
            <a:bodyPr rtlCol="0" anchor="ctr"/>
            <a:lstStyle/>
            <a:p>
              <a:pPr algn="ctr"/>
            </a:p>
          </p:txBody>
        </p:sp>
        <p:sp>
          <p:nvSpPr>
            <p:cNvPr id="28" name="TextBox 27"/>
            <p:cNvSpPr txBox="1"/>
            <p:nvPr/>
          </p:nvSpPr>
          <p:spPr>
            <a:xfrm>
              <a:off x="676656" y="1828800"/>
              <a:ext cx="2075687" cy="256032"/>
            </a:xfrm>
            <a:prstGeom prst="rect">
              <a:avLst/>
            </a:prstGeom>
            <a:noFill/>
          </p:spPr>
          <p:txBody>
            <a:bodyPr wrap="square" anchor="t" lIns="0" rIns="0" tIns="0" bIns="0">
              <a:spAutoFit/>
            </a:bodyPr>
            <a:lstStyle/>
            <a:p>
              <a:pPr algn="l"/>
              <a:r>
                <a:rPr sz="1250" b="1" i="0">
                  <a:solidFill>
                    <a:srgbClr val="0B2D4D"/>
                  </a:solidFill>
                  <a:latin typeface="Calibri"/>
                </a:rPr>
                <a:t>Mar 2020</a:t>
              </a:r>
            </a:p>
          </p:txBody>
        </p:sp>
        <p:sp>
          <p:nvSpPr>
            <p:cNvPr id="29" name="TextBox 28"/>
            <p:cNvSpPr txBox="1"/>
            <p:nvPr/>
          </p:nvSpPr>
          <p:spPr>
            <a:xfrm>
              <a:off x="676656" y="2103120"/>
              <a:ext cx="2075687" cy="777240"/>
            </a:xfrm>
            <a:prstGeom prst="rect">
              <a:avLst/>
            </a:prstGeom>
            <a:noFill/>
          </p:spPr>
          <p:txBody>
            <a:bodyPr wrap="square" anchor="t" lIns="0" rIns="0" tIns="0" bIns="0">
              <a:spAutoFit/>
            </a:bodyPr>
            <a:lstStyle/>
            <a:p>
              <a:pPr algn="l">
                <a:lnSpc>
                  <a:spcPct val="108000"/>
                </a:lnSpc>
              </a:pPr>
              <a:r>
                <a:rPr sz="1200" b="0" i="0">
                  <a:solidFill>
                    <a:srgbClr val="17232D"/>
                  </a:solidFill>
                  <a:latin typeface="Calibri"/>
                </a:rPr>
                <a:t>American closes every Flagship Lounge except JFK (LAX, DFW, MIA, ORD)</a:t>
              </a:r>
            </a:p>
          </p:txBody>
        </p:sp>
        <p:sp>
          <p:nvSpPr>
            <p:cNvPr id="30" name="Oval 29"/>
            <p:cNvSpPr/>
            <p:nvPr/>
          </p:nvSpPr>
          <p:spPr>
            <a:xfrm>
              <a:off x="3145536" y="3566160"/>
              <a:ext cx="109728" cy="109728"/>
            </a:xfrm>
            <a:prstGeom prst="ellipse">
              <a:avLst/>
            </a:prstGeom>
            <a:solidFill>
              <a:srgbClr val="0B2D4D"/>
            </a:solidFill>
            <a:ln>
              <a:noFill/>
            </a:ln>
            <a:effectLst/>
          </p:spPr>
          <p:txBody>
            <a:bodyPr rtlCol="0" anchor="ctr"/>
            <a:lstStyle/>
            <a:p>
              <a:pPr algn="ctr"/>
            </a:p>
          </p:txBody>
        </p:sp>
        <p:sp>
          <p:nvSpPr>
            <p:cNvPr id="31" name="Rectangle 30"/>
            <p:cNvSpPr/>
            <p:nvPr/>
          </p:nvSpPr>
          <p:spPr>
            <a:xfrm>
              <a:off x="3193084" y="3675888"/>
              <a:ext cx="14630" cy="548639"/>
            </a:xfrm>
            <a:prstGeom prst="rect">
              <a:avLst/>
            </a:prstGeom>
            <a:solidFill>
              <a:srgbClr val="9AA8B3"/>
            </a:solidFill>
            <a:ln>
              <a:noFill/>
            </a:ln>
            <a:effectLst/>
          </p:spPr>
          <p:txBody>
            <a:bodyPr rtlCol="0" anchor="ctr"/>
            <a:lstStyle/>
            <a:p>
              <a:pPr algn="ctr"/>
            </a:p>
          </p:txBody>
        </p:sp>
        <p:sp>
          <p:nvSpPr>
            <p:cNvPr id="32" name="Rectangle 31"/>
            <p:cNvSpPr/>
            <p:nvPr/>
          </p:nvSpPr>
          <p:spPr>
            <a:xfrm>
              <a:off x="2103120" y="4224528"/>
              <a:ext cx="2331720" cy="1234440"/>
            </a:xfrm>
            <a:prstGeom prst="rect">
              <a:avLst/>
            </a:prstGeom>
            <a:solidFill>
              <a:srgbClr val="EDF3F6"/>
            </a:solidFill>
            <a:ln>
              <a:noFill/>
            </a:ln>
            <a:effectLst/>
          </p:spPr>
          <p:txBody>
            <a:bodyPr rtlCol="0" anchor="ctr"/>
            <a:lstStyle/>
            <a:p>
              <a:pPr algn="ctr"/>
            </a:p>
          </p:txBody>
        </p:sp>
        <p:sp>
          <p:nvSpPr>
            <p:cNvPr id="33" name="TextBox 32"/>
            <p:cNvSpPr txBox="1"/>
            <p:nvPr/>
          </p:nvSpPr>
          <p:spPr>
            <a:xfrm>
              <a:off x="2231136" y="4315968"/>
              <a:ext cx="2075687" cy="256032"/>
            </a:xfrm>
            <a:prstGeom prst="rect">
              <a:avLst/>
            </a:prstGeom>
            <a:noFill/>
          </p:spPr>
          <p:txBody>
            <a:bodyPr wrap="square" anchor="t" lIns="0" rIns="0" tIns="0" bIns="0">
              <a:spAutoFit/>
            </a:bodyPr>
            <a:lstStyle/>
            <a:p>
              <a:pPr algn="l"/>
              <a:r>
                <a:rPr sz="1250" b="1" i="0">
                  <a:solidFill>
                    <a:srgbClr val="0B2D4D"/>
                  </a:solidFill>
                  <a:latin typeface="Calibri"/>
                </a:rPr>
                <a:t>Fall 2021 – Apr 2022</a:t>
              </a:r>
            </a:p>
          </p:txBody>
        </p:sp>
        <p:sp>
          <p:nvSpPr>
            <p:cNvPr id="34" name="TextBox 33"/>
            <p:cNvSpPr txBox="1"/>
            <p:nvPr/>
          </p:nvSpPr>
          <p:spPr>
            <a:xfrm>
              <a:off x="2231136" y="4590288"/>
              <a:ext cx="2075687" cy="777240"/>
            </a:xfrm>
            <a:prstGeom prst="rect">
              <a:avLst/>
            </a:prstGeom>
            <a:noFill/>
          </p:spPr>
          <p:txBody>
            <a:bodyPr wrap="square" anchor="t" lIns="0" rIns="0" tIns="0" bIns="0">
              <a:spAutoFit/>
            </a:bodyPr>
            <a:lstStyle/>
            <a:p>
              <a:pPr algn="l">
                <a:lnSpc>
                  <a:spcPct val="108000"/>
                </a:lnSpc>
              </a:pPr>
              <a:r>
                <a:rPr sz="1200" b="0" i="0">
                  <a:solidFill>
                    <a:srgbClr val="17232D"/>
                  </a:solidFill>
                  <a:latin typeface="Calibri"/>
                </a:rPr>
                <a:t>Reopening sequence restores the Flagship network</a:t>
              </a:r>
            </a:p>
          </p:txBody>
        </p:sp>
        <p:sp>
          <p:nvSpPr>
            <p:cNvPr id="35" name="Oval 34"/>
            <p:cNvSpPr/>
            <p:nvPr/>
          </p:nvSpPr>
          <p:spPr>
            <a:xfrm>
              <a:off x="8357615" y="3566160"/>
              <a:ext cx="109728" cy="109728"/>
            </a:xfrm>
            <a:prstGeom prst="ellipse">
              <a:avLst/>
            </a:prstGeom>
            <a:solidFill>
              <a:srgbClr val="0B2D4D"/>
            </a:solidFill>
            <a:ln>
              <a:noFill/>
            </a:ln>
            <a:effectLst/>
          </p:spPr>
          <p:txBody>
            <a:bodyPr rtlCol="0" anchor="ctr"/>
            <a:lstStyle/>
            <a:p>
              <a:pPr algn="ctr"/>
            </a:p>
          </p:txBody>
        </p:sp>
        <p:sp>
          <p:nvSpPr>
            <p:cNvPr id="36" name="Rectangle 35"/>
            <p:cNvSpPr/>
            <p:nvPr/>
          </p:nvSpPr>
          <p:spPr>
            <a:xfrm>
              <a:off x="8405164" y="2971800"/>
              <a:ext cx="14630" cy="640080"/>
            </a:xfrm>
            <a:prstGeom prst="rect">
              <a:avLst/>
            </a:prstGeom>
            <a:solidFill>
              <a:srgbClr val="9AA8B3"/>
            </a:solidFill>
            <a:ln>
              <a:noFill/>
            </a:ln>
            <a:effectLst/>
          </p:spPr>
          <p:txBody>
            <a:bodyPr rtlCol="0" anchor="ctr"/>
            <a:lstStyle/>
            <a:p>
              <a:pPr algn="ctr"/>
            </a:p>
          </p:txBody>
        </p:sp>
        <p:sp>
          <p:nvSpPr>
            <p:cNvPr id="37" name="Rectangle 36"/>
            <p:cNvSpPr/>
            <p:nvPr/>
          </p:nvSpPr>
          <p:spPr>
            <a:xfrm>
              <a:off x="6949440" y="1737360"/>
              <a:ext cx="2331720" cy="1234440"/>
            </a:xfrm>
            <a:prstGeom prst="rect">
              <a:avLst/>
            </a:prstGeom>
            <a:solidFill>
              <a:srgbClr val="EDF3F6"/>
            </a:solidFill>
            <a:ln>
              <a:noFill/>
            </a:ln>
            <a:effectLst/>
          </p:spPr>
          <p:txBody>
            <a:bodyPr rtlCol="0" anchor="ctr"/>
            <a:lstStyle/>
            <a:p>
              <a:pPr algn="ctr"/>
            </a:p>
          </p:txBody>
        </p:sp>
        <p:sp>
          <p:nvSpPr>
            <p:cNvPr id="38" name="TextBox 37"/>
            <p:cNvSpPr txBox="1"/>
            <p:nvPr/>
          </p:nvSpPr>
          <p:spPr>
            <a:xfrm>
              <a:off x="7077455" y="1828800"/>
              <a:ext cx="2075687" cy="256032"/>
            </a:xfrm>
            <a:prstGeom prst="rect">
              <a:avLst/>
            </a:prstGeom>
            <a:noFill/>
          </p:spPr>
          <p:txBody>
            <a:bodyPr wrap="square" anchor="t" lIns="0" rIns="0" tIns="0" bIns="0">
              <a:spAutoFit/>
            </a:bodyPr>
            <a:lstStyle/>
            <a:p>
              <a:pPr algn="l"/>
              <a:r>
                <a:rPr sz="1250" b="1" i="0">
                  <a:solidFill>
                    <a:srgbClr val="0B2D4D"/>
                  </a:solidFill>
                  <a:latin typeface="Calibri"/>
                </a:rPr>
                <a:t>Q4 2025</a:t>
              </a:r>
            </a:p>
          </p:txBody>
        </p:sp>
        <p:sp>
          <p:nvSpPr>
            <p:cNvPr id="39" name="TextBox 38"/>
            <p:cNvSpPr txBox="1"/>
            <p:nvPr/>
          </p:nvSpPr>
          <p:spPr>
            <a:xfrm>
              <a:off x="7077455" y="2103120"/>
              <a:ext cx="2075687" cy="777240"/>
            </a:xfrm>
            <a:prstGeom prst="rect">
              <a:avLst/>
            </a:prstGeom>
            <a:noFill/>
          </p:spPr>
          <p:txBody>
            <a:bodyPr wrap="square" anchor="t" lIns="0" rIns="0" tIns="0" bIns="0">
              <a:spAutoFit/>
            </a:bodyPr>
            <a:lstStyle/>
            <a:p>
              <a:pPr algn="l">
                <a:lnSpc>
                  <a:spcPct val="108000"/>
                </a:lnSpc>
              </a:pPr>
              <a:r>
                <a:rPr sz="1200" b="0" i="0">
                  <a:solidFill>
                    <a:srgbClr val="17232D"/>
                  </a:solidFill>
                  <a:latin typeface="Calibri"/>
                </a:rPr>
                <a:t>Delta premium ticket revenue crosses main cabin: $5.70B vs $5.62B (FY25 premium $22.1B)</a:t>
              </a:r>
            </a:p>
          </p:txBody>
        </p:sp>
        <p:sp>
          <p:nvSpPr>
            <p:cNvPr id="40" name="Oval 39"/>
            <p:cNvSpPr/>
            <p:nvPr/>
          </p:nvSpPr>
          <p:spPr>
            <a:xfrm>
              <a:off x="9473184" y="3566160"/>
              <a:ext cx="109728" cy="109728"/>
            </a:xfrm>
            <a:prstGeom prst="ellipse">
              <a:avLst/>
            </a:prstGeom>
            <a:solidFill>
              <a:srgbClr val="0B2D4D"/>
            </a:solidFill>
            <a:ln>
              <a:noFill/>
            </a:ln>
            <a:effectLst/>
          </p:spPr>
          <p:txBody>
            <a:bodyPr rtlCol="0" anchor="ctr"/>
            <a:lstStyle/>
            <a:p>
              <a:pPr algn="ctr"/>
            </a:p>
          </p:txBody>
        </p:sp>
        <p:sp>
          <p:nvSpPr>
            <p:cNvPr id="41" name="Rectangle 40"/>
            <p:cNvSpPr/>
            <p:nvPr/>
          </p:nvSpPr>
          <p:spPr>
            <a:xfrm>
              <a:off x="9520732" y="3675888"/>
              <a:ext cx="14630" cy="548639"/>
            </a:xfrm>
            <a:prstGeom prst="rect">
              <a:avLst/>
            </a:prstGeom>
            <a:solidFill>
              <a:srgbClr val="9AA8B3"/>
            </a:solidFill>
            <a:ln>
              <a:noFill/>
            </a:ln>
            <a:effectLst/>
          </p:spPr>
          <p:txBody>
            <a:bodyPr rtlCol="0" anchor="ctr"/>
            <a:lstStyle/>
            <a:p>
              <a:pPr algn="ctr"/>
            </a:p>
          </p:txBody>
        </p:sp>
        <p:sp>
          <p:nvSpPr>
            <p:cNvPr id="42" name="Rectangle 41"/>
            <p:cNvSpPr/>
            <p:nvPr/>
          </p:nvSpPr>
          <p:spPr>
            <a:xfrm>
              <a:off x="8138160" y="4224528"/>
              <a:ext cx="3017520" cy="1234440"/>
            </a:xfrm>
            <a:prstGeom prst="rect">
              <a:avLst/>
            </a:prstGeom>
            <a:solidFill>
              <a:srgbClr val="EDF3F6"/>
            </a:solidFill>
            <a:ln>
              <a:noFill/>
            </a:ln>
            <a:effectLst/>
          </p:spPr>
          <p:txBody>
            <a:bodyPr rtlCol="0" anchor="ctr"/>
            <a:lstStyle/>
            <a:p>
              <a:pPr algn="ctr"/>
            </a:p>
          </p:txBody>
        </p:sp>
        <p:sp>
          <p:nvSpPr>
            <p:cNvPr id="43" name="TextBox 42"/>
            <p:cNvSpPr txBox="1"/>
            <p:nvPr/>
          </p:nvSpPr>
          <p:spPr>
            <a:xfrm>
              <a:off x="8266176" y="4315968"/>
              <a:ext cx="2761487" cy="256032"/>
            </a:xfrm>
            <a:prstGeom prst="rect">
              <a:avLst/>
            </a:prstGeom>
            <a:noFill/>
          </p:spPr>
          <p:txBody>
            <a:bodyPr wrap="square" anchor="t" lIns="0" rIns="0" tIns="0" bIns="0">
              <a:spAutoFit/>
            </a:bodyPr>
            <a:lstStyle/>
            <a:p>
              <a:pPr algn="l"/>
              <a:r>
                <a:rPr sz="1250" b="1" i="0">
                  <a:solidFill>
                    <a:srgbClr val="0B2D4D"/>
                  </a:solidFill>
                  <a:latin typeface="Calibri"/>
                </a:rPr>
                <a:t>2026</a:t>
              </a:r>
            </a:p>
          </p:txBody>
        </p:sp>
        <p:sp>
          <p:nvSpPr>
            <p:cNvPr id="44" name="TextBox 43"/>
            <p:cNvSpPr txBox="1"/>
            <p:nvPr/>
          </p:nvSpPr>
          <p:spPr>
            <a:xfrm>
              <a:off x="8266176" y="4590288"/>
              <a:ext cx="2761487" cy="777240"/>
            </a:xfrm>
            <a:prstGeom prst="rect">
              <a:avLst/>
            </a:prstGeom>
            <a:noFill/>
          </p:spPr>
          <p:txBody>
            <a:bodyPr wrap="square" anchor="t" lIns="0" rIns="0" tIns="0" bIns="0">
              <a:spAutoFit/>
            </a:bodyPr>
            <a:lstStyle/>
            <a:p>
              <a:pPr algn="l">
                <a:lnSpc>
                  <a:spcPct val="108000"/>
                </a:lnSpc>
              </a:pPr>
              <a:r>
                <a:rPr sz="1200" b="0" i="0">
                  <a:solidFill>
                    <a:srgbClr val="17232D"/>
                  </a:solidFill>
                  <a:latin typeface="Calibri"/>
                </a:rPr>
                <a:t>American shifts long-haul into DFW: +6% Q3 YoY (LHR −13%); six new international routes summer 2026</a:t>
              </a:r>
            </a:p>
          </p:txBody>
        </p:sp>
        <p:sp>
          <p:nvSpPr>
            <p:cNvPr id="45" name="Oval 44"/>
            <p:cNvSpPr/>
            <p:nvPr/>
          </p:nvSpPr>
          <p:spPr>
            <a:xfrm>
              <a:off x="11420856" y="3566160"/>
              <a:ext cx="109728" cy="109728"/>
            </a:xfrm>
            <a:prstGeom prst="ellipse">
              <a:avLst/>
            </a:prstGeom>
            <a:solidFill>
              <a:srgbClr val="0B2D4D"/>
            </a:solidFill>
            <a:ln>
              <a:noFill/>
            </a:ln>
            <a:effectLst/>
          </p:spPr>
          <p:txBody>
            <a:bodyPr rtlCol="0" anchor="ctr"/>
            <a:lstStyle/>
            <a:p>
              <a:pPr algn="ctr"/>
            </a:p>
          </p:txBody>
        </p:sp>
        <p:sp>
          <p:nvSpPr>
            <p:cNvPr id="46" name="Rectangle 45"/>
            <p:cNvSpPr/>
            <p:nvPr/>
          </p:nvSpPr>
          <p:spPr>
            <a:xfrm>
              <a:off x="11468404" y="2971800"/>
              <a:ext cx="14630" cy="640080"/>
            </a:xfrm>
            <a:prstGeom prst="rect">
              <a:avLst/>
            </a:prstGeom>
            <a:solidFill>
              <a:srgbClr val="9AA8B3"/>
            </a:solidFill>
            <a:ln>
              <a:noFill/>
            </a:ln>
            <a:effectLst/>
          </p:spPr>
          <p:txBody>
            <a:bodyPr rtlCol="0" anchor="ctr"/>
            <a:lstStyle/>
            <a:p>
              <a:pPr algn="ctr"/>
            </a:p>
          </p:txBody>
        </p:sp>
        <p:sp>
          <p:nvSpPr>
            <p:cNvPr id="47" name="Rectangle 46"/>
            <p:cNvSpPr/>
            <p:nvPr/>
          </p:nvSpPr>
          <p:spPr>
            <a:xfrm>
              <a:off x="9418320" y="1737360"/>
              <a:ext cx="2240280" cy="1234440"/>
            </a:xfrm>
            <a:prstGeom prst="rect">
              <a:avLst/>
            </a:prstGeom>
            <a:solidFill>
              <a:srgbClr val="EDF3F6"/>
            </a:solidFill>
            <a:ln>
              <a:noFill/>
            </a:ln>
            <a:effectLst/>
          </p:spPr>
          <p:txBody>
            <a:bodyPr rtlCol="0" anchor="ctr"/>
            <a:lstStyle/>
            <a:p>
              <a:pPr algn="ctr"/>
            </a:p>
          </p:txBody>
        </p:sp>
        <p:sp>
          <p:nvSpPr>
            <p:cNvPr id="48" name="TextBox 47"/>
            <p:cNvSpPr txBox="1"/>
            <p:nvPr/>
          </p:nvSpPr>
          <p:spPr>
            <a:xfrm>
              <a:off x="9546336" y="1828800"/>
              <a:ext cx="1984248" cy="256032"/>
            </a:xfrm>
            <a:prstGeom prst="rect">
              <a:avLst/>
            </a:prstGeom>
            <a:noFill/>
          </p:spPr>
          <p:txBody>
            <a:bodyPr wrap="square" anchor="t" lIns="0" rIns="0" tIns="0" bIns="0">
              <a:spAutoFit/>
            </a:bodyPr>
            <a:lstStyle/>
            <a:p>
              <a:pPr algn="l"/>
              <a:r>
                <a:rPr sz="1250" b="1" i="0">
                  <a:solidFill>
                    <a:srgbClr val="0B2D4D"/>
                  </a:solidFill>
                  <a:latin typeface="Calibri"/>
                </a:rPr>
                <a:t>2028</a:t>
              </a:r>
            </a:p>
          </p:txBody>
        </p:sp>
        <p:sp>
          <p:nvSpPr>
            <p:cNvPr id="49" name="TextBox 48"/>
            <p:cNvSpPr txBox="1"/>
            <p:nvPr/>
          </p:nvSpPr>
          <p:spPr>
            <a:xfrm>
              <a:off x="9546336" y="2103120"/>
              <a:ext cx="1984248" cy="777240"/>
            </a:xfrm>
            <a:prstGeom prst="rect">
              <a:avLst/>
            </a:prstGeom>
            <a:noFill/>
          </p:spPr>
          <p:txBody>
            <a:bodyPr wrap="square" anchor="t" lIns="0" rIns="0" tIns="0" bIns="0">
              <a:spAutoFit/>
            </a:bodyPr>
            <a:lstStyle/>
            <a:p>
              <a:pPr algn="l">
                <a:lnSpc>
                  <a:spcPct val="108000"/>
                </a:lnSpc>
              </a:pPr>
              <a:r>
                <a:rPr sz="1200" b="0" i="0">
                  <a:solidFill>
                    <a:srgbClr val="17232D"/>
                  </a:solidFill>
                  <a:latin typeface="Calibri"/>
                </a:rPr>
                <a:t>ATL Delta One Lounge target — 'Delta stated the date, not the reason'</a:t>
              </a:r>
            </a:p>
          </p:txBody>
        </p:sp>
      </p:grpSp>
      <p:sp>
        <p:nvSpPr>
          <p:cNvPr id="50" name="slide-12-takeaway"/>
          <p:cNvSpPr txBox="1"/>
          <p:nvPr/>
        </p:nvSpPr>
        <p:spPr>
          <a:xfrm>
            <a:off x="502920" y="5760720"/>
            <a:ext cx="11183112" cy="502920"/>
          </a:xfrm>
          <a:prstGeom prst="rect">
            <a:avLst/>
          </a:prstGeom>
          <a:noFill/>
        </p:spPr>
        <p:txBody>
          <a:bodyPr wrap="square" anchor="t" lIns="0" rIns="0" tIns="0" bIns="0">
            <a:spAutoFit/>
          </a:bodyPr>
          <a:lstStyle/>
          <a:p>
            <a:pPr algn="l"/>
            <a:r>
              <a:rPr sz="1600" b="0" i="1">
                <a:solidFill>
                  <a:srgbClr val="415669"/>
                </a:solidFill>
                <a:latin typeface="Calibri"/>
              </a:rPr>
              <a:t>A design bet that must survive to 2043 needs to survive several repetitions of the 2020–2022 cycle.</a:t>
            </a:r>
          </a:p>
        </p:txBody>
      </p:sp>
      <p:sp>
        <p:nvSpPr>
          <p:cNvPr id="51" name="slide-12-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Simple Flying (2020 Flagship closures and reopenings); Delta Q4 2025 earnings release; Afar and industry coverage (ATL 2028 target); Simple Flying / Travel and Tour World (AA long-haul capacity); AA newsroom via aviationa2z (summer 2026 routes).</a:t>
            </a:r>
          </a:p>
        </p:txBody>
      </p:sp>
      <p:sp>
        <p:nvSpPr>
          <p:cNvPr id="52" name="slide-12-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13-title"/>
          <p:cNvSpPr txBox="1"/>
          <p:nvPr/>
        </p:nvSpPr>
        <p:spPr>
          <a:xfrm>
            <a:off x="502920" y="274320"/>
            <a:ext cx="9509760"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DFW's cost position versus peer hubs, 2024</a:t>
            </a:r>
          </a:p>
        </p:txBody>
      </p:sp>
      <p:sp>
        <p:nvSpPr>
          <p:cNvPr id="3" name="slide-13-chip-bg"/>
          <p:cNvSpPr/>
          <p:nvPr/>
        </p:nvSpPr>
        <p:spPr>
          <a:xfrm>
            <a:off x="10177272" y="310896"/>
            <a:ext cx="1508760" cy="365760"/>
          </a:xfrm>
          <a:prstGeom prst="rect">
            <a:avLst/>
          </a:prstGeom>
          <a:solidFill>
            <a:srgbClr val="415669"/>
          </a:solidFill>
          <a:ln>
            <a:noFill/>
          </a:ln>
          <a:effectLst/>
        </p:spPr>
        <p:txBody>
          <a:bodyPr rtlCol="0" anchor="ctr"/>
          <a:lstStyle/>
          <a:p>
            <a:pPr algn="ctr"/>
          </a:p>
        </p:txBody>
      </p:sp>
      <p:sp>
        <p:nvSpPr>
          <p:cNvPr id="4" name="slide-13-chip"/>
          <p:cNvSpPr txBox="1"/>
          <p:nvPr/>
        </p:nvSpPr>
        <p:spPr>
          <a:xfrm>
            <a:off x="10177272" y="365760"/>
            <a:ext cx="1508760" cy="274320"/>
          </a:xfrm>
          <a:prstGeom prst="rect">
            <a:avLst/>
          </a:prstGeom>
          <a:noFill/>
        </p:spPr>
        <p:txBody>
          <a:bodyPr wrap="square" anchor="t" lIns="0" rIns="0" tIns="0" bIns="0">
            <a:spAutoFit/>
          </a:bodyPr>
          <a:lstStyle/>
          <a:p>
            <a:pPr algn="ctr"/>
            <a:r>
              <a:rPr sz="1600" b="1" i="0">
                <a:solidFill>
                  <a:srgbClr val="FFFFFF"/>
                </a:solidFill>
                <a:latin typeface="Calibri"/>
              </a:rPr>
              <a:t>READ-AHEAD</a:t>
            </a:r>
          </a:p>
        </p:txBody>
      </p:sp>
      <p:grpSp>
        <p:nvGrpSpPr>
          <p:cNvPr id="5" name="slide-13-bars" descr="Horizontal bar chart of 2024 cost per enplanement across twelve US hubs, ascending from Detroit at 9.20 dollars to JFK at 36.01 dollars, with DFW highlighted at 13.44 dollars — well below JFK, LAX, Newark, and O'Hare."/>
          <p:cNvGrpSpPr/>
          <p:nvPr/>
        </p:nvGrpSpPr>
        <p:grpSpPr>
          <a:xfrm>
            <a:off x="502920" y="1335024"/>
            <a:ext cx="11155680" cy="4974336"/>
            <a:chOff x="502920" y="1335024"/>
            <a:chExt cx="11155680" cy="4974336"/>
          </a:xfrm>
        </p:grpSpPr>
        <p:sp>
          <p:nvSpPr>
            <p:cNvPr id="6" name="TextBox 5"/>
            <p:cNvSpPr txBox="1"/>
            <p:nvPr/>
          </p:nvSpPr>
          <p:spPr>
            <a:xfrm>
              <a:off x="502920" y="1335024"/>
              <a:ext cx="7315200" cy="274320"/>
            </a:xfrm>
            <a:prstGeom prst="rect">
              <a:avLst/>
            </a:prstGeom>
            <a:noFill/>
          </p:spPr>
          <p:txBody>
            <a:bodyPr wrap="square" anchor="t" lIns="0" rIns="0" tIns="0" bIns="0">
              <a:spAutoFit/>
            </a:bodyPr>
            <a:lstStyle/>
            <a:p>
              <a:pPr algn="l"/>
              <a:r>
                <a:rPr sz="1300" b="1" i="0">
                  <a:solidFill>
                    <a:srgbClr val="415669"/>
                  </a:solidFill>
                  <a:latin typeface="Calibri"/>
                </a:rPr>
                <a:t>USD per enplaned passenger — 2024 peer table</a:t>
              </a:r>
            </a:p>
          </p:txBody>
        </p:sp>
        <p:sp>
          <p:nvSpPr>
            <p:cNvPr id="7" name="TextBox 6"/>
            <p:cNvSpPr txBox="1"/>
            <p:nvPr/>
          </p:nvSpPr>
          <p:spPr>
            <a:xfrm>
              <a:off x="502920" y="1696212"/>
              <a:ext cx="960120" cy="237744"/>
            </a:xfrm>
            <a:prstGeom prst="rect">
              <a:avLst/>
            </a:prstGeom>
            <a:noFill/>
          </p:spPr>
          <p:txBody>
            <a:bodyPr wrap="square" anchor="t" lIns="0" rIns="0" tIns="0" bIns="0">
              <a:spAutoFit/>
            </a:bodyPr>
            <a:lstStyle/>
            <a:p>
              <a:pPr algn="r"/>
              <a:r>
                <a:rPr sz="1250" b="1" i="0">
                  <a:solidFill>
                    <a:srgbClr val="415669"/>
                  </a:solidFill>
                  <a:latin typeface="Calibri"/>
                </a:rPr>
                <a:t>DTW</a:t>
              </a:r>
            </a:p>
          </p:txBody>
        </p:sp>
        <p:sp>
          <p:nvSpPr>
            <p:cNvPr id="8" name="Rectangle 7"/>
            <p:cNvSpPr/>
            <p:nvPr/>
          </p:nvSpPr>
          <p:spPr>
            <a:xfrm>
              <a:off x="1645920" y="1682496"/>
              <a:ext cx="2102535" cy="228600"/>
            </a:xfrm>
            <a:prstGeom prst="rect">
              <a:avLst/>
            </a:prstGeom>
            <a:solidFill>
              <a:srgbClr val="415669"/>
            </a:solidFill>
            <a:ln>
              <a:noFill/>
            </a:ln>
            <a:effectLst/>
          </p:spPr>
          <p:txBody>
            <a:bodyPr rtlCol="0" anchor="ctr"/>
            <a:lstStyle/>
            <a:p>
              <a:pPr algn="ctr"/>
            </a:p>
          </p:txBody>
        </p:sp>
        <p:sp>
          <p:nvSpPr>
            <p:cNvPr id="9" name="TextBox 8"/>
            <p:cNvSpPr txBox="1"/>
            <p:nvPr/>
          </p:nvSpPr>
          <p:spPr>
            <a:xfrm>
              <a:off x="3839895" y="1696212"/>
              <a:ext cx="1280160" cy="237744"/>
            </a:xfrm>
            <a:prstGeom prst="rect">
              <a:avLst/>
            </a:prstGeom>
            <a:noFill/>
          </p:spPr>
          <p:txBody>
            <a:bodyPr wrap="square" anchor="t" lIns="0" rIns="0" tIns="0" bIns="0">
              <a:spAutoFit/>
            </a:bodyPr>
            <a:lstStyle/>
            <a:p>
              <a:pPr algn="l"/>
              <a:r>
                <a:rPr sz="1200" b="0" i="0">
                  <a:solidFill>
                    <a:srgbClr val="17232D"/>
                  </a:solidFill>
                  <a:latin typeface="Calibri"/>
                </a:rPr>
                <a:t>$9.20</a:t>
              </a:r>
            </a:p>
          </p:txBody>
        </p:sp>
        <p:sp>
          <p:nvSpPr>
            <p:cNvPr id="10" name="TextBox 9"/>
            <p:cNvSpPr txBox="1"/>
            <p:nvPr/>
          </p:nvSpPr>
          <p:spPr>
            <a:xfrm>
              <a:off x="502920" y="2025396"/>
              <a:ext cx="960120" cy="237744"/>
            </a:xfrm>
            <a:prstGeom prst="rect">
              <a:avLst/>
            </a:prstGeom>
            <a:noFill/>
          </p:spPr>
          <p:txBody>
            <a:bodyPr wrap="square" anchor="t" lIns="0" rIns="0" tIns="0" bIns="0">
              <a:spAutoFit/>
            </a:bodyPr>
            <a:lstStyle/>
            <a:p>
              <a:pPr algn="r"/>
              <a:r>
                <a:rPr sz="1250" b="1" i="0">
                  <a:solidFill>
                    <a:srgbClr val="415669"/>
                  </a:solidFill>
                  <a:latin typeface="Calibri"/>
                </a:rPr>
                <a:t>IAH</a:t>
              </a:r>
            </a:p>
          </p:txBody>
        </p:sp>
        <p:sp>
          <p:nvSpPr>
            <p:cNvPr id="11" name="Rectangle 10"/>
            <p:cNvSpPr/>
            <p:nvPr/>
          </p:nvSpPr>
          <p:spPr>
            <a:xfrm>
              <a:off x="1645920" y="2011680"/>
              <a:ext cx="2436199" cy="228600"/>
            </a:xfrm>
            <a:prstGeom prst="rect">
              <a:avLst/>
            </a:prstGeom>
            <a:solidFill>
              <a:srgbClr val="415669"/>
            </a:solidFill>
            <a:ln>
              <a:noFill/>
            </a:ln>
            <a:effectLst/>
          </p:spPr>
          <p:txBody>
            <a:bodyPr rtlCol="0" anchor="ctr"/>
            <a:lstStyle/>
            <a:p>
              <a:pPr algn="ctr"/>
            </a:p>
          </p:txBody>
        </p:sp>
        <p:sp>
          <p:nvSpPr>
            <p:cNvPr id="12" name="TextBox 11"/>
            <p:cNvSpPr txBox="1"/>
            <p:nvPr/>
          </p:nvSpPr>
          <p:spPr>
            <a:xfrm>
              <a:off x="4173559" y="2025396"/>
              <a:ext cx="1280160" cy="237744"/>
            </a:xfrm>
            <a:prstGeom prst="rect">
              <a:avLst/>
            </a:prstGeom>
            <a:noFill/>
          </p:spPr>
          <p:txBody>
            <a:bodyPr wrap="square" anchor="t" lIns="0" rIns="0" tIns="0" bIns="0">
              <a:spAutoFit/>
            </a:bodyPr>
            <a:lstStyle/>
            <a:p>
              <a:pPr algn="l"/>
              <a:r>
                <a:rPr sz="1200" b="0" i="0">
                  <a:solidFill>
                    <a:srgbClr val="17232D"/>
                  </a:solidFill>
                  <a:latin typeface="Calibri"/>
                </a:rPr>
                <a:t>$10.66</a:t>
              </a:r>
            </a:p>
          </p:txBody>
        </p:sp>
        <p:sp>
          <p:nvSpPr>
            <p:cNvPr id="13" name="TextBox 12"/>
            <p:cNvSpPr txBox="1"/>
            <p:nvPr/>
          </p:nvSpPr>
          <p:spPr>
            <a:xfrm>
              <a:off x="502920" y="2354580"/>
              <a:ext cx="960120" cy="237744"/>
            </a:xfrm>
            <a:prstGeom prst="rect">
              <a:avLst/>
            </a:prstGeom>
            <a:noFill/>
          </p:spPr>
          <p:txBody>
            <a:bodyPr wrap="square" anchor="t" lIns="0" rIns="0" tIns="0" bIns="0">
              <a:spAutoFit/>
            </a:bodyPr>
            <a:lstStyle/>
            <a:p>
              <a:pPr algn="r"/>
              <a:r>
                <a:rPr sz="1250" b="1" i="0">
                  <a:solidFill>
                    <a:srgbClr val="415669"/>
                  </a:solidFill>
                  <a:latin typeface="Calibri"/>
                </a:rPr>
                <a:t>MSP</a:t>
              </a:r>
            </a:p>
          </p:txBody>
        </p:sp>
        <p:sp>
          <p:nvSpPr>
            <p:cNvPr id="14" name="Rectangle 13"/>
            <p:cNvSpPr/>
            <p:nvPr/>
          </p:nvSpPr>
          <p:spPr>
            <a:xfrm>
              <a:off x="1645920" y="2340864"/>
              <a:ext cx="2527613" cy="228600"/>
            </a:xfrm>
            <a:prstGeom prst="rect">
              <a:avLst/>
            </a:prstGeom>
            <a:solidFill>
              <a:srgbClr val="415669"/>
            </a:solidFill>
            <a:ln>
              <a:noFill/>
            </a:ln>
            <a:effectLst/>
          </p:spPr>
          <p:txBody>
            <a:bodyPr rtlCol="0" anchor="ctr"/>
            <a:lstStyle/>
            <a:p>
              <a:pPr algn="ctr"/>
            </a:p>
          </p:txBody>
        </p:sp>
        <p:sp>
          <p:nvSpPr>
            <p:cNvPr id="15" name="TextBox 14"/>
            <p:cNvSpPr txBox="1"/>
            <p:nvPr/>
          </p:nvSpPr>
          <p:spPr>
            <a:xfrm>
              <a:off x="4264973" y="2354580"/>
              <a:ext cx="1280160" cy="237744"/>
            </a:xfrm>
            <a:prstGeom prst="rect">
              <a:avLst/>
            </a:prstGeom>
            <a:noFill/>
          </p:spPr>
          <p:txBody>
            <a:bodyPr wrap="square" anchor="t" lIns="0" rIns="0" tIns="0" bIns="0">
              <a:spAutoFit/>
            </a:bodyPr>
            <a:lstStyle/>
            <a:p>
              <a:pPr algn="l"/>
              <a:r>
                <a:rPr sz="1200" b="0" i="0">
                  <a:solidFill>
                    <a:srgbClr val="17232D"/>
                  </a:solidFill>
                  <a:latin typeface="Calibri"/>
                </a:rPr>
                <a:t>$11.06</a:t>
              </a:r>
            </a:p>
          </p:txBody>
        </p:sp>
        <p:sp>
          <p:nvSpPr>
            <p:cNvPr id="16" name="TextBox 15"/>
            <p:cNvSpPr txBox="1"/>
            <p:nvPr/>
          </p:nvSpPr>
          <p:spPr>
            <a:xfrm>
              <a:off x="502920" y="2683764"/>
              <a:ext cx="960120" cy="237744"/>
            </a:xfrm>
            <a:prstGeom prst="rect">
              <a:avLst/>
            </a:prstGeom>
            <a:noFill/>
          </p:spPr>
          <p:txBody>
            <a:bodyPr wrap="square" anchor="t" lIns="0" rIns="0" tIns="0" bIns="0">
              <a:spAutoFit/>
            </a:bodyPr>
            <a:lstStyle/>
            <a:p>
              <a:pPr algn="r"/>
              <a:r>
                <a:rPr sz="1250" b="1" i="0">
                  <a:solidFill>
                    <a:srgbClr val="415669"/>
                  </a:solidFill>
                  <a:latin typeface="Calibri"/>
                </a:rPr>
                <a:t>DEN</a:t>
              </a:r>
            </a:p>
          </p:txBody>
        </p:sp>
        <p:sp>
          <p:nvSpPr>
            <p:cNvPr id="17" name="Rectangle 16"/>
            <p:cNvSpPr/>
            <p:nvPr/>
          </p:nvSpPr>
          <p:spPr>
            <a:xfrm>
              <a:off x="1645920" y="2670048"/>
              <a:ext cx="2916125" cy="228600"/>
            </a:xfrm>
            <a:prstGeom prst="rect">
              <a:avLst/>
            </a:prstGeom>
            <a:solidFill>
              <a:srgbClr val="415669"/>
            </a:solidFill>
            <a:ln>
              <a:noFill/>
            </a:ln>
            <a:effectLst/>
          </p:spPr>
          <p:txBody>
            <a:bodyPr rtlCol="0" anchor="ctr"/>
            <a:lstStyle/>
            <a:p>
              <a:pPr algn="ctr"/>
            </a:p>
          </p:txBody>
        </p:sp>
        <p:sp>
          <p:nvSpPr>
            <p:cNvPr id="18" name="TextBox 17"/>
            <p:cNvSpPr txBox="1"/>
            <p:nvPr/>
          </p:nvSpPr>
          <p:spPr>
            <a:xfrm>
              <a:off x="4653485" y="2683764"/>
              <a:ext cx="1280160" cy="237744"/>
            </a:xfrm>
            <a:prstGeom prst="rect">
              <a:avLst/>
            </a:prstGeom>
            <a:noFill/>
          </p:spPr>
          <p:txBody>
            <a:bodyPr wrap="square" anchor="t" lIns="0" rIns="0" tIns="0" bIns="0">
              <a:spAutoFit/>
            </a:bodyPr>
            <a:lstStyle/>
            <a:p>
              <a:pPr algn="l"/>
              <a:r>
                <a:rPr sz="1200" b="0" i="0">
                  <a:solidFill>
                    <a:srgbClr val="17232D"/>
                  </a:solidFill>
                  <a:latin typeface="Calibri"/>
                </a:rPr>
                <a:t>$12.76</a:t>
              </a:r>
            </a:p>
          </p:txBody>
        </p:sp>
        <p:sp>
          <p:nvSpPr>
            <p:cNvPr id="19" name="TextBox 18"/>
            <p:cNvSpPr txBox="1"/>
            <p:nvPr/>
          </p:nvSpPr>
          <p:spPr>
            <a:xfrm>
              <a:off x="502920" y="3012948"/>
              <a:ext cx="960120" cy="237744"/>
            </a:xfrm>
            <a:prstGeom prst="rect">
              <a:avLst/>
            </a:prstGeom>
            <a:noFill/>
          </p:spPr>
          <p:txBody>
            <a:bodyPr wrap="square" anchor="t" lIns="0" rIns="0" tIns="0" bIns="0">
              <a:spAutoFit/>
            </a:bodyPr>
            <a:lstStyle/>
            <a:p>
              <a:pPr algn="r"/>
              <a:r>
                <a:rPr sz="1250" b="1" i="0">
                  <a:solidFill>
                    <a:srgbClr val="0B2D4D"/>
                  </a:solidFill>
                  <a:latin typeface="Calibri"/>
                </a:rPr>
                <a:t>DFW</a:t>
              </a:r>
            </a:p>
          </p:txBody>
        </p:sp>
        <p:sp>
          <p:nvSpPr>
            <p:cNvPr id="20" name="Rectangle 19"/>
            <p:cNvSpPr/>
            <p:nvPr/>
          </p:nvSpPr>
          <p:spPr>
            <a:xfrm>
              <a:off x="1645920" y="2999232"/>
              <a:ext cx="3071530" cy="228600"/>
            </a:xfrm>
            <a:prstGeom prst="rect">
              <a:avLst/>
            </a:prstGeom>
            <a:solidFill>
              <a:srgbClr val="2E84A5"/>
            </a:solidFill>
            <a:ln>
              <a:noFill/>
            </a:ln>
            <a:effectLst/>
          </p:spPr>
          <p:txBody>
            <a:bodyPr rtlCol="0" anchor="ctr"/>
            <a:lstStyle/>
            <a:p>
              <a:pPr algn="ctr"/>
            </a:p>
          </p:txBody>
        </p:sp>
        <p:sp>
          <p:nvSpPr>
            <p:cNvPr id="21" name="TextBox 20"/>
            <p:cNvSpPr txBox="1"/>
            <p:nvPr/>
          </p:nvSpPr>
          <p:spPr>
            <a:xfrm>
              <a:off x="4808890" y="3012948"/>
              <a:ext cx="2377440" cy="237744"/>
            </a:xfrm>
            <a:prstGeom prst="rect">
              <a:avLst/>
            </a:prstGeom>
            <a:noFill/>
          </p:spPr>
          <p:txBody>
            <a:bodyPr wrap="square" anchor="t" lIns="0" rIns="0" tIns="0" bIns="0">
              <a:spAutoFit/>
            </a:bodyPr>
            <a:lstStyle/>
            <a:p>
              <a:pPr algn="l"/>
              <a:r>
                <a:rPr sz="1200" b="1" i="0">
                  <a:solidFill>
                    <a:srgbClr val="0B2D4D"/>
                  </a:solidFill>
                  <a:latin typeface="Calibri"/>
                </a:rPr>
                <a:t>$13.44   — this airport</a:t>
              </a:r>
            </a:p>
          </p:txBody>
        </p:sp>
        <p:sp>
          <p:nvSpPr>
            <p:cNvPr id="22" name="TextBox 21"/>
            <p:cNvSpPr txBox="1"/>
            <p:nvPr/>
          </p:nvSpPr>
          <p:spPr>
            <a:xfrm>
              <a:off x="502920" y="3342132"/>
              <a:ext cx="960120" cy="237744"/>
            </a:xfrm>
            <a:prstGeom prst="rect">
              <a:avLst/>
            </a:prstGeom>
            <a:noFill/>
          </p:spPr>
          <p:txBody>
            <a:bodyPr wrap="square" anchor="t" lIns="0" rIns="0" tIns="0" bIns="0">
              <a:spAutoFit/>
            </a:bodyPr>
            <a:lstStyle/>
            <a:p>
              <a:pPr algn="r"/>
              <a:r>
                <a:rPr sz="1250" b="1" i="0">
                  <a:solidFill>
                    <a:srgbClr val="415669"/>
                  </a:solidFill>
                  <a:latin typeface="Calibri"/>
                </a:rPr>
                <a:t>PHL</a:t>
              </a:r>
            </a:p>
          </p:txBody>
        </p:sp>
        <p:sp>
          <p:nvSpPr>
            <p:cNvPr id="23" name="Rectangle 22"/>
            <p:cNvSpPr/>
            <p:nvPr/>
          </p:nvSpPr>
          <p:spPr>
            <a:xfrm>
              <a:off x="1645920" y="3328415"/>
              <a:ext cx="3434903" cy="228600"/>
            </a:xfrm>
            <a:prstGeom prst="rect">
              <a:avLst/>
            </a:prstGeom>
            <a:solidFill>
              <a:srgbClr val="415669"/>
            </a:solidFill>
            <a:ln>
              <a:noFill/>
            </a:ln>
            <a:effectLst/>
          </p:spPr>
          <p:txBody>
            <a:bodyPr rtlCol="0" anchor="ctr"/>
            <a:lstStyle/>
            <a:p>
              <a:pPr algn="ctr"/>
            </a:p>
          </p:txBody>
        </p:sp>
        <p:sp>
          <p:nvSpPr>
            <p:cNvPr id="24" name="TextBox 23"/>
            <p:cNvSpPr txBox="1"/>
            <p:nvPr/>
          </p:nvSpPr>
          <p:spPr>
            <a:xfrm>
              <a:off x="5172263" y="3342132"/>
              <a:ext cx="1280160" cy="237744"/>
            </a:xfrm>
            <a:prstGeom prst="rect">
              <a:avLst/>
            </a:prstGeom>
            <a:noFill/>
          </p:spPr>
          <p:txBody>
            <a:bodyPr wrap="square" anchor="t" lIns="0" rIns="0" tIns="0" bIns="0">
              <a:spAutoFit/>
            </a:bodyPr>
            <a:lstStyle/>
            <a:p>
              <a:pPr algn="l"/>
              <a:r>
                <a:rPr sz="1200" b="0" i="0">
                  <a:solidFill>
                    <a:srgbClr val="17232D"/>
                  </a:solidFill>
                  <a:latin typeface="Calibri"/>
                </a:rPr>
                <a:t>$15.03</a:t>
              </a:r>
            </a:p>
          </p:txBody>
        </p:sp>
        <p:sp>
          <p:nvSpPr>
            <p:cNvPr id="25" name="TextBox 24"/>
            <p:cNvSpPr txBox="1"/>
            <p:nvPr/>
          </p:nvSpPr>
          <p:spPr>
            <a:xfrm>
              <a:off x="502920" y="3671315"/>
              <a:ext cx="960120" cy="237744"/>
            </a:xfrm>
            <a:prstGeom prst="rect">
              <a:avLst/>
            </a:prstGeom>
            <a:noFill/>
          </p:spPr>
          <p:txBody>
            <a:bodyPr wrap="square" anchor="t" lIns="0" rIns="0" tIns="0" bIns="0">
              <a:spAutoFit/>
            </a:bodyPr>
            <a:lstStyle/>
            <a:p>
              <a:pPr algn="r"/>
              <a:r>
                <a:rPr sz="1250" b="1" i="0">
                  <a:solidFill>
                    <a:srgbClr val="415669"/>
                  </a:solidFill>
                  <a:latin typeface="Calibri"/>
                </a:rPr>
                <a:t>MIA</a:t>
              </a:r>
            </a:p>
          </p:txBody>
        </p:sp>
        <p:sp>
          <p:nvSpPr>
            <p:cNvPr id="26" name="Rectangle 25"/>
            <p:cNvSpPr/>
            <p:nvPr/>
          </p:nvSpPr>
          <p:spPr>
            <a:xfrm>
              <a:off x="1645920" y="3657600"/>
              <a:ext cx="3846269" cy="228600"/>
            </a:xfrm>
            <a:prstGeom prst="rect">
              <a:avLst/>
            </a:prstGeom>
            <a:solidFill>
              <a:srgbClr val="415669"/>
            </a:solidFill>
            <a:ln>
              <a:noFill/>
            </a:ln>
            <a:effectLst/>
          </p:spPr>
          <p:txBody>
            <a:bodyPr rtlCol="0" anchor="ctr"/>
            <a:lstStyle/>
            <a:p>
              <a:pPr algn="ctr"/>
            </a:p>
          </p:txBody>
        </p:sp>
        <p:sp>
          <p:nvSpPr>
            <p:cNvPr id="27" name="TextBox 26"/>
            <p:cNvSpPr txBox="1"/>
            <p:nvPr/>
          </p:nvSpPr>
          <p:spPr>
            <a:xfrm>
              <a:off x="5583629" y="3671315"/>
              <a:ext cx="1280160" cy="237744"/>
            </a:xfrm>
            <a:prstGeom prst="rect">
              <a:avLst/>
            </a:prstGeom>
            <a:noFill/>
          </p:spPr>
          <p:txBody>
            <a:bodyPr wrap="square" anchor="t" lIns="0" rIns="0" tIns="0" bIns="0">
              <a:spAutoFit/>
            </a:bodyPr>
            <a:lstStyle/>
            <a:p>
              <a:pPr algn="l"/>
              <a:r>
                <a:rPr sz="1200" b="0" i="0">
                  <a:solidFill>
                    <a:srgbClr val="17232D"/>
                  </a:solidFill>
                  <a:latin typeface="Calibri"/>
                </a:rPr>
                <a:t>$16.83</a:t>
              </a:r>
            </a:p>
          </p:txBody>
        </p:sp>
        <p:sp>
          <p:nvSpPr>
            <p:cNvPr id="28" name="TextBox 27"/>
            <p:cNvSpPr txBox="1"/>
            <p:nvPr/>
          </p:nvSpPr>
          <p:spPr>
            <a:xfrm>
              <a:off x="502920" y="4000500"/>
              <a:ext cx="960120" cy="237744"/>
            </a:xfrm>
            <a:prstGeom prst="rect">
              <a:avLst/>
            </a:prstGeom>
            <a:noFill/>
          </p:spPr>
          <p:txBody>
            <a:bodyPr wrap="square" anchor="t" lIns="0" rIns="0" tIns="0" bIns="0">
              <a:spAutoFit/>
            </a:bodyPr>
            <a:lstStyle/>
            <a:p>
              <a:pPr algn="r"/>
              <a:r>
                <a:rPr sz="1250" b="1" i="0">
                  <a:solidFill>
                    <a:srgbClr val="415669"/>
                  </a:solidFill>
                  <a:latin typeface="Calibri"/>
                </a:rPr>
                <a:t>SEA</a:t>
              </a:r>
            </a:p>
          </p:txBody>
        </p:sp>
        <p:sp>
          <p:nvSpPr>
            <p:cNvPr id="29" name="Rectangle 28"/>
            <p:cNvSpPr/>
            <p:nvPr/>
          </p:nvSpPr>
          <p:spPr>
            <a:xfrm>
              <a:off x="1645920" y="3986784"/>
              <a:ext cx="4168506" cy="228600"/>
            </a:xfrm>
            <a:prstGeom prst="rect">
              <a:avLst/>
            </a:prstGeom>
            <a:solidFill>
              <a:srgbClr val="415669"/>
            </a:solidFill>
            <a:ln>
              <a:noFill/>
            </a:ln>
            <a:effectLst/>
          </p:spPr>
          <p:txBody>
            <a:bodyPr rtlCol="0" anchor="ctr"/>
            <a:lstStyle/>
            <a:p>
              <a:pPr algn="ctr"/>
            </a:p>
          </p:txBody>
        </p:sp>
        <p:sp>
          <p:nvSpPr>
            <p:cNvPr id="30" name="TextBox 29"/>
            <p:cNvSpPr txBox="1"/>
            <p:nvPr/>
          </p:nvSpPr>
          <p:spPr>
            <a:xfrm>
              <a:off x="5905866" y="4000500"/>
              <a:ext cx="1280160" cy="237744"/>
            </a:xfrm>
            <a:prstGeom prst="rect">
              <a:avLst/>
            </a:prstGeom>
            <a:noFill/>
          </p:spPr>
          <p:txBody>
            <a:bodyPr wrap="square" anchor="t" lIns="0" rIns="0" tIns="0" bIns="0">
              <a:spAutoFit/>
            </a:bodyPr>
            <a:lstStyle/>
            <a:p>
              <a:pPr algn="l"/>
              <a:r>
                <a:rPr sz="1200" b="0" i="0">
                  <a:solidFill>
                    <a:srgbClr val="17232D"/>
                  </a:solidFill>
                  <a:latin typeface="Calibri"/>
                </a:rPr>
                <a:t>$18.24</a:t>
              </a:r>
            </a:p>
          </p:txBody>
        </p:sp>
        <p:sp>
          <p:nvSpPr>
            <p:cNvPr id="31" name="TextBox 30"/>
            <p:cNvSpPr txBox="1"/>
            <p:nvPr/>
          </p:nvSpPr>
          <p:spPr>
            <a:xfrm>
              <a:off x="502920" y="4329683"/>
              <a:ext cx="960120" cy="237744"/>
            </a:xfrm>
            <a:prstGeom prst="rect">
              <a:avLst/>
            </a:prstGeom>
            <a:noFill/>
          </p:spPr>
          <p:txBody>
            <a:bodyPr wrap="square" anchor="t" lIns="0" rIns="0" tIns="0" bIns="0">
              <a:spAutoFit/>
            </a:bodyPr>
            <a:lstStyle/>
            <a:p>
              <a:pPr algn="r"/>
              <a:r>
                <a:rPr sz="1250" b="1" i="0">
                  <a:solidFill>
                    <a:srgbClr val="415669"/>
                  </a:solidFill>
                  <a:latin typeface="Calibri"/>
                </a:rPr>
                <a:t>ORD</a:t>
              </a:r>
            </a:p>
          </p:txBody>
        </p:sp>
        <p:sp>
          <p:nvSpPr>
            <p:cNvPr id="32" name="Rectangle 31"/>
            <p:cNvSpPr/>
            <p:nvPr/>
          </p:nvSpPr>
          <p:spPr>
            <a:xfrm>
              <a:off x="1645920" y="4315968"/>
              <a:ext cx="6755539" cy="228600"/>
            </a:xfrm>
            <a:prstGeom prst="rect">
              <a:avLst/>
            </a:prstGeom>
            <a:solidFill>
              <a:srgbClr val="415669"/>
            </a:solidFill>
            <a:ln>
              <a:noFill/>
            </a:ln>
            <a:effectLst/>
          </p:spPr>
          <p:txBody>
            <a:bodyPr rtlCol="0" anchor="ctr"/>
            <a:lstStyle/>
            <a:p>
              <a:pPr algn="ctr"/>
            </a:p>
          </p:txBody>
        </p:sp>
        <p:sp>
          <p:nvSpPr>
            <p:cNvPr id="33" name="TextBox 32"/>
            <p:cNvSpPr txBox="1"/>
            <p:nvPr/>
          </p:nvSpPr>
          <p:spPr>
            <a:xfrm>
              <a:off x="8492899" y="4329683"/>
              <a:ext cx="1280160" cy="237744"/>
            </a:xfrm>
            <a:prstGeom prst="rect">
              <a:avLst/>
            </a:prstGeom>
            <a:noFill/>
          </p:spPr>
          <p:txBody>
            <a:bodyPr wrap="square" anchor="t" lIns="0" rIns="0" tIns="0" bIns="0">
              <a:spAutoFit/>
            </a:bodyPr>
            <a:lstStyle/>
            <a:p>
              <a:pPr algn="l"/>
              <a:r>
                <a:rPr sz="1200" b="0" i="0">
                  <a:solidFill>
                    <a:srgbClr val="17232D"/>
                  </a:solidFill>
                  <a:latin typeface="Calibri"/>
                </a:rPr>
                <a:t>$29.56</a:t>
              </a:r>
            </a:p>
          </p:txBody>
        </p:sp>
        <p:sp>
          <p:nvSpPr>
            <p:cNvPr id="34" name="TextBox 33"/>
            <p:cNvSpPr txBox="1"/>
            <p:nvPr/>
          </p:nvSpPr>
          <p:spPr>
            <a:xfrm>
              <a:off x="502920" y="4658868"/>
              <a:ext cx="960120" cy="237744"/>
            </a:xfrm>
            <a:prstGeom prst="rect">
              <a:avLst/>
            </a:prstGeom>
            <a:noFill/>
          </p:spPr>
          <p:txBody>
            <a:bodyPr wrap="square" anchor="t" lIns="0" rIns="0" tIns="0" bIns="0">
              <a:spAutoFit/>
            </a:bodyPr>
            <a:lstStyle/>
            <a:p>
              <a:pPr algn="r"/>
              <a:r>
                <a:rPr sz="1250" b="1" i="0">
                  <a:solidFill>
                    <a:srgbClr val="415669"/>
                  </a:solidFill>
                  <a:latin typeface="Calibri"/>
                </a:rPr>
                <a:t>LAX</a:t>
              </a:r>
            </a:p>
          </p:txBody>
        </p:sp>
        <p:sp>
          <p:nvSpPr>
            <p:cNvPr id="35" name="Rectangle 34"/>
            <p:cNvSpPr/>
            <p:nvPr/>
          </p:nvSpPr>
          <p:spPr>
            <a:xfrm>
              <a:off x="1645920" y="4645152"/>
              <a:ext cx="6892661" cy="228600"/>
            </a:xfrm>
            <a:prstGeom prst="rect">
              <a:avLst/>
            </a:prstGeom>
            <a:solidFill>
              <a:srgbClr val="415669"/>
            </a:solidFill>
            <a:ln>
              <a:noFill/>
            </a:ln>
            <a:effectLst/>
          </p:spPr>
          <p:txBody>
            <a:bodyPr rtlCol="0" anchor="ctr"/>
            <a:lstStyle/>
            <a:p>
              <a:pPr algn="ctr"/>
            </a:p>
          </p:txBody>
        </p:sp>
        <p:sp>
          <p:nvSpPr>
            <p:cNvPr id="36" name="TextBox 35"/>
            <p:cNvSpPr txBox="1"/>
            <p:nvPr/>
          </p:nvSpPr>
          <p:spPr>
            <a:xfrm>
              <a:off x="8630021" y="4658868"/>
              <a:ext cx="1280160" cy="237744"/>
            </a:xfrm>
            <a:prstGeom prst="rect">
              <a:avLst/>
            </a:prstGeom>
            <a:noFill/>
          </p:spPr>
          <p:txBody>
            <a:bodyPr wrap="square" anchor="t" lIns="0" rIns="0" tIns="0" bIns="0">
              <a:spAutoFit/>
            </a:bodyPr>
            <a:lstStyle/>
            <a:p>
              <a:pPr algn="l"/>
              <a:r>
                <a:rPr sz="1200" b="0" i="0">
                  <a:solidFill>
                    <a:srgbClr val="17232D"/>
                  </a:solidFill>
                  <a:latin typeface="Calibri"/>
                </a:rPr>
                <a:t>$30.16</a:t>
              </a:r>
            </a:p>
          </p:txBody>
        </p:sp>
        <p:sp>
          <p:nvSpPr>
            <p:cNvPr id="37" name="TextBox 36"/>
            <p:cNvSpPr txBox="1"/>
            <p:nvPr/>
          </p:nvSpPr>
          <p:spPr>
            <a:xfrm>
              <a:off x="502920" y="4988051"/>
              <a:ext cx="960120" cy="237744"/>
            </a:xfrm>
            <a:prstGeom prst="rect">
              <a:avLst/>
            </a:prstGeom>
            <a:noFill/>
          </p:spPr>
          <p:txBody>
            <a:bodyPr wrap="square" anchor="t" lIns="0" rIns="0" tIns="0" bIns="0">
              <a:spAutoFit/>
            </a:bodyPr>
            <a:lstStyle/>
            <a:p>
              <a:pPr algn="r"/>
              <a:r>
                <a:rPr sz="1250" b="1" i="0">
                  <a:solidFill>
                    <a:srgbClr val="415669"/>
                  </a:solidFill>
                  <a:latin typeface="Calibri"/>
                </a:rPr>
                <a:t>EWR</a:t>
              </a:r>
            </a:p>
          </p:txBody>
        </p:sp>
        <p:sp>
          <p:nvSpPr>
            <p:cNvPr id="38" name="Rectangle 37"/>
            <p:cNvSpPr/>
            <p:nvPr/>
          </p:nvSpPr>
          <p:spPr>
            <a:xfrm>
              <a:off x="1645920" y="4974336"/>
              <a:ext cx="7237751" cy="228600"/>
            </a:xfrm>
            <a:prstGeom prst="rect">
              <a:avLst/>
            </a:prstGeom>
            <a:solidFill>
              <a:srgbClr val="415669"/>
            </a:solidFill>
            <a:ln>
              <a:noFill/>
            </a:ln>
            <a:effectLst/>
          </p:spPr>
          <p:txBody>
            <a:bodyPr rtlCol="0" anchor="ctr"/>
            <a:lstStyle/>
            <a:p>
              <a:pPr algn="ctr"/>
            </a:p>
          </p:txBody>
        </p:sp>
        <p:sp>
          <p:nvSpPr>
            <p:cNvPr id="39" name="TextBox 38"/>
            <p:cNvSpPr txBox="1"/>
            <p:nvPr/>
          </p:nvSpPr>
          <p:spPr>
            <a:xfrm>
              <a:off x="8975111" y="4988051"/>
              <a:ext cx="1280160" cy="237744"/>
            </a:xfrm>
            <a:prstGeom prst="rect">
              <a:avLst/>
            </a:prstGeom>
            <a:noFill/>
          </p:spPr>
          <p:txBody>
            <a:bodyPr wrap="square" anchor="t" lIns="0" rIns="0" tIns="0" bIns="0">
              <a:spAutoFit/>
            </a:bodyPr>
            <a:lstStyle/>
            <a:p>
              <a:pPr algn="l"/>
              <a:r>
                <a:rPr sz="1200" b="0" i="0">
                  <a:solidFill>
                    <a:srgbClr val="17232D"/>
                  </a:solidFill>
                  <a:latin typeface="Calibri"/>
                </a:rPr>
                <a:t>$31.67</a:t>
              </a:r>
            </a:p>
          </p:txBody>
        </p:sp>
        <p:sp>
          <p:nvSpPr>
            <p:cNvPr id="40" name="TextBox 39"/>
            <p:cNvSpPr txBox="1"/>
            <p:nvPr/>
          </p:nvSpPr>
          <p:spPr>
            <a:xfrm>
              <a:off x="502920" y="5317236"/>
              <a:ext cx="960120" cy="237744"/>
            </a:xfrm>
            <a:prstGeom prst="rect">
              <a:avLst/>
            </a:prstGeom>
            <a:noFill/>
          </p:spPr>
          <p:txBody>
            <a:bodyPr wrap="square" anchor="t" lIns="0" rIns="0" tIns="0" bIns="0">
              <a:spAutoFit/>
            </a:bodyPr>
            <a:lstStyle/>
            <a:p>
              <a:pPr algn="r"/>
              <a:r>
                <a:rPr sz="1250" b="1" i="0">
                  <a:solidFill>
                    <a:srgbClr val="415669"/>
                  </a:solidFill>
                  <a:latin typeface="Calibri"/>
                </a:rPr>
                <a:t>JFK</a:t>
              </a:r>
            </a:p>
          </p:txBody>
        </p:sp>
        <p:sp>
          <p:nvSpPr>
            <p:cNvPr id="41" name="Rectangle 40"/>
            <p:cNvSpPr/>
            <p:nvPr/>
          </p:nvSpPr>
          <p:spPr>
            <a:xfrm>
              <a:off x="1645920" y="5303520"/>
              <a:ext cx="8229600" cy="228600"/>
            </a:xfrm>
            <a:prstGeom prst="rect">
              <a:avLst/>
            </a:prstGeom>
            <a:solidFill>
              <a:srgbClr val="415669"/>
            </a:solidFill>
            <a:ln>
              <a:noFill/>
            </a:ln>
            <a:effectLst/>
          </p:spPr>
          <p:txBody>
            <a:bodyPr rtlCol="0" anchor="ctr"/>
            <a:lstStyle/>
            <a:p>
              <a:pPr algn="ctr"/>
            </a:p>
          </p:txBody>
        </p:sp>
        <p:sp>
          <p:nvSpPr>
            <p:cNvPr id="42" name="TextBox 41"/>
            <p:cNvSpPr txBox="1"/>
            <p:nvPr/>
          </p:nvSpPr>
          <p:spPr>
            <a:xfrm>
              <a:off x="9966960" y="5317236"/>
              <a:ext cx="1280160" cy="237744"/>
            </a:xfrm>
            <a:prstGeom prst="rect">
              <a:avLst/>
            </a:prstGeom>
            <a:noFill/>
          </p:spPr>
          <p:txBody>
            <a:bodyPr wrap="square" anchor="t" lIns="0" rIns="0" tIns="0" bIns="0">
              <a:spAutoFit/>
            </a:bodyPr>
            <a:lstStyle/>
            <a:p>
              <a:pPr algn="l"/>
              <a:r>
                <a:rPr sz="1200" b="0" i="0">
                  <a:solidFill>
                    <a:srgbClr val="17232D"/>
                  </a:solidFill>
                  <a:latin typeface="Calibri"/>
                </a:rPr>
                <a:t>$36.01</a:t>
              </a:r>
            </a:p>
          </p:txBody>
        </p:sp>
        <p:sp>
          <p:nvSpPr>
            <p:cNvPr id="43" name="TextBox 42"/>
            <p:cNvSpPr txBox="1"/>
            <p:nvPr/>
          </p:nvSpPr>
          <p:spPr>
            <a:xfrm>
              <a:off x="502920" y="5760720"/>
              <a:ext cx="11155680" cy="548640"/>
            </a:xfrm>
            <a:prstGeom prst="rect">
              <a:avLst/>
            </a:prstGeom>
            <a:noFill/>
          </p:spPr>
          <p:txBody>
            <a:bodyPr wrap="square" anchor="t" lIns="0" rIns="0" tIns="0" bIns="0">
              <a:spAutoFit/>
            </a:bodyPr>
            <a:lstStyle/>
            <a:p>
              <a:pPr algn="l">
                <a:lnSpc>
                  <a:spcPct val="108000"/>
                </a:lnSpc>
              </a:pPr>
              <a:r>
                <a:rPr sz="1200" b="0" i="1">
                  <a:solidFill>
                    <a:srgbClr val="415669"/>
                  </a:solidFill>
                  <a:latin typeface="Calibri"/>
                </a:rPr>
                <a:t>DWU Consulting peer table, 2024 vintage. DFW's bond-covenanted signatory CPE — FY25 $13.59 actual, FY26 $16.99 projected — uses a different scope; the two measures are directionally consistent.</a:t>
              </a:r>
            </a:p>
          </p:txBody>
        </p:sp>
      </p:grpSp>
      <p:sp>
        <p:nvSpPr>
          <p:cNvPr id="44" name="slide-13-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Cost per Enplanement by Airport — CPE Data 2026; DWU Consulting peer table (2024). Units: USD per enplaned passenger.</a:t>
            </a:r>
          </a:p>
        </p:txBody>
      </p:sp>
      <p:sp>
        <p:nvSpPr>
          <p:cNvPr id="45" name="slide-13-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14-title"/>
          <p:cNvSpPr txBox="1"/>
          <p:nvPr/>
        </p:nvSpPr>
        <p:spPr>
          <a:xfrm>
            <a:off x="502920" y="274320"/>
            <a:ext cx="9509760"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What the retrofit costs when the option was never bought</a:t>
            </a:r>
          </a:p>
        </p:txBody>
      </p:sp>
      <p:sp>
        <p:nvSpPr>
          <p:cNvPr id="3" name="slide-14-chip-bg"/>
          <p:cNvSpPr/>
          <p:nvPr/>
        </p:nvSpPr>
        <p:spPr>
          <a:xfrm>
            <a:off x="10177272" y="310896"/>
            <a:ext cx="1508760" cy="365760"/>
          </a:xfrm>
          <a:prstGeom prst="rect">
            <a:avLst/>
          </a:prstGeom>
          <a:solidFill>
            <a:srgbClr val="415669"/>
          </a:solidFill>
          <a:ln>
            <a:noFill/>
          </a:ln>
          <a:effectLst/>
        </p:spPr>
        <p:txBody>
          <a:bodyPr rtlCol="0" anchor="ctr"/>
          <a:lstStyle/>
          <a:p>
            <a:pPr algn="ctr"/>
          </a:p>
        </p:txBody>
      </p:sp>
      <p:sp>
        <p:nvSpPr>
          <p:cNvPr id="4" name="slide-14-chip"/>
          <p:cNvSpPr txBox="1"/>
          <p:nvPr/>
        </p:nvSpPr>
        <p:spPr>
          <a:xfrm>
            <a:off x="10177272" y="365760"/>
            <a:ext cx="1508760" cy="274320"/>
          </a:xfrm>
          <a:prstGeom prst="rect">
            <a:avLst/>
          </a:prstGeom>
          <a:noFill/>
        </p:spPr>
        <p:txBody>
          <a:bodyPr wrap="square" anchor="t" lIns="0" rIns="0" tIns="0" bIns="0">
            <a:spAutoFit/>
          </a:bodyPr>
          <a:lstStyle/>
          <a:p>
            <a:pPr algn="ctr"/>
            <a:r>
              <a:rPr sz="1600" b="1" i="0">
                <a:solidFill>
                  <a:srgbClr val="FFFFFF"/>
                </a:solidFill>
                <a:latin typeface="Calibri"/>
              </a:rPr>
              <a:t>READ-AHEAD</a:t>
            </a:r>
          </a:p>
        </p:txBody>
      </p:sp>
      <p:graphicFrame>
        <p:nvGraphicFramePr>
          <p:cNvPr id="5" name="slide-14-table" descr="Five retrofit and delivery precedents: Dulles AeroTrain's omitted Concourse D stop, Denver's Great Hall P3 termination, Heathrow Terminal 5's opening-day systems failure, JFK Terminal 5's paid-for extension, and LaGuardia Terminal C as the disciplined governance counter-example."/>
          <p:cNvGraphicFramePr>
            <a:graphicFrameLocks noGrp="1"/>
          </p:cNvGraphicFramePr>
          <p:nvPr/>
        </p:nvGraphicFramePr>
        <p:xfrm>
          <a:off x="502920" y="1417320"/>
          <a:ext cx="11183112" cy="4526280"/>
        </p:xfrm>
        <a:graphic>
          <a:graphicData uri="http://schemas.openxmlformats.org/drawingml/2006/table">
            <a:tbl>
              <a:tblPr>
                <a:tableStyleId>{5C22544A-7EE6-4342-B048-85BDC9FD1C3A}</a:tableStyleId>
              </a:tblPr>
              <a:tblGrid>
                <a:gridCol w="2148840"/>
                <a:gridCol w="4297680"/>
                <a:gridCol w="4736592"/>
              </a:tblGrid>
              <a:tr h="754380">
                <a:tc>
                  <a:txBody>
                    <a:bodyPr wrap="square"/>
                    <a:lstStyle/>
                    <a:p>
                      <a:pPr algn="l">
                        <a:lnSpc>
                          <a:spcPct val="100000"/>
                        </a:lnSpc>
                      </a:pPr>
                      <a:r>
                        <a:rPr sz="1250" b="1" i="0">
                          <a:solidFill>
                            <a:srgbClr val="FFFFFF"/>
                          </a:solidFill>
                          <a:latin typeface="Calibri"/>
                        </a:rPr>
                        <a:t>Precedent</a:t>
                      </a:r>
                    </a:p>
                  </a:txBody>
                  <a:tcPr anchor="ctr" marL="73152" marR="73152" marT="27432" marB="27432">
                    <a:solidFill>
                      <a:srgbClr val="0B2D4D"/>
                    </a:solidFill>
                  </a:tcPr>
                </a:tc>
                <a:tc>
                  <a:txBody>
                    <a:bodyPr wrap="square"/>
                    <a:lstStyle/>
                    <a:p>
                      <a:pPr algn="l">
                        <a:lnSpc>
                          <a:spcPct val="100000"/>
                        </a:lnSpc>
                      </a:pPr>
                      <a:r>
                        <a:rPr sz="1250" b="1" i="0">
                          <a:solidFill>
                            <a:srgbClr val="FFFFFF"/>
                          </a:solidFill>
                          <a:latin typeface="Calibri"/>
                        </a:rPr>
                        <a:t>What was omitted or failed</a:t>
                      </a:r>
                    </a:p>
                  </a:txBody>
                  <a:tcPr anchor="ctr" marL="73152" marR="73152" marT="27432" marB="27432">
                    <a:solidFill>
                      <a:srgbClr val="0B2D4D"/>
                    </a:solidFill>
                  </a:tcPr>
                </a:tc>
                <a:tc>
                  <a:txBody>
                    <a:bodyPr wrap="square"/>
                    <a:lstStyle/>
                    <a:p>
                      <a:pPr algn="l">
                        <a:lnSpc>
                          <a:spcPct val="100000"/>
                        </a:lnSpc>
                      </a:pPr>
                      <a:r>
                        <a:rPr sz="1250" b="1" i="0">
                          <a:solidFill>
                            <a:srgbClr val="FFFFFF"/>
                          </a:solidFill>
                          <a:latin typeface="Calibri"/>
                        </a:rPr>
                        <a:t>What it cost</a:t>
                      </a:r>
                    </a:p>
                  </a:txBody>
                  <a:tcPr anchor="ctr" marL="73152" marR="73152" marT="27432" marB="27432">
                    <a:solidFill>
                      <a:srgbClr val="0B2D4D"/>
                    </a:solidFill>
                  </a:tcPr>
                </a:tc>
              </a:tr>
              <a:tr h="754380">
                <a:tc>
                  <a:txBody>
                    <a:bodyPr wrap="square"/>
                    <a:lstStyle/>
                    <a:p>
                      <a:pPr algn="l">
                        <a:lnSpc>
                          <a:spcPct val="102000"/>
                        </a:lnSpc>
                      </a:pPr>
                      <a:r>
                        <a:rPr sz="1250" b="1" i="0">
                          <a:solidFill>
                            <a:srgbClr val="0B2D4D"/>
                          </a:solidFill>
                          <a:latin typeface="Calibri"/>
                        </a:rPr>
                        <a:t>IAD AeroTrain</a:t>
                      </a:r>
                    </a:p>
                  </a:txBody>
                  <a:tcPr anchor="ctr" marL="73152" marR="73152" marT="27432" marB="27432">
                    <a:solidFill>
                      <a:srgbClr val="EDF3F6"/>
                    </a:solidFill>
                  </a:tcPr>
                </a:tc>
                <a:tc>
                  <a:txBody>
                    <a:bodyPr wrap="square"/>
                    <a:lstStyle/>
                    <a:p>
                      <a:pPr algn="l">
                        <a:lnSpc>
                          <a:spcPct val="102000"/>
                        </a:lnSpc>
                      </a:pPr>
                      <a:r>
                        <a:rPr sz="1250" b="0" i="0">
                          <a:solidFill>
                            <a:srgbClr val="17232D"/>
                          </a:solidFill>
                          <a:latin typeface="Calibri"/>
                        </a:rPr>
                        <a:t>Concourse D stop omitted in the 2000s routing; 16 years on mobile lounges</a:t>
                      </a:r>
                    </a:p>
                  </a:txBody>
                  <a:tcPr anchor="ctr" marL="73152" marR="73152" marT="27432" marB="27432">
                    <a:solidFill>
                      <a:srgbClr val="EDF3F6"/>
                    </a:solidFill>
                  </a:tcPr>
                </a:tc>
                <a:tc>
                  <a:txBody>
                    <a:bodyPr wrap="square"/>
                    <a:lstStyle/>
                    <a:p>
                      <a:pPr algn="l">
                        <a:lnSpc>
                          <a:spcPct val="102000"/>
                        </a:lnSpc>
                      </a:pPr>
                      <a:r>
                        <a:rPr sz="1250" b="0" i="0">
                          <a:solidFill>
                            <a:srgbClr val="17232D"/>
                          </a:solidFill>
                          <a:latin typeface="Calibri"/>
                        </a:rPr>
                        <a:t>Extension budgeted ~$3.75B inside a $22.5B program — program direction, not committed contract</a:t>
                      </a:r>
                    </a:p>
                  </a:txBody>
                  <a:tcPr anchor="ctr" marL="73152" marR="73152" marT="27432" marB="27432">
                    <a:solidFill>
                      <a:srgbClr val="EDF3F6"/>
                    </a:solidFill>
                  </a:tcPr>
                </a:tc>
              </a:tr>
              <a:tr h="754380">
                <a:tc>
                  <a:txBody>
                    <a:bodyPr wrap="square"/>
                    <a:lstStyle/>
                    <a:p>
                      <a:pPr algn="l">
                        <a:lnSpc>
                          <a:spcPct val="102000"/>
                        </a:lnSpc>
                      </a:pPr>
                      <a:r>
                        <a:rPr sz="1250" b="1" i="0">
                          <a:solidFill>
                            <a:srgbClr val="0B2D4D"/>
                          </a:solidFill>
                          <a:latin typeface="Calibri"/>
                        </a:rPr>
                        <a:t>DEN Great Hall</a:t>
                      </a:r>
                    </a:p>
                  </a:txBody>
                  <a:tcPr anchor="ctr" marL="73152" marR="73152" marT="27432" marB="27432">
                    <a:solidFill>
                      <a:srgbClr val="FFFFFF"/>
                    </a:solidFill>
                  </a:tcPr>
                </a:tc>
                <a:tc>
                  <a:txBody>
                    <a:bodyPr wrap="square"/>
                    <a:lstStyle/>
                    <a:p>
                      <a:pPr algn="l">
                        <a:lnSpc>
                          <a:spcPct val="102000"/>
                        </a:lnSpc>
                      </a:pPr>
                      <a:r>
                        <a:rPr sz="1250" b="0" i="0">
                          <a:solidFill>
                            <a:srgbClr val="17232D"/>
                          </a:solidFill>
                          <a:latin typeface="Calibri"/>
                        </a:rPr>
                        <a:t>P3 governance failure mid-build</a:t>
                      </a:r>
                    </a:p>
                  </a:txBody>
                  <a:tcPr anchor="ctr" marL="73152" marR="73152" marT="27432" marB="27432">
                    <a:solidFill>
                      <a:srgbClr val="FFFFFF"/>
                    </a:solidFill>
                  </a:tcPr>
                </a:tc>
                <a:tc>
                  <a:txBody>
                    <a:bodyPr wrap="square"/>
                    <a:lstStyle/>
                    <a:p>
                      <a:pPr algn="l">
                        <a:lnSpc>
                          <a:spcPct val="102000"/>
                        </a:lnSpc>
                      </a:pPr>
                      <a:r>
                        <a:rPr sz="1250" b="0" i="0">
                          <a:solidFill>
                            <a:srgbClr val="17232D"/>
                          </a:solidFill>
                          <a:latin typeface="Calibri"/>
                        </a:rPr>
                        <a:t>$184M termination payment plus ~$2.1B completion</a:t>
                      </a:r>
                    </a:p>
                  </a:txBody>
                  <a:tcPr anchor="ctr" marL="73152" marR="73152" marT="27432" marB="27432">
                    <a:solidFill>
                      <a:srgbClr val="FFFFFF"/>
                    </a:solidFill>
                  </a:tcPr>
                </a:tc>
              </a:tr>
              <a:tr h="754380">
                <a:tc>
                  <a:txBody>
                    <a:bodyPr wrap="square"/>
                    <a:lstStyle/>
                    <a:p>
                      <a:pPr algn="l">
                        <a:lnSpc>
                          <a:spcPct val="102000"/>
                        </a:lnSpc>
                      </a:pPr>
                      <a:r>
                        <a:rPr sz="1250" b="1" i="0">
                          <a:solidFill>
                            <a:srgbClr val="0B2D4D"/>
                          </a:solidFill>
                          <a:latin typeface="Calibri"/>
                        </a:rPr>
                        <a:t>LHR Terminal 5</a:t>
                      </a:r>
                    </a:p>
                  </a:txBody>
                  <a:tcPr anchor="ctr" marL="73152" marR="73152" marT="27432" marB="27432">
                    <a:solidFill>
                      <a:srgbClr val="EDF3F6"/>
                    </a:solidFill>
                  </a:tcPr>
                </a:tc>
                <a:tc>
                  <a:txBody>
                    <a:bodyPr wrap="square"/>
                    <a:lstStyle/>
                    <a:p>
                      <a:pPr algn="l">
                        <a:lnSpc>
                          <a:spcPct val="102000"/>
                        </a:lnSpc>
                      </a:pPr>
                      <a:r>
                        <a:rPr sz="1250" b="0" i="0">
                          <a:solidFill>
                            <a:srgbClr val="17232D"/>
                          </a:solidFill>
                          <a:latin typeface="Calibri"/>
                        </a:rPr>
                        <a:t>Commissioning, not geometry — day-one systems failure</a:t>
                      </a:r>
                    </a:p>
                  </a:txBody>
                  <a:tcPr anchor="ctr" marL="73152" marR="73152" marT="27432" marB="27432">
                    <a:solidFill>
                      <a:srgbClr val="EDF3F6"/>
                    </a:solidFill>
                  </a:tcPr>
                </a:tc>
                <a:tc>
                  <a:txBody>
                    <a:bodyPr wrap="square"/>
                    <a:lstStyle/>
                    <a:p>
                      <a:pPr algn="l">
                        <a:lnSpc>
                          <a:spcPct val="102000"/>
                        </a:lnSpc>
                      </a:pPr>
                      <a:r>
                        <a:rPr sz="1250" b="0" i="0">
                          <a:solidFill>
                            <a:srgbClr val="17232D"/>
                          </a:solidFill>
                          <a:latin typeface="Calibri"/>
                        </a:rPr>
                        <a:t>£4.3B build on time and on budget; 42,000 bags stranded at opening</a:t>
                      </a:r>
                    </a:p>
                  </a:txBody>
                  <a:tcPr anchor="ctr" marL="73152" marR="73152" marT="27432" marB="27432">
                    <a:solidFill>
                      <a:srgbClr val="EDF3F6"/>
                    </a:solidFill>
                  </a:tcPr>
                </a:tc>
              </a:tr>
              <a:tr h="754380">
                <a:tc>
                  <a:txBody>
                    <a:bodyPr wrap="square"/>
                    <a:lstStyle/>
                    <a:p>
                      <a:pPr algn="l">
                        <a:lnSpc>
                          <a:spcPct val="102000"/>
                        </a:lnSpc>
                      </a:pPr>
                      <a:r>
                        <a:rPr sz="1250" b="1" i="0">
                          <a:solidFill>
                            <a:srgbClr val="0B2D4D"/>
                          </a:solidFill>
                          <a:latin typeface="Calibri"/>
                        </a:rPr>
                        <a:t>JFK Terminal 5</a:t>
                      </a:r>
                    </a:p>
                  </a:txBody>
                  <a:tcPr anchor="ctr" marL="73152" marR="73152" marT="27432" marB="27432">
                    <a:solidFill>
                      <a:srgbClr val="FFFFFF"/>
                    </a:solidFill>
                  </a:tcPr>
                </a:tc>
                <a:tc>
                  <a:txBody>
                    <a:bodyPr wrap="square"/>
                    <a:lstStyle/>
                    <a:p>
                      <a:pPr algn="l">
                        <a:lnSpc>
                          <a:spcPct val="102000"/>
                        </a:lnSpc>
                      </a:pPr>
                      <a:r>
                        <a:rPr sz="1250" b="0" i="0">
                          <a:solidFill>
                            <a:srgbClr val="17232D"/>
                          </a:solidFill>
                          <a:latin typeface="Calibri"/>
                        </a:rPr>
                        <a:t>No premium or international optionality in the original scope</a:t>
                      </a:r>
                    </a:p>
                  </a:txBody>
                  <a:tcPr anchor="ctr" marL="73152" marR="73152" marT="27432" marB="27432">
                    <a:solidFill>
                      <a:srgbClr val="FFFFFF"/>
                    </a:solidFill>
                  </a:tcPr>
                </a:tc>
                <a:tc>
                  <a:txBody>
                    <a:bodyPr wrap="square"/>
                    <a:lstStyle/>
                    <a:p>
                      <a:pPr algn="l">
                        <a:lnSpc>
                          <a:spcPct val="102000"/>
                        </a:lnSpc>
                      </a:pPr>
                      <a:r>
                        <a:rPr sz="1250" b="0" i="0">
                          <a:solidFill>
                            <a:srgbClr val="17232D"/>
                          </a:solidFill>
                          <a:latin typeface="Calibri"/>
                        </a:rPr>
                        <a:t>$875M build; $200M T5i extension (2014); 2025–26 premium refresh, cost undisclosed</a:t>
                      </a:r>
                    </a:p>
                  </a:txBody>
                  <a:tcPr anchor="ctr" marL="73152" marR="73152" marT="27432" marB="27432">
                    <a:solidFill>
                      <a:srgbClr val="FFFFFF"/>
                    </a:solidFill>
                  </a:tcPr>
                </a:tc>
              </a:tr>
              <a:tr h="754380">
                <a:tc>
                  <a:txBody>
                    <a:bodyPr wrap="square"/>
                    <a:lstStyle/>
                    <a:p>
                      <a:pPr algn="l">
                        <a:lnSpc>
                          <a:spcPct val="102000"/>
                        </a:lnSpc>
                      </a:pPr>
                      <a:r>
                        <a:rPr sz="1250" b="1" i="0">
                          <a:solidFill>
                            <a:srgbClr val="0B2D4D"/>
                          </a:solidFill>
                          <a:latin typeface="Calibri"/>
                        </a:rPr>
                        <a:t>LGA Terminal C</a:t>
                      </a:r>
                    </a:p>
                  </a:txBody>
                  <a:tcPr anchor="ctr" marL="73152" marR="73152" marT="27432" marB="27432">
                    <a:solidFill>
                      <a:srgbClr val="EDF3F6"/>
                    </a:solidFill>
                  </a:tcPr>
                </a:tc>
                <a:tc>
                  <a:txBody>
                    <a:bodyPr wrap="square"/>
                    <a:lstStyle/>
                    <a:p>
                      <a:pPr algn="l">
                        <a:lnSpc>
                          <a:spcPct val="102000"/>
                        </a:lnSpc>
                      </a:pPr>
                      <a:r>
                        <a:rPr sz="1250" b="0" i="0">
                          <a:solidFill>
                            <a:srgbClr val="17232D"/>
                          </a:solidFill>
                          <a:latin typeface="Calibri"/>
                        </a:rPr>
                        <a:t>The governance counter-example — disciplined single-airline delivery</a:t>
                      </a:r>
                    </a:p>
                  </a:txBody>
                  <a:tcPr anchor="ctr" marL="73152" marR="73152" marT="27432" marB="27432">
                    <a:solidFill>
                      <a:srgbClr val="EDF3F6"/>
                    </a:solidFill>
                  </a:tcPr>
                </a:tc>
                <a:tc>
                  <a:txBody>
                    <a:bodyPr wrap="square"/>
                    <a:lstStyle/>
                    <a:p>
                      <a:pPr algn="l">
                        <a:lnSpc>
                          <a:spcPct val="102000"/>
                        </a:lnSpc>
                      </a:pPr>
                      <a:r>
                        <a:rPr sz="1250" b="0" i="0">
                          <a:solidFill>
                            <a:srgbClr val="17232D"/>
                          </a:solidFill>
                          <a:latin typeface="Calibri"/>
                        </a:rPr>
                        <a:t>$4B, completed ~2 years ahead of schedule</a:t>
                      </a:r>
                    </a:p>
                  </a:txBody>
                  <a:tcPr anchor="ctr" marL="73152" marR="73152" marT="27432" marB="27432">
                    <a:solidFill>
                      <a:srgbClr val="EDF3F6"/>
                    </a:solidFill>
                  </a:tcPr>
                </a:tc>
              </a:tr>
            </a:tbl>
          </a:graphicData>
        </a:graphic>
      </p:graphicFrame>
      <p:sp>
        <p:nvSpPr>
          <p:cNvPr id="6" name="slide-14-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NBC News and trade press (IAD); Colorado Public Radio, Aug 2019 (DEN); IEEE Spectrum, 2008 (LHR T5); JetBlue investor release 2014 / World Construction Network (JFK T5); Delta News Hub 2022 and Aviation Week 2024 (LGA).</a:t>
            </a:r>
          </a:p>
        </p:txBody>
      </p:sp>
      <p:sp>
        <p:nvSpPr>
          <p:cNvPr id="7" name="slide-14-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15-title"/>
          <p:cNvSpPr txBox="1"/>
          <p:nvPr/>
        </p:nvSpPr>
        <p:spPr>
          <a:xfrm>
            <a:off x="502920" y="274320"/>
            <a:ext cx="9509760" cy="56692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The program clock: 2025–2030</a:t>
            </a:r>
          </a:p>
        </p:txBody>
      </p:sp>
      <p:sp>
        <p:nvSpPr>
          <p:cNvPr id="3" name="slide-15-chip-bg"/>
          <p:cNvSpPr/>
          <p:nvPr/>
        </p:nvSpPr>
        <p:spPr>
          <a:xfrm>
            <a:off x="10177272" y="310896"/>
            <a:ext cx="1508760" cy="365760"/>
          </a:xfrm>
          <a:prstGeom prst="rect">
            <a:avLst/>
          </a:prstGeom>
          <a:solidFill>
            <a:srgbClr val="415669"/>
          </a:solidFill>
          <a:ln>
            <a:noFill/>
          </a:ln>
          <a:effectLst/>
        </p:spPr>
        <p:txBody>
          <a:bodyPr rtlCol="0" anchor="ctr"/>
          <a:lstStyle/>
          <a:p>
            <a:pPr algn="ctr"/>
          </a:p>
        </p:txBody>
      </p:sp>
      <p:sp>
        <p:nvSpPr>
          <p:cNvPr id="4" name="slide-15-chip"/>
          <p:cNvSpPr txBox="1"/>
          <p:nvPr/>
        </p:nvSpPr>
        <p:spPr>
          <a:xfrm>
            <a:off x="10177272" y="365760"/>
            <a:ext cx="1508760" cy="274320"/>
          </a:xfrm>
          <a:prstGeom prst="rect">
            <a:avLst/>
          </a:prstGeom>
          <a:noFill/>
        </p:spPr>
        <p:txBody>
          <a:bodyPr wrap="square" anchor="t" lIns="0" rIns="0" tIns="0" bIns="0">
            <a:spAutoFit/>
          </a:bodyPr>
          <a:lstStyle/>
          <a:p>
            <a:pPr algn="ctr"/>
            <a:r>
              <a:rPr sz="1600" b="1" i="0">
                <a:solidFill>
                  <a:srgbClr val="FFFFFF"/>
                </a:solidFill>
                <a:latin typeface="Calibri"/>
              </a:rPr>
              <a:t>READ-AHEAD</a:t>
            </a:r>
          </a:p>
        </p:txBody>
      </p:sp>
      <p:grpSp>
        <p:nvGrpSpPr>
          <p:cNvPr id="5" name="slide-15-milestones" descr="Program timeline 2025 to 2030 with six fixed public milestones from the August 2025 module set to program completion in 2030, and a dashed band marking the unpublished per-module release-for-fabrication dates."/>
          <p:cNvGrpSpPr/>
          <p:nvPr/>
        </p:nvGrpSpPr>
        <p:grpSpPr>
          <a:xfrm>
            <a:off x="594360" y="1645920"/>
            <a:ext cx="11247120" cy="4151376"/>
            <a:chOff x="594360" y="1645920"/>
            <a:chExt cx="11247120" cy="4151376"/>
          </a:xfrm>
        </p:grpSpPr>
        <p:sp>
          <p:nvSpPr>
            <p:cNvPr id="6" name="Rectangle 5"/>
            <p:cNvSpPr/>
            <p:nvPr/>
          </p:nvSpPr>
          <p:spPr>
            <a:xfrm>
              <a:off x="914400" y="3291840"/>
              <a:ext cx="10607040" cy="20116"/>
            </a:xfrm>
            <a:prstGeom prst="rect">
              <a:avLst/>
            </a:prstGeom>
            <a:solidFill>
              <a:srgbClr val="415669"/>
            </a:solidFill>
            <a:ln>
              <a:noFill/>
            </a:ln>
            <a:effectLst/>
          </p:spPr>
          <p:txBody>
            <a:bodyPr rtlCol="0" anchor="ctr"/>
            <a:lstStyle/>
            <a:p>
              <a:pPr algn="ctr"/>
            </a:p>
          </p:txBody>
        </p:sp>
        <p:sp>
          <p:nvSpPr>
            <p:cNvPr id="7" name="Rectangle 6"/>
            <p:cNvSpPr/>
            <p:nvPr/>
          </p:nvSpPr>
          <p:spPr>
            <a:xfrm>
              <a:off x="907084" y="3246120"/>
              <a:ext cx="14630" cy="109728"/>
            </a:xfrm>
            <a:prstGeom prst="rect">
              <a:avLst/>
            </a:prstGeom>
            <a:solidFill>
              <a:srgbClr val="415669"/>
            </a:solidFill>
            <a:ln>
              <a:noFill/>
            </a:ln>
            <a:effectLst/>
          </p:spPr>
          <p:txBody>
            <a:bodyPr rtlCol="0" anchor="ctr"/>
            <a:lstStyle/>
            <a:p>
              <a:pPr algn="ctr"/>
            </a:p>
          </p:txBody>
        </p:sp>
        <p:sp>
          <p:nvSpPr>
            <p:cNvPr id="8" name="TextBox 7"/>
            <p:cNvSpPr txBox="1"/>
            <p:nvPr/>
          </p:nvSpPr>
          <p:spPr>
            <a:xfrm>
              <a:off x="594360" y="338328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2025</a:t>
              </a:r>
            </a:p>
          </p:txBody>
        </p:sp>
        <p:sp>
          <p:nvSpPr>
            <p:cNvPr id="9" name="Rectangle 8"/>
            <p:cNvSpPr/>
            <p:nvPr/>
          </p:nvSpPr>
          <p:spPr>
            <a:xfrm>
              <a:off x="3028492" y="3246120"/>
              <a:ext cx="14630" cy="109728"/>
            </a:xfrm>
            <a:prstGeom prst="rect">
              <a:avLst/>
            </a:prstGeom>
            <a:solidFill>
              <a:srgbClr val="415669"/>
            </a:solidFill>
            <a:ln>
              <a:noFill/>
            </a:ln>
            <a:effectLst/>
          </p:spPr>
          <p:txBody>
            <a:bodyPr rtlCol="0" anchor="ctr"/>
            <a:lstStyle/>
            <a:p>
              <a:pPr algn="ctr"/>
            </a:p>
          </p:txBody>
        </p:sp>
        <p:sp>
          <p:nvSpPr>
            <p:cNvPr id="10" name="TextBox 9"/>
            <p:cNvSpPr txBox="1"/>
            <p:nvPr/>
          </p:nvSpPr>
          <p:spPr>
            <a:xfrm>
              <a:off x="2715768" y="338328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2026</a:t>
              </a:r>
            </a:p>
          </p:txBody>
        </p:sp>
        <p:sp>
          <p:nvSpPr>
            <p:cNvPr id="11" name="Rectangle 10"/>
            <p:cNvSpPr/>
            <p:nvPr/>
          </p:nvSpPr>
          <p:spPr>
            <a:xfrm>
              <a:off x="5149900" y="3246120"/>
              <a:ext cx="14630" cy="109728"/>
            </a:xfrm>
            <a:prstGeom prst="rect">
              <a:avLst/>
            </a:prstGeom>
            <a:solidFill>
              <a:srgbClr val="415669"/>
            </a:solidFill>
            <a:ln>
              <a:noFill/>
            </a:ln>
            <a:effectLst/>
          </p:spPr>
          <p:txBody>
            <a:bodyPr rtlCol="0" anchor="ctr"/>
            <a:lstStyle/>
            <a:p>
              <a:pPr algn="ctr"/>
            </a:p>
          </p:txBody>
        </p:sp>
        <p:sp>
          <p:nvSpPr>
            <p:cNvPr id="12" name="TextBox 11"/>
            <p:cNvSpPr txBox="1"/>
            <p:nvPr/>
          </p:nvSpPr>
          <p:spPr>
            <a:xfrm>
              <a:off x="4837176" y="338328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2027</a:t>
              </a:r>
            </a:p>
          </p:txBody>
        </p:sp>
        <p:sp>
          <p:nvSpPr>
            <p:cNvPr id="13" name="Rectangle 12"/>
            <p:cNvSpPr/>
            <p:nvPr/>
          </p:nvSpPr>
          <p:spPr>
            <a:xfrm>
              <a:off x="7271308" y="3246120"/>
              <a:ext cx="14630" cy="109728"/>
            </a:xfrm>
            <a:prstGeom prst="rect">
              <a:avLst/>
            </a:prstGeom>
            <a:solidFill>
              <a:srgbClr val="415669"/>
            </a:solidFill>
            <a:ln>
              <a:noFill/>
            </a:ln>
            <a:effectLst/>
          </p:spPr>
          <p:txBody>
            <a:bodyPr rtlCol="0" anchor="ctr"/>
            <a:lstStyle/>
            <a:p>
              <a:pPr algn="ctr"/>
            </a:p>
          </p:txBody>
        </p:sp>
        <p:sp>
          <p:nvSpPr>
            <p:cNvPr id="14" name="TextBox 13"/>
            <p:cNvSpPr txBox="1"/>
            <p:nvPr/>
          </p:nvSpPr>
          <p:spPr>
            <a:xfrm>
              <a:off x="6958583" y="338328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2028</a:t>
              </a:r>
            </a:p>
          </p:txBody>
        </p:sp>
        <p:sp>
          <p:nvSpPr>
            <p:cNvPr id="15" name="Rectangle 14"/>
            <p:cNvSpPr/>
            <p:nvPr/>
          </p:nvSpPr>
          <p:spPr>
            <a:xfrm>
              <a:off x="9392716" y="3246120"/>
              <a:ext cx="14630" cy="109728"/>
            </a:xfrm>
            <a:prstGeom prst="rect">
              <a:avLst/>
            </a:prstGeom>
            <a:solidFill>
              <a:srgbClr val="415669"/>
            </a:solidFill>
            <a:ln>
              <a:noFill/>
            </a:ln>
            <a:effectLst/>
          </p:spPr>
          <p:txBody>
            <a:bodyPr rtlCol="0" anchor="ctr"/>
            <a:lstStyle/>
            <a:p>
              <a:pPr algn="ctr"/>
            </a:p>
          </p:txBody>
        </p:sp>
        <p:sp>
          <p:nvSpPr>
            <p:cNvPr id="16" name="TextBox 15"/>
            <p:cNvSpPr txBox="1"/>
            <p:nvPr/>
          </p:nvSpPr>
          <p:spPr>
            <a:xfrm>
              <a:off x="9079992" y="3383280"/>
              <a:ext cx="640080" cy="219456"/>
            </a:xfrm>
            <a:prstGeom prst="rect">
              <a:avLst/>
            </a:prstGeom>
            <a:noFill/>
          </p:spPr>
          <p:txBody>
            <a:bodyPr wrap="square" anchor="t" lIns="0" rIns="0" tIns="0" bIns="0">
              <a:spAutoFit/>
            </a:bodyPr>
            <a:lstStyle/>
            <a:p>
              <a:pPr algn="ctr"/>
              <a:r>
                <a:rPr sz="1200" b="0" i="0">
                  <a:solidFill>
                    <a:srgbClr val="415669"/>
                  </a:solidFill>
                  <a:latin typeface="Calibri"/>
                </a:rPr>
                <a:t>2029</a:t>
              </a:r>
            </a:p>
          </p:txBody>
        </p:sp>
        <p:sp>
          <p:nvSpPr>
            <p:cNvPr id="17" name="Rectangle 16"/>
            <p:cNvSpPr/>
            <p:nvPr/>
          </p:nvSpPr>
          <p:spPr>
            <a:xfrm>
              <a:off x="11514124" y="3246120"/>
              <a:ext cx="14630" cy="109728"/>
            </a:xfrm>
            <a:prstGeom prst="rect">
              <a:avLst/>
            </a:prstGeom>
            <a:solidFill>
              <a:srgbClr val="415669"/>
            </a:solidFill>
            <a:ln>
              <a:noFill/>
            </a:ln>
            <a:effectLst/>
          </p:spPr>
          <p:txBody>
            <a:bodyPr rtlCol="0" anchor="ctr"/>
            <a:lstStyle/>
            <a:p>
              <a:pPr algn="ctr"/>
            </a:p>
          </p:txBody>
        </p:sp>
        <p:sp>
          <p:nvSpPr>
            <p:cNvPr id="18" name="TextBox 17"/>
            <p:cNvSpPr txBox="1"/>
            <p:nvPr/>
          </p:nvSpPr>
          <p:spPr>
            <a:xfrm>
              <a:off x="11201400" y="3383280"/>
              <a:ext cx="640080" cy="219456"/>
            </a:xfrm>
            <a:prstGeom prst="rect">
              <a:avLst/>
            </a:prstGeom>
            <a:noFill/>
          </p:spPr>
          <p:txBody>
            <a:bodyPr wrap="square" anchor="t" lIns="0" rIns="0" tIns="0" bIns="0">
              <a:spAutoFit/>
            </a:bodyPr>
            <a:lstStyle/>
            <a:p>
              <a:pPr algn="ctr"/>
              <a:r>
                <a:rPr sz="1200" b="0" i="0">
                  <a:solidFill>
                    <a:srgbClr val="415669"/>
                  </a:solidFill>
                  <a:latin typeface="Calibri"/>
                </a:rPr>
                <a:t>2030</a:t>
              </a:r>
            </a:p>
          </p:txBody>
        </p:sp>
        <p:sp>
          <p:nvSpPr>
            <p:cNvPr id="19" name="Oval 18"/>
            <p:cNvSpPr/>
            <p:nvPr/>
          </p:nvSpPr>
          <p:spPr>
            <a:xfrm>
              <a:off x="2097023" y="3236976"/>
              <a:ext cx="109728" cy="109728"/>
            </a:xfrm>
            <a:prstGeom prst="ellipse">
              <a:avLst/>
            </a:prstGeom>
            <a:solidFill>
              <a:srgbClr val="0B2D4D"/>
            </a:solidFill>
            <a:ln>
              <a:noFill/>
            </a:ln>
            <a:effectLst/>
          </p:spPr>
          <p:txBody>
            <a:bodyPr rtlCol="0" anchor="ctr"/>
            <a:lstStyle/>
            <a:p>
              <a:pPr algn="ctr"/>
            </a:p>
          </p:txBody>
        </p:sp>
        <p:sp>
          <p:nvSpPr>
            <p:cNvPr id="20" name="Rectangle 19"/>
            <p:cNvSpPr/>
            <p:nvPr/>
          </p:nvSpPr>
          <p:spPr>
            <a:xfrm>
              <a:off x="2144572" y="3127248"/>
              <a:ext cx="14630" cy="164592"/>
            </a:xfrm>
            <a:prstGeom prst="rect">
              <a:avLst/>
            </a:prstGeom>
            <a:solidFill>
              <a:srgbClr val="9AA8B3"/>
            </a:solidFill>
            <a:ln>
              <a:noFill/>
            </a:ln>
            <a:effectLst/>
          </p:spPr>
          <p:txBody>
            <a:bodyPr rtlCol="0" anchor="ctr"/>
            <a:lstStyle/>
            <a:p>
              <a:pPr algn="ctr"/>
            </a:p>
          </p:txBody>
        </p:sp>
        <p:sp>
          <p:nvSpPr>
            <p:cNvPr id="21" name="Rectangle 20"/>
            <p:cNvSpPr/>
            <p:nvPr/>
          </p:nvSpPr>
          <p:spPr>
            <a:xfrm>
              <a:off x="1097280" y="2468880"/>
              <a:ext cx="2103120" cy="658368"/>
            </a:xfrm>
            <a:prstGeom prst="rect">
              <a:avLst/>
            </a:prstGeom>
            <a:solidFill>
              <a:srgbClr val="EDF3F6"/>
            </a:solidFill>
            <a:ln>
              <a:noFill/>
            </a:ln>
            <a:effectLst/>
          </p:spPr>
          <p:txBody>
            <a:bodyPr rtlCol="0" anchor="ctr"/>
            <a:lstStyle/>
            <a:p>
              <a:pPr algn="ctr"/>
            </a:p>
          </p:txBody>
        </p:sp>
        <p:sp>
          <p:nvSpPr>
            <p:cNvPr id="22" name="TextBox 21"/>
            <p:cNvSpPr txBox="1"/>
            <p:nvPr/>
          </p:nvSpPr>
          <p:spPr>
            <a:xfrm>
              <a:off x="1207007" y="2542032"/>
              <a:ext cx="1883663" cy="530352"/>
            </a:xfrm>
            <a:prstGeom prst="rect">
              <a:avLst/>
            </a:prstGeom>
            <a:noFill/>
          </p:spPr>
          <p:txBody>
            <a:bodyPr wrap="square" anchor="t" lIns="0" rIns="0" tIns="0" bIns="0">
              <a:spAutoFit/>
            </a:bodyPr>
            <a:lstStyle/>
            <a:p>
              <a:pPr algn="l">
                <a:lnSpc>
                  <a:spcPct val="106000"/>
                </a:lnSpc>
              </a:pPr>
              <a:r>
                <a:rPr sz="1200" b="0" i="0">
                  <a:solidFill>
                    <a:srgbClr val="17232D"/>
                  </a:solidFill>
                  <a:latin typeface="Calibri"/>
                </a:rPr>
                <a:t>Aug 2025 — six modules set</a:t>
              </a:r>
            </a:p>
          </p:txBody>
        </p:sp>
        <p:sp>
          <p:nvSpPr>
            <p:cNvPr id="23" name="Oval 22"/>
            <p:cNvSpPr/>
            <p:nvPr/>
          </p:nvSpPr>
          <p:spPr>
            <a:xfrm>
              <a:off x="2804160" y="3236976"/>
              <a:ext cx="109728" cy="109728"/>
            </a:xfrm>
            <a:prstGeom prst="ellipse">
              <a:avLst/>
            </a:prstGeom>
            <a:solidFill>
              <a:srgbClr val="0B2D4D"/>
            </a:solidFill>
            <a:ln>
              <a:noFill/>
            </a:ln>
            <a:effectLst/>
          </p:spPr>
          <p:txBody>
            <a:bodyPr rtlCol="0" anchor="ctr"/>
            <a:lstStyle/>
            <a:p>
              <a:pPr algn="ctr"/>
            </a:p>
          </p:txBody>
        </p:sp>
        <p:sp>
          <p:nvSpPr>
            <p:cNvPr id="24" name="Rectangle 23"/>
            <p:cNvSpPr/>
            <p:nvPr/>
          </p:nvSpPr>
          <p:spPr>
            <a:xfrm>
              <a:off x="2851708" y="3355848"/>
              <a:ext cx="14630" cy="246887"/>
            </a:xfrm>
            <a:prstGeom prst="rect">
              <a:avLst/>
            </a:prstGeom>
            <a:solidFill>
              <a:srgbClr val="9AA8B3"/>
            </a:solidFill>
            <a:ln>
              <a:noFill/>
            </a:ln>
            <a:effectLst/>
          </p:spPr>
          <p:txBody>
            <a:bodyPr rtlCol="0" anchor="ctr"/>
            <a:lstStyle/>
            <a:p>
              <a:pPr algn="ctr"/>
            </a:p>
          </p:txBody>
        </p:sp>
        <p:sp>
          <p:nvSpPr>
            <p:cNvPr id="25" name="Rectangle 24"/>
            <p:cNvSpPr/>
            <p:nvPr/>
          </p:nvSpPr>
          <p:spPr>
            <a:xfrm>
              <a:off x="1828800" y="3602736"/>
              <a:ext cx="2103120" cy="603504"/>
            </a:xfrm>
            <a:prstGeom prst="rect">
              <a:avLst/>
            </a:prstGeom>
            <a:solidFill>
              <a:srgbClr val="EDF3F6"/>
            </a:solidFill>
            <a:ln>
              <a:noFill/>
            </a:ln>
            <a:effectLst/>
          </p:spPr>
          <p:txBody>
            <a:bodyPr rtlCol="0" anchor="ctr"/>
            <a:lstStyle/>
            <a:p>
              <a:pPr algn="ctr"/>
            </a:p>
          </p:txBody>
        </p:sp>
        <p:sp>
          <p:nvSpPr>
            <p:cNvPr id="26" name="TextBox 25"/>
            <p:cNvSpPr txBox="1"/>
            <p:nvPr/>
          </p:nvSpPr>
          <p:spPr>
            <a:xfrm>
              <a:off x="1938528" y="3675887"/>
              <a:ext cx="1883663" cy="475488"/>
            </a:xfrm>
            <a:prstGeom prst="rect">
              <a:avLst/>
            </a:prstGeom>
            <a:noFill/>
          </p:spPr>
          <p:txBody>
            <a:bodyPr wrap="square" anchor="t" lIns="0" rIns="0" tIns="0" bIns="0">
              <a:spAutoFit/>
            </a:bodyPr>
            <a:lstStyle/>
            <a:p>
              <a:pPr algn="l">
                <a:lnSpc>
                  <a:spcPct val="106000"/>
                </a:lnSpc>
              </a:pPr>
              <a:r>
                <a:rPr sz="1200" b="0" i="0">
                  <a:solidFill>
                    <a:srgbClr val="17232D"/>
                  </a:solidFill>
                  <a:latin typeface="Calibri"/>
                </a:rPr>
                <a:t>Dec 2025 — rebank announced (9 → 13 banks)</a:t>
              </a:r>
            </a:p>
          </p:txBody>
        </p:sp>
        <p:sp>
          <p:nvSpPr>
            <p:cNvPr id="27" name="Oval 26"/>
            <p:cNvSpPr/>
            <p:nvPr/>
          </p:nvSpPr>
          <p:spPr>
            <a:xfrm>
              <a:off x="3511296" y="3236976"/>
              <a:ext cx="109728" cy="109728"/>
            </a:xfrm>
            <a:prstGeom prst="ellipse">
              <a:avLst/>
            </a:prstGeom>
            <a:solidFill>
              <a:srgbClr val="0B2D4D"/>
            </a:solidFill>
            <a:ln>
              <a:noFill/>
            </a:ln>
            <a:effectLst/>
          </p:spPr>
          <p:txBody>
            <a:bodyPr rtlCol="0" anchor="ctr"/>
            <a:lstStyle/>
            <a:p>
              <a:pPr algn="ctr"/>
            </a:p>
          </p:txBody>
        </p:sp>
        <p:sp>
          <p:nvSpPr>
            <p:cNvPr id="28" name="Rectangle 27"/>
            <p:cNvSpPr/>
            <p:nvPr/>
          </p:nvSpPr>
          <p:spPr>
            <a:xfrm>
              <a:off x="3558844" y="2249424"/>
              <a:ext cx="14630" cy="1042416"/>
            </a:xfrm>
            <a:prstGeom prst="rect">
              <a:avLst/>
            </a:prstGeom>
            <a:solidFill>
              <a:srgbClr val="9AA8B3"/>
            </a:solidFill>
            <a:ln>
              <a:noFill/>
            </a:ln>
            <a:effectLst/>
          </p:spPr>
          <p:txBody>
            <a:bodyPr rtlCol="0" anchor="ctr"/>
            <a:lstStyle/>
            <a:p>
              <a:pPr algn="ctr"/>
            </a:p>
          </p:txBody>
        </p:sp>
        <p:sp>
          <p:nvSpPr>
            <p:cNvPr id="29" name="Rectangle 28"/>
            <p:cNvSpPr/>
            <p:nvPr/>
          </p:nvSpPr>
          <p:spPr>
            <a:xfrm>
              <a:off x="2606040" y="1645920"/>
              <a:ext cx="2103120" cy="603504"/>
            </a:xfrm>
            <a:prstGeom prst="rect">
              <a:avLst/>
            </a:prstGeom>
            <a:solidFill>
              <a:srgbClr val="EDF3F6"/>
            </a:solidFill>
            <a:ln>
              <a:noFill/>
            </a:ln>
            <a:effectLst/>
          </p:spPr>
          <p:txBody>
            <a:bodyPr rtlCol="0" anchor="ctr"/>
            <a:lstStyle/>
            <a:p>
              <a:pPr algn="ctr"/>
            </a:p>
          </p:txBody>
        </p:sp>
        <p:sp>
          <p:nvSpPr>
            <p:cNvPr id="30" name="TextBox 29"/>
            <p:cNvSpPr txBox="1"/>
            <p:nvPr/>
          </p:nvSpPr>
          <p:spPr>
            <a:xfrm>
              <a:off x="2715768" y="1719072"/>
              <a:ext cx="1883663" cy="475488"/>
            </a:xfrm>
            <a:prstGeom prst="rect">
              <a:avLst/>
            </a:prstGeom>
            <a:noFill/>
          </p:spPr>
          <p:txBody>
            <a:bodyPr wrap="square" anchor="t" lIns="0" rIns="0" tIns="0" bIns="0">
              <a:spAutoFit/>
            </a:bodyPr>
            <a:lstStyle/>
            <a:p>
              <a:pPr algn="l">
                <a:lnSpc>
                  <a:spcPct val="106000"/>
                </a:lnSpc>
              </a:pPr>
              <a:r>
                <a:rPr sz="1200" b="0" i="0">
                  <a:solidFill>
                    <a:srgbClr val="17232D"/>
                  </a:solidFill>
                  <a:latin typeface="Calibri"/>
                </a:rPr>
                <a:t>Apr 2026 — 13-bank schedule effective</a:t>
              </a:r>
            </a:p>
          </p:txBody>
        </p:sp>
        <p:sp>
          <p:nvSpPr>
            <p:cNvPr id="31" name="Oval 30"/>
            <p:cNvSpPr/>
            <p:nvPr/>
          </p:nvSpPr>
          <p:spPr>
            <a:xfrm>
              <a:off x="4041648" y="3236976"/>
              <a:ext cx="109728" cy="109728"/>
            </a:xfrm>
            <a:prstGeom prst="ellipse">
              <a:avLst/>
            </a:prstGeom>
            <a:solidFill>
              <a:srgbClr val="0B2D4D"/>
            </a:solidFill>
            <a:ln>
              <a:noFill/>
            </a:ln>
            <a:effectLst/>
          </p:spPr>
          <p:txBody>
            <a:bodyPr rtlCol="0" anchor="ctr"/>
            <a:lstStyle/>
            <a:p>
              <a:pPr algn="ctr"/>
            </a:p>
          </p:txBody>
        </p:sp>
        <p:sp>
          <p:nvSpPr>
            <p:cNvPr id="32" name="Rectangle 31"/>
            <p:cNvSpPr/>
            <p:nvPr/>
          </p:nvSpPr>
          <p:spPr>
            <a:xfrm>
              <a:off x="4089196" y="3355848"/>
              <a:ext cx="14630" cy="1014984"/>
            </a:xfrm>
            <a:prstGeom prst="rect">
              <a:avLst/>
            </a:prstGeom>
            <a:solidFill>
              <a:srgbClr val="9AA8B3"/>
            </a:solidFill>
            <a:ln>
              <a:noFill/>
            </a:ln>
            <a:effectLst/>
          </p:spPr>
          <p:txBody>
            <a:bodyPr rtlCol="0" anchor="ctr"/>
            <a:lstStyle/>
            <a:p>
              <a:pPr algn="ctr"/>
            </a:p>
          </p:txBody>
        </p:sp>
        <p:sp>
          <p:nvSpPr>
            <p:cNvPr id="33" name="Rectangle 32"/>
            <p:cNvSpPr/>
            <p:nvPr/>
          </p:nvSpPr>
          <p:spPr>
            <a:xfrm>
              <a:off x="3291840" y="4370832"/>
              <a:ext cx="2148840" cy="603504"/>
            </a:xfrm>
            <a:prstGeom prst="rect">
              <a:avLst/>
            </a:prstGeom>
            <a:solidFill>
              <a:srgbClr val="EDF3F6"/>
            </a:solidFill>
            <a:ln>
              <a:noFill/>
            </a:ln>
            <a:effectLst/>
          </p:spPr>
          <p:txBody>
            <a:bodyPr rtlCol="0" anchor="ctr"/>
            <a:lstStyle/>
            <a:p>
              <a:pPr algn="ctr"/>
            </a:p>
          </p:txBody>
        </p:sp>
        <p:sp>
          <p:nvSpPr>
            <p:cNvPr id="34" name="TextBox 33"/>
            <p:cNvSpPr txBox="1"/>
            <p:nvPr/>
          </p:nvSpPr>
          <p:spPr>
            <a:xfrm>
              <a:off x="3401568" y="4443984"/>
              <a:ext cx="1929384" cy="475488"/>
            </a:xfrm>
            <a:prstGeom prst="rect">
              <a:avLst/>
            </a:prstGeom>
            <a:noFill/>
          </p:spPr>
          <p:txBody>
            <a:bodyPr wrap="square" anchor="t" lIns="0" rIns="0" tIns="0" bIns="0">
              <a:spAutoFit/>
            </a:bodyPr>
            <a:lstStyle/>
            <a:p>
              <a:pPr algn="l">
                <a:lnSpc>
                  <a:spcPct val="106000"/>
                </a:lnSpc>
              </a:pPr>
              <a:r>
                <a:rPr sz="1200" b="0" i="0">
                  <a:solidFill>
                    <a:srgbClr val="17232D"/>
                  </a:solidFill>
                  <a:latin typeface="Calibri"/>
                </a:rPr>
                <a:t>Jul 2026 — premium siting announced: C / D / F</a:t>
              </a:r>
            </a:p>
          </p:txBody>
        </p:sp>
        <p:sp>
          <p:nvSpPr>
            <p:cNvPr id="35" name="Oval 34"/>
            <p:cNvSpPr/>
            <p:nvPr/>
          </p:nvSpPr>
          <p:spPr>
            <a:xfrm>
              <a:off x="5102352" y="3236976"/>
              <a:ext cx="109728" cy="109728"/>
            </a:xfrm>
            <a:prstGeom prst="ellipse">
              <a:avLst/>
            </a:prstGeom>
            <a:solidFill>
              <a:srgbClr val="0B2D4D"/>
            </a:solidFill>
            <a:ln>
              <a:noFill/>
            </a:ln>
            <a:effectLst/>
          </p:spPr>
          <p:txBody>
            <a:bodyPr rtlCol="0" anchor="ctr"/>
            <a:lstStyle/>
            <a:p>
              <a:pPr algn="ctr"/>
            </a:p>
          </p:txBody>
        </p:sp>
        <p:sp>
          <p:nvSpPr>
            <p:cNvPr id="36" name="Rectangle 35"/>
            <p:cNvSpPr/>
            <p:nvPr/>
          </p:nvSpPr>
          <p:spPr>
            <a:xfrm>
              <a:off x="5149900" y="3127248"/>
              <a:ext cx="14630" cy="164592"/>
            </a:xfrm>
            <a:prstGeom prst="rect">
              <a:avLst/>
            </a:prstGeom>
            <a:solidFill>
              <a:srgbClr val="9AA8B3"/>
            </a:solidFill>
            <a:ln>
              <a:noFill/>
            </a:ln>
            <a:effectLst/>
          </p:spPr>
          <p:txBody>
            <a:bodyPr rtlCol="0" anchor="ctr"/>
            <a:lstStyle/>
            <a:p>
              <a:pPr algn="ctr"/>
            </a:p>
          </p:txBody>
        </p:sp>
        <p:sp>
          <p:nvSpPr>
            <p:cNvPr id="37" name="Rectangle 36"/>
            <p:cNvSpPr/>
            <p:nvPr/>
          </p:nvSpPr>
          <p:spPr>
            <a:xfrm>
              <a:off x="4297680" y="2468880"/>
              <a:ext cx="1920240" cy="658368"/>
            </a:xfrm>
            <a:prstGeom prst="rect">
              <a:avLst/>
            </a:prstGeom>
            <a:solidFill>
              <a:srgbClr val="EDF3F6"/>
            </a:solidFill>
            <a:ln>
              <a:noFill/>
            </a:ln>
            <a:effectLst/>
          </p:spPr>
          <p:txBody>
            <a:bodyPr rtlCol="0" anchor="ctr"/>
            <a:lstStyle/>
            <a:p>
              <a:pPr algn="ctr"/>
            </a:p>
          </p:txBody>
        </p:sp>
        <p:sp>
          <p:nvSpPr>
            <p:cNvPr id="38" name="TextBox 37"/>
            <p:cNvSpPr txBox="1"/>
            <p:nvPr/>
          </p:nvSpPr>
          <p:spPr>
            <a:xfrm>
              <a:off x="4407408" y="2542032"/>
              <a:ext cx="1700784" cy="530352"/>
            </a:xfrm>
            <a:prstGeom prst="rect">
              <a:avLst/>
            </a:prstGeom>
            <a:noFill/>
          </p:spPr>
          <p:txBody>
            <a:bodyPr wrap="square" anchor="t" lIns="0" rIns="0" tIns="0" bIns="0">
              <a:spAutoFit/>
            </a:bodyPr>
            <a:lstStyle/>
            <a:p>
              <a:pPr algn="l">
                <a:lnSpc>
                  <a:spcPct val="106000"/>
                </a:lnSpc>
              </a:pPr>
              <a:r>
                <a:rPr sz="1200" b="0" i="0">
                  <a:solidFill>
                    <a:srgbClr val="17232D"/>
                  </a:solidFill>
                  <a:latin typeface="Calibri"/>
                </a:rPr>
                <a:t>2027 — Phase 1 opens</a:t>
              </a:r>
            </a:p>
          </p:txBody>
        </p:sp>
        <p:sp>
          <p:nvSpPr>
            <p:cNvPr id="39" name="Oval 38"/>
            <p:cNvSpPr/>
            <p:nvPr/>
          </p:nvSpPr>
          <p:spPr>
            <a:xfrm>
              <a:off x="11466576" y="3236976"/>
              <a:ext cx="109728" cy="109728"/>
            </a:xfrm>
            <a:prstGeom prst="ellipse">
              <a:avLst/>
            </a:prstGeom>
            <a:solidFill>
              <a:srgbClr val="0B2D4D"/>
            </a:solidFill>
            <a:ln>
              <a:noFill/>
            </a:ln>
            <a:effectLst/>
          </p:spPr>
          <p:txBody>
            <a:bodyPr rtlCol="0" anchor="ctr"/>
            <a:lstStyle/>
            <a:p>
              <a:pPr algn="ctr"/>
            </a:p>
          </p:txBody>
        </p:sp>
        <p:sp>
          <p:nvSpPr>
            <p:cNvPr id="40" name="Rectangle 39"/>
            <p:cNvSpPr/>
            <p:nvPr/>
          </p:nvSpPr>
          <p:spPr>
            <a:xfrm>
              <a:off x="11514124" y="3127248"/>
              <a:ext cx="14630" cy="164592"/>
            </a:xfrm>
            <a:prstGeom prst="rect">
              <a:avLst/>
            </a:prstGeom>
            <a:solidFill>
              <a:srgbClr val="9AA8B3"/>
            </a:solidFill>
            <a:ln>
              <a:noFill/>
            </a:ln>
            <a:effectLst/>
          </p:spPr>
          <p:txBody>
            <a:bodyPr rtlCol="0" anchor="ctr"/>
            <a:lstStyle/>
            <a:p>
              <a:pPr algn="ctr"/>
            </a:p>
          </p:txBody>
        </p:sp>
        <p:sp>
          <p:nvSpPr>
            <p:cNvPr id="41" name="Rectangle 40"/>
            <p:cNvSpPr/>
            <p:nvPr/>
          </p:nvSpPr>
          <p:spPr>
            <a:xfrm>
              <a:off x="9281160" y="2468880"/>
              <a:ext cx="2240280" cy="658368"/>
            </a:xfrm>
            <a:prstGeom prst="rect">
              <a:avLst/>
            </a:prstGeom>
            <a:solidFill>
              <a:srgbClr val="EDF3F6"/>
            </a:solidFill>
            <a:ln>
              <a:noFill/>
            </a:ln>
            <a:effectLst/>
          </p:spPr>
          <p:txBody>
            <a:bodyPr rtlCol="0" anchor="ctr"/>
            <a:lstStyle/>
            <a:p>
              <a:pPr algn="ctr"/>
            </a:p>
          </p:txBody>
        </p:sp>
        <p:sp>
          <p:nvSpPr>
            <p:cNvPr id="42" name="TextBox 41"/>
            <p:cNvSpPr txBox="1"/>
            <p:nvPr/>
          </p:nvSpPr>
          <p:spPr>
            <a:xfrm>
              <a:off x="9390888" y="2542032"/>
              <a:ext cx="2020824" cy="530352"/>
            </a:xfrm>
            <a:prstGeom prst="rect">
              <a:avLst/>
            </a:prstGeom>
            <a:noFill/>
          </p:spPr>
          <p:txBody>
            <a:bodyPr wrap="square" anchor="t" lIns="0" rIns="0" tIns="0" bIns="0">
              <a:spAutoFit/>
            </a:bodyPr>
            <a:lstStyle/>
            <a:p>
              <a:pPr algn="l">
                <a:lnSpc>
                  <a:spcPct val="106000"/>
                </a:lnSpc>
              </a:pPr>
              <a:r>
                <a:rPr sz="1200" b="0" i="0">
                  <a:solidFill>
                    <a:srgbClr val="17232D"/>
                  </a:solidFill>
                  <a:latin typeface="Calibri"/>
                </a:rPr>
                <a:t>2030 — program completes; fabrication-release window closes</a:t>
              </a:r>
            </a:p>
          </p:txBody>
        </p:sp>
        <p:sp>
          <p:nvSpPr>
            <p:cNvPr id="43" name="Rectangle 42"/>
            <p:cNvSpPr/>
            <p:nvPr/>
          </p:nvSpPr>
          <p:spPr>
            <a:xfrm>
              <a:off x="914400" y="5230368"/>
              <a:ext cx="10607040" cy="566928"/>
            </a:xfrm>
            <a:prstGeom prst="rect">
              <a:avLst/>
            </a:prstGeom>
            <a:noFill/>
            <a:ln w="19050">
              <a:solidFill>
                <a:srgbClr val="415669"/>
              </a:solidFill>
              <a:prstDash val="dash"/>
            </a:ln>
            <a:effectLst/>
          </p:spPr>
          <p:txBody>
            <a:bodyPr rtlCol="0" anchor="ctr"/>
            <a:lstStyle/>
            <a:p>
              <a:pPr algn="ctr"/>
            </a:p>
          </p:txBody>
        </p:sp>
        <p:sp>
          <p:nvSpPr>
            <p:cNvPr id="44" name="TextBox 43"/>
            <p:cNvSpPr txBox="1"/>
            <p:nvPr/>
          </p:nvSpPr>
          <p:spPr>
            <a:xfrm>
              <a:off x="1097280" y="5358384"/>
              <a:ext cx="10241280" cy="329184"/>
            </a:xfrm>
            <a:prstGeom prst="rect">
              <a:avLst/>
            </a:prstGeom>
            <a:noFill/>
          </p:spPr>
          <p:txBody>
            <a:bodyPr wrap="square" anchor="t" lIns="0" rIns="0" tIns="0" bIns="0">
              <a:spAutoFit/>
            </a:bodyPr>
            <a:lstStyle/>
            <a:p>
              <a:pPr algn="ctr"/>
              <a:r>
                <a:rPr sz="1300" b="0" i="1">
                  <a:solidFill>
                    <a:srgbClr val="415669"/>
                  </a:solidFill>
                  <a:latin typeface="Calibri"/>
                </a:rPr>
                <a:t>Per-module release-for-fabrication dates — unpublished; obtaining them is the register's first disclosure obligation (D0 / D2)</a:t>
              </a:r>
            </a:p>
          </p:txBody>
        </p:sp>
      </p:grpSp>
      <p:sp>
        <p:nvSpPr>
          <p:cNvPr id="45" name="slide-15-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Innovation Next+ JV / Walsh Group (Aug 2025); AA newsroom Dec 2025 and Jul 2026; DFW/AA joint release May 2025.</a:t>
            </a:r>
          </a:p>
        </p:txBody>
      </p:sp>
      <p:sp>
        <p:nvSpPr>
          <p:cNvPr id="46" name="slide-15-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16-title"/>
          <p:cNvSpPr txBox="1"/>
          <p:nvPr/>
        </p:nvSpPr>
        <p:spPr>
          <a:xfrm>
            <a:off x="502920" y="274320"/>
            <a:ext cx="9509760" cy="932688"/>
          </a:xfrm>
          <a:prstGeom prst="rect">
            <a:avLst/>
          </a:prstGeom>
          <a:noFill/>
        </p:spPr>
        <p:txBody>
          <a:bodyPr wrap="square" anchor="t" lIns="0" rIns="0" tIns="0" bIns="0">
            <a:spAutoFit/>
          </a:bodyPr>
          <a:lstStyle/>
          <a:p>
            <a:pPr algn="l">
              <a:lnSpc>
                <a:spcPct val="102000"/>
              </a:lnSpc>
            </a:pPr>
            <a:r>
              <a:rPr sz="3500" b="1" i="0">
                <a:solidFill>
                  <a:srgbClr val="0B2D4D"/>
                </a:solidFill>
                <a:latin typeface="Georgia"/>
              </a:rPr>
              <a:t>What the board watches quarterly, and what stops the program</a:t>
            </a:r>
          </a:p>
        </p:txBody>
      </p:sp>
      <p:sp>
        <p:nvSpPr>
          <p:cNvPr id="3" name="slide-16-chip-bg"/>
          <p:cNvSpPr/>
          <p:nvPr/>
        </p:nvSpPr>
        <p:spPr>
          <a:xfrm>
            <a:off x="10177272" y="310896"/>
            <a:ext cx="1508760" cy="365760"/>
          </a:xfrm>
          <a:prstGeom prst="rect">
            <a:avLst/>
          </a:prstGeom>
          <a:solidFill>
            <a:srgbClr val="415669"/>
          </a:solidFill>
          <a:ln>
            <a:noFill/>
          </a:ln>
          <a:effectLst/>
        </p:spPr>
        <p:txBody>
          <a:bodyPr rtlCol="0" anchor="ctr"/>
          <a:lstStyle/>
          <a:p>
            <a:pPr algn="ctr"/>
          </a:p>
        </p:txBody>
      </p:sp>
      <p:sp>
        <p:nvSpPr>
          <p:cNvPr id="4" name="slide-16-chip"/>
          <p:cNvSpPr txBox="1"/>
          <p:nvPr/>
        </p:nvSpPr>
        <p:spPr>
          <a:xfrm>
            <a:off x="10177272" y="365760"/>
            <a:ext cx="1508760" cy="274320"/>
          </a:xfrm>
          <a:prstGeom prst="rect">
            <a:avLst/>
          </a:prstGeom>
          <a:noFill/>
        </p:spPr>
        <p:txBody>
          <a:bodyPr wrap="square" anchor="t" lIns="0" rIns="0" tIns="0" bIns="0">
            <a:spAutoFit/>
          </a:bodyPr>
          <a:lstStyle/>
          <a:p>
            <a:pPr algn="ctr"/>
            <a:r>
              <a:rPr sz="1600" b="1" i="0">
                <a:solidFill>
                  <a:srgbClr val="FFFFFF"/>
                </a:solidFill>
                <a:latin typeface="Calibri"/>
              </a:rPr>
              <a:t>READ-AHEAD</a:t>
            </a:r>
          </a:p>
        </p:txBody>
      </p:sp>
      <p:grpSp>
        <p:nvGrpSpPr>
          <p:cNvPr id="5" name="slide-16-indicators" descr="Governance panel listing six quarterly board indicators for the reversibility register and three stop conditions that halt or convert the program."/>
          <p:cNvGrpSpPr/>
          <p:nvPr/>
        </p:nvGrpSpPr>
        <p:grpSpPr>
          <a:xfrm>
            <a:off x="502920" y="1417320"/>
            <a:ext cx="11036808" cy="4453128"/>
            <a:chOff x="502920" y="1417320"/>
            <a:chExt cx="11036808" cy="4453128"/>
          </a:xfrm>
        </p:grpSpPr>
        <p:sp>
          <p:nvSpPr>
            <p:cNvPr id="6" name="TextBox 5"/>
            <p:cNvSpPr txBox="1"/>
            <p:nvPr/>
          </p:nvSpPr>
          <p:spPr>
            <a:xfrm>
              <a:off x="502920" y="1417320"/>
              <a:ext cx="5486400" cy="320040"/>
            </a:xfrm>
            <a:prstGeom prst="rect">
              <a:avLst/>
            </a:prstGeom>
            <a:noFill/>
          </p:spPr>
          <p:txBody>
            <a:bodyPr wrap="square" anchor="t" lIns="0" rIns="0" tIns="0" bIns="0">
              <a:spAutoFit/>
            </a:bodyPr>
            <a:lstStyle/>
            <a:p>
              <a:pPr algn="l"/>
              <a:r>
                <a:rPr sz="1700" b="1" i="0">
                  <a:solidFill>
                    <a:srgbClr val="0B2D4D"/>
                  </a:solidFill>
                  <a:latin typeface="Georgia"/>
                </a:rPr>
                <a:t>Quarterly indicators</a:t>
              </a:r>
            </a:p>
          </p:txBody>
        </p:sp>
        <p:sp>
          <p:nvSpPr>
            <p:cNvPr id="7" name="Rectangle 6"/>
            <p:cNvSpPr/>
            <p:nvPr/>
          </p:nvSpPr>
          <p:spPr>
            <a:xfrm>
              <a:off x="566928" y="1915668"/>
              <a:ext cx="109728" cy="109728"/>
            </a:xfrm>
            <a:prstGeom prst="rect">
              <a:avLst/>
            </a:prstGeom>
            <a:solidFill>
              <a:srgbClr val="0B2D4D"/>
            </a:solidFill>
            <a:ln>
              <a:noFill/>
            </a:ln>
            <a:effectLst/>
          </p:spPr>
          <p:txBody>
            <a:bodyPr rtlCol="0" anchor="ctr"/>
            <a:lstStyle/>
            <a:p>
              <a:pPr algn="ctr"/>
            </a:p>
          </p:txBody>
        </p:sp>
        <p:sp>
          <p:nvSpPr>
            <p:cNvPr id="8" name="TextBox 7"/>
            <p:cNvSpPr txBox="1"/>
            <p:nvPr/>
          </p:nvSpPr>
          <p:spPr>
            <a:xfrm>
              <a:off x="841248" y="1847088"/>
              <a:ext cx="10698480" cy="384048"/>
            </a:xfrm>
            <a:prstGeom prst="rect">
              <a:avLst/>
            </a:prstGeom>
            <a:noFill/>
          </p:spPr>
          <p:txBody>
            <a:bodyPr wrap="square" anchor="t" lIns="0" rIns="0" tIns="0" bIns="0">
              <a:spAutoFit/>
            </a:bodyPr>
            <a:lstStyle/>
            <a:p>
              <a:pPr algn="l">
                <a:lnSpc>
                  <a:spcPct val="105000"/>
                </a:lnSpc>
              </a:pPr>
              <a:r>
                <a:rPr sz="1300" b="0" i="0">
                  <a:solidFill>
                    <a:srgbClr val="17232D"/>
                  </a:solidFill>
                  <a:latin typeface="Calibri"/>
                </a:rPr>
                <a:t>% of fabrication releases preceded by a written register finding — target 100%</a:t>
              </a:r>
            </a:p>
          </p:txBody>
        </p:sp>
        <p:sp>
          <p:nvSpPr>
            <p:cNvPr id="9" name="Rectangle 8"/>
            <p:cNvSpPr/>
            <p:nvPr/>
          </p:nvSpPr>
          <p:spPr>
            <a:xfrm>
              <a:off x="566928" y="2318004"/>
              <a:ext cx="109728" cy="109728"/>
            </a:xfrm>
            <a:prstGeom prst="rect">
              <a:avLst/>
            </a:prstGeom>
            <a:solidFill>
              <a:srgbClr val="0B2D4D"/>
            </a:solidFill>
            <a:ln>
              <a:noFill/>
            </a:ln>
            <a:effectLst/>
          </p:spPr>
          <p:txBody>
            <a:bodyPr rtlCol="0" anchor="ctr"/>
            <a:lstStyle/>
            <a:p>
              <a:pPr algn="ctr"/>
            </a:p>
          </p:txBody>
        </p:sp>
        <p:sp>
          <p:nvSpPr>
            <p:cNvPr id="10" name="TextBox 9"/>
            <p:cNvSpPr txBox="1"/>
            <p:nvPr/>
          </p:nvSpPr>
          <p:spPr>
            <a:xfrm>
              <a:off x="841248" y="2249424"/>
              <a:ext cx="10698480" cy="384048"/>
            </a:xfrm>
            <a:prstGeom prst="rect">
              <a:avLst/>
            </a:prstGeom>
            <a:noFill/>
          </p:spPr>
          <p:txBody>
            <a:bodyPr wrap="square" anchor="t" lIns="0" rIns="0" tIns="0" bIns="0">
              <a:spAutoFit/>
            </a:bodyPr>
            <a:lstStyle/>
            <a:p>
              <a:pPr algn="l">
                <a:lnSpc>
                  <a:spcPct val="105000"/>
                </a:lnSpc>
              </a:pPr>
              <a:r>
                <a:rPr sz="1300" b="0" i="0">
                  <a:solidFill>
                    <a:srgbClr val="17232D"/>
                  </a:solidFill>
                  <a:latin typeface="Calibri"/>
                </a:rPr>
                <a:t>Options countersigned vs retired (two-cycle rule)</a:t>
              </a:r>
            </a:p>
          </p:txBody>
        </p:sp>
        <p:sp>
          <p:nvSpPr>
            <p:cNvPr id="11" name="Rectangle 10"/>
            <p:cNvSpPr/>
            <p:nvPr/>
          </p:nvSpPr>
          <p:spPr>
            <a:xfrm>
              <a:off x="566928" y="2720340"/>
              <a:ext cx="109728" cy="109728"/>
            </a:xfrm>
            <a:prstGeom prst="rect">
              <a:avLst/>
            </a:prstGeom>
            <a:solidFill>
              <a:srgbClr val="0B2D4D"/>
            </a:solidFill>
            <a:ln>
              <a:noFill/>
            </a:ln>
            <a:effectLst/>
          </p:spPr>
          <p:txBody>
            <a:bodyPr rtlCol="0" anchor="ctr"/>
            <a:lstStyle/>
            <a:p>
              <a:pPr algn="ctr"/>
            </a:p>
          </p:txBody>
        </p:sp>
        <p:sp>
          <p:nvSpPr>
            <p:cNvPr id="12" name="TextBox 11"/>
            <p:cNvSpPr txBox="1"/>
            <p:nvPr/>
          </p:nvSpPr>
          <p:spPr>
            <a:xfrm>
              <a:off x="841248" y="2651760"/>
              <a:ext cx="10698480" cy="384048"/>
            </a:xfrm>
            <a:prstGeom prst="rect">
              <a:avLst/>
            </a:prstGeom>
            <a:noFill/>
          </p:spPr>
          <p:txBody>
            <a:bodyPr wrap="square" anchor="t" lIns="0" rIns="0" tIns="0" bIns="0">
              <a:spAutoFit/>
            </a:bodyPr>
            <a:lstStyle/>
            <a:p>
              <a:pPr algn="l">
                <a:lnSpc>
                  <a:spcPct val="105000"/>
                </a:lnSpc>
              </a:pPr>
              <a:r>
                <a:rPr sz="1300" b="0" i="0">
                  <a:solidFill>
                    <a:srgbClr val="17232D"/>
                  </a:solidFill>
                  <a:latin typeface="Calibri"/>
                </a:rPr>
                <a:t>Aggregate register premium vs the Finance &amp; Audit forward-CPE ceiling</a:t>
              </a:r>
            </a:p>
          </p:txBody>
        </p:sp>
        <p:sp>
          <p:nvSpPr>
            <p:cNvPr id="13" name="Rectangle 12"/>
            <p:cNvSpPr/>
            <p:nvPr/>
          </p:nvSpPr>
          <p:spPr>
            <a:xfrm>
              <a:off x="566928" y="3122676"/>
              <a:ext cx="109728" cy="109728"/>
            </a:xfrm>
            <a:prstGeom prst="rect">
              <a:avLst/>
            </a:prstGeom>
            <a:solidFill>
              <a:srgbClr val="0B2D4D"/>
            </a:solidFill>
            <a:ln>
              <a:noFill/>
            </a:ln>
            <a:effectLst/>
          </p:spPr>
          <p:txBody>
            <a:bodyPr rtlCol="0" anchor="ctr"/>
            <a:lstStyle/>
            <a:p>
              <a:pPr algn="ctr"/>
            </a:p>
          </p:txBody>
        </p:sp>
        <p:sp>
          <p:nvSpPr>
            <p:cNvPr id="14" name="TextBox 13"/>
            <p:cNvSpPr txBox="1"/>
            <p:nvPr/>
          </p:nvSpPr>
          <p:spPr>
            <a:xfrm>
              <a:off x="841248" y="3054096"/>
              <a:ext cx="10698480" cy="384048"/>
            </a:xfrm>
            <a:prstGeom prst="rect">
              <a:avLst/>
            </a:prstGeom>
            <a:noFill/>
          </p:spPr>
          <p:txBody>
            <a:bodyPr wrap="square" anchor="t" lIns="0" rIns="0" tIns="0" bIns="0">
              <a:spAutoFit/>
            </a:bodyPr>
            <a:lstStyle/>
            <a:p>
              <a:pPr algn="l">
                <a:lnSpc>
                  <a:spcPct val="105000"/>
                </a:lnSpc>
              </a:pPr>
              <a:r>
                <a:rPr sz="1300" b="0" i="0">
                  <a:solidFill>
                    <a:srgbClr val="17232D"/>
                  </a:solidFill>
                  <a:latin typeface="Calibri"/>
                </a:rPr>
                <a:t>American connecting share holds a connecting majority</a:t>
              </a:r>
            </a:p>
          </p:txBody>
        </p:sp>
        <p:sp>
          <p:nvSpPr>
            <p:cNvPr id="15" name="Rectangle 14"/>
            <p:cNvSpPr/>
            <p:nvPr/>
          </p:nvSpPr>
          <p:spPr>
            <a:xfrm>
              <a:off x="566928" y="3525012"/>
              <a:ext cx="109728" cy="109728"/>
            </a:xfrm>
            <a:prstGeom prst="rect">
              <a:avLst/>
            </a:prstGeom>
            <a:solidFill>
              <a:srgbClr val="0B2D4D"/>
            </a:solidFill>
            <a:ln>
              <a:noFill/>
            </a:ln>
            <a:effectLst/>
          </p:spPr>
          <p:txBody>
            <a:bodyPr rtlCol="0" anchor="ctr"/>
            <a:lstStyle/>
            <a:p>
              <a:pPr algn="ctr"/>
            </a:p>
          </p:txBody>
        </p:sp>
        <p:sp>
          <p:nvSpPr>
            <p:cNvPr id="16" name="TextBox 15"/>
            <p:cNvSpPr txBox="1"/>
            <p:nvPr/>
          </p:nvSpPr>
          <p:spPr>
            <a:xfrm>
              <a:off x="841248" y="3456432"/>
              <a:ext cx="10698480" cy="384048"/>
            </a:xfrm>
            <a:prstGeom prst="rect">
              <a:avLst/>
            </a:prstGeom>
            <a:noFill/>
          </p:spPr>
          <p:txBody>
            <a:bodyPr wrap="square" anchor="t" lIns="0" rIns="0" tIns="0" bIns="0">
              <a:spAutoFit/>
            </a:bodyPr>
            <a:lstStyle/>
            <a:p>
              <a:pPr algn="l">
                <a:lnSpc>
                  <a:spcPct val="105000"/>
                </a:lnSpc>
              </a:pPr>
              <a:r>
                <a:rPr sz="1300" b="0" i="0">
                  <a:solidFill>
                    <a:srgbClr val="17232D"/>
                  </a:solidFill>
                  <a:latin typeface="Calibri"/>
                </a:rPr>
                <a:t>American premium build-out on schedule: narrowbody premium seats ~25% → ~40%; lie-flat +50%+ by decade end</a:t>
              </a:r>
            </a:p>
          </p:txBody>
        </p:sp>
        <p:sp>
          <p:nvSpPr>
            <p:cNvPr id="17" name="Rectangle 16"/>
            <p:cNvSpPr/>
            <p:nvPr/>
          </p:nvSpPr>
          <p:spPr>
            <a:xfrm>
              <a:off x="566928" y="3927348"/>
              <a:ext cx="109728" cy="109728"/>
            </a:xfrm>
            <a:prstGeom prst="rect">
              <a:avLst/>
            </a:prstGeom>
            <a:solidFill>
              <a:srgbClr val="0B2D4D"/>
            </a:solidFill>
            <a:ln>
              <a:noFill/>
            </a:ln>
            <a:effectLst/>
          </p:spPr>
          <p:txBody>
            <a:bodyPr rtlCol="0" anchor="ctr"/>
            <a:lstStyle/>
            <a:p>
              <a:pPr algn="ctr"/>
            </a:p>
          </p:txBody>
        </p:sp>
        <p:sp>
          <p:nvSpPr>
            <p:cNvPr id="18" name="TextBox 17"/>
            <p:cNvSpPr txBox="1"/>
            <p:nvPr/>
          </p:nvSpPr>
          <p:spPr>
            <a:xfrm>
              <a:off x="841248" y="3858768"/>
              <a:ext cx="10698480" cy="384048"/>
            </a:xfrm>
            <a:prstGeom prst="rect">
              <a:avLst/>
            </a:prstGeom>
            <a:noFill/>
          </p:spPr>
          <p:txBody>
            <a:bodyPr wrap="square" anchor="t" lIns="0" rIns="0" tIns="0" bIns="0">
              <a:spAutoFit/>
            </a:bodyPr>
            <a:lstStyle/>
            <a:p>
              <a:pPr algn="l">
                <a:lnSpc>
                  <a:spcPct val="105000"/>
                </a:lnSpc>
              </a:pPr>
              <a:r>
                <a:rPr sz="1300" b="0" i="0">
                  <a:solidFill>
                    <a:srgbClr val="17232D"/>
                  </a:solidFill>
                  <a:latin typeface="Calibri"/>
                </a:rPr>
                <a:t>Skylink overnight single-loop performance</a:t>
              </a:r>
            </a:p>
          </p:txBody>
        </p:sp>
        <p:sp>
          <p:nvSpPr>
            <p:cNvPr id="19" name="TextBox 18"/>
            <p:cNvSpPr txBox="1"/>
            <p:nvPr/>
          </p:nvSpPr>
          <p:spPr>
            <a:xfrm>
              <a:off x="502920" y="4389120"/>
              <a:ext cx="5486400" cy="320040"/>
            </a:xfrm>
            <a:prstGeom prst="rect">
              <a:avLst/>
            </a:prstGeom>
            <a:noFill/>
          </p:spPr>
          <p:txBody>
            <a:bodyPr wrap="square" anchor="t" lIns="0" rIns="0" tIns="0" bIns="0">
              <a:spAutoFit/>
            </a:bodyPr>
            <a:lstStyle/>
            <a:p>
              <a:pPr algn="l"/>
              <a:r>
                <a:rPr sz="1700" b="1" i="0">
                  <a:solidFill>
                    <a:srgbClr val="A6413A"/>
                  </a:solidFill>
                  <a:latin typeface="Georgia"/>
                </a:rPr>
                <a:t>Stop conditions</a:t>
              </a:r>
            </a:p>
          </p:txBody>
        </p:sp>
        <p:sp>
          <p:nvSpPr>
            <p:cNvPr id="20" name="TextBox 19"/>
            <p:cNvSpPr txBox="1"/>
            <p:nvPr/>
          </p:nvSpPr>
          <p:spPr>
            <a:xfrm>
              <a:off x="566928" y="4809744"/>
              <a:ext cx="10881360" cy="329184"/>
            </a:xfrm>
            <a:prstGeom prst="rect">
              <a:avLst/>
            </a:prstGeom>
            <a:noFill/>
          </p:spPr>
          <p:txBody>
            <a:bodyPr wrap="square" anchor="t" lIns="0" rIns="0" tIns="0" bIns="0">
              <a:spAutoFit/>
            </a:bodyPr>
            <a:lstStyle/>
            <a:p>
              <a:pPr algn="l"/>
              <a:r>
                <a:rPr sz="1300" b="1" i="0">
                  <a:solidFill>
                    <a:srgbClr val="A6413A"/>
                  </a:solidFill>
                  <a:latin typeface="Calibri"/>
                </a:rPr>
                <a:t>STOP  </a:t>
              </a:r>
              <a:r>
                <a:rPr sz="1300" b="0" i="0">
                  <a:solidFill>
                    <a:srgbClr val="17232D"/>
                  </a:solidFill>
                  <a:latin typeface="Calibri"/>
                </a:rPr>
                <a:t>Flagship-tier build-out announced on a published schedule</a:t>
              </a:r>
            </a:p>
          </p:txBody>
        </p:sp>
        <p:sp>
          <p:nvSpPr>
            <p:cNvPr id="21" name="TextBox 20"/>
            <p:cNvSpPr txBox="1"/>
            <p:nvPr/>
          </p:nvSpPr>
          <p:spPr>
            <a:xfrm>
              <a:off x="566928" y="5175504"/>
              <a:ext cx="10881360" cy="329184"/>
            </a:xfrm>
            <a:prstGeom prst="rect">
              <a:avLst/>
            </a:prstGeom>
            <a:noFill/>
          </p:spPr>
          <p:txBody>
            <a:bodyPr wrap="square" anchor="t" lIns="0" rIns="0" tIns="0" bIns="0">
              <a:spAutoFit/>
            </a:bodyPr>
            <a:lstStyle/>
            <a:p>
              <a:pPr algn="l"/>
              <a:r>
                <a:rPr sz="1300" b="1" i="0">
                  <a:solidFill>
                    <a:srgbClr val="A6413A"/>
                  </a:solidFill>
                  <a:latin typeface="Calibri"/>
                </a:rPr>
                <a:t>STOP  </a:t>
              </a:r>
              <a:r>
                <a:rPr sz="1300" b="0" i="0">
                  <a:solidFill>
                    <a:srgbClr val="17232D"/>
                  </a:solidFill>
                  <a:latin typeface="Calibri"/>
                </a:rPr>
                <a:t>Connecting share below the majority floor, two consecutive annual cycles</a:t>
              </a:r>
            </a:p>
          </p:txBody>
        </p:sp>
        <p:sp>
          <p:nvSpPr>
            <p:cNvPr id="22" name="TextBox 21"/>
            <p:cNvSpPr txBox="1"/>
            <p:nvPr/>
          </p:nvSpPr>
          <p:spPr>
            <a:xfrm>
              <a:off x="566928" y="5541264"/>
              <a:ext cx="10881360" cy="329184"/>
            </a:xfrm>
            <a:prstGeom prst="rect">
              <a:avLst/>
            </a:prstGeom>
            <a:noFill/>
          </p:spPr>
          <p:txBody>
            <a:bodyPr wrap="square" anchor="t" lIns="0" rIns="0" tIns="0" bIns="0">
              <a:spAutoFit/>
            </a:bodyPr>
            <a:lstStyle/>
            <a:p>
              <a:pPr algn="l"/>
              <a:r>
                <a:rPr sz="1300" b="1" i="0">
                  <a:solidFill>
                    <a:srgbClr val="A6413A"/>
                  </a:solidFill>
                  <a:latin typeface="Calibri"/>
                </a:rPr>
                <a:t>STOP  </a:t>
              </a:r>
              <a:r>
                <a:rPr sz="1300" b="0" i="0">
                  <a:solidFill>
                    <a:srgbClr val="17232D"/>
                  </a:solidFill>
                  <a:latin typeface="Calibri"/>
                </a:rPr>
                <a:t>U&amp;L renegotiation opens before 2043</a:t>
              </a:r>
            </a:p>
          </p:txBody>
        </p:sp>
      </p:grpSp>
      <p:sp>
        <p:nvSpPr>
          <p:cNvPr id="23" name="slide-16-owners"/>
          <p:cNvSpPr txBox="1"/>
          <p:nvPr/>
        </p:nvSpPr>
        <p:spPr>
          <a:xfrm>
            <a:off x="502920" y="5943600"/>
            <a:ext cx="11183112" cy="384048"/>
          </a:xfrm>
          <a:prstGeom prst="rect">
            <a:avLst/>
          </a:prstGeom>
          <a:noFill/>
        </p:spPr>
        <p:txBody>
          <a:bodyPr wrap="square" anchor="t" lIns="0" rIns="0" tIns="0" bIns="0">
            <a:spAutoFit/>
          </a:bodyPr>
          <a:lstStyle/>
          <a:p>
            <a:pPr algn="l"/>
            <a:r>
              <a:rPr sz="1600" b="1" i="0">
                <a:solidFill>
                  <a:srgbClr val="0B2D4D"/>
                </a:solidFill>
                <a:latin typeface="Calibri"/>
              </a:rPr>
              <a:t>The VP Terminal Development convenes any unwind review; the CEO's office signs the unwind.</a:t>
            </a:r>
          </a:p>
        </p:txBody>
      </p:sp>
      <p:sp>
        <p:nvSpPr>
          <p:cNvPr id="24" name="slide-16-source"/>
          <p:cNvSpPr txBox="1"/>
          <p:nvPr/>
        </p:nvSpPr>
        <p:spPr>
          <a:xfrm>
            <a:off x="502920" y="6400800"/>
            <a:ext cx="10881360" cy="402336"/>
          </a:xfrm>
          <a:prstGeom prst="rect">
            <a:avLst/>
          </a:prstGeom>
          <a:noFill/>
        </p:spPr>
        <p:txBody>
          <a:bodyPr wrap="square" anchor="t" lIns="0" rIns="0" tIns="0" bIns="0">
            <a:spAutoFit/>
          </a:bodyPr>
          <a:lstStyle/>
          <a:p>
            <a:pPr algn="l">
              <a:lnSpc>
                <a:spcPct val="105000"/>
              </a:lnSpc>
            </a:pPr>
            <a:r>
              <a:rPr sz="950" b="0" i="0">
                <a:solidFill>
                  <a:srgbClr val="415669"/>
                </a:solidFill>
                <a:latin typeface="Calibri"/>
              </a:rPr>
              <a:t>Source: Indicator definitions per this report's decision program; AA fleet targets per AA newsroom 2026; rebank monitoring per View from the Wing 2026 (AA internal data caveat applies).</a:t>
            </a:r>
          </a:p>
        </p:txBody>
      </p:sp>
      <p:sp>
        <p:nvSpPr>
          <p:cNvPr id="25" name="slide-16-page"/>
          <p:cNvSpPr txBox="1"/>
          <p:nvPr/>
        </p:nvSpPr>
        <p:spPr>
          <a:xfrm>
            <a:off x="11576304" y="6455664"/>
            <a:ext cx="320040" cy="292608"/>
          </a:xfrm>
          <a:prstGeom prst="rect">
            <a:avLst/>
          </a:prstGeom>
          <a:noFill/>
        </p:spPr>
        <p:txBody>
          <a:bodyPr wrap="square" anchor="t" lIns="0" rIns="0" tIns="0" bIns="0">
            <a:spAutoFit/>
          </a:bodyPr>
          <a:lstStyle/>
          <a:p>
            <a:pPr algn="r"/>
            <a:r>
              <a:rPr sz="1000" b="0" i="0">
                <a:solidFill>
                  <a:srgbClr val="415669"/>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