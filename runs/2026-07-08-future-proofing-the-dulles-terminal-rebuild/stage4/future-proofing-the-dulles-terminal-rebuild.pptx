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96596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Georgia"/>
              </a:rPr>
              <a:t>The Stopwatch and the Shell</a:t>
            </a:r>
          </a:p>
          <a:p>
            <a:pPr>
              <a:spcBef>
                <a:spcPts val="1000"/>
              </a:spcBef>
            </a:pPr>
            <a:r>
              <a:rPr sz="2600" b="0" i="0">
                <a:solidFill>
                  <a:srgbClr val="C9D6E8"/>
                </a:solidFill>
                <a:latin typeface="Georgia"/>
              </a:rPr>
              <a:t>What actually survives to 2050 at Dulles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1206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C9D6E8"/>
                </a:solidFill>
                <a:latin typeface="Calibri"/>
              </a:rPr>
              <a:t>A Transform Airports AI Council report on the $22 billion Dulles rebuild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8A9AB5"/>
                </a:solidFill>
                <a:latin typeface="Calibri"/>
              </a:rPr>
              <a:t>Metropolitan Washington Airports Authority  | 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25603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8A9AB5"/>
                </a:solidFill>
                <a:latin typeface="Calibri"/>
              </a:rPr>
              <a:t>THE 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43C6E"/>
                </a:solidFill>
                <a:latin typeface="Georgia"/>
              </a:rPr>
              <a:t>The concept died in twelve years. The shell is protected at sixty-four.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691640"/>
            <a:ext cx="2926080" cy="31750"/>
          </a:xfrm>
          <a:prstGeom prst="rect">
            <a:avLst/>
          </a:prstGeom>
          <a:solidFill>
            <a:srgbClr val="14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103120"/>
            <a:ext cx="4572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i="0">
                <a:solidFill>
                  <a:srgbClr val="143C6E"/>
                </a:solidFill>
                <a:latin typeface="Georgia"/>
              </a:rPr>
              <a:t>12 yrs / 64 yrs</a:t>
            </a:r>
          </a:p>
          <a:p>
            <a:pPr>
              <a:spcBef>
                <a:spcPts val="600"/>
              </a:spcBef>
            </a:pPr>
            <a:r>
              <a:rPr sz="1400" b="0" i="0">
                <a:solidFill>
                  <a:srgbClr val="5A5A5A"/>
                </a:solidFill>
                <a:latin typeface="Calibri"/>
              </a:rPr>
              <a:t>Life of Saarinen's mobile-lounge processing concept vs. age of his
National Register headhouse — the split is written into Dulles's own concrete.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2057400"/>
            <a:ext cx="5669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143C6E"/>
                </a:solidFill>
                <a:latin typeface="Calibri"/>
              </a:rPr>
              <a:t>The danger is not a missed forecast.</a:t>
            </a:r>
            <a:r>
              <a:rPr sz="1500" b="0" i="0">
                <a:solidFill>
                  <a:srgbClr val="143C6E"/>
                </a:solidFill>
                <a:latin typeface="Calibri"/>
              </a:rPr>
              <a:t> It is pouring fifty-year concrete around any passenger-processing sequence — today's or tomorrow's — converting a 5-to-15-year decision into a fifty-year liability.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143C6E"/>
                </a:solidFill>
                <a:latin typeface="Calibri"/>
              </a:rPr>
              <a:t>Dulles has already paid twice</a:t>
            </a:r>
            <a:r>
              <a:rPr sz="1500" b="0" i="0">
                <a:solidFill>
                  <a:srgbClr val="143C6E"/>
                </a:solidFill>
                <a:latin typeface="Calibri"/>
              </a:rPr>
              <a:t> to rip out a processing model it hard-wired into the building: the ~$1.4–1.5B AeroTrain (2010) and the $3.75B extension that retires the mobile lounges for good.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143C6E"/>
                </a:solidFill>
                <a:latin typeface="Calibri"/>
              </a:rPr>
              <a:t>The move that survives to 2050 is a refusal to predict:</a:t>
            </a:r>
            <a:r>
              <a:rPr sz="1500" b="0" i="0">
                <a:solidFill>
                  <a:srgbClr val="143C6E"/>
                </a:solidFill>
                <a:latin typeface="Calibri"/>
              </a:rPr>
              <a:t> lock the durable geometry hard and oversized, keep the processing layer soft and richly provisioned, treat every sequence commitment as reversible.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1908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AB5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25603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8A9AB5"/>
                </a:solidFill>
                <a:latin typeface="Calibri"/>
              </a:rPr>
              <a:t>THE ARGUMENT  ·  1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43C6E"/>
                </a:solidFill>
                <a:latin typeface="Georgia"/>
              </a:rPr>
              <a:t>Dulles is spending its cheapest asset to buy the most expensive kind of certainty.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691640"/>
            <a:ext cx="2926080" cy="31750"/>
          </a:xfrm>
          <a:prstGeom prst="rect">
            <a:avLst/>
          </a:prstGeom>
          <a:solidFill>
            <a:srgbClr val="14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103120"/>
            <a:ext cx="4206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600" b="1" i="0">
                <a:solidFill>
                  <a:srgbClr val="143C6E"/>
                </a:solidFill>
                <a:latin typeface="Georgia"/>
              </a:rPr>
              <a:t>$9.56</a:t>
            </a:r>
          </a:p>
          <a:p>
            <a:pPr>
              <a:spcBef>
                <a:spcPts val="600"/>
              </a:spcBef>
            </a:pPr>
            <a:r>
              <a:rPr sz="1400" b="0" i="0">
                <a:solidFill>
                  <a:srgbClr val="5A5A5A"/>
                </a:solidFill>
                <a:latin typeface="Calibri"/>
              </a:rPr>
              <a:t>FY2025 cost per enplanement — among the three or four cheapest US large
hubs, in a field from $3.94 (Atlanta) to $30.16 (LAX).*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0" y="2011680"/>
            <a:ext cx="6126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 i="0">
                <a:solidFill>
                  <a:srgbClr val="143C6E"/>
                </a:solidFill>
                <a:latin typeface="Calibri"/>
              </a:rPr>
              <a:t>$21.8B in new bonds</a:t>
            </a:r>
            <a:r>
              <a:rPr sz="1400" b="0" i="0">
                <a:solidFill>
                  <a:srgbClr val="143C6E"/>
                </a:solidFill>
                <a:latin typeface="Calibri"/>
              </a:rPr>
              <a:t> — four to five times MWAA's entire existing $4.7–4.9B aviation-enterprise debt — issued against that advantage.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143C6E"/>
                </a:solidFill>
                <a:latin typeface="Calibri"/>
              </a:rPr>
              <a:t>No contractual cap:</a:t>
            </a:r>
            <a:r>
              <a:rPr sz="1400" b="0" i="0">
                <a:solidFill>
                  <a:srgbClr val="143C6E"/>
                </a:solidFill>
                <a:latin typeface="Calibri"/>
              </a:rPr>
              <a:t> under MWAA's residual rate structure, incremental debt service passes mechanically to the airlines.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143C6E"/>
                </a:solidFill>
                <a:latin typeface="Calibri"/>
              </a:rPr>
              <a:t>The $22B headline is a political anchor, not an engineering estimate.</a:t>
            </a:r>
            <a:r>
              <a:rPr sz="1400" b="0" i="0">
                <a:solidFill>
                  <a:srgbClr val="143C6E"/>
                </a:solidFill>
                <a:latin typeface="Calibri"/>
              </a:rPr>
              <a:t> The same DOT RFI drew responses from $14.4B (Ferrovial) to $35–50B (Phoenix/Ironbridge); read the figure at ±50 percent,** and the program's own materials exclude "any potential delays or cost overruns."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143C6E"/>
                </a:solidFill>
                <a:latin typeface="Calibri"/>
              </a:rPr>
              <a:t>Any future-proofing move that permanently raises CPE is not future-proofing.</a:t>
            </a:r>
            <a:r>
              <a:rPr sz="1400" b="0" i="0">
                <a:solidFill>
                  <a:srgbClr val="143C6E"/>
                </a:solidFill>
                <a:latin typeface="Calibri"/>
              </a:rPr>
              <a:t> It is spending the airport's core commercial asset.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17220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1">
                <a:solidFill>
                  <a:srgbClr val="5A5A5A"/>
                </a:solidFill>
                <a:latin typeface="Calibri"/>
              </a:rPr>
              <a:t>* CPE figures compiled from MWAA filings by a secondary aggregator (DWU), not read from the audited ACFR — verify before board use.   ** ±50% is analyst inference from the RFI spread, not a sourced figure.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1908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AB5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25603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8A9AB5"/>
                </a:solidFill>
                <a:latin typeface="Calibri"/>
              </a:rPr>
              <a:t>THE ARGUMENT  ·  2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43C6E"/>
                </a:solidFill>
                <a:latin typeface="Georgia"/>
              </a:rPr>
              <a:t>The cheap-hub advantage is eroding before the first program bond is issued.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691640"/>
            <a:ext cx="2926080" cy="31750"/>
          </a:xfrm>
          <a:prstGeom prst="rect">
            <a:avLst/>
          </a:prstGeom>
          <a:solidFill>
            <a:srgbClr val="14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103120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i="0">
                <a:solidFill>
                  <a:srgbClr val="143C6E"/>
                </a:solidFill>
                <a:latin typeface="Georgia"/>
              </a:rPr>
              <a:t>$9.56 → $12.77</a:t>
            </a:r>
          </a:p>
          <a:p>
            <a:pPr>
              <a:spcBef>
                <a:spcPts val="600"/>
              </a:spcBef>
            </a:pPr>
            <a:r>
              <a:rPr sz="1400" b="0" i="0">
                <a:solidFill>
                  <a:srgbClr val="5A5A5A"/>
                </a:solidFill>
                <a:latin typeface="Calibri"/>
              </a:rPr>
              <a:t>Signatory CPE, FY2025 to first-half 2026 — on the ~$5.5B of debt MWAA
already plans through 2028, before the program adds a dollar.*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210312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50" b="1" i="0">
                <a:solidFill>
                  <a:srgbClr val="143C6E"/>
                </a:solidFill>
                <a:latin typeface="Calibri"/>
              </a:rPr>
              <a:t>Debt per O&amp;D enplanement heads toward $400,</a:t>
            </a:r>
            <a:r>
              <a:rPr sz="1450" b="0" i="0">
                <a:solidFill>
                  <a:srgbClr val="143C6E"/>
                </a:solidFill>
                <a:latin typeface="Calibri"/>
              </a:rPr>
              <a:t> from $223 in 2024; coverage moves toward 1.3x.*</a:t>
            </a:r>
          </a:p>
          <a:p>
            <a:pPr>
              <a:spcAft>
                <a:spcPts val="1000"/>
              </a:spcAft>
            </a:pPr>
            <a:r>
              <a:rPr sz="1450" b="1" i="0">
                <a:solidFill>
                  <a:srgbClr val="143C6E"/>
                </a:solidFill>
                <a:latin typeface="Calibri"/>
              </a:rPr>
              <a:t>The program does not start the clock on Dulles's cost problem.</a:t>
            </a:r>
            <a:r>
              <a:rPr sz="1450" b="0" i="0">
                <a:solidFill>
                  <a:srgbClr val="143C6E"/>
                </a:solidFill>
                <a:latin typeface="Calibri"/>
              </a:rPr>
              <a:t> It accelerates one already running.</a:t>
            </a:r>
          </a:p>
          <a:p>
            <a:pPr>
              <a:spcAft>
                <a:spcPts val="1000"/>
              </a:spcAft>
            </a:pPr>
            <a:r>
              <a:rPr sz="1450" b="1" i="0">
                <a:solidFill>
                  <a:srgbClr val="143C6E"/>
                </a:solidFill>
                <a:latin typeface="Calibri"/>
              </a:rPr>
              <a:t>The self-help money is frozen:</a:t>
            </a:r>
            <a:r>
              <a:rPr sz="1450" b="0" i="0">
                <a:solidFill>
                  <a:srgbClr val="143C6E"/>
                </a:solidFill>
                <a:latin typeface="Calibri"/>
              </a:rPr>
              <a:t> the PFC cap has sat at $4.50 since 2000 — roughly $2.45 in today's dollars — and BIL terminal grants sunset September 30, 2026, before the first concourse is poured.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17220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1">
                <a:solidFill>
                  <a:srgbClr val="5A5A5A"/>
                </a:solidFill>
                <a:latin typeface="Calibri"/>
              </a:rPr>
              <a:t>* Same secondary-aggregator source (DWU) as the CPE series — verify $12.77, 1.3x coverage, and $400/$223 debt-per-enplanement against MWAA financials before board use.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1908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AB5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25603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8A9AB5"/>
                </a:solidFill>
                <a:latin typeface="Calibri"/>
              </a:rPr>
              <a:t>THE ARGUMENT  ·  3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43C6E"/>
                </a:solidFill>
                <a:latin typeface="Georgia"/>
              </a:rPr>
              <a:t>Mega-terminals break at the novel system on the critical path — not the poured structure.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691640"/>
            <a:ext cx="2926080" cy="31750"/>
          </a:xfrm>
          <a:prstGeom prst="rect">
            <a:avLst/>
          </a:prstGeom>
          <a:solidFill>
            <a:srgbClr val="14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6035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50" b="1" i="0">
                <a:solidFill>
                  <a:srgbClr val="143C6E"/>
                </a:solidFill>
                <a:latin typeface="Calibri"/>
              </a:rPr>
              <a:t>Berlin Brandenburg:</a:t>
            </a:r>
            <a:r>
              <a:rPr sz="1450" b="0" i="0">
                <a:solidFill>
                  <a:srgbClr val="143C6E"/>
                </a:solidFill>
                <a:latin typeface="Calibri"/>
              </a:rPr>
              <a:t> nine years late at 2.3–2.6x budget — detonated by a bespoke smoke-extraction system, not the structure.</a:t>
            </a:r>
          </a:p>
          <a:p>
            <a:pPr>
              <a:spcAft>
                <a:spcPts val="800"/>
              </a:spcAft>
            </a:pPr>
            <a:r>
              <a:rPr sz="1450" b="1" i="0">
                <a:solidFill>
                  <a:srgbClr val="143C6E"/>
                </a:solidFill>
                <a:latin typeface="Calibri"/>
              </a:rPr>
              <a:t>Denver automated baggage:</a:t>
            </a:r>
            <a:r>
              <a:rPr sz="1450" b="0" i="0">
                <a:solidFill>
                  <a:srgbClr val="143C6E"/>
                </a:solidFill>
                <a:latin typeface="Calibri"/>
              </a:rPr>
              <a:t> $193M contract past $400M, ~$560M over in total, never ran at scale, decommissioned 2005.</a:t>
            </a:r>
          </a:p>
          <a:p>
            <a:pPr>
              <a:spcAft>
                <a:spcPts val="800"/>
              </a:spcAft>
            </a:pPr>
            <a:r>
              <a:rPr sz="1450" b="1" i="0">
                <a:solidFill>
                  <a:srgbClr val="143C6E"/>
                </a:solidFill>
                <a:latin typeface="Calibri"/>
              </a:rPr>
              <a:t>Heathrow T5:</a:t>
            </a:r>
            <a:r>
              <a:rPr sz="1450" b="0" i="0">
                <a:solidFill>
                  <a:srgbClr val="143C6E"/>
                </a:solidFill>
                <a:latin typeface="Calibri"/>
              </a:rPr>
              <a:t> structure on time and on budget; the baggage software filter lost some 42,000 bags in the first ten days.</a:t>
            </a:r>
          </a:p>
          <a:p>
            <a:pPr>
              <a:spcAft>
                <a:spcPts val="800"/>
              </a:spcAft>
            </a:pPr>
            <a:r>
              <a:rPr sz="1450" b="1" i="0">
                <a:solidFill>
                  <a:srgbClr val="143C6E"/>
                </a:solidFill>
                <a:latin typeface="Calibri"/>
              </a:rPr>
              <a:t>LAX people mover:</a:t>
            </a:r>
            <a:r>
              <a:rPr sz="1450" b="0" i="0">
                <a:solidFill>
                  <a:srgbClr val="143C6E"/>
                </a:solidFill>
                <a:latin typeface="Calibri"/>
              </a:rPr>
              <a:t> +76 percent and three years late.</a:t>
            </a:r>
          </a:p>
          <a:p>
            <a:pPr>
              <a:spcAft>
                <a:spcPts val="800"/>
              </a:spcAft>
            </a:pPr>
            <a:r>
              <a:rPr sz="1450" b="1" i="0">
                <a:solidFill>
                  <a:srgbClr val="143C6E"/>
                </a:solidFill>
                <a:latin typeface="Calibri"/>
              </a:rPr>
              <a:t>Kansas City (2023):</a:t>
            </a:r>
            <a:r>
              <a:rPr sz="1450" b="0" i="0">
                <a:solidFill>
                  <a:srgbClr val="143C6E"/>
                </a:solidFill>
                <a:latin typeface="Calibri"/>
              </a:rPr>
              <a:t> forty gates, $1.5B, on time and on budget — no bespoke system on its critical path.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0" y="1965960"/>
            <a:ext cx="4206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 i="0">
                <a:solidFill>
                  <a:srgbClr val="143C6E"/>
                </a:solidFill>
                <a:latin typeface="Calibri"/>
              </a:rPr>
              <a:t>The one structural exception proves the rule:</a:t>
            </a:r>
          </a:p>
          <a:p>
            <a:pPr>
              <a:spcBef>
                <a:spcPts val="400"/>
              </a:spcBef>
            </a:pPr>
            <a:r>
              <a:rPr sz="1350" b="0" i="0">
                <a:solidFill>
                  <a:srgbClr val="143C6E"/>
                </a:solidFill>
                <a:latin typeface="Calibri"/>
              </a:rPr>
              <a:t>Denver's Great Hall blew up on weak 1990s concrete under the existing terminal — an unknown-existing-conditions risk that lives in Dulles's renovation packages for its 1960s–1980s concourses, not the new-build ones.</a:t>
            </a:r>
          </a:p>
          <a:p>
            <a:pPr>
              <a:spcBef>
                <a:spcPts val="1400"/>
              </a:spcBef>
            </a:pPr>
            <a:r>
              <a:rPr sz="1400" b="1" i="1">
                <a:solidFill>
                  <a:srgbClr val="143C6E"/>
                </a:solidFill>
                <a:latin typeface="Georgia"/>
              </a:rPr>
              <a:t>Spending instruction: overbuild the durable, unretrofittable layer. Keep security regime, sensing, and fit-out deliberately soft — those are the systems that dated fastest everywhere else.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1908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AB5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25603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8A9AB5"/>
                </a:solidFill>
                <a:latin typeface="Calibri"/>
              </a:rPr>
              <a:t>THE ARGUMENT  ·  4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43C6E"/>
                </a:solidFill>
                <a:latin typeface="Georgia"/>
              </a:rPr>
              <a:t>For a decade, coordination has beaten concrete — and Dulles has not exhausted it.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691640"/>
            <a:ext cx="2926080" cy="31750"/>
          </a:xfrm>
          <a:prstGeom prst="rect">
            <a:avLst/>
          </a:prstGeom>
          <a:solidFill>
            <a:srgbClr val="14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103120"/>
            <a:ext cx="4206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600" b="1" i="0">
                <a:solidFill>
                  <a:srgbClr val="143C6E"/>
                </a:solidFill>
                <a:latin typeface="Georgia"/>
              </a:rPr>
              <a:t>+20%</a:t>
            </a:r>
          </a:p>
          <a:p>
            <a:pPr>
              <a:spcBef>
                <a:spcPts val="600"/>
              </a:spcBef>
            </a:pPr>
            <a:r>
              <a:rPr sz="1400" b="0" i="0">
                <a:solidFill>
                  <a:srgbClr val="5A5A5A"/>
                </a:solidFill>
                <a:latin typeface="Calibri"/>
              </a:rPr>
              <a:t>Memphis capacity gain from FAA wake-turbulence recategorization —
up to 22 more arrivals an hour. No runway, no taxiway. A rule.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0" y="2011680"/>
            <a:ext cx="6126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 i="0">
                <a:solidFill>
                  <a:srgbClr val="143C6E"/>
                </a:solidFill>
                <a:latin typeface="Calibri"/>
              </a:rPr>
              <a:t>A-CDM cut European taxi-out times 10–20 percent</a:t>
            </a:r>
            <a:r>
              <a:rPr sz="1400" b="0" i="0">
                <a:solidFill>
                  <a:srgbClr val="143C6E"/>
                </a:solidFill>
                <a:latin typeface="Calibri"/>
              </a:rPr>
              <a:t> with a data protocol, not a taxiway.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143C6E"/>
                </a:solidFill>
                <a:latin typeface="Calibri"/>
              </a:rPr>
              <a:t>Legacy hubs carry an estimated 30–50 percent of latent gate capacity,*</a:t>
            </a:r>
            <a:r>
              <a:rPr sz="1400" b="0" i="0">
                <a:solidFill>
                  <a:srgbClr val="143C6E"/>
                </a:solidFill>
                <a:latin typeface="Calibri"/>
              </a:rPr>
              <a:t> recoverable within a banked operation through common-use gating and turn discipline.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143C6E"/>
                </a:solidFill>
                <a:latin typeface="Calibri"/>
              </a:rPr>
              <a:t>Dulles: 139 gates serving 29M passengers</a:t>
            </a:r>
            <a:r>
              <a:rPr sz="1400" b="0" i="0">
                <a:solidFill>
                  <a:srgbClr val="143C6E"/>
                </a:solidFill>
                <a:latin typeface="Calibri"/>
              </a:rPr>
              <a:t> against a master-plan ambition toward 90M. The instinct is to multiply gates. The utilization data says look harder first.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143C6E"/>
                </a:solidFill>
                <a:latin typeface="Calibri"/>
              </a:rPr>
              <a:t>A $22B program sized to today's uncoordinated peak</a:t>
            </a:r>
            <a:r>
              <a:rPr sz="1400" b="0" i="0">
                <a:solidFill>
                  <a:srgbClr val="143C6E"/>
                </a:solidFill>
                <a:latin typeface="Calibri"/>
              </a:rPr>
              <a:t> is funding coordination debt in structural steel. Pull the coordination levers first; build the right, smaller amount of the expensive thing.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17220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1">
                <a:solidFill>
                  <a:srgbClr val="5A5A5A"/>
                </a:solidFill>
                <a:latin typeface="Calibri"/>
              </a:rPr>
              <a:t>* Circa-2012 utilization study, compiled before Delta left Memphis in 2013 — treat the 30–50% range as directional pending a current source.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1908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AB5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25603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8A9AB5"/>
                </a:solidFill>
                <a:latin typeface="Calibri"/>
              </a:rPr>
              <a:t>THE ARGUMENT  ·  5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43C6E"/>
                </a:solidFill>
                <a:latin typeface="Georgia"/>
              </a:rPr>
              <a:t>The durable commitments are geometric; the volatile ones are procedural.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691640"/>
            <a:ext cx="2926080" cy="31750"/>
          </a:xfrm>
          <a:prstGeom prst="rect">
            <a:avLst/>
          </a:prstGeom>
          <a:solidFill>
            <a:srgbClr val="14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965960"/>
            <a:ext cx="5212080" cy="3566160"/>
          </a:xfrm>
          <a:prstGeom prst="rect">
            <a:avLst/>
          </a:prstGeom>
          <a:solidFill>
            <a:srgbClr val="14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50-YEAR PHYSICS — LOCK HARD, OVERSIZED</a:t>
            </a:r>
          </a:p>
          <a:p>
            <a:pPr>
              <a:spcBef>
                <a:spcPts val="900"/>
              </a:spcBef>
            </a:pPr>
            <a:r>
              <a:rPr sz="1400" b="0" i="0">
                <a:solidFill>
                  <a:srgbClr val="FFFFFF"/>
                </a:solidFill>
                <a:latin typeface="Calibri"/>
              </a:rPr>
              <a:t>•  Walking distance and circulation geometry</a:t>
            </a:r>
          </a:p>
          <a:p>
            <a:pPr>
              <a:spcBef>
                <a:spcPts val="900"/>
              </a:spcBef>
            </a:pPr>
            <a:r>
              <a:rPr sz="1400" b="0" i="0">
                <a:solidFill>
                  <a:srgbClr val="FFFFFF"/>
                </a:solidFill>
                <a:latin typeface="Calibri"/>
              </a:rPr>
              <a:t>•  Apron and taxilane clearance</a:t>
            </a:r>
          </a:p>
          <a:p>
            <a:pPr>
              <a:spcBef>
                <a:spcPts val="900"/>
              </a:spcBef>
            </a:pPr>
            <a:r>
              <a:rPr sz="1400" b="0" i="0">
                <a:solidFill>
                  <a:srgbClr val="FFFFFF"/>
                </a:solidFill>
                <a:latin typeface="Calibri"/>
              </a:rPr>
              <a:t>•  Baggage-system topology</a:t>
            </a:r>
          </a:p>
          <a:p>
            <a:pPr>
              <a:spcBef>
                <a:spcPts val="900"/>
              </a:spcBef>
            </a:pPr>
            <a:r>
              <a:rPr sz="1400" b="0" i="0">
                <a:solidFill>
                  <a:srgbClr val="FFFFFF"/>
                </a:solidFill>
                <a:latin typeface="Calibri"/>
              </a:rPr>
              <a:t>•  Curb and roadway geometry</a:t>
            </a:r>
          </a:p>
          <a:p>
            <a:pPr>
              <a:spcBef>
                <a:spcPts val="900"/>
              </a:spcBef>
            </a:pPr>
            <a:r>
              <a:rPr sz="1400" b="0" i="0">
                <a:solidFill>
                  <a:srgbClr val="FFFFFF"/>
                </a:solidFill>
                <a:latin typeface="Calibri"/>
              </a:rPr>
              <a:t>•  Column grid, floor-to-floor, utility and vertical spines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263640" y="1965960"/>
            <a:ext cx="5212080" cy="3566160"/>
          </a:xfrm>
          <a:prstGeom prst="rect">
            <a:avLst/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/>
            <a:r>
              <a:rPr sz="1500" b="1" i="0">
                <a:solidFill>
                  <a:srgbClr val="143C6E"/>
                </a:solidFill>
                <a:latin typeface="Georgia"/>
              </a:rPr>
              <a:t>5-TO-15-YEAR LAYERS — LEAVE SOFT</a:t>
            </a:r>
          </a:p>
          <a:p>
            <a:pPr>
              <a:spcBef>
                <a:spcPts val="900"/>
              </a:spcBef>
            </a:pPr>
            <a:r>
              <a:rPr sz="1400" b="0" i="0">
                <a:solidFill>
                  <a:srgbClr val="143C6E"/>
                </a:solidFill>
                <a:latin typeface="Calibri"/>
              </a:rPr>
              <a:t>•  Checkpoint lane count and machine mix</a:t>
            </a:r>
          </a:p>
          <a:p>
            <a:pPr>
              <a:spcBef>
                <a:spcPts val="900"/>
              </a:spcBef>
            </a:pPr>
            <a:r>
              <a:rPr sz="1400" b="0" i="0">
                <a:solidFill>
                  <a:srgbClr val="143C6E"/>
                </a:solidFill>
                <a:latin typeface="Calibri"/>
              </a:rPr>
              <a:t>•  Gate assignment and turn discipline</a:t>
            </a:r>
          </a:p>
          <a:p>
            <a:pPr>
              <a:spcBef>
                <a:spcPts val="900"/>
              </a:spcBef>
            </a:pPr>
            <a:r>
              <a:rPr sz="1400" b="0" i="0">
                <a:solidFill>
                  <a:srgbClr val="143C6E"/>
                </a:solidFill>
                <a:latin typeface="Calibri"/>
              </a:rPr>
              <a:t>•  Check-in fit-out — replaced 3–5x inside the building's life*</a:t>
            </a:r>
          </a:p>
          <a:p>
            <a:pPr>
              <a:spcBef>
                <a:spcPts val="900"/>
              </a:spcBef>
            </a:pPr>
            <a:r>
              <a:rPr sz="1400" b="0" i="0">
                <a:solidFill>
                  <a:srgbClr val="143C6E"/>
                </a:solidFill>
                <a:latin typeface="Calibri"/>
              </a:rPr>
              <a:t>•  Every operational-intelligence product (A-CDM, digital twin, biometrics)</a:t>
            </a:r>
          </a:p>
          <a:p>
            <a:pPr>
              <a:spcBef>
                <a:spcPts val="900"/>
              </a:spcBef>
            </a:pPr>
            <a:r>
              <a:rPr sz="1400" b="0" i="0">
                <a:solidFill>
                  <a:srgbClr val="143C6E"/>
                </a:solidFill>
                <a:latin typeface="Calibri"/>
              </a:rPr>
              <a:t>•  Security regime and sensing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669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143C6E"/>
                </a:solidFill>
                <a:latin typeface="Calibri"/>
              </a:rPr>
              <a:t>When these constraints are wrong, no software rescues them: Istanbul locked 20–30-minute walks on day one; Kansas City's curb backed up to the highway.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236208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1">
                <a:solidFill>
                  <a:srgbClr val="5A5A5A"/>
                </a:solidFill>
                <a:latin typeface="Calibri"/>
              </a:rPr>
              <a:t>* 3–5x fit-out replacement cadence is a chief-engineer estimate, no external source.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1908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AB5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25603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8A9AB5"/>
                </a:solidFill>
                <a:latin typeface="Calibri"/>
              </a:rPr>
              <a:t>THE COUNTER-CASE, HONESTLY PRESENTED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43C6E"/>
                </a:solidFill>
                <a:latin typeface="Georgia"/>
              </a:rPr>
              <a:t>The serious opposing view: build the conventional thing superbly and pocket the difference.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691640"/>
            <a:ext cx="2926080" cy="31750"/>
          </a:xfrm>
          <a:prstGeom prst="rect">
            <a:avLst/>
          </a:prstGeom>
          <a:solidFill>
            <a:srgbClr val="14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 i="0">
                <a:solidFill>
                  <a:srgbClr val="143C6E"/>
                </a:solidFill>
                <a:latin typeface="Calibri"/>
              </a:rPr>
              <a:t>Screening is consolidating, not distributing.</a:t>
            </a:r>
            <a:r>
              <a:rPr sz="1400" b="0" i="0">
                <a:solidFill>
                  <a:srgbClr val="143C6E"/>
                </a:solidFill>
                <a:latin typeface="Calibri"/>
              </a:rPr>
              <a:t> TSA's 2025 solicitation seeks fewer officers per passenger; self-service screening is one PreCheck-only prototype at Las Vegas with no deployment timeline; CT machines push the central checkpoint to grow first.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143C6E"/>
                </a:solidFill>
                <a:latin typeface="Calibri"/>
              </a:rPr>
              <a:t>Off-airport check-in has had thirty years to scale and never did.</a:t>
            </a:r>
            <a:r>
              <a:rPr sz="1400" b="0" i="0">
                <a:solidFill>
                  <a:srgbClr val="143C6E"/>
                </a:solidFill>
                <a:latin typeface="Calibri"/>
              </a:rPr>
              <a:t> Hong Kong and Vienna have offered it since the 1990s; both remain optional, partial, some facilities suspended.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143C6E"/>
                </a:solidFill>
                <a:latin typeface="Calibri"/>
              </a:rPr>
              <a:t>Flexibility is an option you pay for and rarely exercise.</a:t>
            </a:r>
            <a:r>
              <a:rPr sz="1400" b="0" i="0">
                <a:solidFill>
                  <a:srgbClr val="143C6E"/>
                </a:solidFill>
                <a:latin typeface="Calibri"/>
              </a:rPr>
              <a:t> The real-options literature's own headline case (Zurich) found the flexible plan worth roughly 5 percent more than the best conventional one — under favorable assumptions.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143C6E"/>
                </a:solidFill>
                <a:latin typeface="Calibri"/>
              </a:rPr>
              <a:t>Execution, not architecture, is what failed at BER, T5, and Denver</a:t>
            </a:r>
            <a:r>
              <a:rPr sz="1400" b="0" i="0">
                <a:solidFill>
                  <a:srgbClr val="143C6E"/>
                </a:solidFill>
                <a:latin typeface="Calibri"/>
              </a:rPr>
              <a:t> — and LaGuardia Terminal B, fully centralized, delivered on time and on budget and was named best new terminal in the world.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143C6E"/>
                </a:solidFill>
                <a:latin typeface="Calibri"/>
              </a:rPr>
              <a:t>The real risk is a departed carrier, not a dated design.</a:t>
            </a:r>
            <a:r>
              <a:rPr sz="1400" b="0" i="0">
                <a:solidFill>
                  <a:srgbClr val="143C6E"/>
                </a:solidFill>
                <a:latin typeface="Calibri"/>
              </a:rPr>
              <a:t> United carries ~68 percent of Dulles traffic. Pittsburgh built to US Airways' spec and was dehubbed at a CPE of $6.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1908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AB5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25603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8A9AB5"/>
                </a:solidFill>
                <a:latin typeface="Calibri"/>
              </a:rPr>
              <a:t>WHY THE COUNTER-CASE IS INSUFFICIENT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43C6E"/>
                </a:solidFill>
                <a:latin typeface="Georgia"/>
              </a:rPr>
              <a:t>Its best point — dehubbing — is the strongest argument for convertible geometry.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691640"/>
            <a:ext cx="2926080" cy="31750"/>
          </a:xfrm>
          <a:prstGeom prst="rect">
            <a:avLst/>
          </a:prstGeom>
          <a:solidFill>
            <a:srgbClr val="14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103120"/>
            <a:ext cx="4754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000" b="1" i="0">
                <a:solidFill>
                  <a:srgbClr val="143C6E"/>
                </a:solidFill>
                <a:latin typeface="Georgia"/>
              </a:rPr>
              <a:t>40M vs 29M</a:t>
            </a:r>
          </a:p>
          <a:p>
            <a:pPr>
              <a:spcBef>
                <a:spcPts val="600"/>
              </a:spcBef>
            </a:pPr>
            <a:r>
              <a:rPr sz="1400" b="0" i="0">
                <a:solidFill>
                  <a:srgbClr val="5A5A5A"/>
                </a:solidFill>
                <a:latin typeface="Calibri"/>
              </a:rPr>
              <a:t>Handling capacity Dulles built in 1997 vs. actual traffic twenty-eight years
later. "Demand fills whatever we build" is a dangerous prior at this airport.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2011680"/>
            <a:ext cx="5577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50" b="1" i="0">
                <a:solidFill>
                  <a:srgbClr val="143C6E"/>
                </a:solidFill>
                <a:latin typeface="Calibri"/>
              </a:rPr>
              <a:t>Concede screening and off-airport processing</a:t>
            </a:r>
            <a:r>
              <a:rPr sz="1350" b="0" i="0">
                <a:solidFill>
                  <a:srgbClr val="143C6E"/>
                </a:solidFill>
                <a:latin typeface="Calibri"/>
              </a:rPr>
              <a:t> — the thesis never asked to build for either. Provision; do not pour concrete. And do not oversize the central checkpoint: CT and self-service raise passengers per square foot.</a:t>
            </a:r>
          </a:p>
          <a:p>
            <a:pPr>
              <a:spcAft>
                <a:spcPts val="800"/>
              </a:spcAft>
            </a:pPr>
            <a:r>
              <a:rPr sz="1350" b="1" i="0">
                <a:solidFill>
                  <a:srgbClr val="143C6E"/>
                </a:solidFill>
                <a:latin typeface="Calibri"/>
              </a:rPr>
              <a:t>Daxing is the thesis executed, not its refutation:</a:t>
            </a:r>
            <a:r>
              <a:rPr sz="1350" b="0" i="0">
                <a:solidFill>
                  <a:srgbClr val="143C6E"/>
                </a:solidFill>
                <a:latin typeface="Calibri"/>
              </a:rPr>
              <a:t> it committed hard to geometry — farthest gate under 8 minutes — and hard-wired no check-in typology or screening regime.</a:t>
            </a:r>
          </a:p>
          <a:p>
            <a:pPr>
              <a:spcAft>
                <a:spcPts val="800"/>
              </a:spcAft>
            </a:pPr>
            <a:r>
              <a:rPr sz="1350" b="1" i="0">
                <a:solidFill>
                  <a:srgbClr val="143C6E"/>
                </a:solidFill>
                <a:latin typeface="Calibri"/>
              </a:rPr>
              <a:t>The flexibility-cost objection holds against fit-out softness and fails against deep-service provisioning:</a:t>
            </a:r>
            <a:r>
              <a:rPr sz="1350" b="0" i="0">
                <a:solidFill>
                  <a:srgbClr val="143C6E"/>
                </a:solidFill>
                <a:latin typeface="Calibri"/>
              </a:rPr>
              <a:t> conduit, power density, risers, floor loading are cheap in new slab, ruinous in an occupied terminal.</a:t>
            </a:r>
          </a:p>
          <a:p>
            <a:pPr>
              <a:spcAft>
                <a:spcPts val="800"/>
              </a:spcAft>
            </a:pPr>
            <a:r>
              <a:rPr sz="1350" b="1" i="0">
                <a:solidFill>
                  <a:srgbClr val="143C6E"/>
                </a:solidFill>
                <a:latin typeface="Calibri"/>
              </a:rPr>
              <a:t>A single-tenant concourse strands when the tenant's math turns (Pittsburgh).</a:t>
            </a:r>
            <a:r>
              <a:rPr sz="1350" b="0" i="0">
                <a:solidFill>
                  <a:srgbClr val="143C6E"/>
                </a:solidFill>
                <a:latin typeface="Calibri"/>
              </a:rPr>
              <a:t> Convertible, MARS-capable, re-lettable structure is a recoverable asset. Cincinnati fell 74 percent and demolished a concourse — there was no tenant to convert 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1908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AB5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25603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8A9AB5"/>
                </a:solidFill>
                <a:latin typeface="Calibri"/>
              </a:rPr>
              <a:t>RECOMMENDATIONS  ·  1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43C6E"/>
                </a:solidFill>
                <a:latin typeface="Georgia"/>
              </a:rPr>
              <a:t>Design FOR now: lock the geometry operations can never fix.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691640"/>
            <a:ext cx="2926080" cy="31750"/>
          </a:xfrm>
          <a:prstGeom prst="rect">
            <a:avLst/>
          </a:prstGeom>
          <a:solidFill>
            <a:srgbClr val="14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50" b="1" i="0">
                <a:solidFill>
                  <a:srgbClr val="143C6E"/>
                </a:solidFill>
                <a:latin typeface="Calibri"/>
              </a:rPr>
              <a:t>1.  CBP-driven international geometry, binding at the April 2027 construction start:</a:t>
            </a:r>
            <a:r>
              <a:rPr sz="1450" b="0" i="0">
                <a:solidFill>
                  <a:srgbClr val="143C6E"/>
                </a:solidFill>
                <a:latin typeface="Calibri"/>
              </a:rPr>
              <a:t> one-way sterile corridors, arriving-passenger separation, the FIS baggage hall. Build FIS geometry for the 2050 ceiling; phase FIS fit-out and gate count against CBP staffing reality — officers are appropriated annually.</a:t>
            </a:r>
          </a:p>
          <a:p>
            <a:pPr>
              <a:spcAft>
                <a:spcPts val="1000"/>
              </a:spcAft>
            </a:pPr>
            <a:r>
              <a:rPr sz="1450" b="1" i="0">
                <a:solidFill>
                  <a:srgbClr val="143C6E"/>
                </a:solidFill>
                <a:latin typeface="Calibri"/>
              </a:rPr>
              <a:t>2.  The central checkpoint's location and secure boundary,</a:t>
            </a:r>
            <a:r>
              <a:rPr sz="1450" b="0" i="0">
                <a:solidFill>
                  <a:srgbClr val="143C6E"/>
                </a:solidFill>
                <a:latin typeface="Calibri"/>
              </a:rPr>
              <a:t> traced to the TSA Checkpoint Requirements and Planning Guide (May 2025) — the governing document. Leave lane count and machine mix soft.</a:t>
            </a:r>
          </a:p>
          <a:p>
            <a:pPr>
              <a:spcAft>
                <a:spcPts val="1000"/>
              </a:spcAft>
            </a:pPr>
            <a:r>
              <a:rPr sz="1450" b="1" i="0">
                <a:solidFill>
                  <a:srgbClr val="143C6E"/>
                </a:solidFill>
                <a:latin typeface="Calibri"/>
              </a:rPr>
              <a:t>3.  Apron and taxilane geometry, vertical-circulation and utility spines,</a:t>
            </a:r>
            <a:r>
              <a:rPr sz="1450" b="0" i="0">
                <a:solidFill>
                  <a:srgbClr val="143C6E"/>
                </a:solidFill>
                <a:latin typeface="Calibri"/>
              </a:rPr>
              <a:t> generous floor-to-floor heights, and wide column grids — 30–50 m clear spans* buying column-free, re-partitionable floor plates.</a:t>
            </a:r>
          </a:p>
          <a:p>
            <a:pPr>
              <a:spcAft>
                <a:spcPts val="1000"/>
              </a:spcAft>
            </a:pPr>
            <a:r>
              <a:rPr sz="1450" b="1" i="0">
                <a:solidFill>
                  <a:srgbClr val="143C6E"/>
                </a:solidFill>
                <a:latin typeface="Calibri"/>
              </a:rPr>
              <a:t>This is the widebody international gateway function</a:t>
            </a:r>
            <a:r>
              <a:rPr sz="1450" b="0" i="0">
                <a:solidFill>
                  <a:srgbClr val="143C6E"/>
                </a:solidFill>
                <a:latin typeface="Calibri"/>
              </a:rPr>
              <a:t> — anchored by United's immunized Atlantic joint venture and DCA's perimeter and slot cage — the least-reversible part of United's commitment and the part with the longest half-life.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17220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1">
                <a:solidFill>
                  <a:srgbClr val="5A5A5A"/>
                </a:solidFill>
                <a:latin typeface="Calibri"/>
              </a:rPr>
              <a:t>* 30–50 m clear-span families are a chief-engineer standard, no external source.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1908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AB5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25603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8A9AB5"/>
                </a:solidFill>
                <a:latin typeface="Calibri"/>
              </a:rPr>
              <a:t>RECOMMENDATIONS  ·  2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43C6E"/>
                </a:solidFill>
                <a:latin typeface="Georgia"/>
              </a:rPr>
              <a:t>Accommodate LATER; bet AGAINST the sequence.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691640"/>
            <a:ext cx="2926080" cy="31750"/>
          </a:xfrm>
          <a:prstGeom prst="rect">
            <a:avLst/>
          </a:prstGeom>
          <a:solidFill>
            <a:srgbClr val="14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5394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 i="0">
                <a:solidFill>
                  <a:srgbClr val="143C6E"/>
                </a:solidFill>
                <a:latin typeface="Georgia"/>
              </a:rPr>
              <a:t>ACCOMMODATE LATER (ranked by retrofit-cost asymmetry)</a:t>
            </a:r>
          </a:p>
          <a:p>
            <a:pPr>
              <a:spcBef>
                <a:spcPts val="700"/>
              </a:spcBef>
            </a:pPr>
            <a:r>
              <a:rPr sz="1300" b="1" i="0">
                <a:solidFill>
                  <a:srgbClr val="143C6E"/>
                </a:solidFill>
                <a:latin typeface="Calibri"/>
              </a:rPr>
              <a:t>1. The substrate:</a:t>
            </a:r>
            <a:r>
              <a:rPr sz="1300" b="0" i="0">
                <a:solidFill>
                  <a:srgbClr val="143C6E"/>
                </a:solidFill>
                <a:latin typeface="Calibri"/>
              </a:rPr>
              <a:t> apron-edge power, transformer vaults, conduit density, fast-charge power density, comms risers, an open operational-data architecture. Plausibly single-digit percent of the program* — the last scope to cut, not the first.</a:t>
            </a:r>
          </a:p>
          <a:p>
            <a:pPr>
              <a:spcBef>
                <a:spcPts val="700"/>
              </a:spcBef>
            </a:pPr>
            <a:r>
              <a:rPr sz="1300" b="1" i="0">
                <a:solidFill>
                  <a:srgbClr val="143C6E"/>
                </a:solidFill>
                <a:latin typeface="Calibri"/>
              </a:rPr>
              <a:t>2. MARS / swing-stand clearances:</a:t>
            </a:r>
            <a:r>
              <a:rPr sz="1300" b="0" i="0">
                <a:solidFill>
                  <a:srgbClr val="143C6E"/>
                </a:solidFill>
                <a:latin typeface="Calibri"/>
              </a:rPr>
              <a:t> one position serves a widebody or two narrowbodies; the clearance is fifty-year physics, the daily decision is soft.</a:t>
            </a:r>
          </a:p>
          <a:p>
            <a:pPr>
              <a:spcBef>
                <a:spcPts val="700"/>
              </a:spcBef>
            </a:pPr>
            <a:r>
              <a:rPr sz="1300" b="1" i="0">
                <a:solidFill>
                  <a:srgbClr val="143C6E"/>
                </a:solidFill>
                <a:latin typeface="Calibri"/>
              </a:rPr>
              <a:t>3. Checkpoint structural bays</a:t>
            </a:r>
            <a:r>
              <a:rPr sz="1300" b="0" i="0">
                <a:solidFill>
                  <a:srgbClr val="143C6E"/>
                </a:solidFill>
                <a:latin typeface="Calibri"/>
              </a:rPr>
              <a:t> that can grow with CT, then thin with self-service.</a:t>
            </a:r>
          </a:p>
          <a:p>
            <a:pPr>
              <a:spcBef>
                <a:spcPts val="700"/>
              </a:spcBef>
            </a:pPr>
            <a:r>
              <a:rPr sz="1300" b="1" i="0">
                <a:solidFill>
                  <a:srgbClr val="143C6E"/>
                </a:solidFill>
                <a:latin typeface="Calibri"/>
              </a:rPr>
              <a:t>4. Check-in halls convertible</a:t>
            </a:r>
            <a:r>
              <a:rPr sz="1300" b="0" i="0">
                <a:solidFill>
                  <a:srgbClr val="143C6E"/>
                </a:solidFill>
                <a:latin typeface="Calibri"/>
              </a:rPr>
              <a:t> to dwell, lounge, and revenue space — and Concourse B's 33 United regional gates built to convert to common use.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96596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 i="0">
                <a:solidFill>
                  <a:srgbClr val="143C6E"/>
                </a:solidFill>
                <a:latin typeface="Georgia"/>
              </a:rPr>
              <a:t>BET AGAINST, EXPLICITLY</a:t>
            </a:r>
          </a:p>
          <a:p>
            <a:pPr>
              <a:spcBef>
                <a:spcPts val="800"/>
              </a:spcBef>
            </a:pPr>
            <a:r>
              <a:rPr sz="1300" b="0" i="0">
                <a:solidFill>
                  <a:srgbClr val="143C6E"/>
                </a:solidFill>
                <a:latin typeface="Calibri"/>
              </a:rPr>
              <a:t>•  Sizing the building for today's uncoordinated peak before the coordination levers are pulled</a:t>
            </a:r>
          </a:p>
          <a:p>
            <a:pPr>
              <a:spcBef>
                <a:spcPts val="800"/>
              </a:spcBef>
            </a:pPr>
            <a:r>
              <a:rPr sz="1300" b="0" i="0">
                <a:solidFill>
                  <a:srgbClr val="143C6E"/>
                </a:solidFill>
                <a:latin typeface="Calibri"/>
              </a:rPr>
              <a:t>•  Distributed or off-airport screening as a built-form organizing principle — TSA has scheduled nothing</a:t>
            </a:r>
          </a:p>
          <a:p>
            <a:pPr>
              <a:spcBef>
                <a:spcPts val="800"/>
              </a:spcBef>
            </a:pPr>
            <a:r>
              <a:rPr sz="1300" b="0" i="0">
                <a:solidFill>
                  <a:srgbClr val="143C6E"/>
                </a:solidFill>
                <a:latin typeface="Calibri"/>
              </a:rPr>
              <a:t>•  eVTOL-at-scale apron geometry as a load-bearing assumption</a:t>
            </a:r>
          </a:p>
          <a:p>
            <a:pPr>
              <a:spcBef>
                <a:spcPts val="800"/>
              </a:spcBef>
            </a:pPr>
            <a:r>
              <a:rPr sz="1300" b="0" i="0">
                <a:solidFill>
                  <a:srgbClr val="143C6E"/>
                </a:solidFill>
                <a:latin typeface="Calibri"/>
              </a:rPr>
              <a:t>•  Any single-vendor, first-of-a-kind life-safety or baggage system with no fallback — the BER and Denver failure mode</a:t>
            </a:r>
          </a:p>
          <a:p>
            <a:pPr>
              <a:spcBef>
                <a:spcPts val="800"/>
              </a:spcBef>
            </a:pPr>
            <a:r>
              <a:rPr sz="1300" b="0" i="0">
                <a:solidFill>
                  <a:srgbClr val="143C6E"/>
                </a:solidFill>
                <a:latin typeface="Calibri"/>
              </a:rPr>
              <a:t>•  A permanent, hard-walled row of check-in counters — the one piece of processing geometry already known to be dying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17220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1">
                <a:solidFill>
                  <a:srgbClr val="5A5A5A"/>
                </a:solidFill>
                <a:latin typeface="Calibri"/>
              </a:rPr>
              <a:t>* Single-digit-percent provisioning cost is an analyst estimate — program team should cost precisely.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1908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AB5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25603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8A9AB5"/>
                </a:solidFill>
                <a:latin typeface="Calibri"/>
              </a:rPr>
              <a:t>RECOMMENDATIONS  ·  3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43C6E"/>
                </a:solidFill>
                <a:latin typeface="Georgia"/>
              </a:rPr>
              <a:t>Two decisions sit above the architecture — and the design cannot solve either.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691640"/>
            <a:ext cx="2926080" cy="31750"/>
          </a:xfrm>
          <a:prstGeom prst="rect">
            <a:avLst/>
          </a:prstGeom>
          <a:solidFill>
            <a:srgbClr val="14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103120"/>
            <a:ext cx="4754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0" b="1" i="0">
                <a:solidFill>
                  <a:srgbClr val="143C6E"/>
                </a:solidFill>
                <a:latin typeface="Georgia"/>
              </a:rPr>
              <a:t>$26.47</a:t>
            </a:r>
          </a:p>
          <a:p>
            <a:pPr>
              <a:spcBef>
                <a:spcPts val="600"/>
              </a:spcBef>
            </a:pPr>
            <a:r>
              <a:rPr sz="1400" b="0" i="0">
                <a:solidFill>
                  <a:srgbClr val="5A5A5A"/>
                </a:solidFill>
                <a:latin typeface="Calibri"/>
              </a:rPr>
              <a:t>CPE at Dulles's 2013 peak — the last time IAD sat near the cost basis this
program would recreate, United weighed leaving. Newark's physical
constraint saved the hub, not anything MWAA built.*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2057400"/>
            <a:ext cx="5577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 i="0">
                <a:solidFill>
                  <a:srgbClr val="143C6E"/>
                </a:solidFill>
                <a:latin typeface="Calibri"/>
              </a:rPr>
              <a:t>The financial decision:</a:t>
            </a:r>
            <a:r>
              <a:rPr sz="1400" b="0" i="0">
                <a:solidFill>
                  <a:srgbClr val="143C6E"/>
                </a:solidFill>
                <a:latin typeface="Calibri"/>
              </a:rPr>
              <a:t> condition the connecting-hub scope on a matched-duration United commitment — a use-and-lease term materially beyond 2039 with majority-in-interest co-underwriting — and stress-test bond coverage against a 30 percent United pull-down.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143C6E"/>
                </a:solidFill>
                <a:latin typeface="Calibri"/>
              </a:rPr>
              <a:t>The political decision:</a:t>
            </a:r>
            <a:r>
              <a:rPr sz="1400" b="0" i="0">
                <a:solidFill>
                  <a:srgbClr val="143C6E"/>
                </a:solidFill>
                <a:latin typeface="Calibri"/>
              </a:rPr>
              <a:t> the program is federally sponsored and federally timed; the sponsor's mandate ends with the administration, and the 2034 date rests on a NEPA posture already being probed in the D.C. Circuit. Design the durable moves to be defensible if the federal push evaporates.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143C6E"/>
                </a:solidFill>
                <a:latin typeface="Calibri"/>
              </a:rPr>
              <a:t>Never plan around a favorable act of Congress.</a:t>
            </a:r>
            <a:r>
              <a:rPr sz="1400" b="0" i="0">
                <a:solidFill>
                  <a:srgbClr val="143C6E"/>
                </a:solidFill>
                <a:latin typeface="Calibri"/>
              </a:rPr>
              <a:t> The perimeter rule took 58 years to move — then moved against MWAA over the unanimous objection of both home-state delegations.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17220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1">
                <a:solidFill>
                  <a:srgbClr val="5A5A5A"/>
                </a:solidFill>
                <a:latin typeface="Calibri"/>
              </a:rPr>
              <a:t>* Historical CPE from the same secondary aggregator (DWU) — verify against the audited ACFR before board use.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1908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AB5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 i="0">
                <a:solidFill>
                  <a:srgbClr val="FFFFFF"/>
                </a:solidFill>
                <a:latin typeface="Georgia"/>
              </a:rPr>
              <a:t>Draw the boundary between what moves and what pours.</a:t>
            </a:r>
          </a:p>
          <a:p>
            <a:pPr>
              <a:spcBef>
                <a:spcPts val="1800"/>
              </a:spcBef>
            </a:pPr>
            <a:r>
              <a:rPr sz="1800" b="0" i="0">
                <a:solidFill>
                  <a:srgbClr val="C9D6E8"/>
                </a:solidFill>
                <a:latin typeface="Calibri"/>
              </a:rPr>
              <a:t>The sequence will change again. The question in the program meeting is which lines on the drawing Dulles will still be able to move when it does — and which it is about to pour into the ground for fifty years.</a:t>
            </a:r>
          </a:p>
          <a:p>
            <a:pPr>
              <a:spcBef>
                <a:spcPts val="1800"/>
              </a:spcBef>
            </a:pPr>
            <a:r>
              <a:rPr sz="2200" b="1" i="1">
                <a:solidFill>
                  <a:srgbClr val="FFFFFF"/>
                </a:solidFill>
                <a:latin typeface="Georgia"/>
              </a:rPr>
              <a:t>Everything else is fit-out.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1908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AB5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