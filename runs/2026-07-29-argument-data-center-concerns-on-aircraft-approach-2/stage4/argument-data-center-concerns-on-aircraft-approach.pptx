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claim, not background. The site sits inside the RWY 1L approach and RWY 19R departure surfaces of IAD's Cat II/III ILS runway — the most instrument-critical corridor on the airfield. This is strategic capacity land; the recommendation is do not proceed at this location, not do not proceed with the developer.</a:t>
            </a:r>
          </a:p>
          <a:p/>
          <a:p>
            <a:r>
              <a:t>[Sources]</a:t>
            </a:r>
          </a:p>
          <a:p>
            <a:r>
              <a:t>- FlightAware, KIAD ILS RWY 01L (Cat II/III): https://www.flightaware.com/resources/airport/KIAD/IAP/ILS+RWY+01L+%28CAT+II+-+III%29</a:t>
            </a:r>
          </a:p>
          <a:p>
            <a:r>
              <a:t>- Proposed-site placement: supplied argument and supplemental material.</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mechanism in one picture. The hazards are physical, not procedural: turbulence a pilot cannot see, wildlife the corridor cannot tolerate, and signal interference no lease term can waive. FAA Technical Operations certifies the ILS and is not a party to any lease.</a:t>
            </a:r>
          </a:p>
          <a:p/>
          <a:p>
            <a:r>
              <a:t>[Sources]</a:t>
            </a:r>
          </a:p>
          <a:p>
            <a:r>
              <a:t>- FAA AIM § 7-6-16: https://faraim.org/faa/aim/chapter-7/section-7-6-16.html</a:t>
            </a:r>
          </a:p>
          <a:p>
            <a:r>
              <a:t>- FAA AC 150/5200-33C: https://www.faa.gov/airports/resources/advisory_circulars/index.cfm/go/document.information/documentID/1037215</a:t>
            </a:r>
          </a:p>
          <a:p>
            <a:r>
              <a:t>- FAA Order 6750.16E: https://www.faa.gov/documentLibrary/media/Order/FINAL_SIGNED_Order_6750_16E_ILS_Siting_Criteria_06-09-2014_for_Web_posting%5B1%5D.pdf</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precedent, not prediction. The FAA classified thermal plumes as incompatible with airport operations in 2015 and applied that finding against a power plant near Long Beach Airport. Section 743 preserves FAA jurisdiction on the safety and federal-investment grounds this project implicates, and Assurances 19, 20, and 29 each attach independently.</a:t>
            </a:r>
          </a:p>
          <a:p/>
          <a:p>
            <a:r>
              <a:t>[Sources]</a:t>
            </a:r>
          </a:p>
          <a:p>
            <a:r>
              <a:t>- FAA thermal-plume guidance: https://www.faa.gov/sites/faa.gov/files/airports/environmental/land_use/Technical-Guidance-Assessment-Tool-Thermal-Exhaust-Plume-Impact.pdf</a:t>
            </a:r>
          </a:p>
          <a:p>
            <a:r>
              <a:t>- CEC Docket 15-AFC-01: https://efiling.energy.ca.gov/GetDocument.aspx?tn=215584</a:t>
            </a:r>
          </a:p>
          <a:p>
            <a:r>
              <a:t>- FAA Section 743 preliminary instructions: https://www.faa.gov/airports/planning_capacity/alp-approval-preliminary-instructions</a:t>
            </a:r>
          </a:p>
          <a:p>
            <a:r>
              <a:t>- FAA Airport Sponsor Assurances: https://www.faa.gov/airports/aip/grant_assurances</a:t>
            </a:r>
          </a:p>
          <a:p>
            <a:r>
              <a:t>- 14 CFR Part 16: https://www.ecfr.gov/current/title-14/chapter-I/subchapter-B/part-16</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objection at full strength: MWAA's 2018 Western Lands transaction confirms that data-center use can be considered at IAD. The same release says the corresponding ALP change was subject to NEPA and that an Environmental Assessment was being prepared. The precedent supports considering the use; it does not waive FAA review for a site that implicates aircraft safety and prior federal investment.</a:t>
            </a:r>
          </a:p>
          <a:p/>
          <a:p>
            <a:r>
              <a:t>[Sources]</a:t>
            </a:r>
          </a:p>
          <a:p>
            <a:r>
              <a:t>- MWAA Western Lands release: https://www.mwaa.com/news/airports-authority-announces-sale-424-acres-western-lands-dulles-international</a:t>
            </a:r>
          </a:p>
          <a:p>
            <a:r>
              <a:t>- FAA Section 743 preliminary instructions: https://www.faa.gov/airports/planning_capacity/alp-approval-preliminary-instructions</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decision anchor: the governing event is the Form 7460-1 filing and the aeronautical study that follows — every commitment made before that study returns is made against an undefined regulatory outcome. This redirects the deal, not the developer. The ask is a halt-and-resite, not a kill.</a:t>
            </a:r>
          </a:p>
          <a:p/>
          <a:p>
            <a:r>
              <a:t>[Sources]</a:t>
            </a:r>
          </a:p>
          <a:p>
            <a:r>
              <a:t>- FAA OE/AAA and Form 7460-1: https://oeaaa.faa.gov/</a:t>
            </a:r>
          </a:p>
          <a:p>
            <a:r>
              <a:t>- FAA ALP preliminary instructions: https://www.faa.gov/airports/planning_capacity/alp-approval-preliminary-instructions</a:t>
            </a:r>
          </a:p>
          <a:p>
            <a:r>
              <a:t>- FAA Airport Sponsor Assurances: https://www.faa.gov/airports/aip/grant_assurances</a:t>
            </a:r>
          </a:p>
          <a:p>
            <a:r>
              <a:t>[/Sources]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2103120"/>
          </a:xfrm>
          <a:prstGeom prst="rect">
            <a:avLst/>
          </a:prstGeom>
          <a:noFill/>
        </p:spPr>
        <p:txBody>
          <a:bodyPr wrap="square" anchor="t" lIns="0" rIns="0" tIns="0" bIns="0">
            <a:spAutoFit/>
          </a:bodyPr>
          <a:lstStyle/>
          <a:p>
            <a:pPr algn="l"/>
            <a:r>
              <a:rPr sz="4400" b="1" i="0">
                <a:solidFill>
                  <a:srgbClr val="FFFFFF"/>
                </a:solidFill>
                <a:latin typeface="Georgia"/>
              </a:rPr>
              <a:t>Do not build a data center inside the approach surfaces of a Cat II/III ILS runway.</a:t>
            </a:r>
          </a:p>
        </p:txBody>
      </p:sp>
      <p:sp>
        <p:nvSpPr>
          <p:cNvPr id="3" name="approach-surface-fan" descr="Schematic fan of the RWY 1L approach and RWY 19R departure surfaces extending from the runway end."/>
          <p:cNvSpPr/>
          <p:nvPr/>
        </p:nvSpPr>
        <p:spPr>
          <a:xfrm>
            <a:off x="1188720" y="2697480"/>
            <a:ext cx="7315200" cy="3017520"/>
          </a:xfrm>
          <a:custGeom>
            <a:avLst/>
            <a:gdLst/>
            <a:ahLst/>
            <a:cxnLst/>
            <a:rect l="l" t="t" r="r" b="b"/>
            <a:pathLst>
              <a:path w="7315200" h="3017520">
                <a:moveTo>
                  <a:pt x="7315200" y="1289304"/>
                </a:moveTo>
                <a:lnTo>
                  <a:pt x="7315200" y="1728216"/>
                </a:lnTo>
                <a:lnTo>
                  <a:pt x="0" y="3017520"/>
                </a:lnTo>
                <a:lnTo>
                  <a:pt x="0" y="0"/>
                </a:lnTo>
                <a:close/>
              </a:path>
            </a:pathLst>
          </a:custGeom>
          <a:solidFill>
            <a:srgbClr val="143F63"/>
          </a:solidFill>
          <a:ln w="19050">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 name="site-plan-diagram" descr="Plan-view schematic: the proposed data center footprint sits inside the RWY 1L approach and RWY 19R departure surface fan, under the arrival and departure corridor of a Cat II/III ILS runway with ALSF-2 lighting."/>
          <p:cNvGrpSpPr/>
          <p:nvPr/>
        </p:nvGrpSpPr>
        <p:grpSpPr>
          <a:xfrm>
            <a:off x="1188720" y="2212848"/>
            <a:ext cx="10149840" cy="2633472"/>
            <a:chOff x="1188720" y="2212848"/>
            <a:chExt cx="10149840" cy="2633472"/>
          </a:xfrm>
        </p:grpSpPr>
        <p:cxnSp>
          <p:nvCxnSpPr>
            <p:cNvPr id="5" name="centerline"/>
            <p:cNvCxnSpPr/>
            <p:nvPr/>
          </p:nvCxnSpPr>
          <p:spPr>
            <a:xfrm>
              <a:off x="1188720" y="4206240"/>
              <a:ext cx="7315200" cy="0"/>
            </a:xfrm>
            <a:prstGeom prst="line">
              <a:avLst/>
            </a:prstGeom>
            <a:ln w="15875">
              <a:solidFill>
                <a:srgbClr val="D4A24C"/>
              </a:solidFill>
              <a:prstDash val="dash"/>
            </a:ln>
            <a:effectLst/>
          </p:spPr>
          <p:style>
            <a:lnRef idx="2">
              <a:schemeClr val="accent1"/>
            </a:lnRef>
            <a:fillRef idx="0">
              <a:schemeClr val="accent1"/>
            </a:fillRef>
            <a:effectRef idx="1">
              <a:schemeClr val="accent1"/>
            </a:effectRef>
            <a:fontRef idx="minor">
              <a:schemeClr val="tx1"/>
            </a:fontRef>
          </p:style>
        </p:cxnSp>
        <p:sp>
          <p:nvSpPr>
            <p:cNvPr id="6" name="runway"/>
            <p:cNvSpPr/>
            <p:nvPr/>
          </p:nvSpPr>
          <p:spPr>
            <a:xfrm>
              <a:off x="8503920" y="4005072"/>
              <a:ext cx="2834640" cy="402336"/>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7" name="alsf-bar-0"/>
            <p:cNvSpPr/>
            <p:nvPr/>
          </p:nvSpPr>
          <p:spPr>
            <a:xfrm>
              <a:off x="722376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8" name="alsf-bar-1"/>
            <p:cNvSpPr/>
            <p:nvPr/>
          </p:nvSpPr>
          <p:spPr>
            <a:xfrm>
              <a:off x="749808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9" name="alsf-bar-2"/>
            <p:cNvSpPr/>
            <p:nvPr/>
          </p:nvSpPr>
          <p:spPr>
            <a:xfrm>
              <a:off x="777240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alsf-bar-3"/>
            <p:cNvSpPr/>
            <p:nvPr/>
          </p:nvSpPr>
          <p:spPr>
            <a:xfrm>
              <a:off x="804672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1" name="alsf-bar-4"/>
            <p:cNvSpPr/>
            <p:nvPr/>
          </p:nvSpPr>
          <p:spPr>
            <a:xfrm>
              <a:off x="8321040" y="4059936"/>
              <a:ext cx="45720" cy="292608"/>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2" name="data-center-site"/>
            <p:cNvSpPr/>
            <p:nvPr/>
          </p:nvSpPr>
          <p:spPr>
            <a:xfrm>
              <a:off x="3291840" y="3675887"/>
              <a:ext cx="1645920" cy="1060704"/>
            </a:xfrm>
            <a:prstGeom prst="rect">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wrap="square"/>
            <a:lstStyle/>
            <a:p>
              <a:pPr algn="ctr"/>
              <a:r>
                <a:rPr sz="1600" b="1">
                  <a:solidFill>
                    <a:srgbClr val="FFFFFF"/>
                  </a:solidFill>
                  <a:latin typeface="Calibri"/>
                </a:rPr>
                <a:t>Proposed data center</a:t>
              </a:r>
            </a:p>
          </p:txBody>
        </p:sp>
        <p:sp>
          <p:nvSpPr>
            <p:cNvPr id="13" name="label-runway"/>
            <p:cNvSpPr txBox="1"/>
            <p:nvPr/>
          </p:nvSpPr>
          <p:spPr>
            <a:xfrm>
              <a:off x="8503920" y="3639312"/>
              <a:ext cx="2788920" cy="310896"/>
            </a:xfrm>
            <a:prstGeom prst="rect">
              <a:avLst/>
            </a:prstGeom>
            <a:noFill/>
          </p:spPr>
          <p:txBody>
            <a:bodyPr wrap="square" anchor="t" lIns="0" rIns="0" tIns="0" bIns="0">
              <a:spAutoFit/>
            </a:bodyPr>
            <a:lstStyle/>
            <a:p>
              <a:pPr algn="l"/>
              <a:r>
                <a:rPr sz="1600" b="1" i="0">
                  <a:solidFill>
                    <a:srgbClr val="D4A24C"/>
                  </a:solidFill>
                  <a:latin typeface="Calibri"/>
                </a:rPr>
                <a:t>RWY 1L / 19R</a:t>
              </a:r>
            </a:p>
          </p:txBody>
        </p:sp>
        <p:sp>
          <p:nvSpPr>
            <p:cNvPr id="14" name="label-fan"/>
            <p:cNvSpPr txBox="1"/>
            <p:nvPr/>
          </p:nvSpPr>
          <p:spPr>
            <a:xfrm>
              <a:off x="1188720" y="2212848"/>
              <a:ext cx="4846320" cy="402336"/>
            </a:xfrm>
            <a:prstGeom prst="rect">
              <a:avLst/>
            </a:prstGeom>
            <a:noFill/>
          </p:spPr>
          <p:txBody>
            <a:bodyPr wrap="square" anchor="t" lIns="0" rIns="0" tIns="0" bIns="0">
              <a:spAutoFit/>
            </a:bodyPr>
            <a:lstStyle/>
            <a:p>
              <a:pPr algn="l"/>
              <a:r>
                <a:rPr sz="1600" b="0" i="0">
                  <a:solidFill>
                    <a:srgbClr val="D4A24C"/>
                  </a:solidFill>
                  <a:latin typeface="Calibri"/>
                </a:rPr>
                <a:t>RWY 1L approach / RWY 19R departure surfaces</a:t>
              </a:r>
            </a:p>
          </p:txBody>
        </p:sp>
        <p:sp>
          <p:nvSpPr>
            <p:cNvPr id="15" name="label-alsf"/>
            <p:cNvSpPr txBox="1"/>
            <p:nvPr/>
          </p:nvSpPr>
          <p:spPr>
            <a:xfrm>
              <a:off x="6675120" y="4553712"/>
              <a:ext cx="2651760" cy="292608"/>
            </a:xfrm>
            <a:prstGeom prst="rect">
              <a:avLst/>
            </a:prstGeom>
            <a:noFill/>
          </p:spPr>
          <p:txBody>
            <a:bodyPr wrap="square" anchor="t" lIns="0" rIns="0" tIns="0" bIns="0">
              <a:spAutoFit/>
            </a:bodyPr>
            <a:lstStyle/>
            <a:p>
              <a:pPr algn="l"/>
              <a:r>
                <a:rPr sz="1600" b="0" i="0">
                  <a:solidFill>
                    <a:srgbClr val="FFFFFF"/>
                  </a:solidFill>
                  <a:latin typeface="Calibri"/>
                </a:rPr>
                <a:t>ALSF-2 approach lights</a:t>
              </a:r>
            </a:p>
          </p:txBody>
        </p:sp>
      </p:grpSp>
      <p:sp>
        <p:nvSpPr>
          <p:cNvPr id="16" name="caption"/>
          <p:cNvSpPr txBox="1"/>
          <p:nvPr/>
        </p:nvSpPr>
        <p:spPr>
          <a:xfrm>
            <a:off x="502920" y="5989320"/>
            <a:ext cx="11183112" cy="329184"/>
          </a:xfrm>
          <a:prstGeom prst="rect">
            <a:avLst/>
          </a:prstGeom>
          <a:noFill/>
        </p:spPr>
        <p:txBody>
          <a:bodyPr wrap="square" anchor="t" lIns="0" rIns="0" tIns="0" bIns="0">
            <a:spAutoFit/>
          </a:bodyPr>
          <a:lstStyle/>
          <a:p>
            <a:pPr algn="l"/>
            <a:r>
              <a:rPr sz="1600" b="0" i="1">
                <a:solidFill>
                  <a:srgbClr val="FFFFFF"/>
                </a:solidFill>
                <a:latin typeface="Calibri"/>
              </a:rPr>
              <a:t>9,400-ft Cat II/III ILS runway with ALSF-2 approach lighting.</a:t>
            </a:r>
          </a:p>
        </p:txBody>
      </p:sp>
      <p:sp>
        <p:nvSpPr>
          <p:cNvPr id="17" name="source-note"/>
          <p:cNvSpPr txBox="1"/>
          <p:nvPr/>
        </p:nvSpPr>
        <p:spPr>
          <a:xfrm>
            <a:off x="502920" y="6455664"/>
            <a:ext cx="11183112" cy="329184"/>
          </a:xfrm>
          <a:prstGeom prst="rect">
            <a:avLst/>
          </a:prstGeom>
          <a:noFill/>
        </p:spPr>
        <p:txBody>
          <a:bodyPr wrap="square" anchor="t" lIns="0" rIns="0" tIns="0" bIns="0">
            <a:spAutoFit/>
          </a:bodyPr>
          <a:lstStyle/>
          <a:p>
            <a:pPr algn="l"/>
            <a:r>
              <a:rPr sz="1000" b="0" i="0">
                <a:solidFill>
                  <a:srgbClr val="EDF3F6"/>
                </a:solidFill>
                <a:latin typeface="Calibri"/>
              </a:rPr>
              <a:t>Schematic, not to scale. Source: FAA instrument approach data, KIAD RWY 01L/19R — Cat II/III ILS, ALSF-2 (FlightAware approach plate).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143000"/>
          </a:xfrm>
          <a:prstGeom prst="rect">
            <a:avLst/>
          </a:prstGeom>
          <a:noFill/>
        </p:spPr>
        <p:txBody>
          <a:bodyPr wrap="square" anchor="t" lIns="0" rIns="0" tIns="0" bIns="0">
            <a:spAutoFit/>
          </a:bodyPr>
          <a:lstStyle/>
          <a:p>
            <a:pPr algn="l"/>
            <a:r>
              <a:rPr sz="3600" b="1" i="0">
                <a:solidFill>
                  <a:srgbClr val="FFFFFF"/>
                </a:solidFill>
                <a:latin typeface="Georgia"/>
              </a:rPr>
              <a:t>A data center puts three interference vectors under one glide path.</a:t>
            </a:r>
          </a:p>
        </p:txBody>
      </p:sp>
      <p:grpSp>
        <p:nvGrpSpPr>
          <p:cNvPr id="3" name="SIGNATURE VISUAL — approach corridor cross-section" descr="Cross-section of the approach corridor: an aircraft on the Cat II/III glide path descends over a data center whose thermal plumes rise through the flight path, an open-water basin sits beside it, and its metallic mass lies under the ILS signal — three interference vectors under one glide path."/>
          <p:cNvGrpSpPr/>
          <p:nvPr/>
        </p:nvGrpSpPr>
        <p:grpSpPr>
          <a:xfrm>
            <a:off x="640080" y="1444752"/>
            <a:ext cx="10927080" cy="3995928"/>
            <a:chOff x="640080" y="1444752"/>
            <a:chExt cx="10927080" cy="3995928"/>
          </a:xfrm>
        </p:grpSpPr>
        <p:cxnSp>
          <p:nvCxnSpPr>
            <p:cNvPr id="4" name="ground"/>
            <p:cNvCxnSpPr/>
            <p:nvPr/>
          </p:nvCxnSpPr>
          <p:spPr>
            <a:xfrm>
              <a:off x="640080" y="5440680"/>
              <a:ext cx="10927080" cy="0"/>
            </a:xfrm>
            <a:prstGeom prst="line">
              <a:avLst/>
            </a:prstGeom>
            <a:ln w="25400">
              <a:solidFill>
                <a:srgbClr val="EDF3F6"/>
              </a:solidFill>
            </a:ln>
            <a:effectLst/>
          </p:spPr>
          <p:style>
            <a:lnRef idx="2">
              <a:schemeClr val="accent1"/>
            </a:lnRef>
            <a:fillRef idx="0">
              <a:schemeClr val="accent1"/>
            </a:fillRef>
            <a:effectRef idx="1">
              <a:schemeClr val="accent1"/>
            </a:effectRef>
            <a:fontRef idx="minor">
              <a:schemeClr val="tx1"/>
            </a:fontRef>
          </p:style>
        </p:cxnSp>
        <p:sp>
          <p:nvSpPr>
            <p:cNvPr id="5" name="runway-profile"/>
            <p:cNvSpPr/>
            <p:nvPr/>
          </p:nvSpPr>
          <p:spPr>
            <a:xfrm>
              <a:off x="731520" y="5294376"/>
              <a:ext cx="2377440" cy="14630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6" name="alsf-tick-0"/>
            <p:cNvSpPr/>
            <p:nvPr/>
          </p:nvSpPr>
          <p:spPr>
            <a:xfrm>
              <a:off x="320040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7" name="alsf-tick-1"/>
            <p:cNvSpPr/>
            <p:nvPr/>
          </p:nvSpPr>
          <p:spPr>
            <a:xfrm>
              <a:off x="347472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8" name="alsf-tick-2"/>
            <p:cNvSpPr/>
            <p:nvPr/>
          </p:nvSpPr>
          <p:spPr>
            <a:xfrm>
              <a:off x="3749039"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9" name="alsf-tick-3"/>
            <p:cNvSpPr/>
            <p:nvPr/>
          </p:nvSpPr>
          <p:spPr>
            <a:xfrm>
              <a:off x="402336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alsf-tick-4"/>
            <p:cNvSpPr/>
            <p:nvPr/>
          </p:nvSpPr>
          <p:spPr>
            <a:xfrm>
              <a:off x="4297680" y="5285232"/>
              <a:ext cx="41148" cy="155448"/>
            </a:xfrm>
            <a:prstGeom prst="rect">
              <a:avLst/>
            </a:prstGeom>
            <a:solidFill>
              <a:srgbClr val="D4A24C"/>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cxnSp>
          <p:nvCxnSpPr>
            <p:cNvPr id="11" name="glide-path"/>
            <p:cNvCxnSpPr/>
            <p:nvPr/>
          </p:nvCxnSpPr>
          <p:spPr>
            <a:xfrm flipV="1">
              <a:off x="3154680" y="1783080"/>
              <a:ext cx="8092440" cy="3611880"/>
            </a:xfrm>
            <a:prstGeom prst="line">
              <a:avLst/>
            </a:prstGeom>
            <a:ln w="28575">
              <a:solidFill>
                <a:srgbClr val="D4A24C"/>
              </a:solidFill>
              <a:prstDash val="dash"/>
              <a:headEnd type="triangle" w="lg" len="lg"/>
            </a:ln>
            <a:effectLst/>
          </p:spPr>
          <p:style>
            <a:lnRef idx="2">
              <a:schemeClr val="accent1"/>
            </a:lnRef>
            <a:fillRef idx="0">
              <a:schemeClr val="accent1"/>
            </a:fillRef>
            <a:effectRef idx="1">
              <a:schemeClr val="accent1"/>
            </a:effectRef>
            <a:fontRef idx="minor">
              <a:schemeClr val="tx1"/>
            </a:fontRef>
          </p:style>
        </p:cxnSp>
        <p:sp>
          <p:nvSpPr>
            <p:cNvPr id="12" name="label-glide-path"/>
            <p:cNvSpPr txBox="1"/>
            <p:nvPr/>
          </p:nvSpPr>
          <p:spPr>
            <a:xfrm>
              <a:off x="8869680" y="1444752"/>
              <a:ext cx="2697480" cy="310896"/>
            </a:xfrm>
            <a:prstGeom prst="rect">
              <a:avLst/>
            </a:prstGeom>
            <a:noFill/>
          </p:spPr>
          <p:txBody>
            <a:bodyPr wrap="square" anchor="t" lIns="0" rIns="0" tIns="0" bIns="0">
              <a:spAutoFit/>
            </a:bodyPr>
            <a:lstStyle/>
            <a:p>
              <a:pPr algn="r"/>
              <a:r>
                <a:rPr sz="1600" b="1" i="0">
                  <a:solidFill>
                    <a:srgbClr val="D4A24C"/>
                  </a:solidFill>
                  <a:latin typeface="Calibri"/>
                </a:rPr>
                <a:t>Cat II/III glide path</a:t>
              </a:r>
            </a:p>
          </p:txBody>
        </p:sp>
        <p:sp>
          <p:nvSpPr>
            <p:cNvPr id="13" name="data-center-block"/>
            <p:cNvSpPr/>
            <p:nvPr/>
          </p:nvSpPr>
          <p:spPr>
            <a:xfrm>
              <a:off x="6035040" y="4526280"/>
              <a:ext cx="2651760" cy="914400"/>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b" lIns="50800" rIns="50800" tIns="25400" bIns="25400" wrap="square"/>
            <a:lstStyle/>
            <a:p>
              <a:pPr algn="ctr"/>
              <a:r>
                <a:rPr sz="1600" b="1">
                  <a:solidFill>
                    <a:srgbClr val="FFFFFF"/>
                  </a:solidFill>
                  <a:latin typeface="Calibri"/>
                </a:rPr>
                <a:t>Data center</a:t>
              </a:r>
            </a:p>
          </p:txBody>
        </p:sp>
        <p:sp>
          <p:nvSpPr>
            <p:cNvPr id="14" name="tower-1"/>
            <p:cNvSpPr/>
            <p:nvPr/>
          </p:nvSpPr>
          <p:spPr>
            <a:xfrm>
              <a:off x="6400800" y="4279392"/>
              <a:ext cx="384048" cy="2468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5" name="tower-2"/>
            <p:cNvSpPr/>
            <p:nvPr/>
          </p:nvSpPr>
          <p:spPr>
            <a:xfrm>
              <a:off x="7178040" y="4279392"/>
              <a:ext cx="384048" cy="246888"/>
            </a:xfrm>
            <a:prstGeom prst="rect">
              <a:avLst/>
            </a:prstGeom>
            <a:solidFill>
              <a:srgbClr val="415669"/>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6" name="plume-arrow-0"/>
            <p:cNvSpPr/>
            <p:nvPr/>
          </p:nvSpPr>
          <p:spPr>
            <a:xfrm>
              <a:off x="6382512" y="2331720"/>
              <a:ext cx="384048" cy="194767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7" name="plume-arrow-1"/>
            <p:cNvSpPr/>
            <p:nvPr/>
          </p:nvSpPr>
          <p:spPr>
            <a:xfrm>
              <a:off x="6967728" y="2103120"/>
              <a:ext cx="384048" cy="217627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8" name="plume-arrow-2"/>
            <p:cNvSpPr/>
            <p:nvPr/>
          </p:nvSpPr>
          <p:spPr>
            <a:xfrm>
              <a:off x="7552944" y="2377440"/>
              <a:ext cx="384048" cy="1901952"/>
            </a:xfrm>
            <a:prstGeom prst="upArrow">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9" name="retention-basin"/>
            <p:cNvSpPr/>
            <p:nvPr/>
          </p:nvSpPr>
          <p:spPr>
            <a:xfrm>
              <a:off x="9098280" y="5138928"/>
              <a:ext cx="1325880" cy="301752"/>
            </a:xfrm>
            <a:prstGeom prst="ellipse">
              <a:avLst/>
            </a:prstGeom>
            <a:solidFill>
              <a:srgbClr val="2E84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dge-1"/>
            <p:cNvSpPr/>
            <p:nvPr/>
          </p:nvSpPr>
          <p:spPr>
            <a:xfrm>
              <a:off x="7004304" y="1700784"/>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1</a:t>
              </a:r>
            </a:p>
          </p:txBody>
        </p:sp>
        <p:sp>
          <p:nvSpPr>
            <p:cNvPr id="21" name="badge-2"/>
            <p:cNvSpPr/>
            <p:nvPr/>
          </p:nvSpPr>
          <p:spPr>
            <a:xfrm>
              <a:off x="9601200" y="4700016"/>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2</a:t>
              </a:r>
            </a:p>
          </p:txBody>
        </p:sp>
        <p:sp>
          <p:nvSpPr>
            <p:cNvPr id="22" name="badge-3"/>
            <p:cNvSpPr/>
            <p:nvPr/>
          </p:nvSpPr>
          <p:spPr>
            <a:xfrm>
              <a:off x="5596128" y="4700016"/>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3</a:t>
              </a:r>
            </a:p>
          </p:txBody>
        </p:sp>
        <p:sp>
          <p:nvSpPr>
            <p:cNvPr id="23" name="legend-1-badge"/>
            <p:cNvSpPr/>
            <p:nvPr/>
          </p:nvSpPr>
          <p:spPr>
            <a:xfrm>
              <a:off x="685800" y="1828800"/>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1</a:t>
              </a:r>
            </a:p>
          </p:txBody>
        </p:sp>
        <p:sp>
          <p:nvSpPr>
            <p:cNvPr id="24" name="legend-1-text"/>
            <p:cNvSpPr txBox="1"/>
            <p:nvPr/>
          </p:nvSpPr>
          <p:spPr>
            <a:xfrm>
              <a:off x="1133856" y="1810512"/>
              <a:ext cx="3154680" cy="841248"/>
            </a:xfrm>
            <a:prstGeom prst="rect">
              <a:avLst/>
            </a:prstGeom>
            <a:noFill/>
          </p:spPr>
          <p:txBody>
            <a:bodyPr wrap="square" anchor="t" lIns="0" rIns="0" tIns="0" bIns="0">
              <a:spAutoFit/>
            </a:bodyPr>
            <a:lstStyle/>
            <a:p>
              <a:pPr algn="l"/>
              <a:r>
                <a:rPr sz="1600" b="0" i="0">
                  <a:solidFill>
                    <a:srgbClr val="FFFFFF"/>
                  </a:solidFill>
                  <a:latin typeface="Calibri"/>
                </a:rPr>
                <a:t>Plume turbulence to 1,000 ft above the tower (AIM § 7-6-16)</a:t>
              </a:r>
            </a:p>
          </p:txBody>
        </p:sp>
        <p:sp>
          <p:nvSpPr>
            <p:cNvPr id="25" name="legend-2-badge"/>
            <p:cNvSpPr/>
            <p:nvPr/>
          </p:nvSpPr>
          <p:spPr>
            <a:xfrm>
              <a:off x="685800" y="2724912"/>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2</a:t>
              </a:r>
            </a:p>
          </p:txBody>
        </p:sp>
        <p:sp>
          <p:nvSpPr>
            <p:cNvPr id="26" name="legend-2-text"/>
            <p:cNvSpPr txBox="1"/>
            <p:nvPr/>
          </p:nvSpPr>
          <p:spPr>
            <a:xfrm>
              <a:off x="1133856" y="2706624"/>
              <a:ext cx="3154680" cy="841248"/>
            </a:xfrm>
            <a:prstGeom prst="rect">
              <a:avLst/>
            </a:prstGeom>
            <a:noFill/>
          </p:spPr>
          <p:txBody>
            <a:bodyPr wrap="square" anchor="t" lIns="0" rIns="0" tIns="0" bIns="0">
              <a:spAutoFit/>
            </a:bodyPr>
            <a:lstStyle/>
            <a:p>
              <a:pPr algn="l"/>
              <a:r>
                <a:rPr sz="1600" b="0" i="0">
                  <a:solidFill>
                    <a:srgbClr val="FFFFFF"/>
                  </a:solidFill>
                  <a:latin typeface="Calibri"/>
                </a:rPr>
                <a:t>Open-water basin draws wildlife (AC 150/5200-33C)</a:t>
              </a:r>
            </a:p>
          </p:txBody>
        </p:sp>
        <p:sp>
          <p:nvSpPr>
            <p:cNvPr id="27" name="legend-3-badge"/>
            <p:cNvSpPr/>
            <p:nvPr/>
          </p:nvSpPr>
          <p:spPr>
            <a:xfrm>
              <a:off x="685800" y="3621024"/>
              <a:ext cx="310896" cy="310896"/>
            </a:xfrm>
            <a:prstGeom prst="ellipse">
              <a:avLst/>
            </a:prstGeom>
            <a:solidFill>
              <a:srgbClr val="A6413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3</a:t>
              </a:r>
            </a:p>
          </p:txBody>
        </p:sp>
        <p:sp>
          <p:nvSpPr>
            <p:cNvPr id="28" name="legend-3-text"/>
            <p:cNvSpPr txBox="1"/>
            <p:nvPr/>
          </p:nvSpPr>
          <p:spPr>
            <a:xfrm>
              <a:off x="1133856" y="3602736"/>
              <a:ext cx="3154680" cy="841248"/>
            </a:xfrm>
            <a:prstGeom prst="rect">
              <a:avLst/>
            </a:prstGeom>
            <a:noFill/>
          </p:spPr>
          <p:txBody>
            <a:bodyPr wrap="square" anchor="t" lIns="0" rIns="0" tIns="0" bIns="0">
              <a:spAutoFit/>
            </a:bodyPr>
            <a:lstStyle/>
            <a:p>
              <a:pPr algn="l"/>
              <a:r>
                <a:rPr sz="1600" b="0" i="0">
                  <a:solidFill>
                    <a:srgbClr val="FFFFFF"/>
                  </a:solidFill>
                  <a:latin typeface="Calibri"/>
                </a:rPr>
                <a:t>Metallic mass and emissions degrade the ILS signal (Order 6750.16E)</a:t>
              </a:r>
            </a:p>
          </p:txBody>
        </p:sp>
      </p:grpSp>
      <p:sp>
        <p:nvSpPr>
          <p:cNvPr id="29" name="ils-quote"/>
          <p:cNvSpPr txBox="1"/>
          <p:nvPr/>
        </p:nvSpPr>
        <p:spPr>
          <a:xfrm>
            <a:off x="822960" y="5614416"/>
            <a:ext cx="10543032" cy="640080"/>
          </a:xfrm>
          <a:prstGeom prst="rect">
            <a:avLst/>
          </a:prstGeom>
          <a:noFill/>
        </p:spPr>
        <p:txBody>
          <a:bodyPr wrap="square" anchor="t" lIns="0" rIns="0" tIns="0" bIns="0">
            <a:spAutoFit/>
          </a:bodyPr>
          <a:lstStyle/>
          <a:p>
            <a:pPr algn="ctr"/>
            <a:r>
              <a:rPr sz="1600" b="0" i="1">
                <a:solidFill>
                  <a:srgbClr val="FFFFFF"/>
                </a:solidFill>
                <a:latin typeface="Calibri"/>
              </a:rPr>
              <a:t>“Placing an object outside the critical area does not guarantee non-interference with the ILS signal in space.” — FAA Order 6750.16E</a:t>
            </a:r>
          </a:p>
        </p:txBody>
      </p:sp>
      <p:sp>
        <p:nvSpPr>
          <p:cNvPr id="30" name="source-note"/>
          <p:cNvSpPr txBox="1"/>
          <p:nvPr/>
        </p:nvSpPr>
        <p:spPr>
          <a:xfrm>
            <a:off x="502920" y="6455664"/>
            <a:ext cx="11183112" cy="329184"/>
          </a:xfrm>
          <a:prstGeom prst="rect">
            <a:avLst/>
          </a:prstGeom>
          <a:noFill/>
        </p:spPr>
        <p:txBody>
          <a:bodyPr wrap="square" anchor="t" lIns="0" rIns="0" tIns="0" bIns="0">
            <a:spAutoFit/>
          </a:bodyPr>
          <a:lstStyle/>
          <a:p>
            <a:pPr algn="l"/>
            <a:r>
              <a:rPr sz="1000" b="0" i="0">
                <a:solidFill>
                  <a:srgbClr val="EDF3F6"/>
                </a:solidFill>
                <a:latin typeface="Calibri"/>
              </a:rPr>
              <a:t>Schematic, not to scale. Sources: FAA AIM § 7-6-16 (Change 3, Sept. 5, 2024); FAA AC 150/5200-33C; FAA Order 6750.16E (Apr. 10, 2014).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325880"/>
          </a:xfrm>
          <a:prstGeom prst="rect">
            <a:avLst/>
          </a:prstGeom>
          <a:noFill/>
        </p:spPr>
        <p:txBody>
          <a:bodyPr wrap="square" anchor="t" lIns="0" rIns="0" tIns="0" bIns="0">
            <a:spAutoFit/>
          </a:bodyPr>
          <a:lstStyle/>
          <a:p>
            <a:pPr algn="l"/>
            <a:r>
              <a:rPr sz="3500" b="1" i="0">
                <a:solidFill>
                  <a:srgbClr val="FFFFFF"/>
                </a:solidFill>
                <a:latin typeface="Georgia"/>
              </a:rPr>
              <a:t>The FAA has already called this hazard class incompatible — and it holds the enforcement pen.</a:t>
            </a:r>
          </a:p>
        </p:txBody>
      </p:sp>
      <p:grpSp>
        <p:nvGrpSpPr>
          <p:cNvPr id="3" name="authority-stack" descr="Two-column authority stack: FAA precedent findings on thermal plume hazards beside the FAA's independent enforcement hooks over this project."/>
          <p:cNvGrpSpPr/>
          <p:nvPr/>
        </p:nvGrpSpPr>
        <p:grpSpPr>
          <a:xfrm>
            <a:off x="502920" y="1874519"/>
            <a:ext cx="11155680" cy="3520441"/>
            <a:chOff x="502920" y="1874519"/>
            <a:chExt cx="11155680" cy="3520441"/>
          </a:xfrm>
        </p:grpSpPr>
        <p:sp>
          <p:nvSpPr>
            <p:cNvPr id="4" name="hdr-PRECEDENT"/>
            <p:cNvSpPr txBox="1"/>
            <p:nvPr/>
          </p:nvSpPr>
          <p:spPr>
            <a:xfrm>
              <a:off x="502920" y="1874519"/>
              <a:ext cx="5303520" cy="384048"/>
            </a:xfrm>
            <a:prstGeom prst="rect">
              <a:avLst/>
            </a:prstGeom>
            <a:noFill/>
          </p:spPr>
          <p:txBody>
            <a:bodyPr wrap="square" anchor="t" lIns="0" rIns="0" tIns="0" bIns="0">
              <a:spAutoFit/>
            </a:bodyPr>
            <a:lstStyle/>
            <a:p>
              <a:pPr algn="l"/>
              <a:r>
                <a:rPr sz="2000" b="1" i="0">
                  <a:solidFill>
                    <a:srgbClr val="D4A24C"/>
                  </a:solidFill>
                  <a:latin typeface="Calibri"/>
                </a:rPr>
                <a:t>PRECEDENT</a:t>
              </a:r>
            </a:p>
          </p:txBody>
        </p:sp>
        <p:cxnSp>
          <p:nvCxnSpPr>
            <p:cNvPr id="5" name="rule-PRECEDENT"/>
            <p:cNvCxnSpPr/>
            <p:nvPr/>
          </p:nvCxnSpPr>
          <p:spPr>
            <a:xfrm>
              <a:off x="502920" y="2304288"/>
              <a:ext cx="5303520"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6" name="entry-PRECEDENT-0"/>
            <p:cNvSpPr txBox="1"/>
            <p:nvPr/>
          </p:nvSpPr>
          <p:spPr>
            <a:xfrm>
              <a:off x="548640" y="2542032"/>
              <a:ext cx="5212080" cy="731520"/>
            </a:xfrm>
            <a:prstGeom prst="rect">
              <a:avLst/>
            </a:prstGeom>
            <a:noFill/>
          </p:spPr>
          <p:txBody>
            <a:bodyPr wrap="square" anchor="t" lIns="0" rIns="0" tIns="0" bIns="0">
              <a:spAutoFit/>
            </a:bodyPr>
            <a:lstStyle/>
            <a:p>
              <a:pPr algn="l"/>
              <a:r>
                <a:rPr sz="1700" b="0" i="0">
                  <a:solidFill>
                    <a:srgbClr val="FFFFFF"/>
                  </a:solidFill>
                  <a:latin typeface="Calibri"/>
                </a:rPr>
                <a:t>Thermal plumes “incompatible with airport operations” — FAA guidance, 2015</a:t>
              </a:r>
            </a:p>
          </p:txBody>
        </p:sp>
        <p:cxnSp>
          <p:nvCxnSpPr>
            <p:cNvPr id="7" name="sep-PRECEDENT-0"/>
            <p:cNvCxnSpPr/>
            <p:nvPr/>
          </p:nvCxnSpPr>
          <p:spPr>
            <a:xfrm>
              <a:off x="548640" y="3383279"/>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8" name="entry-PRECEDENT-1"/>
            <p:cNvSpPr txBox="1"/>
            <p:nvPr/>
          </p:nvSpPr>
          <p:spPr>
            <a:xfrm>
              <a:off x="548640" y="3602735"/>
              <a:ext cx="5212080" cy="731520"/>
            </a:xfrm>
            <a:prstGeom prst="rect">
              <a:avLst/>
            </a:prstGeom>
            <a:noFill/>
          </p:spPr>
          <p:txBody>
            <a:bodyPr wrap="square" anchor="t" lIns="0" rIns="0" tIns="0" bIns="0">
              <a:spAutoFit/>
            </a:bodyPr>
            <a:lstStyle/>
            <a:p>
              <a:pPr algn="l"/>
              <a:r>
                <a:rPr sz="1700" b="0" i="0">
                  <a:solidFill>
                    <a:srgbClr val="FFFFFF"/>
                  </a:solidFill>
                  <a:latin typeface="Calibri"/>
                </a:rPr>
                <a:t>Cooling-tower plumes a hazard to Long Beach departures — Puente docket</a:t>
              </a:r>
            </a:p>
          </p:txBody>
        </p:sp>
        <p:sp>
          <p:nvSpPr>
            <p:cNvPr id="9" name="hdr-ENFORCEMENT"/>
            <p:cNvSpPr txBox="1"/>
            <p:nvPr/>
          </p:nvSpPr>
          <p:spPr>
            <a:xfrm>
              <a:off x="6355080" y="1874519"/>
              <a:ext cx="5303520" cy="384048"/>
            </a:xfrm>
            <a:prstGeom prst="rect">
              <a:avLst/>
            </a:prstGeom>
            <a:noFill/>
          </p:spPr>
          <p:txBody>
            <a:bodyPr wrap="square" anchor="t" lIns="0" rIns="0" tIns="0" bIns="0">
              <a:spAutoFit/>
            </a:bodyPr>
            <a:lstStyle/>
            <a:p>
              <a:pPr algn="l"/>
              <a:r>
                <a:rPr sz="2000" b="1" i="0">
                  <a:solidFill>
                    <a:srgbClr val="D4A24C"/>
                  </a:solidFill>
                  <a:latin typeface="Calibri"/>
                </a:rPr>
                <a:t>ENFORCEMENT</a:t>
              </a:r>
            </a:p>
          </p:txBody>
        </p:sp>
        <p:cxnSp>
          <p:nvCxnSpPr>
            <p:cNvPr id="10" name="rule-ENFORCEMENT"/>
            <p:cNvCxnSpPr/>
            <p:nvPr/>
          </p:nvCxnSpPr>
          <p:spPr>
            <a:xfrm>
              <a:off x="6355080" y="2304288"/>
              <a:ext cx="5303520"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1" name="entry-ENFORCEMENT-0"/>
            <p:cNvSpPr txBox="1"/>
            <p:nvPr/>
          </p:nvSpPr>
          <p:spPr>
            <a:xfrm>
              <a:off x="6400800" y="2542032"/>
              <a:ext cx="5212080" cy="731520"/>
            </a:xfrm>
            <a:prstGeom prst="rect">
              <a:avLst/>
            </a:prstGeom>
            <a:noFill/>
          </p:spPr>
          <p:txBody>
            <a:bodyPr wrap="square" anchor="t" lIns="0" rIns="0" tIns="0" bIns="0">
              <a:spAutoFit/>
            </a:bodyPr>
            <a:lstStyle/>
            <a:p>
              <a:pPr algn="l"/>
              <a:r>
                <a:rPr sz="1700" b="0" i="0">
                  <a:solidFill>
                    <a:srgbClr val="FFFFFF"/>
                  </a:solidFill>
                  <a:latin typeface="Calibri"/>
                </a:rPr>
                <a:t>Section 743 preserves FAA review: aircraft safety, ground safety, federal investment</a:t>
              </a:r>
            </a:p>
          </p:txBody>
        </p:sp>
        <p:cxnSp>
          <p:nvCxnSpPr>
            <p:cNvPr id="12" name="sep-ENFORCEMENT-0"/>
            <p:cNvCxnSpPr/>
            <p:nvPr/>
          </p:nvCxnSpPr>
          <p:spPr>
            <a:xfrm>
              <a:off x="6400800" y="3383279"/>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13" name="entry-ENFORCEMENT-1"/>
            <p:cNvSpPr txBox="1"/>
            <p:nvPr/>
          </p:nvSpPr>
          <p:spPr>
            <a:xfrm>
              <a:off x="6400800" y="3602735"/>
              <a:ext cx="5212080" cy="731520"/>
            </a:xfrm>
            <a:prstGeom prst="rect">
              <a:avLst/>
            </a:prstGeom>
            <a:noFill/>
          </p:spPr>
          <p:txBody>
            <a:bodyPr wrap="square" anchor="t" lIns="0" rIns="0" tIns="0" bIns="0">
              <a:spAutoFit/>
            </a:bodyPr>
            <a:lstStyle/>
            <a:p>
              <a:pPr algn="l"/>
              <a:r>
                <a:rPr sz="1700" b="0" i="0">
                  <a:solidFill>
                    <a:srgbClr val="FFFFFF"/>
                  </a:solidFill>
                  <a:latin typeface="Calibri"/>
                </a:rPr>
                <a:t>Grant Assurances 19, 20, 29 attach independently</a:t>
              </a:r>
            </a:p>
          </p:txBody>
        </p:sp>
        <p:cxnSp>
          <p:nvCxnSpPr>
            <p:cNvPr id="14" name="sep-ENFORCEMENT-1"/>
            <p:cNvCxnSpPr/>
            <p:nvPr/>
          </p:nvCxnSpPr>
          <p:spPr>
            <a:xfrm>
              <a:off x="6400800" y="4443983"/>
              <a:ext cx="5212080" cy="0"/>
            </a:xfrm>
            <a:prstGeom prst="line">
              <a:avLst/>
            </a:prstGeom>
            <a:ln w="12700">
              <a:solidFill>
                <a:srgbClr val="415669"/>
              </a:solidFill>
            </a:ln>
            <a:effectLst/>
          </p:spPr>
          <p:style>
            <a:lnRef idx="2">
              <a:schemeClr val="accent1"/>
            </a:lnRef>
            <a:fillRef idx="0">
              <a:schemeClr val="accent1"/>
            </a:fillRef>
            <a:effectRef idx="1">
              <a:schemeClr val="accent1"/>
            </a:effectRef>
            <a:fontRef idx="minor">
              <a:schemeClr val="tx1"/>
            </a:fontRef>
          </p:style>
        </p:cxnSp>
        <p:sp>
          <p:nvSpPr>
            <p:cNvPr id="15" name="entry-ENFORCEMENT-2"/>
            <p:cNvSpPr txBox="1"/>
            <p:nvPr/>
          </p:nvSpPr>
          <p:spPr>
            <a:xfrm>
              <a:off x="6400800" y="4663440"/>
              <a:ext cx="5212080" cy="731520"/>
            </a:xfrm>
            <a:prstGeom prst="rect">
              <a:avLst/>
            </a:prstGeom>
            <a:noFill/>
          </p:spPr>
          <p:txBody>
            <a:bodyPr wrap="square" anchor="t" lIns="0" rIns="0" tIns="0" bIns="0">
              <a:spAutoFit/>
            </a:bodyPr>
            <a:lstStyle/>
            <a:p>
              <a:pPr algn="l"/>
              <a:r>
                <a:rPr sz="1700" b="0" i="0">
                  <a:solidFill>
                    <a:srgbClr val="FFFFFF"/>
                  </a:solidFill>
                  <a:latin typeface="Calibri"/>
                </a:rPr>
                <a:t>14 CFR Part 16: penalties up to 3x diverted revenue</a:t>
              </a:r>
            </a:p>
          </p:txBody>
        </p:sp>
      </p:grpSp>
      <p:sp>
        <p:nvSpPr>
          <p:cNvPr id="16" name="source-note"/>
          <p:cNvSpPr txBox="1"/>
          <p:nvPr/>
        </p:nvSpPr>
        <p:spPr>
          <a:xfrm>
            <a:off x="502920" y="6327648"/>
            <a:ext cx="11183112" cy="475488"/>
          </a:xfrm>
          <a:prstGeom prst="rect">
            <a:avLst/>
          </a:prstGeom>
          <a:noFill/>
        </p:spPr>
        <p:txBody>
          <a:bodyPr wrap="square" anchor="t" lIns="0" rIns="0" tIns="0" bIns="0">
            <a:spAutoFit/>
          </a:bodyPr>
          <a:lstStyle/>
          <a:p>
            <a:pPr algn="l"/>
            <a:r>
              <a:rPr sz="1000" b="0" i="0">
                <a:solidFill>
                  <a:srgbClr val="EDF3F6"/>
                </a:solidFill>
                <a:latin typeface="Calibri"/>
              </a:rPr>
              <a:t>Sources: FAA Technical Guidance Memorandum, Sept. 24, 2015; CEC Docket 15-AFC-01; FAA Reauthorization Act of 2024 § 743; FAA Airport Sponsor Assurances, Apr. 2025; 14 CFR Part 16; 49 U.S.C. § 46301(a)(3).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280160"/>
          </a:xfrm>
          <a:prstGeom prst="rect">
            <a:avLst/>
          </a:prstGeom>
          <a:noFill/>
        </p:spPr>
        <p:txBody>
          <a:bodyPr wrap="square" anchor="t" lIns="0" rIns="0" tIns="0" bIns="0">
            <a:spAutoFit/>
          </a:bodyPr>
          <a:lstStyle/>
          <a:p>
            <a:pPr algn="l"/>
            <a:r>
              <a:rPr sz="3500" b="1" i="0">
                <a:solidFill>
                  <a:srgbClr val="FFFFFF"/>
                </a:solidFill>
                <a:latin typeface="Georgia"/>
              </a:rPr>
              <a:t>MWAA's own data-center precedent argues for a different parcel, not this one.</a:t>
            </a:r>
          </a:p>
        </p:txBody>
      </p:sp>
      <p:grpSp>
        <p:nvGrpSpPr>
          <p:cNvPr id="3" name="site-comparison" descr="Side-by-side comparison: the 2018 Western Lands data-center sale sat outside the approach surfaces and went through FAA process; the proposed site sits inside the surfaces with no FAA coordination and is not on the approved ALP."/>
          <p:cNvGrpSpPr/>
          <p:nvPr/>
        </p:nvGrpSpPr>
        <p:grpSpPr>
          <a:xfrm>
            <a:off x="502920" y="1783080"/>
            <a:ext cx="11183112" cy="4178808"/>
            <a:chOff x="502920" y="1783080"/>
            <a:chExt cx="11183112" cy="4178808"/>
          </a:xfrm>
        </p:grpSpPr>
        <p:sp>
          <p:nvSpPr>
            <p:cNvPr id="4" name="panel-hdr-2018 Western Lands"/>
            <p:cNvSpPr/>
            <p:nvPr/>
          </p:nvSpPr>
          <p:spPr>
            <a:xfrm>
              <a:off x="502920" y="1783080"/>
              <a:ext cx="5349240" cy="502920"/>
            </a:xfrm>
            <a:prstGeom prst="rect">
              <a:avLst/>
            </a:prstGeom>
            <a:solidFill>
              <a:srgbClr val="2474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52400" rIns="50800" tIns="25400" bIns="25400" wrap="square"/>
            <a:lstStyle/>
            <a:p>
              <a:pPr algn="l"/>
              <a:r>
                <a:rPr sz="1800" b="1">
                  <a:solidFill>
                    <a:srgbClr val="FFFFFF"/>
                  </a:solidFill>
                  <a:latin typeface="Calibri"/>
                </a:rPr>
                <a:t>2018 Western Lands</a:t>
              </a:r>
            </a:p>
          </p:txBody>
        </p:sp>
        <p:sp>
          <p:nvSpPr>
            <p:cNvPr id="5" name="panel-body-2018 Western Lands"/>
            <p:cNvSpPr/>
            <p:nvPr/>
          </p:nvSpPr>
          <p:spPr>
            <a:xfrm>
              <a:off x="502920" y="2286000"/>
              <a:ext cx="5349240" cy="269748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t" lIns="152400" rIns="152400" tIns="177800" bIns="25400" wrap="square"/>
            <a:lstStyle/>
            <a:p>
              <a:pPr algn="l">
                <a:spcAft>
                  <a:spcPts val="1200"/>
                </a:spcAft>
              </a:pPr>
              <a:r>
                <a:rPr sz="1700">
                  <a:solidFill>
                    <a:srgbClr val="FFFFFF"/>
                  </a:solidFill>
                  <a:latin typeface="Calibri"/>
                </a:rPr>
                <a:t>424 acres to Digital Realty</a:t>
              </a:r>
            </a:p>
            <a:p>
              <a:pPr algn="l">
                <a:spcAft>
                  <a:spcPts val="1200"/>
                </a:spcAft>
              </a:pPr>
              <a:r>
                <a:rPr sz="1700">
                  <a:solidFill>
                    <a:srgbClr val="FFFFFF"/>
                  </a:solidFill>
                  <a:latin typeface="Calibri"/>
                </a:rPr>
                <a:t>ALP change subject to NEPA</a:t>
              </a:r>
            </a:p>
            <a:p>
              <a:pPr algn="l">
                <a:spcAft>
                  <a:spcPts val="1200"/>
                </a:spcAft>
              </a:pPr>
              <a:r>
                <a:rPr sz="1700">
                  <a:solidFill>
                    <a:srgbClr val="FFFFFF"/>
                  </a:solidFill>
                  <a:latin typeface="Calibri"/>
                </a:rPr>
                <a:t>Environmental Assessment in preparation</a:t>
              </a:r>
            </a:p>
          </p:txBody>
        </p:sp>
        <p:sp>
          <p:nvSpPr>
            <p:cNvPr id="6" name="panel-hdr-Proposed site"/>
            <p:cNvSpPr/>
            <p:nvPr/>
          </p:nvSpPr>
          <p:spPr>
            <a:xfrm>
              <a:off x="6336792" y="1783080"/>
              <a:ext cx="5349240" cy="502920"/>
            </a:xfrm>
            <a:prstGeom prst="rect">
              <a:avLst/>
            </a:prstGeom>
            <a:solidFill>
              <a:srgbClr val="A6413A"/>
            </a:solidFill>
            <a:ln>
              <a:noFill/>
            </a:ln>
            <a:effectLst/>
          </p:spPr>
          <p:style>
            <a:lnRef idx="1">
              <a:schemeClr val="accent1"/>
            </a:lnRef>
            <a:fillRef idx="3">
              <a:schemeClr val="accent1"/>
            </a:fillRef>
            <a:effectRef idx="2">
              <a:schemeClr val="accent1"/>
            </a:effectRef>
            <a:fontRef idx="minor">
              <a:schemeClr val="lt1"/>
            </a:fontRef>
          </p:style>
          <p:txBody>
            <a:bodyPr rtlCol="0" anchor="ctr" lIns="152400" rIns="50800" tIns="25400" bIns="25400" wrap="square"/>
            <a:lstStyle/>
            <a:p>
              <a:pPr algn="l"/>
              <a:r>
                <a:rPr sz="1800" b="1">
                  <a:solidFill>
                    <a:srgbClr val="FFFFFF"/>
                  </a:solidFill>
                  <a:latin typeface="Calibri"/>
                </a:rPr>
                <a:t>Proposed site</a:t>
              </a:r>
            </a:p>
          </p:txBody>
        </p:sp>
        <p:sp>
          <p:nvSpPr>
            <p:cNvPr id="7" name="panel-body-Proposed site"/>
            <p:cNvSpPr/>
            <p:nvPr/>
          </p:nvSpPr>
          <p:spPr>
            <a:xfrm>
              <a:off x="6336792" y="2286000"/>
              <a:ext cx="5349240" cy="269748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t" lIns="152400" rIns="152400" tIns="177800" bIns="25400" wrap="square"/>
            <a:lstStyle/>
            <a:p>
              <a:pPr algn="l">
                <a:spcAft>
                  <a:spcPts val="1200"/>
                </a:spcAft>
              </a:pPr>
              <a:r>
                <a:rPr sz="1700">
                  <a:solidFill>
                    <a:srgbClr val="FFFFFF"/>
                  </a:solidFill>
                  <a:latin typeface="Calibri"/>
                </a:rPr>
                <a:t>Inside the 1L approach and 19R departure surfaces</a:t>
              </a:r>
            </a:p>
            <a:p>
              <a:pPr algn="l">
                <a:spcAft>
                  <a:spcPts val="1200"/>
                </a:spcAft>
              </a:pPr>
              <a:r>
                <a:rPr sz="1700">
                  <a:solidFill>
                    <a:srgbClr val="FFFFFF"/>
                  </a:solidFill>
                  <a:latin typeface="Calibri"/>
                </a:rPr>
                <a:t>Aircraft-safety test is implicated</a:t>
              </a:r>
            </a:p>
            <a:p>
              <a:pPr algn="l">
                <a:spcAft>
                  <a:spcPts val="1200"/>
                </a:spcAft>
              </a:pPr>
              <a:r>
                <a:rPr sz="1700">
                  <a:solidFill>
                    <a:srgbClr val="FFFFFF"/>
                  </a:solidFill>
                  <a:latin typeface="Calibri"/>
                </a:rPr>
                <a:t>Federal-investment test is implicated</a:t>
              </a:r>
            </a:p>
          </p:txBody>
        </p:sp>
        <p:sp>
          <p:nvSpPr>
            <p:cNvPr id="8" name="section-743-bar"/>
            <p:cNvSpPr/>
            <p:nvPr/>
          </p:nvSpPr>
          <p:spPr>
            <a:xfrm>
              <a:off x="502920" y="5230368"/>
              <a:ext cx="11183112" cy="731520"/>
            </a:xfrm>
            <a:prstGeom prst="rect">
              <a:avLst/>
            </a:prstGeom>
            <a:noFill/>
            <a:ln w="22225">
              <a:solidFill>
                <a:srgbClr val="D4A24C"/>
              </a:solid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wrap="square"/>
            <a:lstStyle/>
            <a:p>
              <a:pPr algn="ctr"/>
              <a:r>
                <a:rPr sz="1700" b="0">
                  <a:solidFill>
                    <a:srgbClr val="FFFFFF"/>
                  </a:solidFill>
                  <a:latin typeface="Calibri"/>
                </a:rPr>
                <a:t>Section 743 preserves FAA review on safety and federal investment — assume review; do not lean on the 45-day window.</a:t>
              </a:r>
            </a:p>
          </p:txBody>
        </p:sp>
      </p:grpSp>
      <p:sp>
        <p:nvSpPr>
          <p:cNvPr id="9" name="source-note"/>
          <p:cNvSpPr txBox="1"/>
          <p:nvPr/>
        </p:nvSpPr>
        <p:spPr>
          <a:xfrm>
            <a:off x="502920" y="6382512"/>
            <a:ext cx="11183112" cy="365760"/>
          </a:xfrm>
          <a:prstGeom prst="rect">
            <a:avLst/>
          </a:prstGeom>
          <a:noFill/>
        </p:spPr>
        <p:txBody>
          <a:bodyPr wrap="square" anchor="t" lIns="0" rIns="0" tIns="0" bIns="0">
            <a:spAutoFit/>
          </a:bodyPr>
          <a:lstStyle/>
          <a:p>
            <a:pPr algn="l"/>
            <a:r>
              <a:rPr sz="1000" b="0" i="0">
                <a:solidFill>
                  <a:srgbClr val="EDF3F6"/>
                </a:solidFill>
                <a:latin typeface="Calibri"/>
              </a:rPr>
              <a:t>Sources: MWAA Western Lands release, 2018; FAA Reauthorization Act of 2024 § 743; FAA ALP Preliminary Instructions Memorandum, Oct. 3,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4D"/>
        </a:solidFill>
        <a:effectLst/>
      </p:bgPr>
    </p:bg>
    <p:spTree>
      <p:nvGrpSpPr>
        <p:cNvPr id="1" name=""/>
        <p:cNvGrpSpPr/>
        <p:nvPr/>
      </p:nvGrpSpPr>
      <p:grpSpPr/>
      <p:sp>
        <p:nvSpPr>
          <p:cNvPr id="2" name="slide-title"/>
          <p:cNvSpPr txBox="1"/>
          <p:nvPr/>
        </p:nvSpPr>
        <p:spPr>
          <a:xfrm>
            <a:off x="502920" y="256032"/>
            <a:ext cx="11183112" cy="1325880"/>
          </a:xfrm>
          <a:prstGeom prst="rect">
            <a:avLst/>
          </a:prstGeom>
          <a:noFill/>
        </p:spPr>
        <p:txBody>
          <a:bodyPr wrap="square" anchor="t" lIns="0" rIns="0" tIns="0" bIns="0">
            <a:spAutoFit/>
          </a:bodyPr>
          <a:lstStyle/>
          <a:p>
            <a:pPr algn="l"/>
            <a:r>
              <a:rPr sz="3500" b="1" i="0">
                <a:solidFill>
                  <a:srgbClr val="FFFFFF"/>
                </a:solidFill>
                <a:latin typeface="Georgia"/>
              </a:rPr>
              <a:t>Halt, file the 7460-1, and move the deal — the aeronautical study governs, not the lease.</a:t>
            </a:r>
          </a:p>
        </p:txBody>
      </p:sp>
      <p:grpSp>
        <p:nvGrpSpPr>
          <p:cNvPr id="3" name="action-sequence" descr="Four sequenced actions with owners: halt advancement, file Form 7460-1, move the deal to non-aeronautical zones, and route Grant Assurance exposure to General Counsel."/>
          <p:cNvGrpSpPr/>
          <p:nvPr/>
        </p:nvGrpSpPr>
        <p:grpSpPr>
          <a:xfrm>
            <a:off x="502920" y="2011680"/>
            <a:ext cx="11173968" cy="3246120"/>
            <a:chOff x="502920" y="2011680"/>
            <a:chExt cx="11173968" cy="3246120"/>
          </a:xfrm>
        </p:grpSpPr>
        <p:sp>
          <p:nvSpPr>
            <p:cNvPr id="4" name="step-1"/>
            <p:cNvSpPr/>
            <p:nvPr/>
          </p:nvSpPr>
          <p:spPr>
            <a:xfrm>
              <a:off x="50292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5" name="step-1-num"/>
            <p:cNvSpPr txBox="1"/>
            <p:nvPr/>
          </p:nvSpPr>
          <p:spPr>
            <a:xfrm>
              <a:off x="66751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1</a:t>
              </a:r>
            </a:p>
          </p:txBody>
        </p:sp>
        <p:sp>
          <p:nvSpPr>
            <p:cNvPr id="6" name="step-1-action"/>
            <p:cNvSpPr txBox="1"/>
            <p:nvPr/>
          </p:nvSpPr>
          <p:spPr>
            <a:xfrm>
              <a:off x="66751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Halt advancement pending FAA coordination</a:t>
              </a:r>
            </a:p>
          </p:txBody>
        </p:sp>
        <p:cxnSp>
          <p:nvCxnSpPr>
            <p:cNvPr id="7" name="step-1-rule"/>
            <p:cNvCxnSpPr/>
            <p:nvPr/>
          </p:nvCxnSpPr>
          <p:spPr>
            <a:xfrm>
              <a:off x="66751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8" name="step-1-owner"/>
            <p:cNvSpPr txBox="1"/>
            <p:nvPr/>
          </p:nvSpPr>
          <p:spPr>
            <a:xfrm>
              <a:off x="66751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PLANNING</a:t>
              </a:r>
            </a:p>
          </p:txBody>
        </p:sp>
        <p:sp>
          <p:nvSpPr>
            <p:cNvPr id="9" name="step-2"/>
            <p:cNvSpPr/>
            <p:nvPr/>
          </p:nvSpPr>
          <p:spPr>
            <a:xfrm>
              <a:off x="333756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0" name="step-2-num"/>
            <p:cNvSpPr txBox="1"/>
            <p:nvPr/>
          </p:nvSpPr>
          <p:spPr>
            <a:xfrm>
              <a:off x="350215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2</a:t>
              </a:r>
            </a:p>
          </p:txBody>
        </p:sp>
        <p:sp>
          <p:nvSpPr>
            <p:cNvPr id="11" name="step-2-action"/>
            <p:cNvSpPr txBox="1"/>
            <p:nvPr/>
          </p:nvSpPr>
          <p:spPr>
            <a:xfrm>
              <a:off x="350215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File Form 7460-1; require a No Hazard determination</a:t>
              </a:r>
            </a:p>
          </p:txBody>
        </p:sp>
        <p:cxnSp>
          <p:nvCxnSpPr>
            <p:cNvPr id="12" name="step-2-rule"/>
            <p:cNvCxnSpPr/>
            <p:nvPr/>
          </p:nvCxnSpPr>
          <p:spPr>
            <a:xfrm>
              <a:off x="350215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3" name="step-2-owner"/>
            <p:cNvSpPr txBox="1"/>
            <p:nvPr/>
          </p:nvSpPr>
          <p:spPr>
            <a:xfrm>
              <a:off x="350215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PLANNING</a:t>
              </a:r>
            </a:p>
          </p:txBody>
        </p:sp>
        <p:sp>
          <p:nvSpPr>
            <p:cNvPr id="14" name="step-3"/>
            <p:cNvSpPr/>
            <p:nvPr/>
          </p:nvSpPr>
          <p:spPr>
            <a:xfrm>
              <a:off x="617220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15" name="step-3-num"/>
            <p:cNvSpPr txBox="1"/>
            <p:nvPr/>
          </p:nvSpPr>
          <p:spPr>
            <a:xfrm>
              <a:off x="633679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3</a:t>
              </a:r>
            </a:p>
          </p:txBody>
        </p:sp>
        <p:sp>
          <p:nvSpPr>
            <p:cNvPr id="16" name="step-3-action"/>
            <p:cNvSpPr txBox="1"/>
            <p:nvPr/>
          </p:nvSpPr>
          <p:spPr>
            <a:xfrm>
              <a:off x="633679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Move the deal to master-plan non-aeronautical zones</a:t>
              </a:r>
            </a:p>
          </p:txBody>
        </p:sp>
        <p:cxnSp>
          <p:nvCxnSpPr>
            <p:cNvPr id="17" name="step-3-rule"/>
            <p:cNvCxnSpPr/>
            <p:nvPr/>
          </p:nvCxnSpPr>
          <p:spPr>
            <a:xfrm>
              <a:off x="633679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18" name="step-3-owner"/>
            <p:cNvSpPr txBox="1"/>
            <p:nvPr/>
          </p:nvSpPr>
          <p:spPr>
            <a:xfrm>
              <a:off x="633679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COMMERCIAL REAL ESTATE</a:t>
              </a:r>
            </a:p>
          </p:txBody>
        </p:sp>
        <p:sp>
          <p:nvSpPr>
            <p:cNvPr id="19" name="step-4"/>
            <p:cNvSpPr/>
            <p:nvPr/>
          </p:nvSpPr>
          <p:spPr>
            <a:xfrm>
              <a:off x="9006840" y="2011680"/>
              <a:ext cx="2670048" cy="3246120"/>
            </a:xfrm>
            <a:prstGeom prst="rect">
              <a:avLst/>
            </a:prstGeom>
            <a:solidFill>
              <a:srgbClr val="143F63"/>
            </a:solidFill>
            <a:ln>
              <a:noFill/>
            </a:ln>
            <a:effectLst/>
          </p:spPr>
          <p:style>
            <a:lnRef idx="1">
              <a:schemeClr val="accent1"/>
            </a:lnRef>
            <a:fillRef idx="3">
              <a:schemeClr val="accent1"/>
            </a:fillRef>
            <a:effectRef idx="2">
              <a:schemeClr val="accent1"/>
            </a:effectRef>
            <a:fontRef idx="minor">
              <a:schemeClr val="lt1"/>
            </a:fontRef>
          </p:style>
          <p:txBody>
            <a:bodyPr rtlCol="0" anchor="ctr" lIns="50800" rIns="50800" tIns="25400" bIns="25400"/>
            <a:lstStyle/>
            <a:p>
              <a:pPr algn="ctr"/>
            </a:p>
          </p:txBody>
        </p:sp>
        <p:sp>
          <p:nvSpPr>
            <p:cNvPr id="20" name="step-4-num"/>
            <p:cNvSpPr txBox="1"/>
            <p:nvPr/>
          </p:nvSpPr>
          <p:spPr>
            <a:xfrm>
              <a:off x="9171432" y="2176272"/>
              <a:ext cx="2340864" cy="640080"/>
            </a:xfrm>
            <a:prstGeom prst="rect">
              <a:avLst/>
            </a:prstGeom>
            <a:noFill/>
          </p:spPr>
          <p:txBody>
            <a:bodyPr wrap="square" anchor="t" lIns="0" rIns="0" tIns="0" bIns="0">
              <a:spAutoFit/>
            </a:bodyPr>
            <a:lstStyle/>
            <a:p>
              <a:pPr algn="l"/>
              <a:r>
                <a:rPr sz="4000" b="1" i="0">
                  <a:solidFill>
                    <a:srgbClr val="D4A24C"/>
                  </a:solidFill>
                  <a:latin typeface="Georgia"/>
                </a:rPr>
                <a:t>4</a:t>
              </a:r>
            </a:p>
          </p:txBody>
        </p:sp>
        <p:sp>
          <p:nvSpPr>
            <p:cNvPr id="21" name="step-4-action"/>
            <p:cNvSpPr txBox="1"/>
            <p:nvPr/>
          </p:nvSpPr>
          <p:spPr>
            <a:xfrm>
              <a:off x="9171432" y="2926080"/>
              <a:ext cx="2340864" cy="1417320"/>
            </a:xfrm>
            <a:prstGeom prst="rect">
              <a:avLst/>
            </a:prstGeom>
            <a:noFill/>
          </p:spPr>
          <p:txBody>
            <a:bodyPr wrap="square" anchor="t" lIns="0" rIns="0" tIns="0" bIns="0">
              <a:spAutoFit/>
            </a:bodyPr>
            <a:lstStyle/>
            <a:p>
              <a:pPr algn="l"/>
              <a:r>
                <a:rPr sz="1700" b="0" i="0">
                  <a:solidFill>
                    <a:srgbClr val="FFFFFF"/>
                  </a:solidFill>
                  <a:latin typeface="Calibri"/>
                </a:rPr>
                <a:t>Route Grant Assurance exposure; ALP re-enters the master plan</a:t>
              </a:r>
            </a:p>
          </p:txBody>
        </p:sp>
        <p:cxnSp>
          <p:nvCxnSpPr>
            <p:cNvPr id="22" name="step-4-rule"/>
            <p:cNvCxnSpPr/>
            <p:nvPr/>
          </p:nvCxnSpPr>
          <p:spPr>
            <a:xfrm>
              <a:off x="9171432" y="4526280"/>
              <a:ext cx="841248" cy="0"/>
            </a:xfrm>
            <a:prstGeom prst="line">
              <a:avLst/>
            </a:prstGeom>
            <a:ln w="25400">
              <a:solidFill>
                <a:srgbClr val="D4A24C"/>
              </a:solidFill>
            </a:ln>
            <a:effectLst/>
          </p:spPr>
          <p:style>
            <a:lnRef idx="2">
              <a:schemeClr val="accent1"/>
            </a:lnRef>
            <a:fillRef idx="0">
              <a:schemeClr val="accent1"/>
            </a:fillRef>
            <a:effectRef idx="1">
              <a:schemeClr val="accent1"/>
            </a:effectRef>
            <a:fontRef idx="minor">
              <a:schemeClr val="tx1"/>
            </a:fontRef>
          </p:style>
        </p:cxnSp>
        <p:sp>
          <p:nvSpPr>
            <p:cNvPr id="23" name="step-4-owner"/>
            <p:cNvSpPr txBox="1"/>
            <p:nvPr/>
          </p:nvSpPr>
          <p:spPr>
            <a:xfrm>
              <a:off x="9171432" y="4626864"/>
              <a:ext cx="2340864" cy="566928"/>
            </a:xfrm>
            <a:prstGeom prst="rect">
              <a:avLst/>
            </a:prstGeom>
            <a:noFill/>
          </p:spPr>
          <p:txBody>
            <a:bodyPr wrap="square" anchor="t" lIns="0" rIns="0" tIns="0" bIns="0">
              <a:spAutoFit/>
            </a:bodyPr>
            <a:lstStyle/>
            <a:p>
              <a:pPr algn="l"/>
              <a:r>
                <a:rPr sz="1600" b="1" i="0">
                  <a:solidFill>
                    <a:srgbClr val="D4A24C"/>
                  </a:solidFill>
                  <a:latin typeface="Calibri"/>
                </a:rPr>
                <a:t>GENERAL COUNSEL</a:t>
              </a:r>
            </a:p>
          </p:txBody>
        </p:sp>
      </p:grpSp>
      <p:sp>
        <p:nvSpPr>
          <p:cNvPr id="24" name="source-note"/>
          <p:cNvSpPr txBox="1"/>
          <p:nvPr/>
        </p:nvSpPr>
        <p:spPr>
          <a:xfrm>
            <a:off x="502920" y="6419088"/>
            <a:ext cx="11183112" cy="329184"/>
          </a:xfrm>
          <a:prstGeom prst="rect">
            <a:avLst/>
          </a:prstGeom>
          <a:noFill/>
        </p:spPr>
        <p:txBody>
          <a:bodyPr wrap="square" anchor="t" lIns="0" rIns="0" tIns="0" bIns="0">
            <a:spAutoFit/>
          </a:bodyPr>
          <a:lstStyle/>
          <a:p>
            <a:pPr algn="l"/>
            <a:r>
              <a:rPr sz="1000" b="0" i="0">
                <a:solidFill>
                  <a:srgbClr val="EDF3F6"/>
                </a:solidFill>
                <a:latin typeface="Calibri"/>
              </a:rPr>
              <a:t>Sources: FAA OE/AAA process, 14 CFR Part 77 and Form 7460-1; FAA ALP SOP 2.00; FAA Airport Sponsor Assurances, Apr.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Center Concerns on Aircraft Approach — RWY 19R/1L, Dulles International</dc:title>
  <dc:subject/>
  <dc:creator>Transform Airports Council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