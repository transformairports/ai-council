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discipline up front: externally this is a communications-integrity standard, never a 'quiet airport' brand. The argument is that intelligibility, not silence, is the design objective.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Board question is not whether to fund a program — the capital is already committed or announced. It is whether to write the paragraph that governs how those square feet sound. The $20B+ figure stays hatched: provisional, not committed.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why the word 'quiet' stays internal. The recommendation survives politically only as the opposite of subtraction: engineered intelligibility with redundant channels.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fail these floors by being loud, reverberant, and cross-broadcast — precisely the condition an unspecified terminal defaults to. Every acoustic and PA-zoning requirement in the standard flows from this inversion.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lateral move, used once: indiscriminate broadcast was itself the safety failure, and the fix was governance with proof, not silence. That is what audit-logged announcement governance imports.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MWAA does not need to import their brand; it needs to out-engineer them. The merged 'none identified' cell is the honest core of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Borrow the operating model — zoned delivery, no cross-terminal final calls, gate-area retention. Treat the outcome numbers as SFO's own accounting. Announcement reduction without intelligibility engineering and channel redundancy is subtraction, not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Reducing broadcast without specifying redundant channels compounds exclusion — non-English speakers, travelers without smartphones, older adults, people with hearing, vision, cognitive, or sensory-processing differences. The floors are regulation numbers, not aspirations.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that does not survive the first Wednesday afternoon of gate holds will not be believed for the Wednesday it was written for. The override with audit trail is what makes operations sign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owner and approval path are stated as the draft's proposal, not verified authority — say so aloud. The verification steps are inside the ask, not after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The two data points are the only reported values; the designer must not interpolate a smooth annual series.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Do not print a ratio ('3x cheaper') — the draft deliberately says 'a fraction' because the benchmarks are non-airport and directional.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Do not print a DCA 2025 passenger total — the reader-citable draft states the decline without numbers, and the deck must match the draft.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Nobody claims today's Design Manual reaches the podium microphone; the argument is that the amendment, once verified against the AUL, should be written to reach it, with carriers briefed early and cost-recovery position in writing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The Terminal 1 choice is conditional and the deck must show the condition, not resolve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This is the technical detail that separates the standard from paper: acceptance under representative traffic, with the cure period keeping it off the occupancy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Intellectual honesty is the tone contract: the objection gets stated at full strength before the rebuttal.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page. Ending the packet on the unverified list is deliberate — it converts the gaps into the first 90 days of assigned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ver-field"/>
          <p:cNvSpPr/>
          <p:nvPr/>
        </p:nvSpPr>
        <p:spPr>
          <a:xfrm>
            <a:off x="0" y="0"/>
            <a:ext cx="12191695" cy="685800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rule"/>
          <p:cNvSpPr/>
          <p:nvPr/>
        </p:nvSpPr>
        <p:spPr>
          <a:xfrm>
            <a:off x="914400" y="1938528"/>
            <a:ext cx="2011680" cy="54864"/>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01-title"/>
          <p:cNvSpPr txBox="1"/>
          <p:nvPr/>
        </p:nvSpPr>
        <p:spPr>
          <a:xfrm>
            <a:off x="914400" y="2176272"/>
            <a:ext cx="10424160" cy="1874519"/>
          </a:xfrm>
          <a:prstGeom prst="rect">
            <a:avLst/>
          </a:prstGeom>
          <a:noFill/>
        </p:spPr>
        <p:txBody>
          <a:bodyPr wrap="square" lIns="0" rIns="0" tIns="0" bIns="0">
            <a:spAutoFit/>
          </a:bodyPr>
          <a:lstStyle/>
          <a:p>
            <a:r>
              <a:rPr sz="5000" b="1" i="0">
                <a:solidFill>
                  <a:srgbClr val="FFFFFF"/>
                </a:solidFill>
                <a:latin typeface="Georgia"/>
              </a:rPr>
              <a:t>The loud terminal is the unintelligible one</a:t>
            </a:r>
          </a:p>
        </p:txBody>
      </p:sp>
      <p:sp>
        <p:nvSpPr>
          <p:cNvPr id="5" name="TextBox 4"/>
          <p:cNvSpPr txBox="1"/>
          <p:nvPr/>
        </p:nvSpPr>
        <p:spPr>
          <a:xfrm>
            <a:off x="1207008" y="4160520"/>
            <a:ext cx="9966960" cy="1143000"/>
          </a:xfrm>
          <a:prstGeom prst="rect">
            <a:avLst/>
          </a:prstGeom>
          <a:noFill/>
        </p:spPr>
        <p:txBody>
          <a:bodyPr wrap="square" lIns="0" rIns="0" tIns="0" bIns="0">
            <a:spAutoFit/>
          </a:bodyPr>
          <a:lstStyle/>
          <a:p>
            <a:r>
              <a:rPr sz="2400" b="0" i="0">
                <a:solidFill>
                  <a:srgbClr val="C9D9E6"/>
                </a:solidFill>
                <a:latin typeface="Georgia"/>
              </a:rPr>
              <a:t>A communications-integrity standard for MWAA terminals — argued as safety engineering, delivered through the Design Manual.</a:t>
            </a:r>
          </a:p>
        </p:txBody>
      </p:sp>
      <p:sp>
        <p:nvSpPr>
          <p:cNvPr id="6" name="cover-accent"/>
          <p:cNvSpPr/>
          <p:nvPr/>
        </p:nvSpPr>
        <p:spPr>
          <a:xfrm>
            <a:off x="914400" y="4114800"/>
            <a:ext cx="64008" cy="105156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596128"/>
            <a:ext cx="10241280" cy="365760"/>
          </a:xfrm>
          <a:prstGeom prst="rect">
            <a:avLst/>
          </a:prstGeom>
          <a:noFill/>
        </p:spPr>
        <p:txBody>
          <a:bodyPr wrap="square" lIns="0" rIns="0" tIns="0" bIns="0">
            <a:spAutoFit/>
          </a:bodyPr>
          <a:lstStyle/>
          <a:p>
            <a:r>
              <a:rPr sz="1600" b="0" i="0">
                <a:solidFill>
                  <a:srgbClr val="9FB6C9"/>
                </a:solidFill>
                <a:latin typeface="Calibri"/>
              </a:rPr>
              <a:t>Technical read-ahead  ·  Metropolitan Washington Airports Authority  ·  August 2026</a:t>
            </a:r>
          </a:p>
        </p:txBody>
      </p:sp>
      <p:sp>
        <p:nvSpPr>
          <p:cNvPr id="8" name="s01-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9FB6C9"/>
                </a:solidFill>
                <a:latin typeface="Calibri"/>
              </a:rPr>
              <a:t>Sources: Transform Airports AI Council technical read-ahead, August 2026. Companion to the verified report ‘The Loud Terminal Is the Unintelligible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2-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Roughly $9B committed, $20B+ provisional — all of it passes through the Design Manual</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capital passing through the Design Manual" descr="Horizontal bars: committed capital of $6.99 billion at IAD and $2.39 billion at DCA under the 2025 use-and-lease agreement, and a hatched provisional bar above $20 billion for the announced Dulles transformation."/>
          <p:cNvGrpSpPr/>
          <p:nvPr/>
        </p:nvGrpSpPr>
        <p:grpSpPr>
          <a:xfrm>
            <a:off x="566928" y="2011680"/>
            <a:ext cx="10744200" cy="2852928"/>
            <a:chOff x="566928" y="2011680"/>
            <a:chExt cx="10744200" cy="2852928"/>
          </a:xfrm>
        </p:grpSpPr>
        <p:sp>
          <p:nvSpPr>
            <p:cNvPr id="5" name="TextBox 4"/>
            <p:cNvSpPr txBox="1"/>
            <p:nvPr/>
          </p:nvSpPr>
          <p:spPr>
            <a:xfrm>
              <a:off x="566928" y="2148839"/>
              <a:ext cx="2121408" cy="457200"/>
            </a:xfrm>
            <a:prstGeom prst="rect">
              <a:avLst/>
            </a:prstGeom>
            <a:noFill/>
          </p:spPr>
          <p:txBody>
            <a:bodyPr wrap="square" lIns="0" rIns="0" tIns="0" bIns="0">
              <a:spAutoFit/>
            </a:bodyPr>
            <a:lstStyle/>
            <a:p>
              <a:r>
                <a:rPr sz="1250" b="1" i="0">
                  <a:solidFill>
                    <a:srgbClr val="17232D"/>
                  </a:solidFill>
                  <a:latin typeface="Calibri"/>
                </a:rPr>
                <a:t>IAD — committed</a:t>
              </a:r>
            </a:p>
          </p:txBody>
        </p:sp>
        <p:sp>
          <p:nvSpPr>
            <p:cNvPr id="6" name="Rectangle 5"/>
            <p:cNvSpPr/>
            <p:nvPr/>
          </p:nvSpPr>
          <p:spPr>
            <a:xfrm>
              <a:off x="2788920" y="2103120"/>
              <a:ext cx="2588620" cy="475488"/>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7268" y="2157984"/>
              <a:ext cx="1005840" cy="411480"/>
            </a:xfrm>
            <a:prstGeom prst="rect">
              <a:avLst/>
            </a:prstGeom>
            <a:noFill/>
          </p:spPr>
          <p:txBody>
            <a:bodyPr wrap="square" lIns="0" rIns="0" tIns="0" bIns="0">
              <a:spAutoFit/>
            </a:bodyPr>
            <a:lstStyle/>
            <a:p>
              <a:r>
                <a:rPr sz="1400" b="1" i="0">
                  <a:solidFill>
                    <a:srgbClr val="0B2D4D"/>
                  </a:solidFill>
                  <a:latin typeface="Calibri"/>
                </a:rPr>
                <a:t>$6.99B</a:t>
              </a:r>
            </a:p>
          </p:txBody>
        </p:sp>
        <p:sp>
          <p:nvSpPr>
            <p:cNvPr id="8" name="TextBox 7"/>
            <p:cNvSpPr txBox="1"/>
            <p:nvPr/>
          </p:nvSpPr>
          <p:spPr>
            <a:xfrm>
              <a:off x="566928" y="2898648"/>
              <a:ext cx="2121408" cy="457200"/>
            </a:xfrm>
            <a:prstGeom prst="rect">
              <a:avLst/>
            </a:prstGeom>
            <a:noFill/>
          </p:spPr>
          <p:txBody>
            <a:bodyPr wrap="square" lIns="0" rIns="0" tIns="0" bIns="0">
              <a:spAutoFit/>
            </a:bodyPr>
            <a:lstStyle/>
            <a:p>
              <a:r>
                <a:rPr sz="1250" b="1" i="0">
                  <a:solidFill>
                    <a:srgbClr val="17232D"/>
                  </a:solidFill>
                  <a:latin typeface="Calibri"/>
                </a:rPr>
                <a:t>DCA — committed</a:t>
              </a:r>
            </a:p>
          </p:txBody>
        </p:sp>
        <p:sp>
          <p:nvSpPr>
            <p:cNvPr id="9" name="Rectangle 8"/>
            <p:cNvSpPr/>
            <p:nvPr/>
          </p:nvSpPr>
          <p:spPr>
            <a:xfrm>
              <a:off x="2788920" y="2852928"/>
              <a:ext cx="885093" cy="475488"/>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83741" y="2907792"/>
              <a:ext cx="1005840" cy="411480"/>
            </a:xfrm>
            <a:prstGeom prst="rect">
              <a:avLst/>
            </a:prstGeom>
            <a:noFill/>
          </p:spPr>
          <p:txBody>
            <a:bodyPr wrap="square" lIns="0" rIns="0" tIns="0" bIns="0">
              <a:spAutoFit/>
            </a:bodyPr>
            <a:lstStyle/>
            <a:p>
              <a:r>
                <a:rPr sz="1400" b="1" i="0">
                  <a:solidFill>
                    <a:srgbClr val="0B2D4D"/>
                  </a:solidFill>
                  <a:latin typeface="Calibri"/>
                </a:rPr>
                <a:t>$2.39B</a:t>
              </a:r>
            </a:p>
          </p:txBody>
        </p:sp>
        <p:sp>
          <p:nvSpPr>
            <p:cNvPr id="11" name="TextBox 10"/>
            <p:cNvSpPr txBox="1"/>
            <p:nvPr/>
          </p:nvSpPr>
          <p:spPr>
            <a:xfrm>
              <a:off x="566928" y="3648456"/>
              <a:ext cx="2121408" cy="457200"/>
            </a:xfrm>
            <a:prstGeom prst="rect">
              <a:avLst/>
            </a:prstGeom>
            <a:noFill/>
          </p:spPr>
          <p:txBody>
            <a:bodyPr wrap="square" lIns="0" rIns="0" tIns="0" bIns="0">
              <a:spAutoFit/>
            </a:bodyPr>
            <a:lstStyle/>
            <a:p>
              <a:r>
                <a:rPr sz="1250" b="1" i="0">
                  <a:solidFill>
                    <a:srgbClr val="17232D"/>
                  </a:solidFill>
                  <a:latin typeface="Calibri"/>
                </a:rPr>
                <a:t>Dulles transformation</a:t>
              </a:r>
            </a:p>
          </p:txBody>
        </p:sp>
        <p:sp>
          <p:nvSpPr>
            <p:cNvPr id="12" name="Rectangle 11"/>
            <p:cNvSpPr/>
            <p:nvPr/>
          </p:nvSpPr>
          <p:spPr>
            <a:xfrm>
              <a:off x="2788920" y="3602736"/>
              <a:ext cx="7406640" cy="475488"/>
            </a:xfrm>
            <a:prstGeom prst="rect">
              <a:avLst/>
            </a:prstGeom>
            <a:pattFill prst="ltDnDiag">
              <a:fgClr>
                <a:srgbClr val="D4A24C"/>
              </a:fgClr>
              <a:bgClr>
                <a:srgbClr val="FFFFFF"/>
              </a:bgClr>
            </a:pattFill>
            <a:ln w="15875">
              <a:solidFill>
                <a:srgbClr val="D4A24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05288" y="3657600"/>
              <a:ext cx="1005840" cy="411480"/>
            </a:xfrm>
            <a:prstGeom prst="rect">
              <a:avLst/>
            </a:prstGeom>
            <a:noFill/>
          </p:spPr>
          <p:txBody>
            <a:bodyPr wrap="square" lIns="0" rIns="0" tIns="0" bIns="0">
              <a:spAutoFit/>
            </a:bodyPr>
            <a:lstStyle/>
            <a:p>
              <a:r>
                <a:rPr sz="1400" b="1" i="0">
                  <a:solidFill>
                    <a:srgbClr val="0B2D4D"/>
                  </a:solidFill>
                  <a:latin typeface="Calibri"/>
                </a:rPr>
                <a:t>&gt;$20B</a:t>
              </a:r>
            </a:p>
          </p:txBody>
        </p:sp>
        <p:sp>
          <p:nvSpPr>
            <p:cNvPr id="14" name="TextBox 13"/>
            <p:cNvSpPr txBox="1"/>
            <p:nvPr/>
          </p:nvSpPr>
          <p:spPr>
            <a:xfrm>
              <a:off x="2788920" y="2688336"/>
              <a:ext cx="7863840" cy="292608"/>
            </a:xfrm>
            <a:prstGeom prst="rect">
              <a:avLst/>
            </a:prstGeom>
            <a:noFill/>
          </p:spPr>
          <p:txBody>
            <a:bodyPr wrap="square" lIns="0" rIns="0" tIns="0" bIns="0">
              <a:spAutoFit/>
            </a:bodyPr>
            <a:lstStyle/>
            <a:p>
              <a:r>
                <a:rPr sz="1100" b="0" i="0">
                  <a:solidFill>
                    <a:srgbClr val="415669"/>
                  </a:solidFill>
                  <a:latin typeface="Calibri"/>
                </a:rPr>
                <a:t>Committed capital construction program — 15-year airline use and lease agreement effective Jan 1, 2025</a:t>
              </a:r>
            </a:p>
          </p:txBody>
        </p:sp>
        <p:sp>
          <p:nvSpPr>
            <p:cNvPr id="15" name="TextBox 14"/>
            <p:cNvSpPr txBox="1"/>
            <p:nvPr/>
          </p:nvSpPr>
          <p:spPr>
            <a:xfrm>
              <a:off x="2788920" y="4187952"/>
              <a:ext cx="7863840" cy="292608"/>
            </a:xfrm>
            <a:prstGeom prst="rect">
              <a:avLst/>
            </a:prstGeom>
            <a:noFill/>
          </p:spPr>
          <p:txBody>
            <a:bodyPr wrap="square" lIns="0" rIns="0" tIns="0" bIns="0">
              <a:spAutoFit/>
            </a:bodyPr>
            <a:lstStyle/>
            <a:p>
              <a:r>
                <a:rPr sz="1100" b="0" i="0">
                  <a:solidFill>
                    <a:srgbClr val="415669"/>
                  </a:solidFill>
                  <a:latin typeface="Calibri"/>
                </a:rPr>
                <a:t>Provisional pending Board action — announced July 29, 2026 (hatched)</a:t>
              </a:r>
            </a:p>
          </p:txBody>
        </p:sp>
        <p:sp>
          <p:nvSpPr>
            <p:cNvPr id="16" name="Rectangle 15"/>
            <p:cNvSpPr/>
            <p:nvPr/>
          </p:nvSpPr>
          <p:spPr>
            <a:xfrm>
              <a:off x="2761488" y="2011680"/>
              <a:ext cx="27432" cy="251460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79" y="4590288"/>
              <a:ext cx="3657600" cy="274320"/>
            </a:xfrm>
            <a:prstGeom prst="rect">
              <a:avLst/>
            </a:prstGeom>
            <a:noFill/>
          </p:spPr>
          <p:txBody>
            <a:bodyPr wrap="square" lIns="0" rIns="0" tIns="0" bIns="0">
              <a:spAutoFit/>
            </a:bodyPr>
            <a:lstStyle/>
            <a:p>
              <a:r>
                <a:rPr sz="1100" b="0" i="1">
                  <a:solidFill>
                    <a:srgbClr val="415669"/>
                  </a:solidFill>
                  <a:latin typeface="Calibri"/>
                </a:rPr>
                <a:t>USD billions</a:t>
              </a:r>
            </a:p>
          </p:txBody>
        </p:sp>
      </p:grpSp>
      <p:sp>
        <p:nvSpPr>
          <p:cNvPr id="18" name="TextBox 17"/>
          <p:cNvSpPr txBox="1"/>
          <p:nvPr/>
        </p:nvSpPr>
        <p:spPr>
          <a:xfrm>
            <a:off x="502920" y="5230368"/>
            <a:ext cx="11183112" cy="777240"/>
          </a:xfrm>
          <a:prstGeom prst="rect">
            <a:avLst/>
          </a:prstGeom>
          <a:noFill/>
        </p:spPr>
        <p:txBody>
          <a:bodyPr wrap="square" lIns="0" rIns="0" tIns="0" bIns="0">
            <a:spAutoFit/>
          </a:bodyPr>
          <a:lstStyle/>
          <a:p>
            <a:r>
              <a:rPr sz="1600" b="0" i="0">
                <a:solidFill>
                  <a:srgbClr val="0B2D4D"/>
                </a:solidFill>
                <a:latin typeface="Calibri"/>
              </a:rPr>
              <a:t>Every square foot of that work passes through the MWAA Design Manual — “a mandatory guide with the force of law on the airport property.”</a:t>
            </a:r>
          </a:p>
        </p:txBody>
      </p:sp>
      <p:sp>
        <p:nvSpPr>
          <p:cNvPr id="19" name="s02-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MWAA use-and-lease press release (2024); July 29, 2026 joint announcement as reported by Travel Agent Central and Simple Flying ($20B+ provisional pending Board action); MWAA Design Manual description, mwaa.com.</a:t>
            </a:r>
          </a:p>
        </p:txBody>
      </p:sp>
      <p:sp>
        <p:nvSpPr>
          <p:cNvPr id="20" name="TextBox 19"/>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3-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After January 29, 2025, no board signs a policy paraphrasable as 'fewer safety broadcasts'</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920240"/>
            <a:ext cx="5349240" cy="3977639"/>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09728" bIns="109728"/>
          <a:lstStyle/>
          <a:p>
            <a:pPr algn="ctr"/>
            <a:r>
              <a:rPr sz="1600" b="1" i="0">
                <a:solidFill>
                  <a:srgbClr val="415669"/>
                </a:solidFill>
                <a:latin typeface="Calibri"/>
              </a:rPr>
              <a:t>THE CONSTRAINT</a:t>
            </a:r>
          </a:p>
          <a:p>
            <a:pPr>
              <a:spcBef>
                <a:spcPts val="1000"/>
              </a:spcBef>
            </a:pPr>
            <a:r>
              <a:rPr sz="1700" b="0" i="0">
                <a:solidFill>
                  <a:srgbClr val="17232D"/>
                </a:solidFill>
                <a:latin typeface="Calibri"/>
              </a:rPr>
              <a:t>The NTSB’s final report on the January 29, 2025 midair collision over the Potomac — 67 fatalities — resets public tolerance for any policy paraphrasable as “reduce safety announcements.”</a:t>
            </a:r>
          </a:p>
        </p:txBody>
      </p:sp>
      <p:sp>
        <p:nvSpPr>
          <p:cNvPr id="5" name="Rectangle 4"/>
          <p:cNvSpPr/>
          <p:nvPr/>
        </p:nvSpPr>
        <p:spPr>
          <a:xfrm>
            <a:off x="6053328" y="2148840"/>
            <a:ext cx="64008" cy="352044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27648" y="1920240"/>
            <a:ext cx="5358384" cy="39776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09728" bIns="109728"/>
          <a:lstStyle/>
          <a:p>
            <a:pPr algn="ctr"/>
            <a:r>
              <a:rPr sz="1600" b="1" i="0">
                <a:solidFill>
                  <a:srgbClr val="0B2D4D"/>
                </a:solidFill>
                <a:latin typeface="Calibri"/>
              </a:rPr>
              <a:t>THE INVERSION</a:t>
            </a:r>
          </a:p>
          <a:p>
            <a:pPr>
              <a:spcBef>
                <a:spcPts val="1000"/>
              </a:spcBef>
            </a:pPr>
            <a:r>
              <a:rPr sz="1700" b="0" i="0">
                <a:solidFill>
                  <a:srgbClr val="0B2D4D"/>
                </a:solidFill>
                <a:latin typeface="Calibri"/>
              </a:rPr>
              <a:t>The standard is defensible only as the opposite of subtraction: a floor that raises the probability the announcement that matters — the gate change, the shelter-in-place, the IROPS diversion — reaches the passenger who needs it.</a:t>
            </a:r>
          </a:p>
        </p:txBody>
      </p:sp>
      <p:sp>
        <p:nvSpPr>
          <p:cNvPr id="7" name="s03-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NTSB Aircraft Accident Report AIR-26/02 (final, 2026, ntsb.gov); contemporaneous coverage (CNN).</a:t>
            </a:r>
          </a:p>
        </p:txBody>
      </p:sp>
      <p:sp>
        <p:nvSpPr>
          <p:cNvPr id="8" name="TextBox 7"/>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4-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One ruler decides the argument: the Speech Transmission Index</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10512"/>
            <a:ext cx="11183112" cy="548640"/>
          </a:xfrm>
          <a:prstGeom prst="rect">
            <a:avLst/>
          </a:prstGeom>
          <a:noFill/>
        </p:spPr>
        <p:txBody>
          <a:bodyPr wrap="square" lIns="0" rIns="0" tIns="0" bIns="0">
            <a:spAutoFit/>
          </a:bodyPr>
          <a:lstStyle/>
          <a:p>
            <a:r>
              <a:rPr sz="1600" b="0" i="1">
                <a:solidFill>
                  <a:srgbClr val="0B2D4D"/>
                </a:solidFill>
                <a:latin typeface="Calibri"/>
              </a:rPr>
              <a:t>A terminal fails these floors by being loud, reverberant, and cross-broadcast — precisely the unspecified default.</a:t>
            </a:r>
          </a:p>
        </p:txBody>
      </p:sp>
      <p:grpSp>
        <p:nvGrpSpPr>
          <p:cNvPr id="5" name="SIGNATURE VISUAL — The Intelligibility Ruler" descr="The Intelligibility Ruler: a horizontal Speech Transmission Index scale from 0 to 1 banded Bad, Poor, Fair, Good, Excellent, with NFPA 72 code markers at 0.45 per location and 0.50 average, an ACRP 175 guidance marker at 0.45 with 10 dB(A) signal-to-noise, and a shaded low-end zone where the unspecified reverberant terminal defaults."/>
          <p:cNvGrpSpPr/>
          <p:nvPr/>
        </p:nvGrpSpPr>
        <p:grpSpPr>
          <a:xfrm>
            <a:off x="502920" y="2304288"/>
            <a:ext cx="11155680" cy="3547872"/>
            <a:chOff x="502920" y="2304288"/>
            <a:chExt cx="11155680" cy="3547872"/>
          </a:xfrm>
        </p:grpSpPr>
        <p:sp>
          <p:nvSpPr>
            <p:cNvPr id="6" name="Rectangle 5"/>
            <p:cNvSpPr/>
            <p:nvPr/>
          </p:nvSpPr>
          <p:spPr>
            <a:xfrm>
              <a:off x="822960" y="3493008"/>
              <a:ext cx="3154679" cy="731520"/>
            </a:xfrm>
            <a:prstGeom prst="rect">
              <a:avLst/>
            </a:prstGeom>
            <a:solidFill>
              <a:srgbClr val="E4EFF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09728" bIns="109728"/>
            <a:lstStyle/>
            <a:p>
              <a:pPr algn="ctr"/>
              <a:r>
                <a:rPr sz="1300" b="1" i="0">
                  <a:solidFill>
                    <a:srgbClr val="17232D"/>
                  </a:solidFill>
                  <a:latin typeface="Calibri"/>
                </a:rPr>
                <a:t>Bad</a:t>
              </a:r>
            </a:p>
            <a:p>
              <a:pPr algn="ctr"/>
              <a:r>
                <a:rPr sz="1100" b="0" i="0">
                  <a:solidFill>
                    <a:srgbClr val="17232D"/>
                  </a:solidFill>
                  <a:latin typeface="Calibri"/>
                </a:rPr>
                <a:t>&lt;0.30</a:t>
              </a:r>
            </a:p>
          </p:txBody>
        </p:sp>
        <p:sp>
          <p:nvSpPr>
            <p:cNvPr id="7" name="Rectangle 6"/>
            <p:cNvSpPr/>
            <p:nvPr/>
          </p:nvSpPr>
          <p:spPr>
            <a:xfrm>
              <a:off x="3977639" y="3493008"/>
              <a:ext cx="1577340" cy="731520"/>
            </a:xfrm>
            <a:prstGeom prst="rect">
              <a:avLst/>
            </a:prstGeom>
            <a:solidFill>
              <a:srgbClr val="C6DEE9"/>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09728" bIns="109728"/>
            <a:lstStyle/>
            <a:p>
              <a:pPr algn="ctr"/>
              <a:r>
                <a:rPr sz="1300" b="1" i="0">
                  <a:solidFill>
                    <a:srgbClr val="17232D"/>
                  </a:solidFill>
                  <a:latin typeface="Calibri"/>
                </a:rPr>
                <a:t>Poor</a:t>
              </a:r>
            </a:p>
            <a:p>
              <a:pPr algn="ctr"/>
              <a:r>
                <a:rPr sz="1100" b="0" i="0">
                  <a:solidFill>
                    <a:srgbClr val="17232D"/>
                  </a:solidFill>
                  <a:latin typeface="Calibri"/>
                </a:rPr>
                <a:t>0.30–0.45</a:t>
              </a:r>
            </a:p>
          </p:txBody>
        </p:sp>
        <p:sp>
          <p:nvSpPr>
            <p:cNvPr id="8" name="Rectangle 7"/>
            <p:cNvSpPr/>
            <p:nvPr/>
          </p:nvSpPr>
          <p:spPr>
            <a:xfrm>
              <a:off x="5554980" y="3493008"/>
              <a:ext cx="1577339" cy="731520"/>
            </a:xfrm>
            <a:prstGeom prst="rect">
              <a:avLst/>
            </a:prstGeom>
            <a:solidFill>
              <a:srgbClr val="9EC7D9"/>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09728" bIns="109728"/>
            <a:lstStyle/>
            <a:p>
              <a:pPr algn="ctr"/>
              <a:r>
                <a:rPr sz="1300" b="1" i="0">
                  <a:solidFill>
                    <a:srgbClr val="17232D"/>
                  </a:solidFill>
                  <a:latin typeface="Calibri"/>
                </a:rPr>
                <a:t>Fair</a:t>
              </a:r>
            </a:p>
            <a:p>
              <a:pPr algn="ctr"/>
              <a:r>
                <a:rPr sz="1100" b="0" i="0">
                  <a:solidFill>
                    <a:srgbClr val="17232D"/>
                  </a:solidFill>
                  <a:latin typeface="Calibri"/>
                </a:rPr>
                <a:t>0.45–0.60</a:t>
              </a:r>
            </a:p>
          </p:txBody>
        </p:sp>
        <p:sp>
          <p:nvSpPr>
            <p:cNvPr id="9" name="Rectangle 8"/>
            <p:cNvSpPr/>
            <p:nvPr/>
          </p:nvSpPr>
          <p:spPr>
            <a:xfrm>
              <a:off x="7132320" y="3493008"/>
              <a:ext cx="1577340" cy="731520"/>
            </a:xfrm>
            <a:prstGeom prst="rect">
              <a:avLst/>
            </a:prstGeom>
            <a:solidFill>
              <a:srgbClr val="6CA9C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09728" bIns="109728"/>
            <a:lstStyle/>
            <a:p>
              <a:pPr algn="ctr"/>
              <a:r>
                <a:rPr sz="1300" b="1" i="0">
                  <a:solidFill>
                    <a:srgbClr val="17232D"/>
                  </a:solidFill>
                  <a:latin typeface="Calibri"/>
                </a:rPr>
                <a:t>Good</a:t>
              </a:r>
            </a:p>
            <a:p>
              <a:pPr algn="ctr"/>
              <a:r>
                <a:rPr sz="1100" b="0" i="0">
                  <a:solidFill>
                    <a:srgbClr val="17232D"/>
                  </a:solidFill>
                  <a:latin typeface="Calibri"/>
                </a:rPr>
                <a:t>0.60–0.75</a:t>
              </a:r>
            </a:p>
          </p:txBody>
        </p:sp>
        <p:sp>
          <p:nvSpPr>
            <p:cNvPr id="10" name="Rectangle 9"/>
            <p:cNvSpPr/>
            <p:nvPr/>
          </p:nvSpPr>
          <p:spPr>
            <a:xfrm>
              <a:off x="8709660" y="3493008"/>
              <a:ext cx="2628900" cy="731520"/>
            </a:xfrm>
            <a:prstGeom prst="rect">
              <a:avLst/>
            </a:prstGeom>
            <a:solidFill>
              <a:srgbClr val="2E84A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09728" bIns="109728"/>
            <a:lstStyle/>
            <a:p>
              <a:pPr algn="ctr"/>
              <a:r>
                <a:rPr sz="1300" b="1" i="0">
                  <a:solidFill>
                    <a:srgbClr val="FFFFFF"/>
                  </a:solidFill>
                  <a:latin typeface="Calibri"/>
                </a:rPr>
                <a:t>Excellent</a:t>
              </a:r>
            </a:p>
            <a:p>
              <a:pPr algn="ctr"/>
              <a:r>
                <a:rPr sz="1100" b="0" i="0">
                  <a:solidFill>
                    <a:srgbClr val="FFFFFF"/>
                  </a:solidFill>
                  <a:latin typeface="Calibri"/>
                </a:rPr>
                <a:t>&gt;0.75</a:t>
              </a:r>
            </a:p>
          </p:txBody>
        </p:sp>
        <p:sp>
          <p:nvSpPr>
            <p:cNvPr id="11" name="TextBox 10"/>
            <p:cNvSpPr txBox="1"/>
            <p:nvPr/>
          </p:nvSpPr>
          <p:spPr>
            <a:xfrm>
              <a:off x="502920" y="4279392"/>
              <a:ext cx="640080" cy="237744"/>
            </a:xfrm>
            <a:prstGeom prst="rect">
              <a:avLst/>
            </a:prstGeom>
            <a:noFill/>
          </p:spPr>
          <p:txBody>
            <a:bodyPr wrap="square" lIns="0" rIns="0" tIns="0" bIns="0">
              <a:spAutoFit/>
            </a:bodyPr>
            <a:lstStyle/>
            <a:p>
              <a:pPr algn="ctr"/>
              <a:r>
                <a:rPr sz="1100" b="0" i="0">
                  <a:solidFill>
                    <a:srgbClr val="415669"/>
                  </a:solidFill>
                  <a:latin typeface="Calibri"/>
                </a:rPr>
                <a:t>0.00</a:t>
              </a:r>
            </a:p>
          </p:txBody>
        </p:sp>
        <p:sp>
          <p:nvSpPr>
            <p:cNvPr id="12" name="TextBox 11"/>
            <p:cNvSpPr txBox="1"/>
            <p:nvPr/>
          </p:nvSpPr>
          <p:spPr>
            <a:xfrm>
              <a:off x="3657599" y="4279392"/>
              <a:ext cx="640080" cy="237744"/>
            </a:xfrm>
            <a:prstGeom prst="rect">
              <a:avLst/>
            </a:prstGeom>
            <a:noFill/>
          </p:spPr>
          <p:txBody>
            <a:bodyPr wrap="square" lIns="0" rIns="0" tIns="0" bIns="0">
              <a:spAutoFit/>
            </a:bodyPr>
            <a:lstStyle/>
            <a:p>
              <a:pPr algn="ctr"/>
              <a:r>
                <a:rPr sz="1100" b="0" i="0">
                  <a:solidFill>
                    <a:srgbClr val="415669"/>
                  </a:solidFill>
                  <a:latin typeface="Calibri"/>
                </a:rPr>
                <a:t>0.30</a:t>
              </a:r>
            </a:p>
          </p:txBody>
        </p:sp>
        <p:sp>
          <p:nvSpPr>
            <p:cNvPr id="13" name="TextBox 12"/>
            <p:cNvSpPr txBox="1"/>
            <p:nvPr/>
          </p:nvSpPr>
          <p:spPr>
            <a:xfrm>
              <a:off x="5234940" y="4279392"/>
              <a:ext cx="640080" cy="237744"/>
            </a:xfrm>
            <a:prstGeom prst="rect">
              <a:avLst/>
            </a:prstGeom>
            <a:noFill/>
          </p:spPr>
          <p:txBody>
            <a:bodyPr wrap="square" lIns="0" rIns="0" tIns="0" bIns="0">
              <a:spAutoFit/>
            </a:bodyPr>
            <a:lstStyle/>
            <a:p>
              <a:pPr algn="ctr"/>
              <a:r>
                <a:rPr sz="1100" b="0" i="0">
                  <a:solidFill>
                    <a:srgbClr val="415669"/>
                  </a:solidFill>
                  <a:latin typeface="Calibri"/>
                </a:rPr>
                <a:t>0.45</a:t>
              </a:r>
            </a:p>
          </p:txBody>
        </p:sp>
        <p:sp>
          <p:nvSpPr>
            <p:cNvPr id="14" name="TextBox 13"/>
            <p:cNvSpPr txBox="1"/>
            <p:nvPr/>
          </p:nvSpPr>
          <p:spPr>
            <a:xfrm>
              <a:off x="6812280" y="4279392"/>
              <a:ext cx="640080" cy="237744"/>
            </a:xfrm>
            <a:prstGeom prst="rect">
              <a:avLst/>
            </a:prstGeom>
            <a:noFill/>
          </p:spPr>
          <p:txBody>
            <a:bodyPr wrap="square" lIns="0" rIns="0" tIns="0" bIns="0">
              <a:spAutoFit/>
            </a:bodyPr>
            <a:lstStyle/>
            <a:p>
              <a:pPr algn="ctr"/>
              <a:r>
                <a:rPr sz="1100" b="0" i="0">
                  <a:solidFill>
                    <a:srgbClr val="415669"/>
                  </a:solidFill>
                  <a:latin typeface="Calibri"/>
                </a:rPr>
                <a:t>0.60</a:t>
              </a:r>
            </a:p>
          </p:txBody>
        </p:sp>
        <p:sp>
          <p:nvSpPr>
            <p:cNvPr id="15" name="TextBox 14"/>
            <p:cNvSpPr txBox="1"/>
            <p:nvPr/>
          </p:nvSpPr>
          <p:spPr>
            <a:xfrm>
              <a:off x="8389620" y="4279392"/>
              <a:ext cx="640080" cy="237744"/>
            </a:xfrm>
            <a:prstGeom prst="rect">
              <a:avLst/>
            </a:prstGeom>
            <a:noFill/>
          </p:spPr>
          <p:txBody>
            <a:bodyPr wrap="square" lIns="0" rIns="0" tIns="0" bIns="0">
              <a:spAutoFit/>
            </a:bodyPr>
            <a:lstStyle/>
            <a:p>
              <a:pPr algn="ctr"/>
              <a:r>
                <a:rPr sz="1100" b="0" i="0">
                  <a:solidFill>
                    <a:srgbClr val="415669"/>
                  </a:solidFill>
                  <a:latin typeface="Calibri"/>
                </a:rPr>
                <a:t>0.75</a:t>
              </a:r>
            </a:p>
          </p:txBody>
        </p:sp>
        <p:sp>
          <p:nvSpPr>
            <p:cNvPr id="16" name="TextBox 15"/>
            <p:cNvSpPr txBox="1"/>
            <p:nvPr/>
          </p:nvSpPr>
          <p:spPr>
            <a:xfrm>
              <a:off x="11018520" y="4279392"/>
              <a:ext cx="640080" cy="237744"/>
            </a:xfrm>
            <a:prstGeom prst="rect">
              <a:avLst/>
            </a:prstGeom>
            <a:noFill/>
          </p:spPr>
          <p:txBody>
            <a:bodyPr wrap="square" lIns="0" rIns="0" tIns="0" bIns="0">
              <a:spAutoFit/>
            </a:bodyPr>
            <a:lstStyle/>
            <a:p>
              <a:pPr algn="ctr"/>
              <a:r>
                <a:rPr sz="1100" b="0" i="0">
                  <a:solidFill>
                    <a:srgbClr val="415669"/>
                  </a:solidFill>
                  <a:latin typeface="Calibri"/>
                </a:rPr>
                <a:t>1.00</a:t>
              </a:r>
            </a:p>
          </p:txBody>
        </p:sp>
        <p:sp>
          <p:nvSpPr>
            <p:cNvPr id="17" name="TextBox 16"/>
            <p:cNvSpPr txBox="1"/>
            <p:nvPr/>
          </p:nvSpPr>
          <p:spPr>
            <a:xfrm>
              <a:off x="8595360" y="4535424"/>
              <a:ext cx="2743200" cy="237744"/>
            </a:xfrm>
            <a:prstGeom prst="rect">
              <a:avLst/>
            </a:prstGeom>
            <a:noFill/>
          </p:spPr>
          <p:txBody>
            <a:bodyPr wrap="square" lIns="0" rIns="0" tIns="0" bIns="0">
              <a:spAutoFit/>
            </a:bodyPr>
            <a:lstStyle/>
            <a:p>
              <a:pPr algn="r"/>
              <a:r>
                <a:rPr sz="1100" b="0" i="1">
                  <a:solidFill>
                    <a:srgbClr val="415669"/>
                  </a:solidFill>
                  <a:latin typeface="Calibri"/>
                </a:rPr>
                <a:t>Speech Transmission Index (0–1)</a:t>
              </a:r>
            </a:p>
          </p:txBody>
        </p:sp>
        <p:sp>
          <p:nvSpPr>
            <p:cNvPr id="18" name="Rectangle 17"/>
            <p:cNvSpPr/>
            <p:nvPr/>
          </p:nvSpPr>
          <p:spPr>
            <a:xfrm>
              <a:off x="5541264" y="2724912"/>
              <a:ext cx="27432" cy="768095"/>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67044" y="2724912"/>
              <a:ext cx="27432" cy="768095"/>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541264" y="2724912"/>
              <a:ext cx="553212" cy="27432"/>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74820" y="2304288"/>
              <a:ext cx="3291840" cy="310896"/>
            </a:xfrm>
            <a:prstGeom prst="rect">
              <a:avLst/>
            </a:prstGeom>
            <a:noFill/>
          </p:spPr>
          <p:txBody>
            <a:bodyPr wrap="square" lIns="0" rIns="0" tIns="0" bIns="0">
              <a:spAutoFit/>
            </a:bodyPr>
            <a:lstStyle/>
            <a:p>
              <a:r>
                <a:rPr sz="1250" b="1" i="0">
                  <a:solidFill>
                    <a:srgbClr val="0B2D4D"/>
                  </a:solidFill>
                  <a:latin typeface="Calibri"/>
                </a:rPr>
                <a:t>NFPA 72 emergency-voice floor (code)</a:t>
              </a:r>
            </a:p>
          </p:txBody>
        </p:sp>
        <p:sp>
          <p:nvSpPr>
            <p:cNvPr id="22" name="TextBox 21"/>
            <p:cNvSpPr txBox="1"/>
            <p:nvPr/>
          </p:nvSpPr>
          <p:spPr>
            <a:xfrm>
              <a:off x="2857500" y="2798064"/>
              <a:ext cx="2606040" cy="603504"/>
            </a:xfrm>
            <a:prstGeom prst="rect">
              <a:avLst/>
            </a:prstGeom>
            <a:noFill/>
          </p:spPr>
          <p:txBody>
            <a:bodyPr wrap="square" lIns="0" rIns="0" tIns="0" bIns="0">
              <a:spAutoFit/>
            </a:bodyPr>
            <a:lstStyle/>
            <a:p>
              <a:pPr algn="r"/>
              <a:r>
                <a:rPr sz="1200" b="1" i="0">
                  <a:solidFill>
                    <a:srgbClr val="0B2D4D"/>
                  </a:solidFill>
                  <a:latin typeface="Calibri"/>
                </a:rPr>
                <a:t>0.45 per location</a:t>
              </a:r>
            </a:p>
            <a:p>
              <a:pPr algn="r"/>
              <a:r>
                <a:rPr sz="1100" b="0" i="0">
                  <a:solidFill>
                    <a:srgbClr val="415669"/>
                  </a:solidFill>
                  <a:latin typeface="Calibri"/>
                </a:rPr>
                <a:t> — at ≥90% of locations per acoustically distinguishable space</a:t>
              </a:r>
            </a:p>
          </p:txBody>
        </p:sp>
        <p:sp>
          <p:nvSpPr>
            <p:cNvPr id="23" name="TextBox 22"/>
            <p:cNvSpPr txBox="1"/>
            <p:nvPr/>
          </p:nvSpPr>
          <p:spPr>
            <a:xfrm>
              <a:off x="6190488" y="2798064"/>
              <a:ext cx="2651760" cy="603504"/>
            </a:xfrm>
            <a:prstGeom prst="rect">
              <a:avLst/>
            </a:prstGeom>
            <a:noFill/>
          </p:spPr>
          <p:txBody>
            <a:bodyPr wrap="square" lIns="0" rIns="0" tIns="0" bIns="0">
              <a:spAutoFit/>
            </a:bodyPr>
            <a:lstStyle/>
            <a:p>
              <a:r>
                <a:rPr sz="1200" b="1" i="0">
                  <a:solidFill>
                    <a:srgbClr val="0B2D4D"/>
                  </a:solidFill>
                  <a:latin typeface="Calibri"/>
                </a:rPr>
                <a:t>0.50 average</a:t>
              </a:r>
            </a:p>
            <a:p>
              <a:r>
                <a:rPr sz="1100" b="0" i="0">
                  <a:solidFill>
                    <a:srgbClr val="415669"/>
                  </a:solidFill>
                  <a:latin typeface="Calibri"/>
                </a:rPr>
                <a:t> — per acoustically distinguishable space</a:t>
              </a:r>
            </a:p>
          </p:txBody>
        </p:sp>
        <p:sp>
          <p:nvSpPr>
            <p:cNvPr id="24" name="Oval 23"/>
            <p:cNvSpPr/>
            <p:nvPr/>
          </p:nvSpPr>
          <p:spPr>
            <a:xfrm>
              <a:off x="5513832" y="3383280"/>
              <a:ext cx="82296" cy="82296"/>
            </a:xfrm>
            <a:prstGeom prst="ellipse">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144768" y="4956048"/>
              <a:ext cx="100584" cy="100584"/>
            </a:xfrm>
            <a:prstGeom prst="ellipse">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4828032"/>
              <a:ext cx="4983480" cy="548640"/>
            </a:xfrm>
            <a:prstGeom prst="rect">
              <a:avLst/>
            </a:prstGeom>
            <a:noFill/>
          </p:spPr>
          <p:txBody>
            <a:bodyPr wrap="square" lIns="0" rIns="0" tIns="0" bIns="0">
              <a:spAutoFit/>
            </a:bodyPr>
            <a:lstStyle/>
            <a:p>
              <a:r>
                <a:rPr sz="1200" b="1" i="0">
                  <a:solidFill>
                    <a:srgbClr val="2E84A5"/>
                  </a:solidFill>
                  <a:latin typeface="Calibri"/>
                </a:rPr>
                <a:t>ACRP 175 pier-style PA minimum (guidance): </a:t>
              </a:r>
              <a:r>
                <a:rPr sz="1200" b="0" i="0">
                  <a:solidFill>
                    <a:srgbClr val="2E84A5"/>
                  </a:solidFill>
                  <a:latin typeface="Calibri"/>
                </a:rPr>
                <a:t>STI 0.45 with 10 dB(A) signal-to-noise</a:t>
              </a:r>
            </a:p>
          </p:txBody>
        </p:sp>
        <p:sp>
          <p:nvSpPr>
            <p:cNvPr id="27" name="Rectangle 26"/>
            <p:cNvSpPr/>
            <p:nvPr/>
          </p:nvSpPr>
          <p:spPr>
            <a:xfrm>
              <a:off x="822960" y="4828032"/>
              <a:ext cx="4732020" cy="566928"/>
            </a:xfrm>
            <a:prstGeom prst="rect">
              <a:avLst/>
            </a:prstGeom>
            <a:solidFill>
              <a:srgbClr val="EDF3F6"/>
            </a:solidFill>
            <a:ln w="15875">
              <a:solidFill>
                <a:srgbClr val="A641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200" b="1" i="0">
                  <a:solidFill>
                    <a:srgbClr val="A6413A"/>
                  </a:solidFill>
                  <a:latin typeface="Calibri"/>
                </a:rPr>
                <a:t>Unspecified reverberant, cross-broadcast terminal defaults here (Bad–Poor)</a:t>
              </a:r>
            </a:p>
          </p:txBody>
        </p:sp>
        <p:sp>
          <p:nvSpPr>
            <p:cNvPr id="28" name="Rectangle 27"/>
            <p:cNvSpPr/>
            <p:nvPr/>
          </p:nvSpPr>
          <p:spPr>
            <a:xfrm>
              <a:off x="3122675" y="4590288"/>
              <a:ext cx="27432" cy="237744"/>
            </a:xfrm>
            <a:prstGeom prst="rect">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577840"/>
              <a:ext cx="10515600" cy="274320"/>
            </a:xfrm>
            <a:prstGeom prst="rect">
              <a:avLst/>
            </a:prstGeom>
            <a:noFill/>
          </p:spPr>
          <p:txBody>
            <a:bodyPr wrap="square" lIns="0" rIns="0" tIns="0" bIns="0">
              <a:spAutoFit/>
            </a:bodyPr>
            <a:lstStyle/>
            <a:p>
              <a:r>
                <a:rPr sz="1100" b="0" i="1">
                  <a:solidFill>
                    <a:srgbClr val="415669"/>
                  </a:solidFill>
                  <a:latin typeface="Calibri"/>
                </a:rPr>
                <a:t>Code: NFPA 72 (adopted edition governs)   ·   Guidance: ACRP Research Report 175 (TRB, 2017)   ·   Measurement method: IEC 60268-16:2020</a:t>
              </a:r>
            </a:p>
          </p:txBody>
        </p:sp>
      </p:grpSp>
      <p:sp>
        <p:nvSpPr>
          <p:cNvPr id="30" name="s04-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NFPA 72 (code paywalled; thresholds corroborated across 10+ records reproducing code language); ACRP Research Report 175 (TRB, 2017); IEC 60268-16:2020 (standard paywalled; bands corroborated in secondary records).</a:t>
            </a:r>
          </a:p>
        </p:txBody>
      </p:sp>
      <p:sp>
        <p:nvSpPr>
          <p:cNvPr id="31" name="TextBox 30"/>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5-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The Joint Commission did not silence ICU alarms — it made hospitals govern them</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Joint Commission alarm-governance timeline" descr="Three-node timeline: alarm fatigue documented at illustrative magnitude, then Joint Commission NPSG.06.01.01 phase one in 2014 requiring alarm inventory and prioritization, then phase two in 2016 requiring governance and accountability."/>
          <p:cNvGrpSpPr/>
          <p:nvPr/>
        </p:nvGrpSpPr>
        <p:grpSpPr>
          <a:xfrm>
            <a:off x="457199" y="2084831"/>
            <a:ext cx="10652761" cy="2734057"/>
            <a:chOff x="457199" y="2084831"/>
            <a:chExt cx="10652761" cy="2734057"/>
          </a:xfrm>
        </p:grpSpPr>
        <p:sp>
          <p:nvSpPr>
            <p:cNvPr id="5" name="Rectangle 4"/>
            <p:cNvSpPr/>
            <p:nvPr/>
          </p:nvSpPr>
          <p:spPr>
            <a:xfrm>
              <a:off x="960120" y="3035808"/>
              <a:ext cx="10149840" cy="32004"/>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73935" y="2944368"/>
              <a:ext cx="201168" cy="201168"/>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 y="2084831"/>
              <a:ext cx="2971800" cy="731520"/>
            </a:xfrm>
            <a:prstGeom prst="rect">
              <a:avLst/>
            </a:prstGeom>
            <a:noFill/>
          </p:spPr>
          <p:txBody>
            <a:bodyPr wrap="square" lIns="0" rIns="0" tIns="0" bIns="0">
              <a:spAutoFit/>
            </a:bodyPr>
            <a:lstStyle/>
            <a:p>
              <a:r>
                <a:rPr sz="1250" b="1" i="0">
                  <a:solidFill>
                    <a:srgbClr val="0B2D4D"/>
                  </a:solidFill>
                  <a:latin typeface="Calibri"/>
                </a:rPr>
                <a:t>The problem, documented</a:t>
              </a:r>
            </a:p>
          </p:txBody>
        </p:sp>
        <p:sp>
          <p:nvSpPr>
            <p:cNvPr id="8" name="TextBox 7"/>
            <p:cNvSpPr txBox="1"/>
            <p:nvPr/>
          </p:nvSpPr>
          <p:spPr>
            <a:xfrm>
              <a:off x="457199" y="3401568"/>
              <a:ext cx="2971800" cy="1417320"/>
            </a:xfrm>
            <a:prstGeom prst="rect">
              <a:avLst/>
            </a:prstGeom>
            <a:noFill/>
          </p:spPr>
          <p:txBody>
            <a:bodyPr wrap="square" lIns="0" rIns="0" tIns="0" bIns="0">
              <a:spAutoFit/>
            </a:bodyPr>
            <a:lstStyle/>
            <a:p>
              <a:r>
                <a:rPr sz="1200" b="0" i="0">
                  <a:solidFill>
                    <a:srgbClr val="17232D"/>
                  </a:solidFill>
                  <a:latin typeface="Calibri"/>
                </a:rPr>
                <a:t>One academic medical center logged 74,535 alarms across eight units in one week (illustrative magnitude). Clinicians had stopped hearing them.</a:t>
              </a:r>
            </a:p>
          </p:txBody>
        </p:sp>
        <p:sp>
          <p:nvSpPr>
            <p:cNvPr id="9" name="Oval 8"/>
            <p:cNvSpPr/>
            <p:nvPr/>
          </p:nvSpPr>
          <p:spPr>
            <a:xfrm>
              <a:off x="5705855" y="2944368"/>
              <a:ext cx="201168" cy="201168"/>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2084831"/>
              <a:ext cx="2971800" cy="731520"/>
            </a:xfrm>
            <a:prstGeom prst="rect">
              <a:avLst/>
            </a:prstGeom>
            <a:noFill/>
          </p:spPr>
          <p:txBody>
            <a:bodyPr wrap="square" lIns="0" rIns="0" tIns="0" bIns="0">
              <a:spAutoFit/>
            </a:bodyPr>
            <a:lstStyle/>
            <a:p>
              <a:r>
                <a:rPr sz="1250" b="1" i="0">
                  <a:solidFill>
                    <a:srgbClr val="0B2D4D"/>
                  </a:solidFill>
                  <a:latin typeface="Calibri"/>
                </a:rPr>
                <a:t>Jan 1, 2014 — NPSG.06.01.01 phase one</a:t>
              </a:r>
            </a:p>
          </p:txBody>
        </p:sp>
        <p:sp>
          <p:nvSpPr>
            <p:cNvPr id="11" name="TextBox 10"/>
            <p:cNvSpPr txBox="1"/>
            <p:nvPr/>
          </p:nvSpPr>
          <p:spPr>
            <a:xfrm>
              <a:off x="4389120" y="3401568"/>
              <a:ext cx="2971800" cy="1417320"/>
            </a:xfrm>
            <a:prstGeom prst="rect">
              <a:avLst/>
            </a:prstGeom>
            <a:noFill/>
          </p:spPr>
          <p:txBody>
            <a:bodyPr wrap="square" lIns="0" rIns="0" tIns="0" bIns="0">
              <a:spAutoFit/>
            </a:bodyPr>
            <a:lstStyle/>
            <a:p>
              <a:r>
                <a:rPr sz="1200" b="0" i="0">
                  <a:solidFill>
                    <a:srgbClr val="17232D"/>
                  </a:solidFill>
                  <a:latin typeface="Calibri"/>
                </a:rPr>
                <a:t>Every accredited hospital must inventory and prioritize its clinical alarms.</a:t>
              </a:r>
            </a:p>
          </p:txBody>
        </p:sp>
        <p:sp>
          <p:nvSpPr>
            <p:cNvPr id="12" name="Oval 11"/>
            <p:cNvSpPr/>
            <p:nvPr/>
          </p:nvSpPr>
          <p:spPr>
            <a:xfrm>
              <a:off x="9454896" y="2944368"/>
              <a:ext cx="201168" cy="201168"/>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2084831"/>
              <a:ext cx="2971800" cy="731520"/>
            </a:xfrm>
            <a:prstGeom prst="rect">
              <a:avLst/>
            </a:prstGeom>
            <a:noFill/>
          </p:spPr>
          <p:txBody>
            <a:bodyPr wrap="square" lIns="0" rIns="0" tIns="0" bIns="0">
              <a:spAutoFit/>
            </a:bodyPr>
            <a:lstStyle/>
            <a:p>
              <a:r>
                <a:rPr sz="1250" b="1" i="0">
                  <a:solidFill>
                    <a:srgbClr val="0B2D4D"/>
                  </a:solidFill>
                  <a:latin typeface="Calibri"/>
                </a:rPr>
                <a:t>Jan 1, 2016 — phase two</a:t>
              </a:r>
            </a:p>
          </p:txBody>
        </p:sp>
        <p:sp>
          <p:nvSpPr>
            <p:cNvPr id="14" name="TextBox 13"/>
            <p:cNvSpPr txBox="1"/>
            <p:nvPr/>
          </p:nvSpPr>
          <p:spPr>
            <a:xfrm>
              <a:off x="8138159" y="3401568"/>
              <a:ext cx="2971800" cy="1417320"/>
            </a:xfrm>
            <a:prstGeom prst="rect">
              <a:avLst/>
            </a:prstGeom>
            <a:noFill/>
          </p:spPr>
          <p:txBody>
            <a:bodyPr wrap="square" lIns="0" rIns="0" tIns="0" bIns="0">
              <a:spAutoFit/>
            </a:bodyPr>
            <a:lstStyle/>
            <a:p>
              <a:r>
                <a:rPr sz="1200" b="0" i="0">
                  <a:solidFill>
                    <a:srgbClr val="17232D"/>
                  </a:solidFill>
                  <a:latin typeface="Calibri"/>
                </a:rPr>
                <a:t>Governance policies, accountability, and proof on the record — not silence.</a:t>
              </a:r>
            </a:p>
          </p:txBody>
        </p:sp>
      </p:grpSp>
      <p:sp>
        <p:nvSpPr>
          <p:cNvPr id="15" name="TextBox 14"/>
          <p:cNvSpPr txBox="1"/>
          <p:nvPr/>
        </p:nvSpPr>
        <p:spPr>
          <a:xfrm>
            <a:off x="502920" y="5321808"/>
            <a:ext cx="11183112" cy="411480"/>
          </a:xfrm>
          <a:prstGeom prst="rect">
            <a:avLst/>
          </a:prstGeom>
          <a:noFill/>
        </p:spPr>
        <p:txBody>
          <a:bodyPr wrap="square" lIns="0" rIns="0" tIns="0" bIns="0">
            <a:spAutoFit/>
          </a:bodyPr>
          <a:lstStyle/>
          <a:p>
            <a:r>
              <a:rPr sz="1600" b="1" i="0">
                <a:solidFill>
                  <a:srgbClr val="0B2D4D"/>
                </a:solidFill>
                <a:latin typeface="Calibri"/>
              </a:rPr>
              <a:t>The pattern maps directly to airports: inventory, rank, govern, log.</a:t>
            </a:r>
          </a:p>
        </p:txBody>
      </p:sp>
      <p:sp>
        <p:nvSpPr>
          <p:cNvPr id="16" name="s05-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The Joint Commission, National Patient Safety Goal NPSG.06.01.01 (phased 2014/2016); Respiratory Therapy Magazine alarm-fatigue review (per-bed figures vary by study; magnitude illustrative).</a:t>
            </a:r>
          </a:p>
        </p:txBody>
      </p:sp>
      <p:sp>
        <p:nvSpPr>
          <p:cNvPr id="17" name="TextBox 16"/>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6-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The 'silent airport' peer set is a category error — none published measurement</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descr="Comparison table of London City, Helsinki-Vantaa, Copenhagen, and Schiphol silent-airport policies and structural profiles; a merged cell notes that none published intelligibility or missed-boarding measurement."/>
          <p:cNvGraphicFramePr>
            <a:graphicFrameLocks noGrp="1"/>
          </p:cNvGraphicFramePr>
          <p:nvPr/>
        </p:nvGraphicFramePr>
        <p:xfrm>
          <a:off x="502920" y="1874519"/>
          <a:ext cx="11183112" cy="3794760"/>
        </p:xfrm>
        <a:graphic>
          <a:graphicData uri="http://schemas.openxmlformats.org/drawingml/2006/table">
            <a:tbl>
              <a:tblPr firstRow="1">
                <a:tableStyleId>{5C22544A-7EE6-4342-B048-85BDC9FD1C3A}</a:tableStyleId>
              </a:tblPr>
              <a:tblGrid>
                <a:gridCol w="1691640"/>
                <a:gridCol w="4434840"/>
                <a:gridCol w="2788920"/>
                <a:gridCol w="2267712"/>
              </a:tblGrid>
              <a:tr h="758952">
                <a:tc>
                  <a:txBody>
                    <a:bodyPr wrap="square"/>
                    <a:lstStyle/>
                    <a:p>
                      <a:r>
                        <a:rPr sz="1200" b="1" i="0">
                          <a:solidFill>
                            <a:srgbClr val="FFFFFF"/>
                          </a:solidFill>
                          <a:latin typeface="Calibri"/>
                        </a:rPr>
                        <a:t>Airport</a:t>
                      </a:r>
                    </a:p>
                  </a:txBody>
                  <a:tcPr anchor="ctr" marL="91440" marR="91440" marT="45720" marB="45720">
                    <a:solidFill>
                      <a:srgbClr val="0B2D4D"/>
                    </a:solidFill>
                  </a:tcPr>
                </a:tc>
                <a:tc>
                  <a:txBody>
                    <a:bodyPr wrap="square"/>
                    <a:lstStyle/>
                    <a:p>
                      <a:r>
                        <a:rPr sz="1200" b="1" i="0">
                          <a:solidFill>
                            <a:srgbClr val="FFFFFF"/>
                          </a:solidFill>
                          <a:latin typeface="Calibri"/>
                        </a:rPr>
                        <a:t>Announcement policy (operator-described)</a:t>
                      </a:r>
                    </a:p>
                  </a:txBody>
                  <a:tcPr anchor="ctr" marL="91440" marR="91440" marT="45720" marB="45720">
                    <a:solidFill>
                      <a:srgbClr val="0B2D4D"/>
                    </a:solidFill>
                  </a:tcPr>
                </a:tc>
                <a:tc>
                  <a:txBody>
                    <a:bodyPr wrap="square"/>
                    <a:lstStyle/>
                    <a:p>
                      <a:r>
                        <a:rPr sz="1200" b="1" i="0">
                          <a:solidFill>
                            <a:srgbClr val="FFFFFF"/>
                          </a:solidFill>
                          <a:latin typeface="Calibri"/>
                        </a:rPr>
                        <a:t>Structural profile vs. IAD/DCA</a:t>
                      </a:r>
                    </a:p>
                  </a:txBody>
                  <a:tcPr anchor="ctr" marL="91440" marR="91440" marT="45720" marB="45720">
                    <a:solidFill>
                      <a:srgbClr val="0B2D4D"/>
                    </a:solidFill>
                  </a:tcPr>
                </a:tc>
                <a:tc>
                  <a:txBody>
                    <a:bodyPr wrap="square"/>
                    <a:lstStyle/>
                    <a:p>
                      <a:r>
                        <a:rPr sz="1200" b="1" i="0">
                          <a:solidFill>
                            <a:srgbClr val="FFFFFF"/>
                          </a:solidFill>
                          <a:latin typeface="Calibri"/>
                        </a:rPr>
                        <a:t>Published intelligibility or missed-boarding data</a:t>
                      </a:r>
                    </a:p>
                  </a:txBody>
                  <a:tcPr anchor="ctr" marL="91440" marR="91440" marT="45720" marB="45720">
                    <a:solidFill>
                      <a:srgbClr val="0B2D4D"/>
                    </a:solidFill>
                  </a:tcPr>
                </a:tc>
              </a:tr>
              <a:tr h="758952">
                <a:tc>
                  <a:txBody>
                    <a:bodyPr wrap="square"/>
                    <a:lstStyle/>
                    <a:p>
                      <a:r>
                        <a:rPr sz="1200" b="1" i="0">
                          <a:solidFill>
                            <a:srgbClr val="0B2D4D"/>
                          </a:solidFill>
                          <a:latin typeface="Calibri"/>
                        </a:rPr>
                        <a:t>London City (LCY)</a:t>
                      </a:r>
                    </a:p>
                  </a:txBody>
                  <a:tcPr anchor="ctr" marL="91440" marR="91440" marT="45720" marB="45720">
                    <a:solidFill>
                      <a:srgbClr val="FFFFFF"/>
                    </a:solidFill>
                  </a:tcPr>
                </a:tc>
                <a:tc>
                  <a:txBody>
                    <a:bodyPr wrap="square"/>
                    <a:lstStyle/>
                    <a:p>
                      <a:r>
                        <a:rPr sz="1200" b="0" i="0">
                          <a:solidFill>
                            <a:srgbClr val="17232D"/>
                          </a:solidFill>
                          <a:latin typeface="Calibri"/>
                        </a:rPr>
                        <a:t>Silent policy since 2008; no flight or gate announcements since Aug 18, 2016, except essential and emergency</a:t>
                      </a:r>
                    </a:p>
                  </a:txBody>
                  <a:tcPr anchor="ctr" marL="91440" marR="91440" marT="45720" marB="45720">
                    <a:solidFill>
                      <a:srgbClr val="FFFFFF"/>
                    </a:solidFill>
                  </a:tcPr>
                </a:tc>
                <a:tc>
                  <a:txBody>
                    <a:bodyPr wrap="square"/>
                    <a:lstStyle/>
                    <a:p>
                      <a:r>
                        <a:rPr sz="1200" b="0" i="0">
                          <a:solidFill>
                            <a:srgbClr val="17232D"/>
                          </a:solidFill>
                          <a:latin typeface="Calibri"/>
                        </a:rPr>
                        <a:t>Small, point-to-point, business-traveler-dominant</a:t>
                      </a:r>
                    </a:p>
                  </a:txBody>
                  <a:tcPr anchor="ctr" marL="91440" marR="91440" marT="45720" marB="45720">
                    <a:solidFill>
                      <a:srgbClr val="FFFFFF"/>
                    </a:solidFill>
                  </a:tcPr>
                </a:tc>
                <a:tc rowSpan="4">
                  <a:txBody>
                    <a:bodyPr wrap="square"/>
                    <a:lstStyle/>
                    <a:p>
                      <a:pPr algn="ctr"/>
                      <a:r>
                        <a:rPr sz="1300" b="1" i="0">
                          <a:solidFill>
                            <a:srgbClr val="17232D"/>
                          </a:solidFill>
                          <a:latin typeface="Calibri"/>
                        </a:rPr>
                        <a:t>None identified in this research pass</a:t>
                      </a:r>
                    </a:p>
                  </a:txBody>
                  <a:tcPr anchor="ctr" marL="91440" marR="91440" marT="45720" marB="45720">
                    <a:solidFill>
                      <a:srgbClr val="F6EAD3"/>
                    </a:solidFill>
                  </a:tcPr>
                </a:tc>
              </a:tr>
              <a:tr h="758952">
                <a:tc>
                  <a:txBody>
                    <a:bodyPr wrap="square"/>
                    <a:lstStyle/>
                    <a:p>
                      <a:r>
                        <a:rPr sz="1200" b="1" i="0">
                          <a:solidFill>
                            <a:srgbClr val="0B2D4D"/>
                          </a:solidFill>
                          <a:latin typeface="Calibri"/>
                        </a:rPr>
                        <a:t>Helsinki-Vantaa (HEL)</a:t>
                      </a:r>
                    </a:p>
                  </a:txBody>
                  <a:tcPr anchor="ctr" marL="91440" marR="91440" marT="45720" marB="45720">
                    <a:solidFill>
                      <a:srgbClr val="EDF3F6"/>
                    </a:solidFill>
                  </a:tcPr>
                </a:tc>
                <a:tc>
                  <a:txBody>
                    <a:bodyPr wrap="square"/>
                    <a:lstStyle/>
                    <a:p>
                      <a:r>
                        <a:rPr sz="1200" b="0" i="0">
                          <a:solidFill>
                            <a:srgbClr val="17232D"/>
                          </a:solidFill>
                          <a:latin typeface="Calibri"/>
                        </a:rPr>
                        <a:t>Silent regime since 2015; gate-area and emergency overrides retained</a:t>
                      </a:r>
                    </a:p>
                  </a:txBody>
                  <a:tcPr anchor="ctr" marL="91440" marR="91440" marT="45720" marB="45720">
                    <a:solidFill>
                      <a:srgbClr val="EDF3F6"/>
                    </a:solidFill>
                  </a:tcPr>
                </a:tc>
                <a:tc>
                  <a:txBody>
                    <a:bodyPr wrap="square"/>
                    <a:lstStyle/>
                    <a:p>
                      <a:r>
                        <a:rPr sz="1200" b="0" i="0">
                          <a:solidFill>
                            <a:srgbClr val="17232D"/>
                          </a:solidFill>
                          <a:latin typeface="Calibri"/>
                        </a:rPr>
                        <a:t>Small transfer airport, high English proficiency</a:t>
                      </a:r>
                    </a:p>
                  </a:txBody>
                  <a:tcPr anchor="ctr" marL="91440" marR="91440" marT="45720" marB="45720">
                    <a:solidFill>
                      <a:srgbClr val="EDF3F6"/>
                    </a:solidFill>
                  </a:tcPr>
                </a:tc>
                <a:tc vMerge="1">
                  <a:txBody>
                    <a:bodyPr/>
                    <a:lstStyle/>
                    <a:p/>
                  </a:txBody>
                  <a:tcPr/>
                </a:tc>
              </a:tr>
              <a:tr h="758952">
                <a:tc>
                  <a:txBody>
                    <a:bodyPr wrap="square"/>
                    <a:lstStyle/>
                    <a:p>
                      <a:r>
                        <a:rPr sz="1200" b="1" i="0">
                          <a:solidFill>
                            <a:srgbClr val="0B2D4D"/>
                          </a:solidFill>
                          <a:latin typeface="Calibri"/>
                        </a:rPr>
                        <a:t>Copenhagen (CPH)</a:t>
                      </a:r>
                    </a:p>
                  </a:txBody>
                  <a:tcPr anchor="ctr" marL="91440" marR="91440" marT="45720" marB="45720">
                    <a:solidFill>
                      <a:srgbClr val="FFFFFF"/>
                    </a:solidFill>
                  </a:tcPr>
                </a:tc>
                <a:tc>
                  <a:txBody>
                    <a:bodyPr wrap="square"/>
                    <a:lstStyle/>
                    <a:p>
                      <a:r>
                        <a:rPr sz="1200" b="0" i="0">
                          <a:solidFill>
                            <a:srgbClr val="17232D"/>
                          </a:solidFill>
                          <a:latin typeface="Calibri"/>
                        </a:rPr>
                        <a:t>Gate and boarding information moved to screens and app</a:t>
                      </a:r>
                    </a:p>
                  </a:txBody>
                  <a:tcPr anchor="ctr" marL="91440" marR="91440" marT="45720" marB="45720">
                    <a:solidFill>
                      <a:srgbClr val="FFFFFF"/>
                    </a:solidFill>
                  </a:tcPr>
                </a:tc>
                <a:tc>
                  <a:txBody>
                    <a:bodyPr wrap="square"/>
                    <a:lstStyle/>
                    <a:p>
                      <a:r>
                        <a:rPr sz="1200" b="0" i="0">
                          <a:solidFill>
                            <a:srgbClr val="17232D"/>
                          </a:solidFill>
                          <a:latin typeface="Calibri"/>
                        </a:rPr>
                        <a:t>Point-to-point-weighted Northern European hub</a:t>
                      </a:r>
                    </a:p>
                  </a:txBody>
                  <a:tcPr anchor="ctr" marL="91440" marR="91440" marT="45720" marB="45720">
                    <a:solidFill>
                      <a:srgbClr val="FFFFFF"/>
                    </a:solidFill>
                  </a:tcPr>
                </a:tc>
                <a:tc vMerge="1">
                  <a:txBody>
                    <a:bodyPr/>
                    <a:lstStyle/>
                    <a:p/>
                  </a:txBody>
                  <a:tcPr/>
                </a:tc>
              </a:tr>
              <a:tr h="758952">
                <a:tc>
                  <a:txBody>
                    <a:bodyPr wrap="square"/>
                    <a:lstStyle/>
                    <a:p>
                      <a:r>
                        <a:rPr sz="1200" b="1" i="0">
                          <a:solidFill>
                            <a:srgbClr val="0B2D4D"/>
                          </a:solidFill>
                          <a:latin typeface="Calibri"/>
                        </a:rPr>
                        <a:t>Amsterdam Schiphol (AMS)</a:t>
                      </a:r>
                    </a:p>
                  </a:txBody>
                  <a:tcPr anchor="ctr" marL="91440" marR="91440" marT="45720" marB="45720">
                    <a:solidFill>
                      <a:srgbClr val="EDF3F6"/>
                    </a:solidFill>
                  </a:tcPr>
                </a:tc>
                <a:tc>
                  <a:txBody>
                    <a:bodyPr wrap="square"/>
                    <a:lstStyle/>
                    <a:p>
                      <a:r>
                        <a:rPr sz="1200" b="0" i="0">
                          <a:solidFill>
                            <a:srgbClr val="17232D"/>
                          </a:solidFill>
                          <a:latin typeface="Calibri"/>
                        </a:rPr>
                        <a:t>Operator-described “Silent Airport”; information on screens and airport app</a:t>
                      </a:r>
                    </a:p>
                  </a:txBody>
                  <a:tcPr anchor="ctr" marL="91440" marR="91440" marT="45720" marB="45720">
                    <a:solidFill>
                      <a:srgbClr val="EDF3F6"/>
                    </a:solidFill>
                  </a:tcPr>
                </a:tc>
                <a:tc>
                  <a:txBody>
                    <a:bodyPr wrap="square"/>
                    <a:lstStyle/>
                    <a:p>
                      <a:r>
                        <a:rPr sz="1200" b="0" i="0">
                          <a:solidFill>
                            <a:srgbClr val="17232D"/>
                          </a:solidFill>
                          <a:latin typeface="Calibri"/>
                        </a:rPr>
                        <a:t>Large transfer hub — the closest structural analogue; rests on screen density and app-carrying passengers</a:t>
                      </a:r>
                    </a:p>
                  </a:txBody>
                  <a:tcPr anchor="ctr" marL="91440" marR="91440" marT="45720" marB="45720">
                    <a:solidFill>
                      <a:srgbClr val="EDF3F6"/>
                    </a:solidFill>
                  </a:tcPr>
                </a:tc>
                <a:tc vMerge="1">
                  <a:txBody>
                    <a:bodyPr/>
                    <a:lstStyle/>
                    <a:p/>
                  </a:txBody>
                  <a:tcPr/>
                </a:tc>
              </a:tr>
            </a:tbl>
          </a:graphicData>
        </a:graphic>
      </p:graphicFrame>
      <p:sp>
        <p:nvSpPr>
          <p:cNvPr id="5" name="TextBox 4"/>
          <p:cNvSpPr txBox="1"/>
          <p:nvPr/>
        </p:nvSpPr>
        <p:spPr>
          <a:xfrm>
            <a:off x="502920" y="5870448"/>
            <a:ext cx="11183112" cy="365760"/>
          </a:xfrm>
          <a:prstGeom prst="rect">
            <a:avLst/>
          </a:prstGeom>
          <a:noFill/>
        </p:spPr>
        <p:txBody>
          <a:bodyPr wrap="square" lIns="0" rIns="0" tIns="0" bIns="0">
            <a:spAutoFit/>
          </a:bodyPr>
          <a:lstStyle/>
          <a:p>
            <a:r>
              <a:rPr sz="1600" b="0" i="1">
                <a:solidFill>
                  <a:srgbClr val="0B2D4D"/>
                </a:solidFill>
                <a:latin typeface="Calibri"/>
              </a:rPr>
              <a:t>Policy analogues, not design precedents.</a:t>
            </a:r>
          </a:p>
        </p:txBody>
      </p:sp>
      <p:sp>
        <p:nvSpPr>
          <p:cNvPr id="6" name="s06-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operator self-descriptions — londoncityairport.com; Finavia (Helsinki-Vantaa); Copenhagen Airport passenger-communication policy; Amsterdam Schiphol Silent Airport pages. No published intelligibility or missed-boarding measurement identified for any of the four.</a:t>
            </a:r>
          </a:p>
        </p:txBody>
      </p:sp>
      <p:sp>
        <p:nvSpPr>
          <p:cNvPr id="7" name="TextBox 6"/>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7-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SFO shows the operating model — and what subtraction without engineering costs</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SFO reported before/after paging volumes" descr="Two paired before-and-after bar charts of SFO-reported Quiet Airport outcomes: individual paging occurrences fell from 492 to 261 per day and cumulative announcement time from 145 to 58 minutes per day; stamped SFO-reported, methodology not published."/>
          <p:cNvGrpSpPr/>
          <p:nvPr/>
        </p:nvGrpSpPr>
        <p:grpSpPr>
          <a:xfrm>
            <a:off x="566928" y="1920240"/>
            <a:ext cx="6336792" cy="3447287"/>
            <a:chOff x="566928" y="1920240"/>
            <a:chExt cx="6336792" cy="3447287"/>
          </a:xfrm>
        </p:grpSpPr>
        <p:sp>
          <p:nvSpPr>
            <p:cNvPr id="5" name="Rectangle 4"/>
            <p:cNvSpPr/>
            <p:nvPr/>
          </p:nvSpPr>
          <p:spPr>
            <a:xfrm>
              <a:off x="566928" y="1920240"/>
              <a:ext cx="3749039" cy="384048"/>
            </a:xfrm>
            <a:prstGeom prst="rect">
              <a:avLst/>
            </a:prstGeom>
            <a:solidFill>
              <a:srgbClr val="F6EAD3"/>
            </a:solidFill>
            <a:ln w="127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tIns="109728" bIns="109728"/>
            <a:lstStyle/>
            <a:p>
              <a:pPr algn="ctr"/>
              <a:r>
                <a:rPr sz="1200" b="1" i="0">
                  <a:solidFill>
                    <a:srgbClr val="17232D"/>
                  </a:solidFill>
                  <a:latin typeface="Calibri"/>
                </a:rPr>
                <a:t>SFO-reported; methodology not published</a:t>
              </a:r>
            </a:p>
          </p:txBody>
        </p:sp>
        <p:sp>
          <p:nvSpPr>
            <p:cNvPr id="6" name="TextBox 5"/>
            <p:cNvSpPr txBox="1"/>
            <p:nvPr/>
          </p:nvSpPr>
          <p:spPr>
            <a:xfrm>
              <a:off x="731520" y="2514600"/>
              <a:ext cx="3017520" cy="502920"/>
            </a:xfrm>
            <a:prstGeom prst="rect">
              <a:avLst/>
            </a:prstGeom>
            <a:noFill/>
          </p:spPr>
          <p:txBody>
            <a:bodyPr wrap="square" lIns="0" rIns="0" tIns="0" bIns="0">
              <a:spAutoFit/>
            </a:bodyPr>
            <a:lstStyle/>
            <a:p>
              <a:r>
                <a:rPr sz="1200" b="1" i="0">
                  <a:solidFill>
                    <a:srgbClr val="0B2D4D"/>
                  </a:solidFill>
                  <a:latin typeface="Calibri"/>
                </a:rPr>
                <a:t>Individual paging occurrences per day</a:t>
              </a:r>
            </a:p>
          </p:txBody>
        </p:sp>
        <p:sp>
          <p:nvSpPr>
            <p:cNvPr id="7" name="Rectangle 6"/>
            <p:cNvSpPr/>
            <p:nvPr/>
          </p:nvSpPr>
          <p:spPr>
            <a:xfrm>
              <a:off x="960120" y="2926079"/>
              <a:ext cx="868680" cy="214884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51760"/>
              <a:ext cx="1143000" cy="256032"/>
            </a:xfrm>
            <a:prstGeom prst="rect">
              <a:avLst/>
            </a:prstGeom>
            <a:noFill/>
          </p:spPr>
          <p:txBody>
            <a:bodyPr wrap="square" lIns="0" rIns="0" tIns="0" bIns="0">
              <a:spAutoFit/>
            </a:bodyPr>
            <a:lstStyle/>
            <a:p>
              <a:pPr algn="ctr"/>
              <a:r>
                <a:rPr sz="1300" b="1" i="0">
                  <a:solidFill>
                    <a:srgbClr val="0B2D4D"/>
                  </a:solidFill>
                  <a:latin typeface="Calibri"/>
                </a:rPr>
                <a:t>492</a:t>
              </a:r>
            </a:p>
          </p:txBody>
        </p:sp>
        <p:sp>
          <p:nvSpPr>
            <p:cNvPr id="9" name="TextBox 8"/>
            <p:cNvSpPr txBox="1"/>
            <p:nvPr/>
          </p:nvSpPr>
          <p:spPr>
            <a:xfrm>
              <a:off x="822960" y="5129783"/>
              <a:ext cx="1143000" cy="237744"/>
            </a:xfrm>
            <a:prstGeom prst="rect">
              <a:avLst/>
            </a:prstGeom>
            <a:noFill/>
          </p:spPr>
          <p:txBody>
            <a:bodyPr wrap="square" lIns="0" rIns="0" tIns="0" bIns="0">
              <a:spAutoFit/>
            </a:bodyPr>
            <a:lstStyle/>
            <a:p>
              <a:pPr algn="ctr"/>
              <a:r>
                <a:rPr sz="1150" b="0" i="0">
                  <a:solidFill>
                    <a:srgbClr val="415669"/>
                  </a:solidFill>
                  <a:latin typeface="Calibri"/>
                </a:rPr>
                <a:t>before</a:t>
              </a:r>
            </a:p>
          </p:txBody>
        </p:sp>
        <p:sp>
          <p:nvSpPr>
            <p:cNvPr id="10" name="Rectangle 9"/>
            <p:cNvSpPr/>
            <p:nvPr/>
          </p:nvSpPr>
          <p:spPr>
            <a:xfrm>
              <a:off x="2286000" y="3934986"/>
              <a:ext cx="868680" cy="1139933"/>
            </a:xfrm>
            <a:prstGeom prst="rect">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40" y="3660666"/>
              <a:ext cx="1143000" cy="256032"/>
            </a:xfrm>
            <a:prstGeom prst="rect">
              <a:avLst/>
            </a:prstGeom>
            <a:noFill/>
          </p:spPr>
          <p:txBody>
            <a:bodyPr wrap="square" lIns="0" rIns="0" tIns="0" bIns="0">
              <a:spAutoFit/>
            </a:bodyPr>
            <a:lstStyle/>
            <a:p>
              <a:pPr algn="ctr"/>
              <a:r>
                <a:rPr sz="1300" b="1" i="0">
                  <a:solidFill>
                    <a:srgbClr val="0B2D4D"/>
                  </a:solidFill>
                  <a:latin typeface="Calibri"/>
                </a:rPr>
                <a:t>261</a:t>
              </a:r>
            </a:p>
          </p:txBody>
        </p:sp>
        <p:sp>
          <p:nvSpPr>
            <p:cNvPr id="12" name="TextBox 11"/>
            <p:cNvSpPr txBox="1"/>
            <p:nvPr/>
          </p:nvSpPr>
          <p:spPr>
            <a:xfrm>
              <a:off x="2148840" y="5129783"/>
              <a:ext cx="1143000" cy="237744"/>
            </a:xfrm>
            <a:prstGeom prst="rect">
              <a:avLst/>
            </a:prstGeom>
            <a:noFill/>
          </p:spPr>
          <p:txBody>
            <a:bodyPr wrap="square" lIns="0" rIns="0" tIns="0" bIns="0">
              <a:spAutoFit/>
            </a:bodyPr>
            <a:lstStyle/>
            <a:p>
              <a:pPr algn="ctr"/>
              <a:r>
                <a:rPr sz="1150" b="0" i="0">
                  <a:solidFill>
                    <a:srgbClr val="415669"/>
                  </a:solidFill>
                  <a:latin typeface="Calibri"/>
                </a:rPr>
                <a:t>after</a:t>
              </a:r>
            </a:p>
          </p:txBody>
        </p:sp>
        <p:sp>
          <p:nvSpPr>
            <p:cNvPr id="13" name="TextBox 12"/>
            <p:cNvSpPr txBox="1"/>
            <p:nvPr/>
          </p:nvSpPr>
          <p:spPr>
            <a:xfrm>
              <a:off x="3840480" y="2514600"/>
              <a:ext cx="3017520" cy="502920"/>
            </a:xfrm>
            <a:prstGeom prst="rect">
              <a:avLst/>
            </a:prstGeom>
            <a:noFill/>
          </p:spPr>
          <p:txBody>
            <a:bodyPr wrap="square" lIns="0" rIns="0" tIns="0" bIns="0">
              <a:spAutoFit/>
            </a:bodyPr>
            <a:lstStyle/>
            <a:p>
              <a:r>
                <a:rPr sz="1200" b="1" i="0">
                  <a:solidFill>
                    <a:srgbClr val="0B2D4D"/>
                  </a:solidFill>
                  <a:latin typeface="Calibri"/>
                </a:rPr>
                <a:t>Cumulative announcement time, minutes per day</a:t>
              </a:r>
            </a:p>
          </p:txBody>
        </p:sp>
        <p:sp>
          <p:nvSpPr>
            <p:cNvPr id="14" name="Rectangle 13"/>
            <p:cNvSpPr/>
            <p:nvPr/>
          </p:nvSpPr>
          <p:spPr>
            <a:xfrm>
              <a:off x="4069080" y="2926080"/>
              <a:ext cx="868680" cy="2148839"/>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31920" y="2651760"/>
              <a:ext cx="1143000" cy="256032"/>
            </a:xfrm>
            <a:prstGeom prst="rect">
              <a:avLst/>
            </a:prstGeom>
            <a:noFill/>
          </p:spPr>
          <p:txBody>
            <a:bodyPr wrap="square" lIns="0" rIns="0" tIns="0" bIns="0">
              <a:spAutoFit/>
            </a:bodyPr>
            <a:lstStyle/>
            <a:p>
              <a:pPr algn="ctr"/>
              <a:r>
                <a:rPr sz="1300" b="1" i="0">
                  <a:solidFill>
                    <a:srgbClr val="0B2D4D"/>
                  </a:solidFill>
                  <a:latin typeface="Calibri"/>
                </a:rPr>
                <a:t>145</a:t>
              </a:r>
            </a:p>
          </p:txBody>
        </p:sp>
        <p:sp>
          <p:nvSpPr>
            <p:cNvPr id="16" name="TextBox 15"/>
            <p:cNvSpPr txBox="1"/>
            <p:nvPr/>
          </p:nvSpPr>
          <p:spPr>
            <a:xfrm>
              <a:off x="3931920" y="5129783"/>
              <a:ext cx="1143000" cy="237744"/>
            </a:xfrm>
            <a:prstGeom prst="rect">
              <a:avLst/>
            </a:prstGeom>
            <a:noFill/>
          </p:spPr>
          <p:txBody>
            <a:bodyPr wrap="square" lIns="0" rIns="0" tIns="0" bIns="0">
              <a:spAutoFit/>
            </a:bodyPr>
            <a:lstStyle/>
            <a:p>
              <a:pPr algn="ctr"/>
              <a:r>
                <a:rPr sz="1150" b="0" i="0">
                  <a:solidFill>
                    <a:srgbClr val="415669"/>
                  </a:solidFill>
                  <a:latin typeface="Calibri"/>
                </a:rPr>
                <a:t>before</a:t>
              </a:r>
            </a:p>
          </p:txBody>
        </p:sp>
        <p:sp>
          <p:nvSpPr>
            <p:cNvPr id="17" name="Rectangle 16"/>
            <p:cNvSpPr/>
            <p:nvPr/>
          </p:nvSpPr>
          <p:spPr>
            <a:xfrm>
              <a:off x="5394960" y="4215383"/>
              <a:ext cx="868680" cy="859536"/>
            </a:xfrm>
            <a:prstGeom prst="rect">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3941063"/>
              <a:ext cx="1143000" cy="256032"/>
            </a:xfrm>
            <a:prstGeom prst="rect">
              <a:avLst/>
            </a:prstGeom>
            <a:noFill/>
          </p:spPr>
          <p:txBody>
            <a:bodyPr wrap="square" lIns="0" rIns="0" tIns="0" bIns="0">
              <a:spAutoFit/>
            </a:bodyPr>
            <a:lstStyle/>
            <a:p>
              <a:pPr algn="ctr"/>
              <a:r>
                <a:rPr sz="1300" b="1" i="0">
                  <a:solidFill>
                    <a:srgbClr val="0B2D4D"/>
                  </a:solidFill>
                  <a:latin typeface="Calibri"/>
                </a:rPr>
                <a:t>58</a:t>
              </a:r>
            </a:p>
          </p:txBody>
        </p:sp>
        <p:sp>
          <p:nvSpPr>
            <p:cNvPr id="19" name="TextBox 18"/>
            <p:cNvSpPr txBox="1"/>
            <p:nvPr/>
          </p:nvSpPr>
          <p:spPr>
            <a:xfrm>
              <a:off x="5257800" y="5129783"/>
              <a:ext cx="1143000" cy="237744"/>
            </a:xfrm>
            <a:prstGeom prst="rect">
              <a:avLst/>
            </a:prstGeom>
            <a:noFill/>
          </p:spPr>
          <p:txBody>
            <a:bodyPr wrap="square" lIns="0" rIns="0" tIns="0" bIns="0">
              <a:spAutoFit/>
            </a:bodyPr>
            <a:lstStyle/>
            <a:p>
              <a:pPr algn="ctr"/>
              <a:r>
                <a:rPr sz="1150" b="0" i="0">
                  <a:solidFill>
                    <a:srgbClr val="415669"/>
                  </a:solidFill>
                  <a:latin typeface="Calibri"/>
                </a:rPr>
                <a:t>after</a:t>
              </a:r>
            </a:p>
          </p:txBody>
        </p:sp>
        <p:sp>
          <p:nvSpPr>
            <p:cNvPr id="20" name="Rectangle 19"/>
            <p:cNvSpPr/>
            <p:nvPr/>
          </p:nvSpPr>
          <p:spPr>
            <a:xfrm>
              <a:off x="777240" y="5074920"/>
              <a:ext cx="6126480" cy="2286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1" name="Rectangle 20"/>
          <p:cNvSpPr/>
          <p:nvPr/>
        </p:nvSpPr>
        <p:spPr>
          <a:xfrm>
            <a:off x="7543800" y="1920240"/>
            <a:ext cx="4142232" cy="3977639"/>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09728" bIns="109728"/>
          <a:lstStyle/>
          <a:p>
            <a:pPr algn="ctr"/>
            <a:r>
              <a:rPr sz="1600" b="1" i="0">
                <a:solidFill>
                  <a:srgbClr val="415669"/>
                </a:solidFill>
                <a:latin typeface="Calibri"/>
              </a:rPr>
              <a:t>THE SAME RECORD</a:t>
            </a:r>
          </a:p>
          <a:p>
            <a:pPr>
              <a:spcBef>
                <a:spcPts val="1000"/>
              </a:spcBef>
            </a:pPr>
            <a:r>
              <a:rPr sz="1600" b="0" i="0">
                <a:solidFill>
                  <a:srgbClr val="17232D"/>
                </a:solidFill>
                <a:latin typeface="Calibri"/>
              </a:rPr>
              <a:t>Documented passenger complaints and missed-flight accounts attributed to the reduced-announcement practice, in contemporaneous reporting.</a:t>
            </a:r>
          </a:p>
          <a:p>
            <a:pPr>
              <a:spcBef>
                <a:spcPts val="1000"/>
              </a:spcBef>
            </a:pPr>
            <a:r>
              <a:rPr sz="1600" b="1" i="0">
                <a:solidFill>
                  <a:srgbClr val="0B2D4D"/>
                </a:solidFill>
                <a:latin typeface="Calibri"/>
              </a:rPr>
              <a:t>Announcement reduction without intelligibility engineering and channel redundancy is subtraction, not design.</a:t>
            </a:r>
          </a:p>
        </p:txBody>
      </p:sp>
      <p:sp>
        <p:nvSpPr>
          <p:cNvPr id="22" name="s07-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SFO Quiet Airport outcomes as reported by International Airport Review (2023) and View from the Wing, citing SFO; all figures SFO-reported, methodology not published. Counterweight: Simple Flying, documented missed-flight and confusion accounts.</a:t>
            </a:r>
          </a:p>
        </p:txBody>
      </p:sp>
      <p:sp>
        <p:nvSpPr>
          <p:cNvPr id="23" name="TextBox 22"/>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8-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The people who most need to hear are the legal floor, not an edge case</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accessibility regulatory stack" descr="Vertical stack of four regulation bands: 28 CFR 35.160 effective communication, 2010 ADA Standards sections 219 and 706 assistive listening, 14 CFR Part 382 equal gate information, and ACRP Research Report 239 guidance that digital substitution is partial."/>
          <p:cNvGrpSpPr/>
          <p:nvPr/>
        </p:nvGrpSpPr>
        <p:grpSpPr>
          <a:xfrm>
            <a:off x="566928" y="1920240"/>
            <a:ext cx="6903720" cy="4005072"/>
            <a:chOff x="566928" y="1920240"/>
            <a:chExt cx="6903720" cy="4005072"/>
          </a:xfrm>
        </p:grpSpPr>
        <p:sp>
          <p:nvSpPr>
            <p:cNvPr id="5" name="Rectangle 4"/>
            <p:cNvSpPr/>
            <p:nvPr/>
          </p:nvSpPr>
          <p:spPr>
            <a:xfrm>
              <a:off x="566928" y="1920240"/>
              <a:ext cx="6903720" cy="932688"/>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00" b="1" i="0">
                  <a:solidFill>
                    <a:srgbClr val="FFFFFF"/>
                  </a:solidFill>
                  <a:latin typeface="Calibri"/>
                </a:rPr>
                <a:t>28 CFR 35.160 — ADA Title II  </a:t>
              </a:r>
              <a:r>
                <a:rPr sz="1200" b="0" i="0">
                  <a:solidFill>
                    <a:srgbClr val="FFFFFF"/>
                  </a:solidFill>
                  <a:latin typeface="Calibri"/>
                </a:rPr>
                <a:t>Effective communication with people with disabilities; auxiliary aids and services.</a:t>
              </a:r>
            </a:p>
          </p:txBody>
        </p:sp>
        <p:sp>
          <p:nvSpPr>
            <p:cNvPr id="6" name="Rectangle 5"/>
            <p:cNvSpPr/>
            <p:nvPr/>
          </p:nvSpPr>
          <p:spPr>
            <a:xfrm>
              <a:off x="566928" y="2944368"/>
              <a:ext cx="6903720" cy="932688"/>
            </a:xfrm>
            <a:prstGeom prst="rect">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00" b="1" i="0">
                  <a:solidFill>
                    <a:srgbClr val="FFFFFF"/>
                  </a:solidFill>
                  <a:latin typeface="Calibri"/>
                </a:rPr>
                <a:t>2010 ADA Standards §219 / §706  </a:t>
              </a:r>
              <a:r>
                <a:rPr sz="1200" b="0" i="0">
                  <a:solidFill>
                    <a:srgbClr val="FFFFFF"/>
                  </a:solidFill>
                  <a:latin typeface="Calibri"/>
                </a:rPr>
                <a:t>Assistive-listening systems in each assembly area where audible communication is integral to use.</a:t>
              </a:r>
            </a:p>
          </p:txBody>
        </p:sp>
        <p:sp>
          <p:nvSpPr>
            <p:cNvPr id="7" name="Rectangle 6"/>
            <p:cNvSpPr/>
            <p:nvPr/>
          </p:nvSpPr>
          <p:spPr>
            <a:xfrm>
              <a:off x="566928" y="3968496"/>
              <a:ext cx="6903720" cy="9326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00" b="1" i="0">
                  <a:solidFill>
                    <a:srgbClr val="FFFFFF"/>
                  </a:solidFill>
                  <a:latin typeface="Calibri"/>
                </a:rPr>
                <a:t>14 CFR Part 382  </a:t>
              </a:r>
              <a:r>
                <a:rPr sz="1200" b="0" i="0">
                  <a:solidFill>
                    <a:srgbClr val="FFFFFF"/>
                  </a:solidFill>
                  <a:latin typeface="Calibri"/>
                </a:rPr>
                <a:t>Prompt access to the same gate information for passengers needing visual or hearing assistance.</a:t>
              </a:r>
            </a:p>
          </p:txBody>
        </p:sp>
        <p:sp>
          <p:nvSpPr>
            <p:cNvPr id="8" name="Rectangle 7"/>
            <p:cNvSpPr/>
            <p:nvPr/>
          </p:nvSpPr>
          <p:spPr>
            <a:xfrm>
              <a:off x="566928" y="4992624"/>
              <a:ext cx="6903720" cy="93268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00" b="1" i="0">
                  <a:solidFill>
                    <a:srgbClr val="17232D"/>
                  </a:solidFill>
                  <a:latin typeface="Calibri"/>
                </a:rPr>
                <a:t>ACRP Research Report 239  </a:t>
              </a:r>
              <a:r>
                <a:rPr sz="1200" b="0" i="0">
                  <a:solidFill>
                    <a:srgbClr val="17232D"/>
                  </a:solidFill>
                  <a:latin typeface="Calibri"/>
                </a:rPr>
                <a:t>Digital-first substitution is partial, not sufficient, for travelers with disabilities and older adults.</a:t>
              </a:r>
            </a:p>
          </p:txBody>
        </p:sp>
        <p:sp>
          <p:nvSpPr>
            <p:cNvPr id="9" name="Rectangle 8"/>
            <p:cNvSpPr/>
            <p:nvPr/>
          </p:nvSpPr>
          <p:spPr>
            <a:xfrm>
              <a:off x="6446520" y="5065776"/>
              <a:ext cx="914400" cy="274320"/>
            </a:xfrm>
            <a:prstGeom prst="rect">
              <a:avLst/>
            </a:prstGeom>
            <a:solidFill>
              <a:srgbClr val="F6EAD3"/>
            </a:solidFill>
            <a:ln w="9525">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09728" bIns="109728"/>
            <a:lstStyle/>
            <a:p>
              <a:pPr algn="ctr"/>
              <a:r>
                <a:rPr sz="1050" b="1" i="0">
                  <a:solidFill>
                    <a:srgbClr val="17232D"/>
                  </a:solidFill>
                  <a:latin typeface="Calibri"/>
                </a:rPr>
                <a:t>guidance</a:t>
              </a:r>
            </a:p>
          </p:txBody>
        </p:sp>
      </p:grpSp>
      <p:sp>
        <p:nvSpPr>
          <p:cNvPr id="10" name="TextBox 9"/>
          <p:cNvSpPr txBox="1"/>
          <p:nvPr/>
        </p:nvSpPr>
        <p:spPr>
          <a:xfrm>
            <a:off x="7818120" y="2103120"/>
            <a:ext cx="3840480" cy="3657600"/>
          </a:xfrm>
          <a:prstGeom prst="rect">
            <a:avLst/>
          </a:prstGeom>
          <a:noFill/>
        </p:spPr>
        <p:txBody>
          <a:bodyPr wrap="square" lIns="0" rIns="0" tIns="0" bIns="0">
            <a:spAutoFit/>
          </a:bodyPr>
          <a:lstStyle/>
          <a:p>
            <a:r>
              <a:rPr sz="1700" b="1" i="0">
                <a:solidFill>
                  <a:srgbClr val="0B2D4D"/>
                </a:solidFill>
                <a:latin typeface="Calibri"/>
              </a:rPr>
              <a:t>A standard that mandates redundant visual, digital, staffed, and hearing-loop channels binds MWAA harder than current practice, not softer.</a:t>
            </a:r>
          </a:p>
          <a:p>
            <a:pPr>
              <a:spcBef>
                <a:spcPts val="1200"/>
              </a:spcBef>
            </a:pPr>
            <a:r>
              <a:rPr sz="1600" b="0" i="0">
                <a:solidFill>
                  <a:srgbClr val="17232D"/>
                </a:solidFill>
                <a:latin typeface="Calibri"/>
              </a:rPr>
              <a:t>Reducing broadcast without those redundancies compounds exclusion.</a:t>
            </a:r>
          </a:p>
        </p:txBody>
      </p:sp>
      <p:sp>
        <p:nvSpPr>
          <p:cNvPr id="11" name="s08-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28 C.F.R. § 35.160 (ada.gov); DOJ 2010 ADA Standards §§219, 706; 14 C.F.R. Part 382 (ecfr.gov); ACRP Research Report 239 (TRB, 2023).</a:t>
            </a:r>
          </a:p>
        </p:txBody>
      </p:sp>
      <p:sp>
        <p:nvSpPr>
          <p:cNvPr id="12" name="TextBox 11"/>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09-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A two-tier standard — and the paragraph the silent-airport literature omits</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two-tier standard framework" descr="Two-column framework: mandatory floors at both airports and context-dependent tiers by terminal, over an amber band defining the Airport Duty Manager IROPS override with logged deviations."/>
          <p:cNvGrpSpPr/>
          <p:nvPr/>
        </p:nvGrpSpPr>
        <p:grpSpPr>
          <a:xfrm>
            <a:off x="566928" y="1847088"/>
            <a:ext cx="11109960" cy="4334256"/>
            <a:chOff x="566928" y="1847088"/>
            <a:chExt cx="11109960" cy="4334256"/>
          </a:xfrm>
        </p:grpSpPr>
        <p:sp>
          <p:nvSpPr>
            <p:cNvPr id="5" name="Rectangle 4"/>
            <p:cNvSpPr/>
            <p:nvPr/>
          </p:nvSpPr>
          <p:spPr>
            <a:xfrm>
              <a:off x="566928" y="1847088"/>
              <a:ext cx="5440680" cy="329184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FFFFFF"/>
                  </a:solidFill>
                  <a:latin typeface="Georgia"/>
                </a:rPr>
                <a:t>MANDATORY AT BOTH AIRPORTS</a:t>
              </a:r>
            </a:p>
            <a:p>
              <a:pPr>
                <a:spcBef>
                  <a:spcPts val="500"/>
                </a:spcBef>
              </a:pPr>
              <a:r>
                <a:rPr sz="1150" b="0" i="0">
                  <a:solidFill>
                    <a:srgbClr val="FFFFFF"/>
                  </a:solidFill>
                  <a:latin typeface="Calibri"/>
                </a:rPr>
                <a:t>•  </a:t>
              </a:r>
              <a:r>
                <a:rPr sz="1150" b="0" i="0">
                  <a:solidFill>
                    <a:srgbClr val="FFFFFF"/>
                  </a:solidFill>
                  <a:latin typeface="Calibri"/>
                </a:rPr>
                <a:t>Acoustically-distinguishable-space (ADS) map as a design deliverable</a:t>
              </a:r>
            </a:p>
            <a:p>
              <a:pPr>
                <a:spcBef>
                  <a:spcPts val="500"/>
                </a:spcBef>
              </a:pPr>
              <a:r>
                <a:rPr sz="1150" b="0" i="0">
                  <a:solidFill>
                    <a:srgbClr val="FFFFFF"/>
                  </a:solidFill>
                  <a:latin typeface="Calibri"/>
                </a:rPr>
                <a:t>•  </a:t>
              </a:r>
              <a:r>
                <a:rPr sz="1150" b="0" i="0">
                  <a:solidFill>
                    <a:srgbClr val="FFFFFF"/>
                  </a:solidFill>
                  <a:latin typeface="Calibri"/>
                </a:rPr>
                <a:t>Intelligibility floors per NFPA 72 and ACRP 175</a:t>
              </a:r>
            </a:p>
            <a:p>
              <a:pPr>
                <a:spcBef>
                  <a:spcPts val="500"/>
                </a:spcBef>
              </a:pPr>
              <a:r>
                <a:rPr sz="1150" b="0" i="0">
                  <a:solidFill>
                    <a:srgbClr val="FFFFFF"/>
                  </a:solidFill>
                  <a:latin typeface="Calibri"/>
                </a:rPr>
                <a:t>•  </a:t>
              </a:r>
              <a:r>
                <a:rPr sz="1150" b="0" i="0">
                  <a:solidFill>
                    <a:srgbClr val="FFFFFF"/>
                  </a:solidFill>
                  <a:latin typeface="Calibri"/>
                </a:rPr>
                <a:t>Measurement per IEC 60268-16:2020, commissioned under representative traffic, with cure period</a:t>
              </a:r>
            </a:p>
            <a:p>
              <a:pPr>
                <a:spcBef>
                  <a:spcPts val="500"/>
                </a:spcBef>
              </a:pPr>
              <a:r>
                <a:rPr sz="1150" b="0" i="0">
                  <a:solidFill>
                    <a:srgbClr val="FFFFFF"/>
                  </a:solidFill>
                  <a:latin typeface="Calibri"/>
                </a:rPr>
                <a:t>•  </a:t>
              </a:r>
              <a:r>
                <a:rPr sz="1150" b="0" i="0">
                  <a:solidFill>
                    <a:srgbClr val="FFFFFF"/>
                  </a:solidFill>
                  <a:latin typeface="Calibri"/>
                </a:rPr>
                <a:t>Accessibility floors: 28 CFR 35.160, 2010 ADA Standards, 14 CFR Part 382</a:t>
              </a:r>
            </a:p>
            <a:p>
              <a:pPr>
                <a:spcBef>
                  <a:spcPts val="500"/>
                </a:spcBef>
              </a:pPr>
              <a:r>
                <a:rPr sz="1150" b="0" i="0">
                  <a:solidFill>
                    <a:srgbClr val="FFFFFF"/>
                  </a:solidFill>
                  <a:latin typeface="Calibri"/>
                </a:rPr>
                <a:t>•  </a:t>
              </a:r>
              <a:r>
                <a:rPr sz="1150" b="0" i="0">
                  <a:solidFill>
                    <a:srgbClr val="FFFFFF"/>
                  </a:solidFill>
                  <a:latin typeface="Calibri"/>
                </a:rPr>
                <a:t>Hearing conservation per 29 CFR 1910.95</a:t>
              </a:r>
            </a:p>
            <a:p>
              <a:pPr>
                <a:spcBef>
                  <a:spcPts val="500"/>
                </a:spcBef>
              </a:pPr>
              <a:r>
                <a:rPr sz="1150" b="0" i="0">
                  <a:solidFill>
                    <a:srgbClr val="FFFFFF"/>
                  </a:solidFill>
                  <a:latin typeface="Calibri"/>
                </a:rPr>
                <a:t>•  </a:t>
              </a:r>
              <a:r>
                <a:rPr sz="1150" b="0" i="0">
                  <a:solidFill>
                    <a:srgbClr val="FFFFFF"/>
                  </a:solidFill>
                  <a:latin typeface="Calibri"/>
                </a:rPr>
                <a:t>Audit-logged announcement governance</a:t>
              </a:r>
            </a:p>
            <a:p>
              <a:pPr>
                <a:spcBef>
                  <a:spcPts val="500"/>
                </a:spcBef>
              </a:pPr>
              <a:r>
                <a:rPr sz="1150" b="0" i="0">
                  <a:solidFill>
                    <a:srgbClr val="FFFFFF"/>
                  </a:solidFill>
                  <a:latin typeface="Calibri"/>
                </a:rPr>
                <a:t>•  </a:t>
              </a:r>
              <a:r>
                <a:rPr sz="1150" b="0" i="0">
                  <a:solidFill>
                    <a:srgbClr val="FFFFFF"/>
                  </a:solidFill>
                  <a:latin typeface="Calibri"/>
                </a:rPr>
                <a:t>Concessionaire TVs and gate-lounge audio kept in scope</a:t>
              </a:r>
            </a:p>
          </p:txBody>
        </p:sp>
        <p:sp>
          <p:nvSpPr>
            <p:cNvPr id="6" name="Rectangle 5"/>
            <p:cNvSpPr/>
            <p:nvPr/>
          </p:nvSpPr>
          <p:spPr>
            <a:xfrm>
              <a:off x="6236208" y="1847088"/>
              <a:ext cx="5440680" cy="32918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0B2D4D"/>
                  </a:solidFill>
                  <a:latin typeface="Georgia"/>
                </a:rPr>
                <a:t>CONTEXT-DEPENDENT BY TERMINAL</a:t>
              </a:r>
            </a:p>
            <a:p>
              <a:pPr>
                <a:spcBef>
                  <a:spcPts val="800"/>
                </a:spcBef>
              </a:pPr>
              <a:r>
                <a:rPr sz="1250" b="0" i="0">
                  <a:solidFill>
                    <a:srgbClr val="17232D"/>
                  </a:solidFill>
                  <a:latin typeface="Calibri"/>
                </a:rPr>
                <a:t>•  </a:t>
              </a:r>
              <a:r>
                <a:rPr sz="1250" b="0" i="0">
                  <a:solidFill>
                    <a:srgbClr val="17232D"/>
                  </a:solidFill>
                  <a:latin typeface="Calibri"/>
                </a:rPr>
                <a:t>Tier levels for PA zoning and announcement density</a:t>
              </a:r>
            </a:p>
            <a:p>
              <a:pPr>
                <a:spcBef>
                  <a:spcPts val="800"/>
                </a:spcBef>
              </a:pPr>
              <a:r>
                <a:rPr sz="1250" b="0" i="0">
                  <a:solidFill>
                    <a:srgbClr val="17232D"/>
                  </a:solidFill>
                  <a:latin typeface="Calibri"/>
                </a:rPr>
                <a:t>•  </a:t>
              </a:r>
              <a:r>
                <a:rPr sz="1250" b="0" i="0">
                  <a:solidFill>
                    <a:srgbClr val="17232D"/>
                  </a:solidFill>
                  <a:latin typeface="Calibri"/>
                </a:rPr>
                <a:t>Quiet and low-stimulation space scope</a:t>
              </a:r>
            </a:p>
            <a:p>
              <a:pPr>
                <a:spcBef>
                  <a:spcPts val="800"/>
                </a:spcBef>
              </a:pPr>
              <a:r>
                <a:rPr sz="1250" b="0" i="0">
                  <a:solidFill>
                    <a:srgbClr val="17232D"/>
                  </a:solidFill>
                  <a:latin typeface="Calibri"/>
                </a:rPr>
                <a:t>•  </a:t>
              </a:r>
              <a:r>
                <a:rPr sz="1250" b="0" i="0">
                  <a:solidFill>
                    <a:srgbClr val="17232D"/>
                  </a:solidFill>
                  <a:latin typeface="Calibri"/>
                </a:rPr>
                <a:t>Enforcement mechanics by lease type</a:t>
              </a:r>
            </a:p>
          </p:txBody>
        </p:sp>
        <p:sp>
          <p:nvSpPr>
            <p:cNvPr id="7" name="Rectangle 6"/>
            <p:cNvSpPr/>
            <p:nvPr/>
          </p:nvSpPr>
          <p:spPr>
            <a:xfrm>
              <a:off x="566928" y="5285232"/>
              <a:ext cx="11109960" cy="896112"/>
            </a:xfrm>
            <a:prstGeom prst="rect">
              <a:avLst/>
            </a:prstGeom>
            <a:solidFill>
              <a:srgbClr val="F6EAD3"/>
            </a:solidFill>
            <a:ln w="127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r>
                <a:rPr sz="1250" b="1" i="0">
                  <a:solidFill>
                    <a:srgbClr val="17232D"/>
                  </a:solidFill>
                  <a:latin typeface="Calibri"/>
                </a:rPr>
                <a:t>IROPS OVERRIDE — </a:t>
              </a:r>
              <a:r>
                <a:rPr sz="1250" b="0" i="0">
                  <a:solidFill>
                    <a:srgbClr val="17232D"/>
                  </a:solidFill>
                  <a:latin typeface="Calibri"/>
                </a:rPr>
                <a:t>during declared irregular operations, the Airport Duty Manager holds named authority to exceed announcement-density templates; every deviation is logged and reconciled afterward.</a:t>
              </a:r>
            </a:p>
          </p:txBody>
        </p:sp>
      </p:grpSp>
      <p:sp>
        <p:nvSpPr>
          <p:cNvPr id="8" name="s09-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framework per the verified report; floors per NFPA 72, ACRP 175, IEC 60268-16:2020, 28 CFR 35.160, 2010 ADA Standards, 14 CFR Part 382, 29 CFR 1910.95; governance capabilities per ACI-NA (Feb 27, 2026).</a:t>
            </a:r>
          </a:p>
        </p:txBody>
      </p:sp>
      <p:sp>
        <p:nvSpPr>
          <p:cNvPr id="9" name="TextBox 8"/>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0-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The ask: write the paragraph this capital cycle</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how the standard enters force" descr="Six-step flow from Office of Engineering drafting through primary-text verification, airline consultation, Board information item, Design Manual publication, and commissioning under representative traffic; the verification step is flagged as the contingency."/>
          <p:cNvGrpSpPr/>
          <p:nvPr/>
        </p:nvGrpSpPr>
        <p:grpSpPr>
          <a:xfrm>
            <a:off x="566928" y="2103120"/>
            <a:ext cx="11164824" cy="1965960"/>
            <a:chOff x="566928" y="2103120"/>
            <a:chExt cx="11164824" cy="1965960"/>
          </a:xfrm>
        </p:grpSpPr>
        <p:sp>
          <p:nvSpPr>
            <p:cNvPr id="5" name="Rectangle 4"/>
            <p:cNvSpPr/>
            <p:nvPr/>
          </p:nvSpPr>
          <p:spPr>
            <a:xfrm>
              <a:off x="566928" y="2103120"/>
              <a:ext cx="1700784" cy="1965960"/>
            </a:xfrm>
            <a:prstGeom prst="rect">
              <a:avLst/>
            </a:prstGeom>
            <a:solidFill>
              <a:srgbClr val="EDF3F6"/>
            </a:solidFill>
            <a:ln w="952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1</a:t>
              </a:r>
            </a:p>
            <a:p>
              <a:pPr>
                <a:spcBef>
                  <a:spcPts val="400"/>
                </a:spcBef>
              </a:pPr>
              <a:r>
                <a:rPr sz="1150" b="0" i="0">
                  <a:solidFill>
                    <a:srgbClr val="17232D"/>
                  </a:solidFill>
                  <a:latin typeface="Calibri"/>
                </a:rPr>
                <a:t>Office of Engineering drafts the amendment</a:t>
              </a:r>
            </a:p>
          </p:txBody>
        </p:sp>
        <p:sp>
          <p:nvSpPr>
            <p:cNvPr id="6" name="Right Triangle 5"/>
            <p:cNvSpPr/>
            <p:nvPr/>
          </p:nvSpPr>
          <p:spPr>
            <a:xfrm>
              <a:off x="2299716" y="3022092"/>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59736" y="2103120"/>
              <a:ext cx="1700784" cy="1965960"/>
            </a:xfrm>
            <a:prstGeom prst="rect">
              <a:avLst/>
            </a:prstGeom>
            <a:solidFill>
              <a:srgbClr val="F6EAD3"/>
            </a:solidFill>
            <a:ln w="15875">
              <a:solidFill>
                <a:srgbClr val="D4A24C"/>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2</a:t>
              </a:r>
            </a:p>
            <a:p>
              <a:pPr>
                <a:spcBef>
                  <a:spcPts val="400"/>
                </a:spcBef>
              </a:pPr>
              <a:r>
                <a:rPr sz="1150" b="0" i="0">
                  <a:solidFill>
                    <a:srgbClr val="17232D"/>
                  </a:solidFill>
                  <a:latin typeface="Calibri"/>
                </a:rPr>
                <a:t>Primary-text verification: Design Manual acoustic content; AUL majority-in-interest</a:t>
              </a:r>
            </a:p>
          </p:txBody>
        </p:sp>
        <p:sp>
          <p:nvSpPr>
            <p:cNvPr id="8" name="Right Triangle 7"/>
            <p:cNvSpPr/>
            <p:nvPr/>
          </p:nvSpPr>
          <p:spPr>
            <a:xfrm>
              <a:off x="4192524" y="3022092"/>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52544" y="2103120"/>
              <a:ext cx="1700784" cy="1965960"/>
            </a:xfrm>
            <a:prstGeom prst="rect">
              <a:avLst/>
            </a:prstGeom>
            <a:solidFill>
              <a:srgbClr val="EDF3F6"/>
            </a:solidFill>
            <a:ln w="952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3</a:t>
              </a:r>
            </a:p>
            <a:p>
              <a:pPr>
                <a:spcBef>
                  <a:spcPts val="400"/>
                </a:spcBef>
              </a:pPr>
              <a:r>
                <a:rPr sz="1150" b="0" i="0">
                  <a:solidFill>
                    <a:srgbClr val="17232D"/>
                  </a:solidFill>
                  <a:latin typeface="Calibri"/>
                </a:rPr>
                <a:t>Airline and tenant consultation; formal comment window</a:t>
              </a:r>
            </a:p>
          </p:txBody>
        </p:sp>
        <p:sp>
          <p:nvSpPr>
            <p:cNvPr id="10" name="Right Triangle 9"/>
            <p:cNvSpPr/>
            <p:nvPr/>
          </p:nvSpPr>
          <p:spPr>
            <a:xfrm>
              <a:off x="6085332" y="3022092"/>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2103120"/>
              <a:ext cx="1700784" cy="1965960"/>
            </a:xfrm>
            <a:prstGeom prst="rect">
              <a:avLst/>
            </a:prstGeom>
            <a:solidFill>
              <a:srgbClr val="EDF3F6"/>
            </a:solidFill>
            <a:ln w="952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4</a:t>
              </a:r>
            </a:p>
            <a:p>
              <a:pPr>
                <a:spcBef>
                  <a:spcPts val="400"/>
                </a:spcBef>
              </a:pPr>
              <a:r>
                <a:rPr sz="1150" b="0" i="0">
                  <a:solidFill>
                    <a:srgbClr val="17232D"/>
                  </a:solidFill>
                  <a:latin typeface="Calibri"/>
                </a:rPr>
                <a:t>Board information item — resolution only on material objection</a:t>
              </a:r>
            </a:p>
          </p:txBody>
        </p:sp>
        <p:sp>
          <p:nvSpPr>
            <p:cNvPr id="12" name="Right Triangle 11"/>
            <p:cNvSpPr/>
            <p:nvPr/>
          </p:nvSpPr>
          <p:spPr>
            <a:xfrm>
              <a:off x="7978140" y="3022092"/>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2103120"/>
              <a:ext cx="1700784" cy="1965960"/>
            </a:xfrm>
            <a:prstGeom prst="rect">
              <a:avLst/>
            </a:prstGeom>
            <a:solidFill>
              <a:srgbClr val="EDF3F6"/>
            </a:solidFill>
            <a:ln w="952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5</a:t>
              </a:r>
            </a:p>
            <a:p>
              <a:pPr>
                <a:spcBef>
                  <a:spcPts val="400"/>
                </a:spcBef>
              </a:pPr>
              <a:r>
                <a:rPr sz="1150" b="0" i="0">
                  <a:solidFill>
                    <a:srgbClr val="17232D"/>
                  </a:solidFill>
                  <a:latin typeface="Calibri"/>
                </a:rPr>
                <a:t>Design Manual publication binds consultants and contractors</a:t>
              </a:r>
            </a:p>
          </p:txBody>
        </p:sp>
        <p:sp>
          <p:nvSpPr>
            <p:cNvPr id="14" name="Right Triangle 13"/>
            <p:cNvSpPr/>
            <p:nvPr/>
          </p:nvSpPr>
          <p:spPr>
            <a:xfrm>
              <a:off x="9870948" y="3022092"/>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30968" y="2103120"/>
              <a:ext cx="1700784" cy="1965960"/>
            </a:xfrm>
            <a:prstGeom prst="rect">
              <a:avLst/>
            </a:prstGeom>
            <a:solidFill>
              <a:srgbClr val="EDF3F6"/>
            </a:solidFill>
            <a:ln w="952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400" b="1" i="0">
                  <a:solidFill>
                    <a:srgbClr val="0B2D4D"/>
                  </a:solidFill>
                  <a:latin typeface="Georgia"/>
                </a:rPr>
                <a:t>6</a:t>
              </a:r>
            </a:p>
            <a:p>
              <a:pPr>
                <a:spcBef>
                  <a:spcPts val="400"/>
                </a:spcBef>
              </a:pPr>
              <a:r>
                <a:rPr sz="1150" b="0" i="0">
                  <a:solidFill>
                    <a:srgbClr val="17232D"/>
                  </a:solidFill>
                  <a:latin typeface="Calibri"/>
                </a:rPr>
                <a:t>Commissioning under representative traffic, with cure period</a:t>
              </a:r>
            </a:p>
          </p:txBody>
        </p:sp>
      </p:grpSp>
      <p:sp>
        <p:nvSpPr>
          <p:cNvPr id="16" name="Rectangle 15"/>
          <p:cNvSpPr/>
          <p:nvPr/>
        </p:nvSpPr>
        <p:spPr>
          <a:xfrm>
            <a:off x="502920" y="4480560"/>
            <a:ext cx="11183112" cy="1417320"/>
          </a:xfrm>
          <a:prstGeom prst="rect">
            <a:avLst/>
          </a:prstGeom>
          <a:noFill/>
          <a:ln w="1905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r>
              <a:rPr sz="1600" b="1" i="0">
                <a:solidFill>
                  <a:srgbClr val="0B2D4D"/>
                </a:solidFill>
                <a:latin typeface="Calibri"/>
              </a:rPr>
              <a:t>First 90 days: </a:t>
            </a:r>
            <a:r>
              <a:rPr sz="1600" b="0" i="0">
                <a:solidFill>
                  <a:srgbClr val="17232D"/>
                </a:solidFill>
                <a:latin typeface="Calibri"/>
              </a:rPr>
              <a:t>commission the Concourse E intelligibility and ambient baseline at the fall 2026 opening. Acceptance floor: STI ≥ 0.45 at ≥ 90% of locations per acoustically distinguishable space, average ≥ 0.50, measured per IEC 60268-16:2020 under representative traffic.</a:t>
            </a:r>
          </a:p>
        </p:txBody>
      </p:sp>
      <p:sp>
        <p:nvSpPr>
          <p:cNvPr id="17" name="s10-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path per the verified report; Design Manual authority per MWAA (mwaa.com); Concourse E per MWAA project disclosures (flydulles.com), verified Aug 11, 2026. AUL majority-in-interest provisions not verified from primary text — the path's flagged contingency.</a:t>
            </a:r>
          </a:p>
        </p:txBody>
      </p:sp>
      <p:sp>
        <p:nvSpPr>
          <p:cNvPr id="18" name="TextBox 17"/>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1-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the coverage window is why the amendment targets work still in programming</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debt-service coverage trajectory" descr="Two-point coverage trajectory: net-revenue debt-service coverage reported at 1.63 times in 2024, projected to about 1.3 times over five years as roughly 5.5 billion dollars of new debt phases in; only the two reported points are marked."/>
          <p:cNvGrpSpPr/>
          <p:nvPr/>
        </p:nvGrpSpPr>
        <p:grpSpPr>
          <a:xfrm>
            <a:off x="731520" y="1965960"/>
            <a:ext cx="10881360" cy="3776472"/>
            <a:chOff x="731520" y="1965960"/>
            <a:chExt cx="10881360" cy="3776472"/>
          </a:xfrm>
        </p:grpSpPr>
        <p:sp>
          <p:nvSpPr>
            <p:cNvPr id="5" name="Rectangle 4"/>
            <p:cNvSpPr/>
            <p:nvPr/>
          </p:nvSpPr>
          <p:spPr>
            <a:xfrm>
              <a:off x="1920240" y="5349240"/>
              <a:ext cx="8778240" cy="182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221224"/>
              <a:ext cx="960120" cy="256032"/>
            </a:xfrm>
            <a:prstGeom prst="rect">
              <a:avLst/>
            </a:prstGeom>
            <a:noFill/>
          </p:spPr>
          <p:txBody>
            <a:bodyPr wrap="square" lIns="0" rIns="0" tIns="0" bIns="0">
              <a:spAutoFit/>
            </a:bodyPr>
            <a:lstStyle/>
            <a:p>
              <a:pPr algn="r"/>
              <a:r>
                <a:rPr sz="1150" b="0" i="0">
                  <a:solidFill>
                    <a:srgbClr val="415669"/>
                  </a:solidFill>
                  <a:latin typeface="Calibri"/>
                </a:rPr>
                <a:t>1.00×</a:t>
              </a:r>
            </a:p>
          </p:txBody>
        </p:sp>
        <p:sp>
          <p:nvSpPr>
            <p:cNvPr id="7" name="Rectangle 6"/>
            <p:cNvSpPr/>
            <p:nvPr/>
          </p:nvSpPr>
          <p:spPr>
            <a:xfrm>
              <a:off x="1920240" y="4149089"/>
              <a:ext cx="8778240" cy="18288"/>
            </a:xfrm>
            <a:prstGeom prst="rect">
              <a:avLst/>
            </a:prstGeom>
            <a:solidFill>
              <a:srgbClr val="D5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21074"/>
              <a:ext cx="960120" cy="256032"/>
            </a:xfrm>
            <a:prstGeom prst="rect">
              <a:avLst/>
            </a:prstGeom>
            <a:noFill/>
          </p:spPr>
          <p:txBody>
            <a:bodyPr wrap="square" lIns="0" rIns="0" tIns="0" bIns="0">
              <a:spAutoFit/>
            </a:bodyPr>
            <a:lstStyle/>
            <a:p>
              <a:pPr algn="r"/>
              <a:r>
                <a:rPr sz="1150" b="0" i="0">
                  <a:solidFill>
                    <a:srgbClr val="415669"/>
                  </a:solidFill>
                  <a:latin typeface="Calibri"/>
                </a:rPr>
                <a:t>1.30×</a:t>
              </a:r>
            </a:p>
          </p:txBody>
        </p:sp>
        <p:sp>
          <p:nvSpPr>
            <p:cNvPr id="9" name="Rectangle 8"/>
            <p:cNvSpPr/>
            <p:nvPr/>
          </p:nvSpPr>
          <p:spPr>
            <a:xfrm>
              <a:off x="1920240" y="2828925"/>
              <a:ext cx="8778240" cy="18288"/>
            </a:xfrm>
            <a:prstGeom prst="rect">
              <a:avLst/>
            </a:prstGeom>
            <a:solidFill>
              <a:srgbClr val="D5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00909"/>
              <a:ext cx="960120" cy="256032"/>
            </a:xfrm>
            <a:prstGeom prst="rect">
              <a:avLst/>
            </a:prstGeom>
            <a:noFill/>
          </p:spPr>
          <p:txBody>
            <a:bodyPr wrap="square" lIns="0" rIns="0" tIns="0" bIns="0">
              <a:spAutoFit/>
            </a:bodyPr>
            <a:lstStyle/>
            <a:p>
              <a:pPr algn="r"/>
              <a:r>
                <a:rPr sz="1150" b="0" i="0">
                  <a:solidFill>
                    <a:srgbClr val="415669"/>
                  </a:solidFill>
                  <a:latin typeface="Calibri"/>
                </a:rPr>
                <a:t>1.63×</a:t>
              </a:r>
            </a:p>
          </p:txBody>
        </p:sp>
        <p:sp>
          <p:nvSpPr>
            <p:cNvPr id="11" name="Rectangle 10"/>
            <p:cNvSpPr/>
            <p:nvPr/>
          </p:nvSpPr>
          <p:spPr>
            <a:xfrm rot="680317">
              <a:off x="2951992" y="3489007"/>
              <a:ext cx="6714735" cy="1"/>
            </a:xfrm>
            <a:prstGeom prst="rect">
              <a:avLst/>
            </a:prstGeom>
            <a:noFill/>
            <a:ln w="19050">
              <a:solidFill>
                <a:srgbClr val="4156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35224" y="2746629"/>
              <a:ext cx="164592" cy="164592"/>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518904" y="4066794"/>
              <a:ext cx="164592" cy="164592"/>
            </a:xfrm>
            <a:prstGeom prst="ellipse">
              <a:avLst/>
            </a:prstGeom>
            <a:solidFill>
              <a:srgbClr val="FFFFFF"/>
            </a:solidFill>
            <a:ln w="254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2261997"/>
              <a:ext cx="2743200" cy="320040"/>
            </a:xfrm>
            <a:prstGeom prst="rect">
              <a:avLst/>
            </a:prstGeom>
            <a:noFill/>
          </p:spPr>
          <p:txBody>
            <a:bodyPr wrap="square" lIns="0" rIns="0" tIns="0" bIns="0">
              <a:spAutoFit/>
            </a:bodyPr>
            <a:lstStyle/>
            <a:p>
              <a:r>
                <a:rPr sz="1300" b="1" i="0">
                  <a:solidFill>
                    <a:srgbClr val="0B2D4D"/>
                  </a:solidFill>
                  <a:latin typeface="Calibri"/>
                </a:rPr>
                <a:t>1.63× (2024, reported)</a:t>
              </a:r>
            </a:p>
          </p:txBody>
        </p:sp>
        <p:sp>
          <p:nvSpPr>
            <p:cNvPr id="15" name="TextBox 14"/>
            <p:cNvSpPr txBox="1"/>
            <p:nvPr/>
          </p:nvSpPr>
          <p:spPr>
            <a:xfrm>
              <a:off x="6583680" y="4350257"/>
              <a:ext cx="3291840" cy="320040"/>
            </a:xfrm>
            <a:prstGeom prst="rect">
              <a:avLst/>
            </a:prstGeom>
            <a:noFill/>
          </p:spPr>
          <p:txBody>
            <a:bodyPr wrap="square" lIns="0" rIns="0" tIns="0" bIns="0">
              <a:spAutoFit/>
            </a:bodyPr>
            <a:lstStyle/>
            <a:p>
              <a:pPr algn="r"/>
              <a:r>
                <a:rPr sz="1300" b="1" i="0">
                  <a:solidFill>
                    <a:srgbClr val="0B2D4D"/>
                  </a:solidFill>
                  <a:latin typeface="Calibri"/>
                </a:rPr>
                <a:t>≈1.3× (projected over five years)</a:t>
              </a:r>
            </a:p>
          </p:txBody>
        </p:sp>
        <p:sp>
          <p:nvSpPr>
            <p:cNvPr id="16" name="TextBox 15"/>
            <p:cNvSpPr txBox="1"/>
            <p:nvPr/>
          </p:nvSpPr>
          <p:spPr>
            <a:xfrm>
              <a:off x="5074920" y="2148840"/>
              <a:ext cx="3931920" cy="502920"/>
            </a:xfrm>
            <a:prstGeom prst="rect">
              <a:avLst/>
            </a:prstGeom>
            <a:noFill/>
          </p:spPr>
          <p:txBody>
            <a:bodyPr wrap="square" lIns="0" rIns="0" tIns="0" bIns="0">
              <a:spAutoFit/>
            </a:bodyPr>
            <a:lstStyle/>
            <a:p>
              <a:r>
                <a:rPr sz="1100" b="0" i="1">
                  <a:solidFill>
                    <a:srgbClr val="415669"/>
                  </a:solidFill>
                  <a:latin typeface="Calibri"/>
                </a:rPr>
                <a:t>Projected range — only the two reported points are marked; no intermediate values reported</a:t>
              </a:r>
            </a:p>
          </p:txBody>
        </p:sp>
        <p:sp>
          <p:nvSpPr>
            <p:cNvPr id="17" name="Rectangle 16"/>
            <p:cNvSpPr/>
            <p:nvPr/>
          </p:nvSpPr>
          <p:spPr>
            <a:xfrm>
              <a:off x="2331720" y="4526280"/>
              <a:ext cx="3886200" cy="50292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200" b="1" i="0">
                  <a:solidFill>
                    <a:srgbClr val="17232D"/>
                  </a:solidFill>
                  <a:latin typeface="Calibri"/>
                </a:rPr>
                <a:t>≈$5.5B of new debt phases in, 2025–2028</a:t>
              </a:r>
            </a:p>
          </p:txBody>
        </p:sp>
        <p:sp>
          <p:nvSpPr>
            <p:cNvPr id="18" name="TextBox 17"/>
            <p:cNvSpPr txBox="1"/>
            <p:nvPr/>
          </p:nvSpPr>
          <p:spPr>
            <a:xfrm>
              <a:off x="2651760" y="5486400"/>
              <a:ext cx="1828800" cy="256032"/>
            </a:xfrm>
            <a:prstGeom prst="rect">
              <a:avLst/>
            </a:prstGeom>
            <a:noFill/>
          </p:spPr>
          <p:txBody>
            <a:bodyPr wrap="square" lIns="0" rIns="0" tIns="0" bIns="0">
              <a:spAutoFit/>
            </a:bodyPr>
            <a:lstStyle/>
            <a:p>
              <a:r>
                <a:rPr sz="1150" b="0" i="0">
                  <a:solidFill>
                    <a:srgbClr val="415669"/>
                  </a:solidFill>
                  <a:latin typeface="Calibri"/>
                </a:rPr>
                <a:t>2024</a:t>
              </a:r>
            </a:p>
          </p:txBody>
        </p:sp>
        <p:sp>
          <p:nvSpPr>
            <p:cNvPr id="19" name="TextBox 18"/>
            <p:cNvSpPr txBox="1"/>
            <p:nvPr/>
          </p:nvSpPr>
          <p:spPr>
            <a:xfrm>
              <a:off x="8869680" y="5486400"/>
              <a:ext cx="2743200" cy="256032"/>
            </a:xfrm>
            <a:prstGeom prst="rect">
              <a:avLst/>
            </a:prstGeom>
            <a:noFill/>
          </p:spPr>
          <p:txBody>
            <a:bodyPr wrap="square" lIns="0" rIns="0" tIns="0" bIns="0">
              <a:spAutoFit/>
            </a:bodyPr>
            <a:lstStyle/>
            <a:p>
              <a:r>
                <a:rPr sz="1150" b="0" i="0">
                  <a:solidFill>
                    <a:srgbClr val="415669"/>
                  </a:solidFill>
                  <a:latin typeface="Calibri"/>
                </a:rPr>
                <a:t>+5 years (projection)</a:t>
              </a:r>
            </a:p>
          </p:txBody>
        </p:sp>
        <p:sp>
          <p:nvSpPr>
            <p:cNvPr id="20" name="TextBox 19"/>
            <p:cNvSpPr txBox="1"/>
            <p:nvPr/>
          </p:nvSpPr>
          <p:spPr>
            <a:xfrm>
              <a:off x="731520" y="1965960"/>
              <a:ext cx="4206240" cy="274320"/>
            </a:xfrm>
            <a:prstGeom prst="rect">
              <a:avLst/>
            </a:prstGeom>
            <a:noFill/>
          </p:spPr>
          <p:txBody>
            <a:bodyPr wrap="square" lIns="0" rIns="0" tIns="0" bIns="0">
              <a:spAutoFit/>
            </a:bodyPr>
            <a:lstStyle/>
            <a:p>
              <a:r>
                <a:rPr sz="1150" b="0" i="1">
                  <a:solidFill>
                    <a:srgbClr val="415669"/>
                  </a:solidFill>
                  <a:latin typeface="Calibri"/>
                </a:rPr>
                <a:t>Net-revenue debt-service coverage (×)</a:t>
              </a:r>
            </a:p>
          </p:txBody>
        </p:sp>
      </p:grpSp>
      <p:sp>
        <p:nvSpPr>
          <p:cNvPr id="21" name="TextBox 20"/>
          <p:cNvSpPr txBox="1"/>
          <p:nvPr/>
        </p:nvSpPr>
        <p:spPr>
          <a:xfrm>
            <a:off x="502920" y="5833872"/>
            <a:ext cx="11183112" cy="457200"/>
          </a:xfrm>
          <a:prstGeom prst="rect">
            <a:avLst/>
          </a:prstGeom>
          <a:noFill/>
        </p:spPr>
        <p:txBody>
          <a:bodyPr wrap="square" lIns="0" rIns="0" tIns="0" bIns="0">
            <a:spAutoFit/>
          </a:bodyPr>
          <a:lstStyle/>
          <a:p>
            <a:r>
              <a:rPr sz="1600" b="0" i="0">
                <a:solidFill>
                  <a:srgbClr val="0B2D4D"/>
                </a:solidFill>
                <a:latin typeface="Calibri"/>
              </a:rPr>
              <a:t>Added specification cost inside programs already in design cuts against coverage; specification at programming stage does not.</a:t>
            </a:r>
          </a:p>
        </p:txBody>
      </p:sp>
      <p:sp>
        <p:nvSpPr>
          <p:cNvPr id="22" name="s11-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Moody's projection as reported by The Bond Buyer, ‘MWAA goes to market’ (2025; subscription-gated). Underlying rating-agency reports are the primary citation-grade source — confirm before board-facing publication.</a:t>
            </a:r>
          </a:p>
        </p:txBody>
      </p:sp>
      <p:sp>
        <p:nvSpPr>
          <p:cNvPr id="23" name="TextBox 22"/>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2-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specify at design time — the retrofit premium at commercial benchmarks</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design-time vs retrofit acoustic treatment ranges" descr="Two horizontal range bars in dollars per square foot: new-construction acoustic ceiling treatment 5 to 15 dollars and retrofit panel treatment 18 to 45 dollars, labeled as non-airport medium-confidence benchmarks."/>
          <p:cNvGrpSpPr/>
          <p:nvPr/>
        </p:nvGrpSpPr>
        <p:grpSpPr>
          <a:xfrm>
            <a:off x="566928" y="1993392"/>
            <a:ext cx="11109960" cy="3493008"/>
            <a:chOff x="566928" y="1993392"/>
            <a:chExt cx="11109960" cy="3493008"/>
          </a:xfrm>
        </p:grpSpPr>
        <p:sp>
          <p:nvSpPr>
            <p:cNvPr id="5" name="TextBox 4"/>
            <p:cNvSpPr txBox="1"/>
            <p:nvPr/>
          </p:nvSpPr>
          <p:spPr>
            <a:xfrm>
              <a:off x="566928" y="1993392"/>
              <a:ext cx="5303520" cy="320040"/>
            </a:xfrm>
            <a:prstGeom prst="rect">
              <a:avLst/>
            </a:prstGeom>
            <a:noFill/>
          </p:spPr>
          <p:txBody>
            <a:bodyPr wrap="square" lIns="0" rIns="0" tIns="0" bIns="0">
              <a:spAutoFit/>
            </a:bodyPr>
            <a:lstStyle/>
            <a:p>
              <a:r>
                <a:rPr sz="1250" b="1" i="0">
                  <a:solidFill>
                    <a:srgbClr val="0B2D4D"/>
                  </a:solidFill>
                  <a:latin typeface="Calibri"/>
                </a:rPr>
                <a:t>New construction — acoustic ceiling treatment</a:t>
              </a:r>
            </a:p>
          </p:txBody>
        </p:sp>
        <p:sp>
          <p:nvSpPr>
            <p:cNvPr id="6" name="Rectangle 5"/>
            <p:cNvSpPr/>
            <p:nvPr/>
          </p:nvSpPr>
          <p:spPr>
            <a:xfrm>
              <a:off x="3803904" y="2377440"/>
              <a:ext cx="1572767" cy="50292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18104" y="2468880"/>
              <a:ext cx="594360" cy="292608"/>
            </a:xfrm>
            <a:prstGeom prst="rect">
              <a:avLst/>
            </a:prstGeom>
            <a:noFill/>
          </p:spPr>
          <p:txBody>
            <a:bodyPr wrap="square" lIns="0" rIns="0" tIns="0" bIns="0">
              <a:spAutoFit/>
            </a:bodyPr>
            <a:lstStyle/>
            <a:p>
              <a:pPr algn="r"/>
              <a:r>
                <a:rPr sz="1250" b="1" i="0">
                  <a:solidFill>
                    <a:srgbClr val="17232D"/>
                  </a:solidFill>
                  <a:latin typeface="Calibri"/>
                </a:rPr>
                <a:t>$5</a:t>
              </a:r>
            </a:p>
          </p:txBody>
        </p:sp>
        <p:sp>
          <p:nvSpPr>
            <p:cNvPr id="8" name="TextBox 7"/>
            <p:cNvSpPr txBox="1"/>
            <p:nvPr/>
          </p:nvSpPr>
          <p:spPr>
            <a:xfrm>
              <a:off x="5468111" y="2468880"/>
              <a:ext cx="777240" cy="292608"/>
            </a:xfrm>
            <a:prstGeom prst="rect">
              <a:avLst/>
            </a:prstGeom>
            <a:noFill/>
          </p:spPr>
          <p:txBody>
            <a:bodyPr wrap="square" lIns="0" rIns="0" tIns="0" bIns="0">
              <a:spAutoFit/>
            </a:bodyPr>
            <a:lstStyle/>
            <a:p>
              <a:r>
                <a:rPr sz="1250" b="1" i="0">
                  <a:solidFill>
                    <a:srgbClr val="17232D"/>
                  </a:solidFill>
                  <a:latin typeface="Calibri"/>
                </a:rPr>
                <a:t>$15</a:t>
              </a:r>
            </a:p>
          </p:txBody>
        </p:sp>
        <p:sp>
          <p:nvSpPr>
            <p:cNvPr id="9" name="TextBox 8"/>
            <p:cNvSpPr txBox="1"/>
            <p:nvPr/>
          </p:nvSpPr>
          <p:spPr>
            <a:xfrm>
              <a:off x="566928" y="3044952"/>
              <a:ext cx="5303520" cy="320040"/>
            </a:xfrm>
            <a:prstGeom prst="rect">
              <a:avLst/>
            </a:prstGeom>
            <a:noFill/>
          </p:spPr>
          <p:txBody>
            <a:bodyPr wrap="square" lIns="0" rIns="0" tIns="0" bIns="0">
              <a:spAutoFit/>
            </a:bodyPr>
            <a:lstStyle/>
            <a:p>
              <a:r>
                <a:rPr sz="1250" b="1" i="0">
                  <a:solidFill>
                    <a:srgbClr val="0B2D4D"/>
                  </a:solidFill>
                  <a:latin typeface="Calibri"/>
                </a:rPr>
                <a:t>Retrofit — acoustic panel treatment</a:t>
              </a:r>
            </a:p>
          </p:txBody>
        </p:sp>
        <p:sp>
          <p:nvSpPr>
            <p:cNvPr id="10" name="Rectangle 9"/>
            <p:cNvSpPr/>
            <p:nvPr/>
          </p:nvSpPr>
          <p:spPr>
            <a:xfrm>
              <a:off x="5848502" y="3429000"/>
              <a:ext cx="4246473" cy="50292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2702" y="3520440"/>
              <a:ext cx="594360" cy="292608"/>
            </a:xfrm>
            <a:prstGeom prst="rect">
              <a:avLst/>
            </a:prstGeom>
            <a:noFill/>
          </p:spPr>
          <p:txBody>
            <a:bodyPr wrap="square" lIns="0" rIns="0" tIns="0" bIns="0">
              <a:spAutoFit/>
            </a:bodyPr>
            <a:lstStyle/>
            <a:p>
              <a:pPr algn="r"/>
              <a:r>
                <a:rPr sz="1250" b="1" i="0">
                  <a:solidFill>
                    <a:srgbClr val="17232D"/>
                  </a:solidFill>
                  <a:latin typeface="Calibri"/>
                </a:rPr>
                <a:t>$18</a:t>
              </a:r>
            </a:p>
          </p:txBody>
        </p:sp>
        <p:sp>
          <p:nvSpPr>
            <p:cNvPr id="12" name="TextBox 11"/>
            <p:cNvSpPr txBox="1"/>
            <p:nvPr/>
          </p:nvSpPr>
          <p:spPr>
            <a:xfrm>
              <a:off x="10186415" y="3520440"/>
              <a:ext cx="777240" cy="292608"/>
            </a:xfrm>
            <a:prstGeom prst="rect">
              <a:avLst/>
            </a:prstGeom>
            <a:noFill/>
          </p:spPr>
          <p:txBody>
            <a:bodyPr wrap="square" lIns="0" rIns="0" tIns="0" bIns="0">
              <a:spAutoFit/>
            </a:bodyPr>
            <a:lstStyle/>
            <a:p>
              <a:r>
                <a:rPr sz="1250" b="1" i="0">
                  <a:solidFill>
                    <a:srgbClr val="17232D"/>
                  </a:solidFill>
                  <a:latin typeface="Calibri"/>
                </a:rPr>
                <a:t>$45</a:t>
              </a:r>
            </a:p>
          </p:txBody>
        </p:sp>
        <p:sp>
          <p:nvSpPr>
            <p:cNvPr id="13" name="Rectangle 12"/>
            <p:cNvSpPr/>
            <p:nvPr/>
          </p:nvSpPr>
          <p:spPr>
            <a:xfrm>
              <a:off x="3017520" y="4224528"/>
              <a:ext cx="7863840" cy="182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08376"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79" y="4334256"/>
              <a:ext cx="640080" cy="237744"/>
            </a:xfrm>
            <a:prstGeom prst="rect">
              <a:avLst/>
            </a:prstGeom>
            <a:noFill/>
          </p:spPr>
          <p:txBody>
            <a:bodyPr wrap="square" lIns="0" rIns="0" tIns="0" bIns="0">
              <a:spAutoFit/>
            </a:bodyPr>
            <a:lstStyle/>
            <a:p>
              <a:pPr algn="ctr"/>
              <a:r>
                <a:rPr sz="1100" b="0" i="0">
                  <a:solidFill>
                    <a:srgbClr val="415669"/>
                  </a:solidFill>
                  <a:latin typeface="Calibri"/>
                </a:rPr>
                <a:t>$0</a:t>
              </a:r>
            </a:p>
          </p:txBody>
        </p:sp>
        <p:sp>
          <p:nvSpPr>
            <p:cNvPr id="16" name="Rectangle 15"/>
            <p:cNvSpPr/>
            <p:nvPr/>
          </p:nvSpPr>
          <p:spPr>
            <a:xfrm>
              <a:off x="4581144"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70248" y="4334256"/>
              <a:ext cx="640080" cy="237744"/>
            </a:xfrm>
            <a:prstGeom prst="rect">
              <a:avLst/>
            </a:prstGeom>
            <a:noFill/>
          </p:spPr>
          <p:txBody>
            <a:bodyPr wrap="square" lIns="0" rIns="0" tIns="0" bIns="0">
              <a:spAutoFit/>
            </a:bodyPr>
            <a:lstStyle/>
            <a:p>
              <a:pPr algn="ctr"/>
              <a:r>
                <a:rPr sz="1100" b="0" i="0">
                  <a:solidFill>
                    <a:srgbClr val="415669"/>
                  </a:solidFill>
                  <a:latin typeface="Calibri"/>
                </a:rPr>
                <a:t>$10</a:t>
              </a:r>
            </a:p>
          </p:txBody>
        </p:sp>
        <p:sp>
          <p:nvSpPr>
            <p:cNvPr id="18" name="Rectangle 17"/>
            <p:cNvSpPr/>
            <p:nvPr/>
          </p:nvSpPr>
          <p:spPr>
            <a:xfrm>
              <a:off x="6153912"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3016" y="4334256"/>
              <a:ext cx="640080" cy="237744"/>
            </a:xfrm>
            <a:prstGeom prst="rect">
              <a:avLst/>
            </a:prstGeom>
            <a:noFill/>
          </p:spPr>
          <p:txBody>
            <a:bodyPr wrap="square" lIns="0" rIns="0" tIns="0" bIns="0">
              <a:spAutoFit/>
            </a:bodyPr>
            <a:lstStyle/>
            <a:p>
              <a:pPr algn="ctr"/>
              <a:r>
                <a:rPr sz="1100" b="0" i="0">
                  <a:solidFill>
                    <a:srgbClr val="415669"/>
                  </a:solidFill>
                  <a:latin typeface="Calibri"/>
                </a:rPr>
                <a:t>$20</a:t>
              </a:r>
            </a:p>
          </p:txBody>
        </p:sp>
        <p:sp>
          <p:nvSpPr>
            <p:cNvPr id="20" name="Rectangle 19"/>
            <p:cNvSpPr/>
            <p:nvPr/>
          </p:nvSpPr>
          <p:spPr>
            <a:xfrm>
              <a:off x="7726679"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15783" y="4334256"/>
              <a:ext cx="640080" cy="237744"/>
            </a:xfrm>
            <a:prstGeom prst="rect">
              <a:avLst/>
            </a:prstGeom>
            <a:noFill/>
          </p:spPr>
          <p:txBody>
            <a:bodyPr wrap="square" lIns="0" rIns="0" tIns="0" bIns="0">
              <a:spAutoFit/>
            </a:bodyPr>
            <a:lstStyle/>
            <a:p>
              <a:pPr algn="ctr"/>
              <a:r>
                <a:rPr sz="1100" b="0" i="0">
                  <a:solidFill>
                    <a:srgbClr val="415669"/>
                  </a:solidFill>
                  <a:latin typeface="Calibri"/>
                </a:rPr>
                <a:t>$30</a:t>
              </a:r>
            </a:p>
          </p:txBody>
        </p:sp>
        <p:sp>
          <p:nvSpPr>
            <p:cNvPr id="22" name="Rectangle 21"/>
            <p:cNvSpPr/>
            <p:nvPr/>
          </p:nvSpPr>
          <p:spPr>
            <a:xfrm>
              <a:off x="9299448"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88552" y="4334256"/>
              <a:ext cx="640080" cy="237744"/>
            </a:xfrm>
            <a:prstGeom prst="rect">
              <a:avLst/>
            </a:prstGeom>
            <a:noFill/>
          </p:spPr>
          <p:txBody>
            <a:bodyPr wrap="square" lIns="0" rIns="0" tIns="0" bIns="0">
              <a:spAutoFit/>
            </a:bodyPr>
            <a:lstStyle/>
            <a:p>
              <a:pPr algn="ctr"/>
              <a:r>
                <a:rPr sz="1100" b="0" i="0">
                  <a:solidFill>
                    <a:srgbClr val="415669"/>
                  </a:solidFill>
                  <a:latin typeface="Calibri"/>
                </a:rPr>
                <a:t>$40</a:t>
              </a:r>
            </a:p>
          </p:txBody>
        </p:sp>
        <p:sp>
          <p:nvSpPr>
            <p:cNvPr id="24" name="Rectangle 23"/>
            <p:cNvSpPr/>
            <p:nvPr/>
          </p:nvSpPr>
          <p:spPr>
            <a:xfrm>
              <a:off x="10872215" y="4224528"/>
              <a:ext cx="18288" cy="73152"/>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61319" y="4334256"/>
              <a:ext cx="640080" cy="237744"/>
            </a:xfrm>
            <a:prstGeom prst="rect">
              <a:avLst/>
            </a:prstGeom>
            <a:noFill/>
          </p:spPr>
          <p:txBody>
            <a:bodyPr wrap="square" lIns="0" rIns="0" tIns="0" bIns="0">
              <a:spAutoFit/>
            </a:bodyPr>
            <a:lstStyle/>
            <a:p>
              <a:pPr algn="ctr"/>
              <a:r>
                <a:rPr sz="1100" b="0" i="0">
                  <a:solidFill>
                    <a:srgbClr val="415669"/>
                  </a:solidFill>
                  <a:latin typeface="Calibri"/>
                </a:rPr>
                <a:t>$50</a:t>
              </a:r>
            </a:p>
          </p:txBody>
        </p:sp>
        <p:sp>
          <p:nvSpPr>
            <p:cNvPr id="26" name="TextBox 25"/>
            <p:cNvSpPr txBox="1"/>
            <p:nvPr/>
          </p:nvSpPr>
          <p:spPr>
            <a:xfrm>
              <a:off x="8686799" y="4590288"/>
              <a:ext cx="2194560" cy="256032"/>
            </a:xfrm>
            <a:prstGeom prst="rect">
              <a:avLst/>
            </a:prstGeom>
            <a:noFill/>
          </p:spPr>
          <p:txBody>
            <a:bodyPr wrap="square" lIns="0" rIns="0" tIns="0" bIns="0">
              <a:spAutoFit/>
            </a:bodyPr>
            <a:lstStyle/>
            <a:p>
              <a:pPr algn="r"/>
              <a:r>
                <a:rPr sz="1100" b="0" i="1">
                  <a:solidFill>
                    <a:srgbClr val="415669"/>
                  </a:solidFill>
                  <a:latin typeface="Calibri"/>
                </a:rPr>
                <a:t>USD per square foot</a:t>
              </a:r>
            </a:p>
          </p:txBody>
        </p:sp>
        <p:sp>
          <p:nvSpPr>
            <p:cNvPr id="27" name="Rectangle 26"/>
            <p:cNvSpPr/>
            <p:nvPr/>
          </p:nvSpPr>
          <p:spPr>
            <a:xfrm>
              <a:off x="566928" y="4983480"/>
              <a:ext cx="11109960" cy="502920"/>
            </a:xfrm>
            <a:prstGeom prst="rect">
              <a:avLst/>
            </a:prstGeom>
            <a:solidFill>
              <a:srgbClr val="F6EAD3"/>
            </a:solidFill>
            <a:ln w="127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ctr"/>
              <a:r>
                <a:rPr sz="1200" b="1" i="0">
                  <a:solidFill>
                    <a:srgbClr val="17232D"/>
                  </a:solidFill>
                  <a:latin typeface="Calibri"/>
                </a:rPr>
                <a:t>Non-airport commercial benchmarks, medium confidence — airside premiums would raise both ranges.</a:t>
              </a:r>
            </a:p>
          </p:txBody>
        </p:sp>
      </p:grpSp>
      <p:sp>
        <p:nvSpPr>
          <p:cNvPr id="28" name="TextBox 27"/>
          <p:cNvSpPr txBox="1"/>
          <p:nvPr/>
        </p:nvSpPr>
        <p:spPr>
          <a:xfrm>
            <a:off x="502920" y="5742432"/>
            <a:ext cx="11183112" cy="384048"/>
          </a:xfrm>
          <a:prstGeom prst="rect">
            <a:avLst/>
          </a:prstGeom>
          <a:noFill/>
        </p:spPr>
        <p:txBody>
          <a:bodyPr wrap="square" lIns="0" rIns="0" tIns="0" bIns="0">
            <a:spAutoFit/>
          </a:bodyPr>
          <a:lstStyle/>
          <a:p>
            <a:r>
              <a:rPr sz="1600" b="1" i="0">
                <a:solidFill>
                  <a:srgbClr val="0B2D4D"/>
                </a:solidFill>
                <a:latin typeface="Calibri"/>
              </a:rPr>
              <a:t>The ranges point one direction: specify at design time.</a:t>
            </a:r>
          </a:p>
        </p:txBody>
      </p:sp>
      <p:sp>
        <p:nvSpPr>
          <p:cNvPr id="29" name="s12-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commercial pricing guides — designtransitionstudio.com (new-construction acoustic ceiling, 2026 guide); acousticmod.com (retrofit vs. new construction; page since relocated). Non-airport, directional benchmarks.</a:t>
            </a:r>
          </a:p>
        </p:txBody>
      </p:sp>
      <p:sp>
        <p:nvSpPr>
          <p:cNvPr id="30" name="TextBox 29"/>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3-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one standard, two very different anchor-tenant problems</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IAD vs DCA anchor-tenant profile" descr="Side-by-side profile of IAD, a growing international hub where United holds about 67 percent of traffic, and slot-controlled DCA where American holds about 53 percent; a footer strip carries the analyst-reported cost-per-enplanement positioning."/>
          <p:cNvGrpSpPr/>
          <p:nvPr/>
        </p:nvGrpSpPr>
        <p:grpSpPr>
          <a:xfrm>
            <a:off x="566928" y="1847088"/>
            <a:ext cx="11109960" cy="4187952"/>
            <a:chOff x="566928" y="1847088"/>
            <a:chExt cx="11109960" cy="4187952"/>
          </a:xfrm>
        </p:grpSpPr>
        <p:sp>
          <p:nvSpPr>
            <p:cNvPr id="5" name="Rectangle 4"/>
            <p:cNvSpPr/>
            <p:nvPr/>
          </p:nvSpPr>
          <p:spPr>
            <a:xfrm>
              <a:off x="566928" y="1847088"/>
              <a:ext cx="5440680" cy="301752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FFFFFF"/>
                  </a:solidFill>
                  <a:latin typeface="Georgia"/>
                </a:rPr>
                <a:t>IAD — INTERNATIONAL-CONNECTION HUB</a:t>
              </a:r>
            </a:p>
            <a:p>
              <a:pPr>
                <a:spcBef>
                  <a:spcPts val="800"/>
                </a:spcBef>
              </a:pPr>
              <a:r>
                <a:rPr sz="1250" b="0" i="0">
                  <a:solidFill>
                    <a:srgbClr val="FFFFFF"/>
                  </a:solidFill>
                  <a:latin typeface="Calibri"/>
                </a:rPr>
                <a:t>•  </a:t>
              </a:r>
              <a:r>
                <a:rPr sz="1250" b="0" i="0">
                  <a:solidFill>
                    <a:srgbClr val="FFFFFF"/>
                  </a:solidFill>
                  <a:latin typeface="Calibri"/>
                </a:rPr>
                <a:t>29.01M passengers in 2025; 10.53M international</a:t>
              </a:r>
            </a:p>
            <a:p>
              <a:pPr>
                <a:spcBef>
                  <a:spcPts val="800"/>
                </a:spcBef>
              </a:pPr>
              <a:r>
                <a:rPr sz="1250" b="0" i="0">
                  <a:solidFill>
                    <a:srgbClr val="FFFFFF"/>
                  </a:solidFill>
                  <a:latin typeface="Calibri"/>
                </a:rPr>
                <a:t>•  </a:t>
              </a:r>
              <a:r>
                <a:rPr sz="1250" b="0" i="0">
                  <a:solidFill>
                    <a:srgbClr val="FFFFFF"/>
                  </a:solidFill>
                  <a:latin typeface="Calibri"/>
                </a:rPr>
                <a:t>Fastest 2025 growth among the 50 largest US airports</a:t>
              </a:r>
            </a:p>
            <a:p>
              <a:pPr>
                <a:spcBef>
                  <a:spcPts val="800"/>
                </a:spcBef>
              </a:pPr>
              <a:r>
                <a:rPr sz="1250" b="0" i="0">
                  <a:solidFill>
                    <a:srgbClr val="FFFFFF"/>
                  </a:solidFill>
                  <a:latin typeface="Calibri"/>
                </a:rPr>
                <a:t>•  </a:t>
              </a:r>
              <a:r>
                <a:rPr sz="1250" b="0" i="0">
                  <a:solidFill>
                    <a:srgbClr val="FFFFFF"/>
                  </a:solidFill>
                  <a:latin typeface="Calibri"/>
                </a:rPr>
                <a:t>United: ≈67% of passenger traffic; 50 jetbridge-equipped gates in Concourses C and D</a:t>
              </a:r>
            </a:p>
          </p:txBody>
        </p:sp>
        <p:sp>
          <p:nvSpPr>
            <p:cNvPr id="6" name="Rectangle 5"/>
            <p:cNvSpPr/>
            <p:nvPr/>
          </p:nvSpPr>
          <p:spPr>
            <a:xfrm>
              <a:off x="6236208" y="1847088"/>
              <a:ext cx="5440680" cy="301752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FFFFFF"/>
                  </a:solidFill>
                  <a:latin typeface="Georgia"/>
                </a:rPr>
                <a:t>DCA — SLOT-CONTROLLED DOMESTIC O&amp;D</a:t>
              </a:r>
            </a:p>
            <a:p>
              <a:pPr>
                <a:spcBef>
                  <a:spcPts val="800"/>
                </a:spcBef>
              </a:pPr>
              <a:r>
                <a:rPr sz="1250" b="0" i="0">
                  <a:solidFill>
                    <a:srgbClr val="FFFFFF"/>
                  </a:solidFill>
                  <a:latin typeface="Calibri"/>
                </a:rPr>
                <a:t>•  </a:t>
              </a:r>
              <a:r>
                <a:rPr sz="1250" b="0" i="0">
                  <a:solidFill>
                    <a:srgbClr val="FFFFFF"/>
                  </a:solidFill>
                  <a:latin typeface="Calibri"/>
                </a:rPr>
                <a:t>American: ≈53% market share (end-2024)</a:t>
              </a:r>
            </a:p>
            <a:p>
              <a:pPr>
                <a:spcBef>
                  <a:spcPts val="800"/>
                </a:spcBef>
              </a:pPr>
              <a:r>
                <a:rPr sz="1250" b="0" i="0">
                  <a:solidFill>
                    <a:srgbClr val="FFFFFF"/>
                  </a:solidFill>
                  <a:latin typeface="Calibri"/>
                </a:rPr>
                <a:t>•  </a:t>
              </a:r>
              <a:r>
                <a:rPr sz="1250" b="0" i="0">
                  <a:solidFill>
                    <a:srgbClr val="FFFFFF"/>
                  </a:solidFill>
                  <a:latin typeface="Calibri"/>
                </a:rPr>
                <a:t>2025 traffic declined — the January collision, softened government-related travel, a weeks-long federal shutdown</a:t>
              </a:r>
            </a:p>
            <a:p>
              <a:pPr>
                <a:spcBef>
                  <a:spcPts val="800"/>
                </a:spcBef>
              </a:pPr>
              <a:r>
                <a:rPr sz="1250" b="0" i="0">
                  <a:solidFill>
                    <a:srgbClr val="FFFFFF"/>
                  </a:solidFill>
                  <a:latin typeface="Calibri"/>
                </a:rPr>
                <a:t>•  </a:t>
              </a:r>
              <a:r>
                <a:rPr sz="1250" b="0" i="0">
                  <a:solidFill>
                    <a:srgbClr val="FFFFFF"/>
                  </a:solidFill>
                  <a:latin typeface="Calibri"/>
                </a:rPr>
                <a:t>Podium PA effectively airline-owned at preferential-use gates</a:t>
              </a:r>
            </a:p>
          </p:txBody>
        </p:sp>
        <p:sp>
          <p:nvSpPr>
            <p:cNvPr id="7" name="Rectangle 6"/>
            <p:cNvSpPr/>
            <p:nvPr/>
          </p:nvSpPr>
          <p:spPr>
            <a:xfrm>
              <a:off x="566928" y="5029200"/>
              <a:ext cx="11109960" cy="10058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r>
                <a:rPr sz="1250" b="0" i="0">
                  <a:solidFill>
                    <a:srgbClr val="17232D"/>
                  </a:solidFill>
                  <a:latin typeface="Calibri"/>
                </a:rPr>
                <a:t>Airline briefing reported by Cranky Flier (Aug 4, 2026): </a:t>
              </a:r>
              <a:r>
                <a:rPr sz="1250" b="1" i="0">
                  <a:solidFill>
                    <a:srgbClr val="17232D"/>
                  </a:solidFill>
                  <a:latin typeface="Calibri"/>
                </a:rPr>
                <a:t>fully loaded IAD transformation cost per enplanement ≈$90.64 vs. $12.88 today</a:t>
              </a:r>
              <a:r>
                <a:rPr sz="1250" b="0" i="0">
                  <a:solidFill>
                    <a:srgbClr val="17232D"/>
                  </a:solidFill>
                  <a:latin typeface="Calibri"/>
                </a:rPr>
                <a:t> — analyst-reported airline positioning, not an MWAA figure.</a:t>
              </a:r>
            </a:p>
          </p:txBody>
        </p:sp>
      </p:grpSp>
      <p:sp>
        <p:nvSpPr>
          <p:cNvPr id="8" name="s13-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Simple Flying (United IAD share and gates, verified Aug 11, 2026; American DCA share, March 2025) — directional trade-press figures; IAD traffic per MWAA reporting via Simple Flying and FFXnow; CPE figures per Cranky Flier (Aug 4, 2026), attributed as analyst commentary.</a:t>
            </a:r>
          </a:p>
        </p:txBody>
      </p:sp>
      <p:sp>
        <p:nvSpPr>
          <p:cNvPr id="9" name="TextBox 8"/>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4-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half the soundscape is tenant-owned — governance is the technology</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holdroom audio governance boundaries" descr="Schematic holdroom boundary diagram, labeled conceptual and not a floorplan, separating MWAA-controlled overhead PA, airline podium PA at preferential-use gates, and concessionaire audio, with panels listing auditable governance capabilities and enforcement mechanics."/>
          <p:cNvGrpSpPr/>
          <p:nvPr/>
        </p:nvGrpSpPr>
        <p:grpSpPr>
          <a:xfrm>
            <a:off x="566928" y="1874519"/>
            <a:ext cx="11109959" cy="4160521"/>
            <a:chOff x="566928" y="1874519"/>
            <a:chExt cx="11109959" cy="4160521"/>
          </a:xfrm>
        </p:grpSpPr>
        <p:sp>
          <p:nvSpPr>
            <p:cNvPr id="5" name="Rectangle 4"/>
            <p:cNvSpPr/>
            <p:nvPr/>
          </p:nvSpPr>
          <p:spPr>
            <a:xfrm>
              <a:off x="566928" y="1874519"/>
              <a:ext cx="6720840" cy="4160520"/>
            </a:xfrm>
            <a:prstGeom prst="rect">
              <a:avLst/>
            </a:prstGeom>
            <a:noFill/>
            <a:ln w="15875">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965960"/>
              <a:ext cx="6309360" cy="274320"/>
            </a:xfrm>
            <a:prstGeom prst="rect">
              <a:avLst/>
            </a:prstGeom>
            <a:noFill/>
          </p:spPr>
          <p:txBody>
            <a:bodyPr wrap="square" lIns="0" rIns="0" tIns="0" bIns="0">
              <a:spAutoFit/>
            </a:bodyPr>
            <a:lstStyle/>
            <a:p>
              <a:r>
                <a:rPr sz="1150" b="1" i="1">
                  <a:solidFill>
                    <a:srgbClr val="415669"/>
                  </a:solidFill>
                  <a:latin typeface="Calibri"/>
                </a:rPr>
                <a:t>HOLDROOM — conceptual, not a floorplan</a:t>
              </a:r>
            </a:p>
          </p:txBody>
        </p:sp>
        <p:sp>
          <p:nvSpPr>
            <p:cNvPr id="7" name="Rectangle 6"/>
            <p:cNvSpPr/>
            <p:nvPr/>
          </p:nvSpPr>
          <p:spPr>
            <a:xfrm>
              <a:off x="822960" y="2377440"/>
              <a:ext cx="6217920" cy="1417320"/>
            </a:xfrm>
            <a:prstGeom prst="rect">
              <a:avLst/>
            </a:prstGeom>
            <a:solidFill>
              <a:srgbClr val="C6DEE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250" b="1" i="0">
                  <a:solidFill>
                    <a:srgbClr val="0B2D4D"/>
                  </a:solidFill>
                  <a:latin typeface="Calibri"/>
                </a:rPr>
                <a:t>MWAA-controlled overhead PA zones</a:t>
              </a:r>
            </a:p>
            <a:p>
              <a:pPr>
                <a:spcBef>
                  <a:spcPts val="300"/>
                </a:spcBef>
              </a:pPr>
              <a:r>
                <a:rPr sz="1150" b="0" i="0">
                  <a:solidFill>
                    <a:srgbClr val="17232D"/>
                  </a:solidFill>
                  <a:latin typeface="Calibri"/>
                </a:rPr>
                <a:t>Governed by the Design Manual today; the amendment adds intelligibility floors, ADS mapping, and audit-logged governance.</a:t>
              </a:r>
            </a:p>
          </p:txBody>
        </p:sp>
        <p:sp>
          <p:nvSpPr>
            <p:cNvPr id="8" name="Rectangle 7"/>
            <p:cNvSpPr/>
            <p:nvPr/>
          </p:nvSpPr>
          <p:spPr>
            <a:xfrm>
              <a:off x="822960" y="3977639"/>
              <a:ext cx="3017520" cy="178308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250" b="1" i="0">
                  <a:solidFill>
                    <a:srgbClr val="FFFFFF"/>
                  </a:solidFill>
                  <a:latin typeface="Calibri"/>
                </a:rPr>
                <a:t>Airline podium PA (preferential-use gate)</a:t>
              </a:r>
            </a:p>
            <a:p>
              <a:pPr>
                <a:spcBef>
                  <a:spcPts val="300"/>
                </a:spcBef>
              </a:pPr>
              <a:r>
                <a:rPr sz="1150" b="0" i="0">
                  <a:solidFill>
                    <a:srgbClr val="C9D9E6"/>
                  </a:solidFill>
                  <a:latin typeface="Calibri"/>
                </a:rPr>
                <a:t>Amendment written to reach it — contingent on AUL majority-in-interest verification.</a:t>
              </a:r>
            </a:p>
          </p:txBody>
        </p:sp>
        <p:sp>
          <p:nvSpPr>
            <p:cNvPr id="9" name="Rectangle 8"/>
            <p:cNvSpPr/>
            <p:nvPr/>
          </p:nvSpPr>
          <p:spPr>
            <a:xfrm>
              <a:off x="4023360" y="3977639"/>
              <a:ext cx="3017520" cy="1783080"/>
            </a:xfrm>
            <a:prstGeom prst="rect">
              <a:avLst/>
            </a:prstGeom>
            <a:solidFill>
              <a:srgbClr val="F6EAD3"/>
            </a:solidFill>
            <a:ln w="127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250" b="1" i="0">
                  <a:solidFill>
                    <a:srgbClr val="17232D"/>
                  </a:solidFill>
                  <a:latin typeface="Calibri"/>
                </a:rPr>
                <a:t>Concessionaire TVs and audio</a:t>
              </a:r>
            </a:p>
            <a:p>
              <a:pPr>
                <a:spcBef>
                  <a:spcPts val="300"/>
                </a:spcBef>
              </a:pPr>
              <a:r>
                <a:rPr sz="1150" b="0" i="0">
                  <a:solidFill>
                    <a:srgbClr val="17232D"/>
                  </a:solidFill>
                  <a:latin typeface="Calibri"/>
                </a:rPr>
                <a:t>Lease terms; ambient thresholds set in the amendment.</a:t>
              </a:r>
            </a:p>
          </p:txBody>
        </p:sp>
        <p:sp>
          <p:nvSpPr>
            <p:cNvPr id="10" name="Rectangle 9"/>
            <p:cNvSpPr/>
            <p:nvPr/>
          </p:nvSpPr>
          <p:spPr>
            <a:xfrm>
              <a:off x="7543800" y="1874519"/>
              <a:ext cx="4133087" cy="26060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r>
                <a:rPr sz="1200" b="1" i="0">
                  <a:solidFill>
                    <a:srgbClr val="0B2D4D"/>
                  </a:solidFill>
                  <a:latin typeface="Calibri"/>
                </a:rPr>
                <a:t>AUDITABLE GOVERNANCE THE AMENDMENT CAN SPECIFY</a:t>
              </a:r>
            </a:p>
            <a:p>
              <a:pPr>
                <a:spcBef>
                  <a:spcPts val="500"/>
                </a:spcBef>
              </a:pPr>
              <a:r>
                <a:rPr sz="1200" b="0" i="0">
                  <a:solidFill>
                    <a:srgbClr val="17232D"/>
                  </a:solidFill>
                  <a:latin typeface="Calibri"/>
                </a:rPr>
                <a:t>•  </a:t>
              </a:r>
              <a:r>
                <a:rPr sz="1200" b="0" i="0">
                  <a:solidFill>
                    <a:srgbClr val="17232D"/>
                  </a:solidFill>
                  <a:latin typeface="Calibri"/>
                </a:rPr>
                <a:t>Centralized management</a:t>
              </a:r>
            </a:p>
            <a:p>
              <a:pPr>
                <a:spcBef>
                  <a:spcPts val="500"/>
                </a:spcBef>
              </a:pPr>
              <a:r>
                <a:rPr sz="1200" b="0" i="0">
                  <a:solidFill>
                    <a:srgbClr val="17232D"/>
                  </a:solidFill>
                  <a:latin typeface="Calibri"/>
                </a:rPr>
                <a:t>•  </a:t>
              </a:r>
              <a:r>
                <a:rPr sz="1200" b="0" i="0">
                  <a:solidFill>
                    <a:srgbClr val="17232D"/>
                  </a:solidFill>
                  <a:latin typeface="Calibri"/>
                </a:rPr>
                <a:t>Replay and audit logs of every broadcast</a:t>
              </a:r>
            </a:p>
            <a:p>
              <a:pPr>
                <a:spcBef>
                  <a:spcPts val="500"/>
                </a:spcBef>
              </a:pPr>
              <a:r>
                <a:rPr sz="1200" b="0" i="0">
                  <a:solidFill>
                    <a:srgbClr val="17232D"/>
                  </a:solidFill>
                  <a:latin typeface="Calibri"/>
                </a:rPr>
                <a:t>•  </a:t>
              </a:r>
              <a:r>
                <a:rPr sz="1200" b="0" i="0">
                  <a:solidFill>
                    <a:srgbClr val="17232D"/>
                  </a:solidFill>
                  <a:latin typeface="Calibri"/>
                </a:rPr>
                <a:t>Elimination of manual-initiation errors</a:t>
              </a:r>
            </a:p>
            <a:p>
              <a:pPr>
                <a:spcBef>
                  <a:spcPts val="500"/>
                </a:spcBef>
              </a:pPr>
              <a:r>
                <a:rPr sz="1200" b="0" i="0">
                  <a:solidFill>
                    <a:srgbClr val="17232D"/>
                  </a:solidFill>
                  <a:latin typeface="Calibri"/>
                </a:rPr>
                <a:t>•  </a:t>
              </a:r>
              <a:r>
                <a:rPr sz="1200" b="0" i="0">
                  <a:solidFill>
                    <a:srgbClr val="17232D"/>
                  </a:solidFill>
                  <a:latin typeface="Calibri"/>
                </a:rPr>
                <a:t>Templated multi-language delivery</a:t>
              </a:r>
            </a:p>
          </p:txBody>
        </p:sp>
        <p:sp>
          <p:nvSpPr>
            <p:cNvPr id="11" name="Rectangle 10"/>
            <p:cNvSpPr/>
            <p:nvPr/>
          </p:nvSpPr>
          <p:spPr>
            <a:xfrm>
              <a:off x="7543800" y="4617720"/>
              <a:ext cx="4133087" cy="1417320"/>
            </a:xfrm>
            <a:prstGeom prst="rect">
              <a:avLst/>
            </a:prstGeom>
            <a:noFill/>
            <a:ln w="12700">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r>
                <a:rPr sz="1200" b="1" i="0">
                  <a:solidFill>
                    <a:srgbClr val="0B2D4D"/>
                  </a:solidFill>
                  <a:latin typeface="Calibri"/>
                </a:rPr>
                <a:t>Enforcement: </a:t>
              </a:r>
              <a:r>
                <a:rPr sz="1200" b="0" i="0">
                  <a:solidFill>
                    <a:srgbClr val="17232D"/>
                  </a:solidFill>
                  <a:latin typeface="Calibri"/>
                </a:rPr>
                <a:t>annual acoustic inspections keyed to lease renewal · cure notices · lease-management escalation for pattern noncompliance.</a:t>
              </a:r>
            </a:p>
          </p:txBody>
        </p:sp>
      </p:grpSp>
      <p:sp>
        <p:nvSpPr>
          <p:cNvPr id="12" name="s14-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airline gate control per trade-press reporting (Simple Flying); AUL structure per MWAA press release, majority-in-interest provisions not verified from primary text; governance platform capabilities per ACI-NA (Feb 27, 2026) — industry advocacy, directional.</a:t>
            </a:r>
          </a:p>
        </p:txBody>
      </p:sp>
      <p:sp>
        <p:nvSpPr>
          <p:cNvPr id="13" name="TextBox 12"/>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5-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Concourse E carries the first commissioned baseline this fall</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first-cycle implementation timeline" descr="Four-milestone timeline: days 1 to 30 primary-text verification, fall 2026 Concourse E baseline commissioning, amendment issued this capital cycle, and a phase-dependent reference application at DCA Terminal 1 marked contingent in amber with dashed borders."/>
          <p:cNvGrpSpPr/>
          <p:nvPr/>
        </p:nvGrpSpPr>
        <p:grpSpPr>
          <a:xfrm>
            <a:off x="210311" y="2212848"/>
            <a:ext cx="11173969" cy="3456432"/>
            <a:chOff x="210311" y="2212848"/>
            <a:chExt cx="11173969" cy="3456432"/>
          </a:xfrm>
        </p:grpSpPr>
        <p:sp>
          <p:nvSpPr>
            <p:cNvPr id="5" name="Rectangle 4"/>
            <p:cNvSpPr/>
            <p:nvPr/>
          </p:nvSpPr>
          <p:spPr>
            <a:xfrm>
              <a:off x="822960" y="3127248"/>
              <a:ext cx="10561320" cy="32004"/>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89888" y="3026664"/>
              <a:ext cx="237744" cy="237744"/>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1" y="2212848"/>
              <a:ext cx="2606040" cy="731520"/>
            </a:xfrm>
            <a:prstGeom prst="rect">
              <a:avLst/>
            </a:prstGeom>
            <a:noFill/>
          </p:spPr>
          <p:txBody>
            <a:bodyPr wrap="square" lIns="0" rIns="0" tIns="0" bIns="0">
              <a:spAutoFit/>
            </a:bodyPr>
            <a:lstStyle/>
            <a:p>
              <a:r>
                <a:rPr sz="1250" b="1" i="0">
                  <a:solidFill>
                    <a:srgbClr val="0B2D4D"/>
                  </a:solidFill>
                  <a:latin typeface="Calibri"/>
                </a:rPr>
                <a:t>Days 1–30
</a:t>
              </a:r>
              <a:r>
                <a:rPr sz="1200" b="1" i="0">
                  <a:solidFill>
                    <a:srgbClr val="415669"/>
                  </a:solidFill>
                  <a:latin typeface="Calibri"/>
                </a:rPr>
                <a:t>Primary-text verification</a:t>
              </a:r>
            </a:p>
          </p:txBody>
        </p:sp>
        <p:sp>
          <p:nvSpPr>
            <p:cNvPr id="8" name="Rectangle 7"/>
            <p:cNvSpPr/>
            <p:nvPr/>
          </p:nvSpPr>
          <p:spPr>
            <a:xfrm>
              <a:off x="210311" y="3520440"/>
              <a:ext cx="2606040" cy="21488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150" b="0" i="0">
                  <a:solidFill>
                    <a:srgbClr val="17232D"/>
                  </a:solidFill>
                  <a:latin typeface="Calibri"/>
                </a:rPr>
                <a:t>Design Manual acoustic and PA content; AUL majority-in-interest provisions (Office of Engineering).</a:t>
              </a:r>
            </a:p>
          </p:txBody>
        </p:sp>
        <p:sp>
          <p:nvSpPr>
            <p:cNvPr id="9" name="Oval 8"/>
            <p:cNvSpPr/>
            <p:nvPr/>
          </p:nvSpPr>
          <p:spPr>
            <a:xfrm>
              <a:off x="4224528" y="3026664"/>
              <a:ext cx="237744" cy="237744"/>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2" y="2212848"/>
              <a:ext cx="2606040" cy="731520"/>
            </a:xfrm>
            <a:prstGeom prst="rect">
              <a:avLst/>
            </a:prstGeom>
            <a:noFill/>
          </p:spPr>
          <p:txBody>
            <a:bodyPr wrap="square" lIns="0" rIns="0" tIns="0" bIns="0">
              <a:spAutoFit/>
            </a:bodyPr>
            <a:lstStyle/>
            <a:p>
              <a:r>
                <a:rPr sz="1250" b="1" i="0">
                  <a:solidFill>
                    <a:srgbClr val="0B2D4D"/>
                  </a:solidFill>
                  <a:latin typeface="Calibri"/>
                </a:rPr>
                <a:t>Fall 2026
</a:t>
              </a:r>
              <a:r>
                <a:rPr sz="1200" b="1" i="0">
                  <a:solidFill>
                    <a:srgbClr val="415669"/>
                  </a:solidFill>
                  <a:latin typeface="Calibri"/>
                </a:rPr>
                <a:t>Concourse E baseline</a:t>
              </a:r>
            </a:p>
          </p:txBody>
        </p:sp>
        <p:sp>
          <p:nvSpPr>
            <p:cNvPr id="11" name="Rectangle 10"/>
            <p:cNvSpPr/>
            <p:nvPr/>
          </p:nvSpPr>
          <p:spPr>
            <a:xfrm>
              <a:off x="3044952" y="3520440"/>
              <a:ext cx="2606040" cy="21488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150" b="0" i="0">
                  <a:solidFill>
                    <a:srgbClr val="17232D"/>
                  </a:solidFill>
                  <a:latin typeface="Calibri"/>
                </a:rPr>
                <a:t>≈435,000 sq ft, 14 gates. Commission the intelligibility and ambient baseline under representative traffic at opening.</a:t>
              </a:r>
            </a:p>
          </p:txBody>
        </p:sp>
        <p:sp>
          <p:nvSpPr>
            <p:cNvPr id="12" name="Oval 11"/>
            <p:cNvSpPr/>
            <p:nvPr/>
          </p:nvSpPr>
          <p:spPr>
            <a:xfrm>
              <a:off x="7059168" y="3026664"/>
              <a:ext cx="237744" cy="237744"/>
            </a:xfrm>
            <a:prstGeom prst="ellipse">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9592" y="2212848"/>
              <a:ext cx="2606040" cy="731520"/>
            </a:xfrm>
            <a:prstGeom prst="rect">
              <a:avLst/>
            </a:prstGeom>
            <a:noFill/>
          </p:spPr>
          <p:txBody>
            <a:bodyPr wrap="square" lIns="0" rIns="0" tIns="0" bIns="0">
              <a:spAutoFit/>
            </a:bodyPr>
            <a:lstStyle/>
            <a:p>
              <a:r>
                <a:rPr sz="1250" b="1" i="0">
                  <a:solidFill>
                    <a:srgbClr val="0B2D4D"/>
                  </a:solidFill>
                  <a:latin typeface="Calibri"/>
                </a:rPr>
                <a:t>This capital cycle
</a:t>
              </a:r>
              <a:r>
                <a:rPr sz="1200" b="1" i="0">
                  <a:solidFill>
                    <a:srgbClr val="415669"/>
                  </a:solidFill>
                  <a:latin typeface="Calibri"/>
                </a:rPr>
                <a:t>Amendment issued</a:t>
              </a:r>
            </a:p>
          </p:txBody>
        </p:sp>
        <p:sp>
          <p:nvSpPr>
            <p:cNvPr id="14" name="Rectangle 13"/>
            <p:cNvSpPr/>
            <p:nvPr/>
          </p:nvSpPr>
          <p:spPr>
            <a:xfrm>
              <a:off x="5879592" y="3520440"/>
              <a:ext cx="2606040" cy="21488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150" b="0" i="0">
                  <a:solidFill>
                    <a:srgbClr val="17232D"/>
                  </a:solidFill>
                  <a:latin typeface="Calibri"/>
                </a:rPr>
                <a:t>Board information item; escalation to resolution only on material airline objection.</a:t>
              </a:r>
            </a:p>
          </p:txBody>
        </p:sp>
        <p:sp>
          <p:nvSpPr>
            <p:cNvPr id="15" name="Oval 14"/>
            <p:cNvSpPr/>
            <p:nvPr/>
          </p:nvSpPr>
          <p:spPr>
            <a:xfrm>
              <a:off x="9893807" y="3026664"/>
              <a:ext cx="237744" cy="237744"/>
            </a:xfrm>
            <a:prstGeom prst="ellipse">
              <a:avLst/>
            </a:prstGeom>
            <a:solidFill>
              <a:srgbClr val="F6EAD3"/>
            </a:solidFill>
            <a:ln w="19050">
              <a:solidFill>
                <a:srgbClr val="D4A24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14232" y="2212848"/>
              <a:ext cx="2606040" cy="731520"/>
            </a:xfrm>
            <a:prstGeom prst="rect">
              <a:avLst/>
            </a:prstGeom>
            <a:noFill/>
          </p:spPr>
          <p:txBody>
            <a:bodyPr wrap="square" lIns="0" rIns="0" tIns="0" bIns="0">
              <a:spAutoFit/>
            </a:bodyPr>
            <a:lstStyle/>
            <a:p>
              <a:r>
                <a:rPr sz="1250" b="1" i="0">
                  <a:solidFill>
                    <a:srgbClr val="0B2D4D"/>
                  </a:solidFill>
                  <a:latin typeface="Calibri"/>
                </a:rPr>
                <a:t>Phase-dependent
</a:t>
              </a:r>
              <a:r>
                <a:rPr sz="1200" b="1" i="0">
                  <a:solidFill>
                    <a:srgbClr val="415669"/>
                  </a:solidFill>
                  <a:latin typeface="Calibri"/>
                </a:rPr>
                <a:t>Reference application</a:t>
              </a:r>
            </a:p>
          </p:txBody>
        </p:sp>
        <p:sp>
          <p:nvSpPr>
            <p:cNvPr id="17" name="Rectangle 16"/>
            <p:cNvSpPr/>
            <p:nvPr/>
          </p:nvSpPr>
          <p:spPr>
            <a:xfrm>
              <a:off x="8714232" y="3520440"/>
              <a:ext cx="2606040" cy="2148840"/>
            </a:xfrm>
            <a:prstGeom prst="rect">
              <a:avLst/>
            </a:prstGeom>
            <a:solidFill>
              <a:srgbClr val="F6EAD3"/>
            </a:solidFill>
            <a:ln w="15875">
              <a:solidFill>
                <a:srgbClr val="D4A24C"/>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ctr"/>
              <a:r>
                <a:rPr sz="1150" b="0" i="0">
                  <a:solidFill>
                    <a:srgbClr val="17232D"/>
                  </a:solidFill>
                  <a:latin typeface="Calibri"/>
                </a:rPr>
                <a:t>DCA Terminal 1 concourse replacement — subject to phase verification, not verified in this research pass; fallback: earliest IAD C/D element still in programming.</a:t>
              </a:r>
            </a:p>
          </p:txBody>
        </p:sp>
      </p:grpSp>
      <p:sp>
        <p:nvSpPr>
          <p:cNvPr id="18" name="TextBox 17"/>
          <p:cNvSpPr txBox="1"/>
          <p:nvPr/>
        </p:nvSpPr>
        <p:spPr>
          <a:xfrm>
            <a:off x="502920" y="5852160"/>
            <a:ext cx="11183112" cy="411480"/>
          </a:xfrm>
          <a:prstGeom prst="rect">
            <a:avLst/>
          </a:prstGeom>
          <a:noFill/>
        </p:spPr>
        <p:txBody>
          <a:bodyPr wrap="square" lIns="0" rIns="0" tIns="0" bIns="0">
            <a:spAutoFit/>
          </a:bodyPr>
          <a:lstStyle/>
          <a:p>
            <a:r>
              <a:rPr sz="1600" b="1" i="0">
                <a:solidFill>
                  <a:srgbClr val="0B2D4D"/>
                </a:solidFill>
                <a:latin typeface="Calibri"/>
              </a:rPr>
              <a:t>The Concourse E baseline becomes the number every future MWAA facility is measured against.</a:t>
            </a:r>
          </a:p>
        </p:txBody>
      </p:sp>
      <p:sp>
        <p:nvSpPr>
          <p:cNvPr id="19" name="s15-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Concourse E per MWAA project disclosures (flydulles.com, verified Aug 11, 2026); reference-application phasing per the verified report, flagged unverified; open items listed on the final page of this packet.</a:t>
            </a:r>
          </a:p>
        </p:txBody>
      </p:sp>
      <p:sp>
        <p:nvSpPr>
          <p:cNvPr id="20" name="TextBox 19"/>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6-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an empty-building reading is not a commissioning result</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commissioning protocol" descr="Three-step commissioning protocol: empty-building STI baseline, representative-traffic verification required by the measurement standard's scope limits, then cure period and re-measurement, with a reference strip of related occupational and classroom acoustic floors."/>
          <p:cNvGrpSpPr/>
          <p:nvPr/>
        </p:nvGrpSpPr>
        <p:grpSpPr>
          <a:xfrm>
            <a:off x="566928" y="1965960"/>
            <a:ext cx="11164823" cy="3931920"/>
            <a:chOff x="566928" y="1965960"/>
            <a:chExt cx="11164823" cy="3931920"/>
          </a:xfrm>
        </p:grpSpPr>
        <p:sp>
          <p:nvSpPr>
            <p:cNvPr id="5" name="Rectangle 4"/>
            <p:cNvSpPr/>
            <p:nvPr/>
          </p:nvSpPr>
          <p:spPr>
            <a:xfrm>
              <a:off x="566928" y="1965960"/>
              <a:ext cx="3520440" cy="23774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500" b="1" i="0">
                  <a:solidFill>
                    <a:srgbClr val="0B2D4D"/>
                  </a:solidFill>
                  <a:latin typeface="Georgia"/>
                </a:rPr>
                <a:t>1  </a:t>
              </a:r>
              <a:r>
                <a:rPr sz="1250" b="1" i="0">
                  <a:solidFill>
                    <a:srgbClr val="0B2D4D"/>
                  </a:solidFill>
                  <a:latin typeface="Calibri"/>
                </a:rPr>
                <a:t>Empty-building STI baseline</a:t>
              </a:r>
            </a:p>
            <a:p>
              <a:pPr>
                <a:spcBef>
                  <a:spcPts val="500"/>
                </a:spcBef>
              </a:pPr>
              <a:r>
                <a:rPr sz="1200" b="0" i="0">
                  <a:solidFill>
                    <a:srgbClr val="17232D"/>
                  </a:solidFill>
                  <a:latin typeface="Calibri"/>
                </a:rPr>
                <a:t>Measured per IEC 60268-16:2020 — necessary, but not a commissioning result.</a:t>
              </a:r>
            </a:p>
          </p:txBody>
        </p:sp>
        <p:sp>
          <p:nvSpPr>
            <p:cNvPr id="6" name="Right Triangle 5"/>
            <p:cNvSpPr/>
            <p:nvPr/>
          </p:nvSpPr>
          <p:spPr>
            <a:xfrm>
              <a:off x="4133087" y="3063240"/>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965960"/>
              <a:ext cx="3520440" cy="2377440"/>
            </a:xfrm>
            <a:prstGeom prst="rect">
              <a:avLst/>
            </a:prstGeom>
            <a:noFill/>
            <a:ln w="19050">
              <a:solidFill>
                <a:srgbClr val="2E84A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500" b="1" i="0">
                  <a:solidFill>
                    <a:srgbClr val="0B2D4D"/>
                  </a:solidFill>
                  <a:latin typeface="Georgia"/>
                </a:rPr>
                <a:t>2  </a:t>
              </a:r>
              <a:r>
                <a:rPr sz="1250" b="1" i="0">
                  <a:solidFill>
                    <a:srgbClr val="0B2D4D"/>
                  </a:solidFill>
                  <a:latin typeface="Calibri"/>
                </a:rPr>
                <a:t>Representative-traffic verification</a:t>
              </a:r>
            </a:p>
            <a:p>
              <a:pPr>
                <a:spcBef>
                  <a:spcPts val="500"/>
                </a:spcBef>
              </a:pPr>
              <a:r>
                <a:rPr sz="1200" b="0" i="0">
                  <a:solidFill>
                    <a:srgbClr val="17232D"/>
                  </a:solidFill>
                  <a:latin typeface="Calibri"/>
                </a:rPr>
                <a:t>Required because the standard's own scope (§7.13, §8.9.3) does not cover fluctuating background noise — and terminals are the paradigm fluctuating-noise environment.</a:t>
              </a:r>
            </a:p>
          </p:txBody>
        </p:sp>
        <p:sp>
          <p:nvSpPr>
            <p:cNvPr id="8" name="Right Triangle 7"/>
            <p:cNvSpPr/>
            <p:nvPr/>
          </p:nvSpPr>
          <p:spPr>
            <a:xfrm>
              <a:off x="7955279" y="3063240"/>
              <a:ext cx="128016" cy="128016"/>
            </a:xfrm>
            <a:prstGeom prst="rtTriangle">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11311" y="1965960"/>
              <a:ext cx="3520440" cy="23774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r>
                <a:rPr sz="1500" b="1" i="0">
                  <a:solidFill>
                    <a:srgbClr val="0B2D4D"/>
                  </a:solidFill>
                  <a:latin typeface="Georgia"/>
                </a:rPr>
                <a:t>3  </a:t>
              </a:r>
              <a:r>
                <a:rPr sz="1250" b="1" i="0">
                  <a:solidFill>
                    <a:srgbClr val="0B2D4D"/>
                  </a:solidFill>
                  <a:latin typeface="Calibri"/>
                </a:rPr>
                <a:t>Cure period and re-measurement</a:t>
              </a:r>
            </a:p>
            <a:p>
              <a:pPr>
                <a:spcBef>
                  <a:spcPts val="500"/>
                </a:spcBef>
              </a:pPr>
              <a:r>
                <a:rPr sz="1200" b="0" i="0">
                  <a:solidFill>
                    <a:srgbClr val="17232D"/>
                  </a:solidFill>
                  <a:latin typeface="Calibri"/>
                </a:rPr>
                <a:t>Verification-with-cure-period, not an occupancy condition — keeps acceptance off the occupancy critical path.</a:t>
              </a:r>
            </a:p>
          </p:txBody>
        </p:sp>
        <p:sp>
          <p:nvSpPr>
            <p:cNvPr id="10" name="Rectangle 9"/>
            <p:cNvSpPr/>
            <p:nvPr/>
          </p:nvSpPr>
          <p:spPr>
            <a:xfrm>
              <a:off x="566928" y="4709160"/>
              <a:ext cx="11109960" cy="1188720"/>
            </a:xfrm>
            <a:prstGeom prst="rect">
              <a:avLst/>
            </a:prstGeom>
            <a:noFill/>
            <a:ln w="12700">
              <a:solidFill>
                <a:srgbClr val="41566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200" b="1" i="0">
                  <a:solidFill>
                    <a:srgbClr val="0B2D4D"/>
                  </a:solidFill>
                  <a:latin typeface="Calibri"/>
                </a:rPr>
                <a:t>Related floors:  </a:t>
              </a:r>
              <a:r>
                <a:rPr sz="1200" b="0" i="0">
                  <a:solidFill>
                    <a:srgbClr val="17232D"/>
                  </a:solidFill>
                  <a:latin typeface="Calibri"/>
                </a:rPr>
                <a:t>29 CFR 1910.95 — hearing-conservation program at 85 dB(A) eight-hour TWA   ·   ANSI/ASA S12.60 — 35 dB(A) core-learning-space background, the reference benchmark for MWAA-defined low-stimulation zones only (reference, not terminal ambient).</a:t>
              </a:r>
            </a:p>
          </p:txBody>
        </p:sp>
      </p:grpSp>
      <p:sp>
        <p:nvSpPr>
          <p:cNvPr id="11" name="s16-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IEC 60268-16:2020 scope limitation (standard paywalled; scope confirmed in records citing §7.13, §8.9.3); 29 C.F.R. § 1910.95 (OSHA); ANSI/ASA S12.60 (paywalled; 35 dB(A) figure corroborated).</a:t>
            </a:r>
          </a:p>
        </p:txBody>
      </p:sp>
      <p:sp>
        <p:nvSpPr>
          <p:cNvPr id="12" name="TextBox 11"/>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7-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'the floors already exist' is half-right — here is the marginal content</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Exhibit — existing floors vs amendment marginal content" descr="Gap comparison: left panel lists what NFPA 72, the ADA Standards, and ACRP 175 already require; right panel lists the amendment's marginal content; an amber band states the premature-specification objection and its answer."/>
          <p:cNvGrpSpPr/>
          <p:nvPr/>
        </p:nvGrpSpPr>
        <p:grpSpPr>
          <a:xfrm>
            <a:off x="566928" y="1847088"/>
            <a:ext cx="11109960" cy="4370832"/>
            <a:chOff x="566928" y="1847088"/>
            <a:chExt cx="11109960" cy="4370832"/>
          </a:xfrm>
        </p:grpSpPr>
        <p:sp>
          <p:nvSpPr>
            <p:cNvPr id="5" name="Rectangle 4"/>
            <p:cNvSpPr/>
            <p:nvPr/>
          </p:nvSpPr>
          <p:spPr>
            <a:xfrm>
              <a:off x="566928" y="1847088"/>
              <a:ext cx="5440680" cy="306324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0B2D4D"/>
                  </a:solidFill>
                  <a:latin typeface="Georgia"/>
                </a:rPr>
                <a:t>WHAT EXISTING FLOORS REQUIRE</a:t>
              </a:r>
            </a:p>
            <a:p>
              <a:pPr>
                <a:spcBef>
                  <a:spcPts val="800"/>
                </a:spcBef>
              </a:pPr>
              <a:r>
                <a:rPr sz="1200" b="1" i="0">
                  <a:solidFill>
                    <a:srgbClr val="17232D"/>
                  </a:solidFill>
                  <a:latin typeface="Calibri"/>
                </a:rPr>
                <a:t>NFPA 72 — </a:t>
              </a:r>
              <a:r>
                <a:rPr sz="1200" b="0" i="0">
                  <a:solidFill>
                    <a:srgbClr val="17232D"/>
                  </a:solidFill>
                  <a:latin typeface="Calibri"/>
                </a:rPr>
                <a:t>emergency voice intelligibility only; no ADS mapping as a general deliverable, no routine-PA governance</a:t>
              </a:r>
            </a:p>
            <a:p>
              <a:pPr>
                <a:spcBef>
                  <a:spcPts val="800"/>
                </a:spcBef>
              </a:pPr>
              <a:r>
                <a:rPr sz="1200" b="1" i="0">
                  <a:solidFill>
                    <a:srgbClr val="17232D"/>
                  </a:solidFill>
                  <a:latin typeface="Calibri"/>
                </a:rPr>
                <a:t>2010 ADA Standards — </a:t>
              </a:r>
              <a:r>
                <a:rPr sz="1200" b="0" i="0">
                  <a:solidFill>
                    <a:srgbClr val="17232D"/>
                  </a:solidFill>
                  <a:latin typeface="Calibri"/>
                </a:rPr>
                <a:t>receiver counts, not intelligibility floors for daily announcements</a:t>
              </a:r>
            </a:p>
            <a:p>
              <a:pPr>
                <a:spcBef>
                  <a:spcPts val="800"/>
                </a:spcBef>
              </a:pPr>
              <a:r>
                <a:rPr sz="1200" b="1" i="0">
                  <a:solidFill>
                    <a:srgbClr val="17232D"/>
                  </a:solidFill>
                  <a:latin typeface="Calibri"/>
                </a:rPr>
                <a:t>ACRP 175 — </a:t>
              </a:r>
              <a:r>
                <a:rPr sz="1200" b="0" i="0">
                  <a:solidFill>
                    <a:srgbClr val="17232D"/>
                  </a:solidFill>
                  <a:latin typeface="Calibri"/>
                </a:rPr>
                <a:t>guidance, not code</a:t>
              </a:r>
            </a:p>
          </p:txBody>
        </p:sp>
        <p:sp>
          <p:nvSpPr>
            <p:cNvPr id="6" name="Rectangle 5"/>
            <p:cNvSpPr/>
            <p:nvPr/>
          </p:nvSpPr>
          <p:spPr>
            <a:xfrm>
              <a:off x="6236208" y="1847088"/>
              <a:ext cx="5440680" cy="3063240"/>
            </a:xfrm>
            <a:prstGeom prst="rect">
              <a:avLst/>
            </a:prstGeom>
            <a:solidFill>
              <a:srgbClr val="0B2D4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ctr"/>
              <a:r>
                <a:rPr sz="1300" b="1" i="0">
                  <a:solidFill>
                    <a:srgbClr val="FFFFFF"/>
                  </a:solidFill>
                  <a:latin typeface="Georgia"/>
                </a:rPr>
                <a:t>WHAT ONLY THE AMENDMENT ADDS</a:t>
              </a:r>
            </a:p>
            <a:p>
              <a:pPr>
                <a:spcBef>
                  <a:spcPts val="500"/>
                </a:spcBef>
              </a:pPr>
              <a:r>
                <a:rPr sz="1200" b="0" i="0">
                  <a:solidFill>
                    <a:srgbClr val="FFFFFF"/>
                  </a:solidFill>
                  <a:latin typeface="Calibri"/>
                </a:rPr>
                <a:t>•  </a:t>
              </a:r>
              <a:r>
                <a:rPr sz="1200" b="0" i="0">
                  <a:solidFill>
                    <a:srgbClr val="FFFFFF"/>
                  </a:solidFill>
                  <a:latin typeface="Calibri"/>
                </a:rPr>
                <a:t>ADS map at each design milestone</a:t>
              </a:r>
            </a:p>
            <a:p>
              <a:pPr>
                <a:spcBef>
                  <a:spcPts val="500"/>
                </a:spcBef>
              </a:pPr>
              <a:r>
                <a:rPr sz="1200" b="0" i="0">
                  <a:solidFill>
                    <a:srgbClr val="FFFFFF"/>
                  </a:solidFill>
                  <a:latin typeface="Calibri"/>
                </a:rPr>
                <a:t>•  </a:t>
              </a:r>
              <a:r>
                <a:rPr sz="1200" b="0" i="0">
                  <a:solidFill>
                    <a:srgbClr val="FFFFFF"/>
                  </a:solidFill>
                  <a:latin typeface="Calibri"/>
                </a:rPr>
                <a:t>Representative-traffic commissioning</a:t>
              </a:r>
            </a:p>
            <a:p>
              <a:pPr>
                <a:spcBef>
                  <a:spcPts val="500"/>
                </a:spcBef>
              </a:pPr>
              <a:r>
                <a:rPr sz="1200" b="0" i="0">
                  <a:solidFill>
                    <a:srgbClr val="FFFFFF"/>
                  </a:solidFill>
                  <a:latin typeface="Calibri"/>
                </a:rPr>
                <a:t>•  </a:t>
              </a:r>
              <a:r>
                <a:rPr sz="1200" b="0" i="0">
                  <a:solidFill>
                    <a:srgbClr val="FFFFFF"/>
                  </a:solidFill>
                  <a:latin typeface="Calibri"/>
                </a:rPr>
                <a:t>Audit-logged governance of routine PA</a:t>
              </a:r>
            </a:p>
            <a:p>
              <a:pPr>
                <a:spcBef>
                  <a:spcPts val="500"/>
                </a:spcBef>
              </a:pPr>
              <a:r>
                <a:rPr sz="1200" b="0" i="0">
                  <a:solidFill>
                    <a:srgbClr val="FFFFFF"/>
                  </a:solidFill>
                  <a:latin typeface="Calibri"/>
                </a:rPr>
                <a:t>•  </a:t>
              </a:r>
              <a:r>
                <a:rPr sz="1200" b="0" i="0">
                  <a:solidFill>
                    <a:srgbClr val="FFFFFF"/>
                  </a:solidFill>
                  <a:latin typeface="Calibri"/>
                </a:rPr>
                <a:t>Channel-redundancy floors</a:t>
              </a:r>
            </a:p>
            <a:p>
              <a:pPr>
                <a:spcBef>
                  <a:spcPts val="500"/>
                </a:spcBef>
              </a:pPr>
              <a:r>
                <a:rPr sz="1200" b="0" i="0">
                  <a:solidFill>
                    <a:srgbClr val="FFFFFF"/>
                  </a:solidFill>
                  <a:latin typeface="Calibri"/>
                </a:rPr>
                <a:t>•  </a:t>
              </a:r>
              <a:r>
                <a:rPr sz="1200" b="0" i="0">
                  <a:solidFill>
                    <a:srgbClr val="FFFFFF"/>
                  </a:solidFill>
                  <a:latin typeface="Calibri"/>
                </a:rPr>
                <a:t>IROPS override</a:t>
              </a:r>
            </a:p>
            <a:p>
              <a:pPr>
                <a:spcBef>
                  <a:spcPts val="500"/>
                </a:spcBef>
              </a:pPr>
              <a:r>
                <a:rPr sz="1200" b="0" i="0">
                  <a:solidFill>
                    <a:srgbClr val="FFFFFF"/>
                  </a:solidFill>
                  <a:latin typeface="Calibri"/>
                </a:rPr>
                <a:t>•  </a:t>
              </a:r>
              <a:r>
                <a:rPr sz="1200" b="0" i="0">
                  <a:solidFill>
                    <a:srgbClr val="FFFFFF"/>
                  </a:solidFill>
                  <a:latin typeface="Calibri"/>
                </a:rPr>
                <a:t>Tenant-audio boundaries</a:t>
              </a:r>
            </a:p>
          </p:txBody>
        </p:sp>
        <p:sp>
          <p:nvSpPr>
            <p:cNvPr id="7" name="Rectangle 6"/>
            <p:cNvSpPr/>
            <p:nvPr/>
          </p:nvSpPr>
          <p:spPr>
            <a:xfrm>
              <a:off x="566928" y="5047488"/>
              <a:ext cx="11109960" cy="1170432"/>
            </a:xfrm>
            <a:prstGeom prst="rect">
              <a:avLst/>
            </a:prstGeom>
            <a:solidFill>
              <a:srgbClr val="F6EAD3"/>
            </a:solidFill>
            <a:ln w="1270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200" b="1" i="0">
                  <a:solidFill>
                    <a:srgbClr val="17232D"/>
                  </a:solidFill>
                  <a:latin typeface="Calibri"/>
                </a:rPr>
                <a:t>The serious objection: </a:t>
              </a:r>
              <a:r>
                <a:rPr sz="1200" b="0" i="0">
                  <a:solidFill>
                    <a:srgbClr val="17232D"/>
                  </a:solidFill>
                  <a:latin typeface="Calibri"/>
                </a:rPr>
                <a:t>premature specification before program-brief maturity drives change orders, and hard commissioning gates on the critical path in this coverage window would be a bond-rating conversation. Answered by cure-period commissioning and milestone — not occupancy — deliverables.</a:t>
              </a:r>
            </a:p>
          </p:txBody>
        </p:sp>
      </p:grpSp>
      <p:sp>
        <p:nvSpPr>
          <p:cNvPr id="8" name="s17-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counter-case and rebuttal per the verified report; regulatory scope per NFPA 72, 2010 ADA Standards, and ACRP Research Report 175 as corroborated in the evidence base.</a:t>
            </a:r>
          </a:p>
        </p:txBody>
      </p:sp>
      <p:sp>
        <p:nvSpPr>
          <p:cNvPr id="9" name="TextBox 8"/>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18-title"/>
          <p:cNvSpPr txBox="1"/>
          <p:nvPr/>
        </p:nvSpPr>
        <p:spPr>
          <a:xfrm>
            <a:off x="502920" y="365760"/>
            <a:ext cx="11183112" cy="1207008"/>
          </a:xfrm>
          <a:prstGeom prst="rect">
            <a:avLst/>
          </a:prstGeom>
          <a:noFill/>
        </p:spPr>
        <p:txBody>
          <a:bodyPr wrap="square" lIns="0" rIns="0" tIns="0" bIns="0">
            <a:spAutoFit/>
          </a:bodyPr>
          <a:lstStyle/>
          <a:p>
            <a:r>
              <a:rPr sz="3500" b="1" i="0">
                <a:solidFill>
                  <a:srgbClr val="0B2D4D"/>
                </a:solidFill>
                <a:latin typeface="Georgia"/>
              </a:rPr>
              <a:t>Read-ahead: what this research pass did not verify</a:t>
            </a:r>
          </a:p>
        </p:txBody>
      </p:sp>
      <p:sp>
        <p:nvSpPr>
          <p:cNvPr id="3" name="Rectangle 2"/>
          <p:cNvSpPr/>
          <p:nvPr/>
        </p:nvSpPr>
        <p:spPr>
          <a:xfrm>
            <a:off x="521207" y="1664208"/>
            <a:ext cx="2194560" cy="45720"/>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descr="Checklist table of five open verification items with owners and closure routes, from Design Manual content and use-and-lease provisions to rating-agency primary reports."/>
          <p:cNvGraphicFramePr>
            <a:graphicFrameLocks noGrp="1"/>
          </p:cNvGraphicFramePr>
          <p:nvPr/>
        </p:nvGraphicFramePr>
        <p:xfrm>
          <a:off x="502920" y="1847088"/>
          <a:ext cx="11183112" cy="3611880"/>
        </p:xfrm>
        <a:graphic>
          <a:graphicData uri="http://schemas.openxmlformats.org/drawingml/2006/table">
            <a:tbl>
              <a:tblPr firstRow="1">
                <a:tableStyleId>{5C22544A-7EE6-4342-B048-85BDC9FD1C3A}</a:tableStyleId>
              </a:tblPr>
              <a:tblGrid>
                <a:gridCol w="5074920"/>
                <a:gridCol w="2606040"/>
                <a:gridCol w="3502152"/>
              </a:tblGrid>
              <a:tr h="601980">
                <a:tc>
                  <a:txBody>
                    <a:bodyPr wrap="square"/>
                    <a:lstStyle/>
                    <a:p>
                      <a:r>
                        <a:rPr sz="1200" b="1" i="0">
                          <a:solidFill>
                            <a:srgbClr val="FFFFFF"/>
                          </a:solidFill>
                          <a:latin typeface="Calibri"/>
                        </a:rPr>
                        <a:t>Open verification item</a:t>
                      </a:r>
                    </a:p>
                  </a:txBody>
                  <a:tcPr anchor="ctr" marL="91440" marR="91440" marT="45720" marB="45720">
                    <a:solidFill>
                      <a:srgbClr val="0B2D4D"/>
                    </a:solidFill>
                  </a:tcPr>
                </a:tc>
                <a:tc>
                  <a:txBody>
                    <a:bodyPr wrap="square"/>
                    <a:lstStyle/>
                    <a:p>
                      <a:r>
                        <a:rPr sz="1200" b="1" i="0">
                          <a:solidFill>
                            <a:srgbClr val="FFFFFF"/>
                          </a:solidFill>
                          <a:latin typeface="Calibri"/>
                        </a:rPr>
                        <a:t>Owner</a:t>
                      </a:r>
                    </a:p>
                  </a:txBody>
                  <a:tcPr anchor="ctr" marL="91440" marR="91440" marT="45720" marB="45720">
                    <a:solidFill>
                      <a:srgbClr val="0B2D4D"/>
                    </a:solidFill>
                  </a:tcPr>
                </a:tc>
                <a:tc>
                  <a:txBody>
                    <a:bodyPr wrap="square"/>
                    <a:lstStyle/>
                    <a:p>
                      <a:r>
                        <a:rPr sz="1200" b="1" i="0">
                          <a:solidFill>
                            <a:srgbClr val="FFFFFF"/>
                          </a:solidFill>
                          <a:latin typeface="Calibri"/>
                        </a:rPr>
                        <a:t>Closure route</a:t>
                      </a:r>
                    </a:p>
                  </a:txBody>
                  <a:tcPr anchor="ctr" marL="91440" marR="91440" marT="45720" marB="45720">
                    <a:solidFill>
                      <a:srgbClr val="0B2D4D"/>
                    </a:solidFill>
                  </a:tcPr>
                </a:tc>
              </a:tr>
              <a:tr h="601980">
                <a:tc>
                  <a:txBody>
                    <a:bodyPr wrap="square"/>
                    <a:lstStyle/>
                    <a:p>
                      <a:r>
                        <a:rPr sz="1200" b="1" i="0">
                          <a:solidFill>
                            <a:srgbClr val="17232D"/>
                          </a:solidFill>
                          <a:latin typeface="Calibri"/>
                        </a:rPr>
                        <a:t>Current Design Manual acoustic, PA-zoning, and STI content</a:t>
                      </a:r>
                    </a:p>
                  </a:txBody>
                  <a:tcPr anchor="ctr" marL="91440" marR="91440" marT="45720" marB="45720">
                    <a:solidFill>
                      <a:srgbClr val="FFFFFF"/>
                    </a:solidFill>
                  </a:tcPr>
                </a:tc>
                <a:tc>
                  <a:txBody>
                    <a:bodyPr wrap="square"/>
                    <a:lstStyle/>
                    <a:p>
                      <a:r>
                        <a:rPr sz="1200" b="0" i="0">
                          <a:solidFill>
                            <a:srgbClr val="17232D"/>
                          </a:solidFill>
                          <a:latin typeface="Calibri"/>
                        </a:rPr>
                        <a:t>Office of Engineering</a:t>
                      </a:r>
                    </a:p>
                  </a:txBody>
                  <a:tcPr anchor="ctr" marL="91440" marR="91440" marT="45720" marB="45720">
                    <a:solidFill>
                      <a:srgbClr val="FFFFFF"/>
                    </a:solidFill>
                  </a:tcPr>
                </a:tc>
                <a:tc>
                  <a:txBody>
                    <a:bodyPr wrap="square"/>
                    <a:lstStyle/>
                    <a:p>
                      <a:r>
                        <a:rPr sz="1200" b="0" i="0">
                          <a:solidFill>
                            <a:srgbClr val="17232D"/>
                          </a:solidFill>
                          <a:latin typeface="Calibri"/>
                        </a:rPr>
                        <a:t>Read Volume 2 and applicable specification sections (public, mwaa.com)</a:t>
                      </a:r>
                    </a:p>
                  </a:txBody>
                  <a:tcPr anchor="ctr" marL="91440" marR="91440" marT="45720" marB="45720">
                    <a:solidFill>
                      <a:srgbClr val="FFFFFF"/>
                    </a:solidFill>
                  </a:tcPr>
                </a:tc>
              </a:tr>
              <a:tr h="601980">
                <a:tc>
                  <a:txBody>
                    <a:bodyPr wrap="square"/>
                    <a:lstStyle/>
                    <a:p>
                      <a:r>
                        <a:rPr sz="1200" b="1" i="0">
                          <a:solidFill>
                            <a:srgbClr val="17232D"/>
                          </a:solidFill>
                          <a:latin typeface="Calibri"/>
                        </a:rPr>
                        <a:t>2025 AUL majority-in-interest thresholds and cost-recovery categorization</a:t>
                      </a:r>
                    </a:p>
                  </a:txBody>
                  <a:tcPr anchor="ctr" marL="91440" marR="91440" marT="45720" marB="45720">
                    <a:solidFill>
                      <a:srgbClr val="EDF3F6"/>
                    </a:solidFill>
                  </a:tcPr>
                </a:tc>
                <a:tc>
                  <a:txBody>
                    <a:bodyPr wrap="square"/>
                    <a:lstStyle/>
                    <a:p>
                      <a:r>
                        <a:rPr sz="1200" b="0" i="0">
                          <a:solidFill>
                            <a:srgbClr val="17232D"/>
                          </a:solidFill>
                          <a:latin typeface="Calibri"/>
                        </a:rPr>
                        <a:t>Office of Engineering with airline relations</a:t>
                      </a:r>
                    </a:p>
                  </a:txBody>
                  <a:tcPr anchor="ctr" marL="91440" marR="91440" marT="45720" marB="45720">
                    <a:solidFill>
                      <a:srgbClr val="EDF3F6"/>
                    </a:solidFill>
                  </a:tcPr>
                </a:tc>
                <a:tc>
                  <a:txBody>
                    <a:bodyPr wrap="square"/>
                    <a:lstStyle/>
                    <a:p>
                      <a:r>
                        <a:rPr sz="1200" b="0" i="0">
                          <a:solidFill>
                            <a:srgbClr val="17232D"/>
                          </a:solidFill>
                          <a:latin typeface="Calibri"/>
                        </a:rPr>
                        <a:t>Primary agreement text</a:t>
                      </a:r>
                    </a:p>
                  </a:txBody>
                  <a:tcPr anchor="ctr" marL="91440" marR="91440" marT="45720" marB="45720">
                    <a:solidFill>
                      <a:srgbClr val="EDF3F6"/>
                    </a:solidFill>
                  </a:tcPr>
                </a:tc>
              </a:tr>
              <a:tr h="601980">
                <a:tc>
                  <a:txBody>
                    <a:bodyPr wrap="square"/>
                    <a:lstStyle/>
                    <a:p>
                      <a:r>
                        <a:rPr sz="1200" b="1" i="0">
                          <a:solidFill>
                            <a:srgbClr val="17232D"/>
                          </a:solidFill>
                          <a:latin typeface="Calibri"/>
                        </a:rPr>
                        <a:t>DCA Terminal 1 concourse replacement project phase</a:t>
                      </a:r>
                    </a:p>
                  </a:txBody>
                  <a:tcPr anchor="ctr" marL="91440" marR="91440" marT="45720" marB="45720">
                    <a:solidFill>
                      <a:srgbClr val="FFFFFF"/>
                    </a:solidFill>
                  </a:tcPr>
                </a:tc>
                <a:tc>
                  <a:txBody>
                    <a:bodyPr wrap="square"/>
                    <a:lstStyle/>
                    <a:p>
                      <a:r>
                        <a:rPr sz="1200" b="0" i="0">
                          <a:solidFill>
                            <a:srgbClr val="17232D"/>
                          </a:solidFill>
                          <a:latin typeface="Calibri"/>
                        </a:rPr>
                        <a:t>Capital program office</a:t>
                      </a:r>
                    </a:p>
                  </a:txBody>
                  <a:tcPr anchor="ctr" marL="91440" marR="91440" marT="45720" marB="45720">
                    <a:solidFill>
                      <a:srgbClr val="FFFFFF"/>
                    </a:solidFill>
                  </a:tcPr>
                </a:tc>
                <a:tc>
                  <a:txBody>
                    <a:bodyPr wrap="square"/>
                    <a:lstStyle/>
                    <a:p>
                      <a:r>
                        <a:rPr sz="1200" b="0" i="0">
                          <a:solidFill>
                            <a:srgbClr val="17232D"/>
                          </a:solidFill>
                          <a:latin typeface="Calibri"/>
                        </a:rPr>
                        <a:t>Capital program status reporting</a:t>
                      </a:r>
                    </a:p>
                  </a:txBody>
                  <a:tcPr anchor="ctr" marL="91440" marR="91440" marT="45720" marB="45720">
                    <a:solidFill>
                      <a:srgbClr val="FFFFFF"/>
                    </a:solidFill>
                  </a:tcPr>
                </a:tc>
              </a:tr>
              <a:tr h="601980">
                <a:tc>
                  <a:txBody>
                    <a:bodyPr wrap="square"/>
                    <a:lstStyle/>
                    <a:p>
                      <a:r>
                        <a:rPr sz="1200" b="1" i="0">
                          <a:solidFill>
                            <a:srgbClr val="17232D"/>
                          </a:solidFill>
                          <a:latin typeface="Calibri"/>
                        </a:rPr>
                        <a:t>SFO Quiet Airport measurement methodology</a:t>
                      </a:r>
                    </a:p>
                  </a:txBody>
                  <a:tcPr anchor="ctr" marL="91440" marR="91440" marT="45720" marB="45720">
                    <a:solidFill>
                      <a:srgbClr val="EDF3F6"/>
                    </a:solidFill>
                  </a:tcPr>
                </a:tc>
                <a:tc>
                  <a:txBody>
                    <a:bodyPr wrap="square"/>
                    <a:lstStyle/>
                    <a:p>
                      <a:r>
                        <a:rPr sz="1200" b="0" i="0">
                          <a:solidFill>
                            <a:srgbClr val="17232D"/>
                          </a:solidFill>
                          <a:latin typeface="Calibri"/>
                        </a:rPr>
                        <a:t>Research follow-up</a:t>
                      </a:r>
                    </a:p>
                  </a:txBody>
                  <a:tcPr anchor="ctr" marL="91440" marR="91440" marT="45720" marB="45720">
                    <a:solidFill>
                      <a:srgbClr val="EDF3F6"/>
                    </a:solidFill>
                  </a:tcPr>
                </a:tc>
                <a:tc>
                  <a:txBody>
                    <a:bodyPr wrap="square"/>
                    <a:lstStyle/>
                    <a:p>
                      <a:r>
                        <a:rPr sz="1200" b="0" i="0">
                          <a:solidFill>
                            <a:srgbClr val="17232D"/>
                          </a:solidFill>
                          <a:latin typeface="Calibri"/>
                        </a:rPr>
                        <a:t>SFO Airport Commission minutes or program report</a:t>
                      </a:r>
                    </a:p>
                  </a:txBody>
                  <a:tcPr anchor="ctr" marL="91440" marR="91440" marT="45720" marB="45720">
                    <a:solidFill>
                      <a:srgbClr val="EDF3F6"/>
                    </a:solidFill>
                  </a:tcPr>
                </a:tc>
              </a:tr>
              <a:tr h="601980">
                <a:tc>
                  <a:txBody>
                    <a:bodyPr wrap="square"/>
                    <a:lstStyle/>
                    <a:p>
                      <a:r>
                        <a:rPr sz="1200" b="1" i="0">
                          <a:solidFill>
                            <a:srgbClr val="17232D"/>
                          </a:solidFill>
                          <a:latin typeface="Calibri"/>
                        </a:rPr>
                        <a:t>Rating-agency primary reports behind the Bond Buyer coverage figures</a:t>
                      </a:r>
                    </a:p>
                  </a:txBody>
                  <a:tcPr anchor="ctr" marL="91440" marR="91440" marT="45720" marB="45720">
                    <a:solidFill>
                      <a:srgbClr val="FFFFFF"/>
                    </a:solidFill>
                  </a:tcPr>
                </a:tc>
                <a:tc>
                  <a:txBody>
                    <a:bodyPr wrap="square"/>
                    <a:lstStyle/>
                    <a:p>
                      <a:r>
                        <a:rPr sz="1200" b="0" i="0">
                          <a:solidFill>
                            <a:srgbClr val="17232D"/>
                          </a:solidFill>
                          <a:latin typeface="Calibri"/>
                        </a:rPr>
                        <a:t>Finance</a:t>
                      </a:r>
                    </a:p>
                  </a:txBody>
                  <a:tcPr anchor="ctr" marL="91440" marR="91440" marT="45720" marB="45720">
                    <a:solidFill>
                      <a:srgbClr val="FFFFFF"/>
                    </a:solidFill>
                  </a:tcPr>
                </a:tc>
                <a:tc>
                  <a:txBody>
                    <a:bodyPr wrap="square"/>
                    <a:lstStyle/>
                    <a:p>
                      <a:r>
                        <a:rPr sz="1200" b="0" i="0">
                          <a:solidFill>
                            <a:srgbClr val="17232D"/>
                          </a:solidFill>
                          <a:latin typeface="Calibri"/>
                        </a:rPr>
                        <a:t>Moody's, Fitch, and S&amp;P MWAA reports</a:t>
                      </a:r>
                    </a:p>
                  </a:txBody>
                  <a:tcPr anchor="ctr" marL="91440" marR="91440" marT="45720" marB="45720">
                    <a:solidFill>
                      <a:srgbClr val="FFFFFF"/>
                    </a:solidFill>
                  </a:tcPr>
                </a:tc>
              </a:tr>
            </a:tbl>
          </a:graphicData>
        </a:graphic>
      </p:graphicFrame>
      <p:sp>
        <p:nvSpPr>
          <p:cNvPr id="5" name="TextBox 4"/>
          <p:cNvSpPr txBox="1"/>
          <p:nvPr/>
        </p:nvSpPr>
        <p:spPr>
          <a:xfrm>
            <a:off x="502920" y="5650992"/>
            <a:ext cx="11183112" cy="640080"/>
          </a:xfrm>
          <a:prstGeom prst="rect">
            <a:avLst/>
          </a:prstGeom>
          <a:noFill/>
        </p:spPr>
        <p:txBody>
          <a:bodyPr wrap="square" lIns="0" rIns="0" tIns="0" bIns="0">
            <a:spAutoFit/>
          </a:bodyPr>
          <a:lstStyle/>
          <a:p>
            <a:r>
              <a:rPr sz="1600" b="0" i="0">
                <a:solidFill>
                  <a:srgbClr val="0B2D4D"/>
                </a:solidFill>
                <a:latin typeface="Calibri"/>
              </a:rPr>
              <a:t>Every figure in this packet carries a documented source; the full source appendix is in the companion report. Nothing on this page is asserted as verified.</a:t>
            </a:r>
          </a:p>
        </p:txBody>
      </p:sp>
      <p:sp>
        <p:nvSpPr>
          <p:cNvPr id="6" name="s18-SourceNote"/>
          <p:cNvSpPr txBox="1"/>
          <p:nvPr/>
        </p:nvSpPr>
        <p:spPr>
          <a:xfrm>
            <a:off x="502920" y="6382512"/>
            <a:ext cx="10515600" cy="402336"/>
          </a:xfrm>
          <a:prstGeom prst="rect">
            <a:avLst/>
          </a:prstGeom>
          <a:noFill/>
        </p:spPr>
        <p:txBody>
          <a:bodyPr wrap="square" lIns="0" rIns="0" tIns="0" bIns="0">
            <a:spAutoFit/>
          </a:bodyPr>
          <a:lstStyle/>
          <a:p>
            <a:r>
              <a:rPr sz="1000" b="0" i="1">
                <a:solidFill>
                  <a:srgbClr val="415669"/>
                </a:solidFill>
                <a:latin typeface="Calibri"/>
              </a:rPr>
              <a:t>Sources: open items per the report's evidence review. Closing them is the first 90 days of assigned work.</a:t>
            </a:r>
          </a:p>
        </p:txBody>
      </p:sp>
      <p:sp>
        <p:nvSpPr>
          <p:cNvPr id="7" name="TextBox 6"/>
          <p:cNvSpPr txBox="1"/>
          <p:nvPr/>
        </p:nvSpPr>
        <p:spPr>
          <a:xfrm>
            <a:off x="11475720" y="6400800"/>
            <a:ext cx="457200" cy="320040"/>
          </a:xfrm>
          <a:prstGeom prst="rect">
            <a:avLst/>
          </a:prstGeom>
          <a:noFill/>
        </p:spPr>
        <p:txBody>
          <a:bodyPr wrap="square" lIns="0" rIns="0" tIns="0" bIns="0">
            <a:spAutoFit/>
          </a:bodyPr>
          <a:lstStyle/>
          <a:p>
            <a:pPr algn="r"/>
            <a:r>
              <a:rPr sz="1100" b="0" i="0">
                <a:solidFill>
                  <a:srgbClr val="415669"/>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