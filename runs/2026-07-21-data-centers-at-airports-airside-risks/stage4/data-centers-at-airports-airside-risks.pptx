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Georgia"/>
              </a:rPr>
              <a:t>The Building Is Already Finished</a:t>
            </a:r>
          </a:p>
          <a:p>
            <a:pPr>
              <a:lnSpc>
                <a:spcPct val="120000"/>
              </a:lnSpc>
              <a:spcBef>
                <a:spcPts val="1600"/>
              </a:spcBef>
            </a:pPr>
            <a:r>
              <a:rPr sz="2000" b="0" i="0">
                <a:solidFill>
                  <a:srgbClr val="C9D6E8"/>
                </a:solidFill>
                <a:latin typeface="Calibri"/>
              </a:rPr>
              <a:t>Data centers near flight paths, and the gap between clearing a surface and proving compatibility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Transform Airports AI Council</a:t>
            </a:r>
          </a:p>
          <a:p>
            <a:r>
              <a:rPr sz="1200" b="0" i="0">
                <a:solidFill>
                  <a:srgbClr val="C9D6E8"/>
                </a:solidFill>
                <a:latin typeface="Calibri"/>
              </a:rPr>
              <a:t>Data Centers at Airports: Airside Risks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43C6E"/>
                </a:solidFill>
                <a:latin typeface="Georgia"/>
              </a:rPr>
              <a:t>The test should be proven compatibility with aircraft operations — not a roofline below a surface.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783080"/>
            <a:ext cx="2011680" cy="31750"/>
          </a:xfrm>
          <a:prstGeom prst="rect">
            <a:avLst/>
          </a:prstGeom>
          <a:solidFill>
            <a:srgbClr val="9A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2400" b="0" i="1">
                <a:solidFill>
                  <a:srgbClr val="143C6E"/>
                </a:solidFill>
                <a:latin typeface="Georgia"/>
              </a:rPr>
              <a:t>A data center near an approach or departure path should have to prove compatibility before it is approved.</a:t>
            </a:r>
          </a:p>
          <a:p>
            <a:pPr>
              <a:lnSpc>
                <a:spcPct val="130000"/>
              </a:lnSpc>
              <a:spcBef>
                <a:spcPts val="2400"/>
              </a:spcBef>
            </a:pPr>
            <a:r>
              <a:rPr sz="1600" b="0" i="0">
                <a:solidFill>
                  <a:srgbClr val="5A5A5A"/>
                </a:solidFill>
                <a:latin typeface="Calibri"/>
              </a:rPr>
              <a:t>The controlling risk is not the steam wisp on a cold morning. It is the process plant running under stress — a diesel generator fleet in prolonged islanded operation — and the permanent foreclosure of airfield capacity that no operator can ever un-build. The screening tools are mature; the first-pass ones are free. What is missing is the requirement to use them, and the discipline to use them on the right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43C6E"/>
                </a:solidFill>
                <a:latin typeface="Georgia"/>
              </a:rPr>
              <a:t>The review that governs the decision cannot see the hazard.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572768"/>
            <a:ext cx="2011680" cy="31750"/>
          </a:xfrm>
          <a:prstGeom prst="rect">
            <a:avLst/>
          </a:prstGeom>
          <a:solidFill>
            <a:srgbClr val="9A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 i="0">
                <a:solidFill>
                  <a:srgbClr val="143C6E"/>
                </a:solidFill>
                <a:latin typeface="Georgia"/>
              </a:rPr>
              <a:t>1,000 ft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500" b="0" i="0">
                <a:solidFill>
                  <a:srgbClr val="5A5A5A"/>
                </a:solidFill>
                <a:latin typeface="Calibri"/>
              </a:rPr>
              <a:t>FAA's own guidance (AIM 7-6-16): plume turbulence “can extend to heights of over 1,000 feet above the top of the stack or cooling tower” — worst in calm, cold, stable air, in and around approach and departure corridors.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92024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Part 77 measures a shape, not a behavior.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It asks whether the structure penetrates an airspace surface. A data center is short; it passes easily.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The hazard lives in the machinery.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Heat rejection, backup generation, standing water, EMI — none of them is a Part 77 surface. A “No Hazard” determination can coexist with every airside risk in this report.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It has happened to an airplane.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An aircraft rolled 50–60 degrees off level at roughly 550 ft AGL over cooling towers — a power-station field, not a data center, but exactly the mechanism a generator hall reproduces under load.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8A8A8A"/>
                </a:solidFill>
                <a:latin typeface="Calibri"/>
              </a:rPr>
              <a:t>Sources: FAA AIM 7-6-16 (Chief-Engineer brief); Regulatory-Political brief; Technology-Scout brief, citing WACAZ.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43C6E"/>
                </a:solidFill>
                <a:latin typeface="Georgia"/>
              </a:rPr>
              <a:t>The controlling scenario is prolonged emergency generation, not normal cooling.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572768"/>
            <a:ext cx="2011680" cy="31750"/>
          </a:xfrm>
          <a:prstGeom prst="rect">
            <a:avLst/>
          </a:prstGeom>
          <a:solidFill>
            <a:srgbClr val="9A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 i="0">
                <a:solidFill>
                  <a:srgbClr val="143C6E"/>
                </a:solidFill>
                <a:latin typeface="Georgia"/>
              </a:rPr>
              <a:t>4,700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500" b="0" i="0">
                <a:solidFill>
                  <a:srgbClr val="5A5A5A"/>
                </a:solidFill>
                <a:latin typeface="Calibri"/>
              </a:rPr>
              <a:t>diesel generators in Loudoun County alone. Statewide counts range from ~9,000 (VPM) to 10,500+ (Virginia Mercury) — two published source counts, not one reconciled total.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92024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The gap is the risk.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Routine testing runs 10–30 minutes a month per unit; the non-emergency cap is ~100 hours a year; the emergency-run allowance is unlimited.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Scale is industrial.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One Colorado campus sought 98 generators on top of 40 installed — roughly 345 MW of prime movers on a single property.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The envelope is trending against the airport.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Transformer lead times exceed 160 weeks; Northern Virginia grid waits exceed seven years. Virginia DEQ is being asked to expand permitted run-hours. “Emergency backup” is becoming de-facto primary generation.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8A8A8A"/>
                </a:solidFill>
                <a:latin typeface="Calibri"/>
              </a:rPr>
              <a:t>Sources: Chief-Engineer, Emergency-Management, Operations-Analyst, Airport-COO briefs; CPR; Construction Owners; Inside Climate News.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43C6E"/>
                </a:solidFill>
                <a:latin typeface="Georgia"/>
              </a:rPr>
              <a:t>The data center's worst day is the airport's worst day.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572768"/>
            <a:ext cx="2011680" cy="31750"/>
          </a:xfrm>
          <a:prstGeom prst="rect">
            <a:avLst/>
          </a:prstGeom>
          <a:solidFill>
            <a:srgbClr val="9A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 i="0">
                <a:solidFill>
                  <a:srgbClr val="143C6E"/>
                </a:solidFill>
                <a:latin typeface="Georgia"/>
              </a:rPr>
              <a:t>22 hrs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500" b="0" i="0">
                <a:solidFill>
                  <a:srgbClr val="5A5A5A"/>
                </a:solidFill>
                <a:latin typeface="Calibri"/>
              </a:rPr>
              <a:t>to extinguish the September 2025 lithium-ion fire at a government data center in Daejeon, South Korea — 200+ firefighters, 60 engines, 647 government IT systems dark.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92024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The airport owes a 3-minute clock.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Part 139 indexes ARFF to reach a burning aircraft in about three minutes, with foam and dry chemical — not the sustained water or submersion a lithium-ion fire demands.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The fuel is already at the fence.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Tier III/IV designs drive 72–96 hours of on-site diesel — 25,000 to 63,400 gallons for a single 10 MW plant. An evaporative campus draws 1–5 million gallons of water a day against the airport's fire flow.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Correlation, not coincidence.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The grid failure or ice storm that degrades the airfield is the same event that puts the diesel fleet into continuous generation a few thousand feet from the runway. A steady-state obstruction review cannot represent that composite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8A8A8A"/>
                </a:solidFill>
                <a:latin typeface="Calibri"/>
              </a:rPr>
              <a:t>Sources: Director-of-Public-Safety, Emergency-Management briefs; Korea Herald; NetworkWorld; PowerMag.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43C6E"/>
                </a:solidFill>
                <a:latin typeface="Georgia"/>
              </a:rPr>
              <a:t>Wildlife and water is the one codified, enforceable federal hook.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572768"/>
            <a:ext cx="2011680" cy="31750"/>
          </a:xfrm>
          <a:prstGeom prst="rect">
            <a:avLst/>
          </a:prstGeom>
          <a:solidFill>
            <a:srgbClr val="9A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 i="0">
                <a:solidFill>
                  <a:srgbClr val="143C6E"/>
                </a:solidFill>
                <a:latin typeface="Georgia"/>
              </a:rPr>
              <a:t>78%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500" b="0" i="0">
                <a:solidFill>
                  <a:srgbClr val="5A5A5A"/>
                </a:solidFill>
                <a:latin typeface="Calibri"/>
              </a:rPr>
              <a:t>of reported bird strikes occur below 1,000 feet; roughly 90% below 3,000 feet — the approach and departure band a stormwater pond sits under.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92024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The bright line already exists.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AC 150/5200-33C bars new water impoundments of a quarter-acre or larger within a runway approach and within 5,000 feet of a runway end; hazardous attractants are presumptively incompatible within 10,000 feet at turbine airports and reach to 5 statute miles.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A hyperscale campus imports two attractants.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Large stormwater basins holding open water, and expansive flat roofs that make ideal loafing and nesting habitat.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Hardest risk to argue away at a zoning board.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No borrowed foreign threshold, no bespoke CFD — existing strike data and existing FAA distance standards. It anchors the screen; it does not govern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8A8A8A"/>
                </a:solidFill>
                <a:latin typeface="Calibri"/>
              </a:rPr>
              <a:t>Sources: Regulatory-Political, Operations-Analyst, Deep-Research briefs; FAA AC 150/5200-33C; FAA strike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43C6E"/>
                </a:solidFill>
                <a:latin typeface="Georgia"/>
              </a:rPr>
              <a:t>Congress narrowed federal review just as the land rush arrived.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572768"/>
            <a:ext cx="2011680" cy="31750"/>
          </a:xfrm>
          <a:prstGeom prst="rect">
            <a:avLst/>
          </a:prstGeom>
          <a:solidFill>
            <a:srgbClr val="9A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 i="0">
                <a:solidFill>
                  <a:srgbClr val="143C6E"/>
                </a:solidFill>
                <a:latin typeface="Georgia"/>
              </a:rPr>
              <a:t>45 days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500" b="0" i="0">
                <a:solidFill>
                  <a:srgbClr val="5A5A5A"/>
                </a:solidFill>
                <a:latin typeface="Calibri"/>
              </a:rPr>
              <a:t>for the FAA to assert jurisdiction over a non-aeronautical project under §743 of the 2024 FAA Reauthorization. Silence forfeits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92024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The bar is now “materially impacts.”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The FAA cannot condition a non-aeronautical project — even through a grant assurance — unless it materially impacts the safe and efficient operation of aircraft.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One door stays open.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Frame a plume, wildlife, or EMI risk credibly and the FAA stays in the room. Fail, and the clock runs out. The evidentiary standard is what keeps the last federal door open.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Unused authority exists.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FAA Order 7400.2K §6-3-3 already permits a hazard finding for “physical, electromagnetic, or line-of-sight interference” with flight operations — a hook beyond geometry, rarely exercised.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8A8A8A"/>
                </a:solidFill>
                <a:latin typeface="Calibri"/>
              </a:rPr>
              <a:t>Sources: Regulatory-Political brief, citing Kaplan Kirsch and AirTAP; Deep-Research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43C6E"/>
                </a:solidFill>
                <a:latin typeface="Georgia"/>
              </a:rPr>
              <a:t>The one risk that cannot be mitigated is capacity foreclosure — and it governs.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572768"/>
            <a:ext cx="2011680" cy="31750"/>
          </a:xfrm>
          <a:prstGeom prst="rect">
            <a:avLst/>
          </a:prstGeom>
          <a:solidFill>
            <a:srgbClr val="9A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 i="0">
                <a:solidFill>
                  <a:srgbClr val="143C6E"/>
                </a:solidFill>
                <a:latin typeface="Georgia"/>
              </a:rPr>
              <a:t>40–50 yrs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500" b="0" i="0">
                <a:solidFill>
                  <a:srgbClr val="5A5A5A"/>
                </a:solidFill>
                <a:latin typeface="Calibri"/>
              </a:rPr>
              <a:t>the ground lease under a commissioned data center — a 20-to-30-year fixed asset with contractual uptime obligations. There is no phase-two removal.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92024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Every other risk can be engineered.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Dry coolers, lined basins, bunded fuel, EMI shielding, run-hour caps. Foreclosure is a property of the land and the permanence, not the machinery — it has no design fix.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What is sterilized stays sterilized.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A future runway, parallel taxiway, displaced threshold, or lower-minimums approach not yet designed — foreclosed for a generation. The obstruction check tests today's surfaces, not 2050's airfield.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The asymmetry decides.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Reversible mistakes are survivable; irreversible ones define careers. That asymmetry, not any single engineering finding, should govern the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8A8A8A"/>
                </a:solidFill>
                <a:latin typeface="Calibri"/>
              </a:rPr>
              <a:t>Sources: Chief-Engineer, Procurement, Airport-CEO, Airport-COO briefs.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43C6E"/>
                </a:solidFill>
                <a:latin typeface="Georgia"/>
              </a:rPr>
              <a:t>Every incentive points to “yes” — and the airport holds the residual risk.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572768"/>
            <a:ext cx="2011680" cy="31750"/>
          </a:xfrm>
          <a:prstGeom prst="rect">
            <a:avLst/>
          </a:prstGeom>
          <a:solidFill>
            <a:srgbClr val="9A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 i="0">
                <a:solidFill>
                  <a:srgbClr val="143C6E"/>
                </a:solidFill>
                <a:latin typeface="Georgia"/>
              </a:rPr>
              <a:t>$236.5M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500" b="0" i="0">
                <a:solidFill>
                  <a:srgbClr val="5A5A5A"/>
                </a:solidFill>
                <a:latin typeface="Calibri"/>
              </a:rPr>
              <a:t>MWAA's one-time check for 424 acres of Dulles Western Lands (2018; ~$207M net). Loudoun County's data-center tax annuity: $60M in FY2013 to $800M+ in FY2026, projected at ~45% of county revenue by FY2027.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92024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The county gets the annuity; the airport keeps the airspace.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Proceeds were legally confined to lowering Dulles's cost per enplanement. The land now carries a campus master-planned for 11.7M sq ft and ~1 GW of IT load.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Power scarcity locks it in.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Dominion's contracted data-center load jumped from ~21 GW to ~40 GW in six months of 2024; PJM capacity prices in the zone rose roughly tenfold. Dry cooling — the airside-safe choice — costs 3–4× to install with a 25–35% power penalty.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Even the carriers say yes.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The lease lowers CPE, so signatory airlines approve — but majority-in-interest clauses give them no vote on non-aeronautical land use. The decision that can hurt them most is made in the one room where they are absent.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8A8A8A"/>
                </a:solidFill>
                <a:latin typeface="Calibri"/>
              </a:rPr>
              <a:t>Sources: Infrastructure-Economist (NetChoice, IEEFA, DOE), Airline-Commercial-Strategist, Airport-CEO, Procurement briefs.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43C6E"/>
                </a:solidFill>
                <a:latin typeface="Georgia"/>
              </a:rPr>
              <a:t>The counter-case is real: the frightening numbers come from smokestacks, not chiller yards.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572768"/>
            <a:ext cx="2011680" cy="31750"/>
          </a:xfrm>
          <a:prstGeom prst="rect">
            <a:avLst/>
          </a:prstGeom>
          <a:solidFill>
            <a:srgbClr val="9A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 i="0">
                <a:solidFill>
                  <a:srgbClr val="143C6E"/>
                </a:solidFill>
                <a:latin typeface="Georgia"/>
              </a:rPr>
              <a:t>0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500" b="0" i="0">
                <a:solidFill>
                  <a:srgbClr val="5A5A5A"/>
                </a:solidFill>
                <a:latin typeface="Calibri"/>
              </a:rPr>
              <a:t>documented cases, across this entire panel, of a data center degrading an ILS, VOR, or GPS approach — and no documented pattern of turbulence upsets or strikes at the densest clusters in the country.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92024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The physics was borrowed.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The 1,000-ft turbulence figure and the 4.3 m/s threshold come from combustion stacks and Australian power-station guidance, not data-center cooling. The FAA's own 2006 risk analysis judged overflight risk “insignificant.”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The natural experiment points the other way.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Elk Grove Village abuts O'Hare; Ashburn sits under Dulles departures. Decades of coexistence, hundreds of facilities — no documented airside incident.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The technology is de-risking itself.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The industry is moving to closed-loop and “zero-water” cooling; the marginal new campus throws less visible plume than the last. A dry data center often lowers the wildlife attractant profile versus the farmland it replaces.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8A8A8A"/>
                </a:solidFill>
                <a:latin typeface="Calibri"/>
              </a:rPr>
              <a:t>Sources: Contrarian, Technology-Scout, Chief-Engineer, Regulatory-Political briefs.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43C6E"/>
                </a:solidFill>
                <a:latin typeface="Georgia"/>
              </a:rPr>
              <a:t>The counter-case falls short: the skeptic conceded the controlling scenario in writing.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572768"/>
            <a:ext cx="2011680" cy="31750"/>
          </a:xfrm>
          <a:prstGeom prst="rect">
            <a:avLst/>
          </a:prstGeom>
          <a:solidFill>
            <a:srgbClr val="9A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43C6E"/>
                </a:solidFill>
                <a:latin typeface="Georgia"/>
              </a:rPr>
              <a:t>“That is a
combustion
source”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500" b="0" i="0">
                <a:solidFill>
                  <a:srgbClr val="5A5A5A"/>
                </a:solidFill>
                <a:latin typeface="Calibri"/>
              </a:rPr>
              <a:t>— the Contrarian brief, conceding that in a multi-day grid failure the campus runs its entire diesel fleet continuously, in exactly the calm, cold, stable window the plume literature flags.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92024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Absence of evidence was never evidence.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Turbulence upsets are logged as wake, weather, or “unknown”; plume causation is rarely investigated. The Dulles compatibility study was never run — its environmental review modeled wetlands, not plumes or generators. Silence from a study never run proves nothing.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“Lighter than a hotel” is a design claim.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True with clean-agent suppression, bunded fuel, and a rehearsed mutual-aid plan; false without them. The screen converts that assertion from marketing into proof — before approval.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Irreversibility survives every rebuttal.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Grant every engineering fix. Capacity foreclosure remains — conceded by the Contrarian: “Land-use permanence is a real cost the height-only review does miss.”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8A8A8A"/>
                </a:solidFill>
                <a:latin typeface="Calibri"/>
              </a:rPr>
              <a:t>Sources: Contrarian, Deep-Research, Emergency-Management, Director-of-Public-Safety briefs.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43C6E"/>
                </a:solidFill>
                <a:latin typeface="Georgia"/>
              </a:rPr>
              <a:t>The answer is a two-stage, configuration-first screen — not a blanket gate.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572768"/>
            <a:ext cx="2011680" cy="31750"/>
          </a:xfrm>
          <a:prstGeom prst="rect">
            <a:avLst/>
          </a:prstGeom>
          <a:solidFill>
            <a:srgbClr val="9A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43C6E"/>
                </a:solidFill>
                <a:latin typeface="Georgia"/>
              </a:rPr>
              <a:t>Stage 1 — universal disclosure (cheap)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5A5A5A"/>
                </a:solidFill>
                <a:latin typeface="Calibri"/>
              </a:rPr>
              <a:t>—  Cooling type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5A5A5A"/>
                </a:solidFill>
                <a:latin typeface="Calibri"/>
              </a:rPr>
              <a:t>—  Generator fleet size and permitted run-hours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5A5A5A"/>
                </a:solidFill>
                <a:latin typeface="Calibri"/>
              </a:rPr>
              <a:t>—  Stormwater design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5A5A5A"/>
                </a:solidFill>
                <a:latin typeface="Calibri"/>
              </a:rPr>
              <a:t>—  Capacity-foreclosure geometry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sz="1300" b="0" i="1">
                <a:solidFill>
                  <a:srgbClr val="8A8A8A"/>
                </a:solidFill>
                <a:latin typeface="Calibri"/>
              </a:rPr>
              <a:t>Four answers set the tier. Required of every applicant inside the 5-statute-mile approach/departure zone.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74519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43C6E"/>
                </a:solidFill>
                <a:latin typeface="Georgia"/>
              </a:rPr>
              <a:t>Stage 2 — studies scale to the disclosure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400" b="1" i="0">
                <a:solidFill>
                  <a:srgbClr val="143C6E"/>
                </a:solidFill>
                <a:latin typeface="Calibri"/>
              </a:rPr>
              <a:t>Universal pass/fail:</a:t>
            </a:r>
            <a:r>
              <a:rPr sz="1400" b="0" i="0">
                <a:solidFill>
                  <a:srgbClr val="5A5A5A"/>
                </a:solidFill>
                <a:latin typeface="Calibri"/>
              </a:rPr>
              <a:t> future-capacity finding (ALP-referenced) and wildlife/stormwater compliance to AC 150/5200-33C.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400" b="1" i="0">
                <a:solidFill>
                  <a:srgbClr val="143C6E"/>
                </a:solidFill>
                <a:latin typeface="Calibri"/>
              </a:rPr>
              <a:t>Scaled:</a:t>
            </a:r>
            <a:r>
              <a:rPr sz="1400" b="0" i="0">
                <a:solidFill>
                  <a:srgbClr val="5A5A5A"/>
                </a:solidFill>
                <a:latin typeface="Calibri"/>
              </a:rPr>
              <a:t> thermal-plume modeling across three envelopes (islanded generation, peak-ambient, cold-humid); emergency-response package with fire-flow re-run and signed mutual aid; NAVAID/RFI and lighting review.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400" b="1" i="0">
                <a:solidFill>
                  <a:srgbClr val="143C6E"/>
                </a:solidFill>
                <a:latin typeface="Calibri"/>
              </a:rPr>
              <a:t>Governance:</a:t>
            </a:r>
            <a:r>
              <a:rPr sz="1400" b="0" i="0">
                <a:solidFill>
                  <a:srgbClr val="5A5A5A"/>
                </a:solidFill>
                <a:latin typeface="Calibri"/>
              </a:rPr>
              <a:t> developer-funded, airport-directed. Never developer-marked homework.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8A8A8A"/>
                </a:solidFill>
                <a:latin typeface="Calibri"/>
              </a:rPr>
              <a:t>Tools exist and first-pass ones are free: MITRE Exhaust Plume Analyzer, ACRP Report 108, CASA screening threshold, AC 150/5200-33C. Full package: 9–15 months, on the developer.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43C6E"/>
                </a:solidFill>
                <a:latin typeface="Georgia"/>
              </a:rPr>
              <a:t>MWAA holds real levers on its own land: the lease, the ALP, and the §743 record.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572768"/>
            <a:ext cx="2011680" cy="31750"/>
          </a:xfrm>
          <a:prstGeom prst="rect">
            <a:avLst/>
          </a:prstGeom>
          <a:solidFill>
            <a:srgbClr val="9A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 i="0">
                <a:solidFill>
                  <a:srgbClr val="143C6E"/>
                </a:solidFill>
                <a:latin typeface="Georgia"/>
              </a:rPr>
              <a:t>18–30 mo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500" b="0" i="0">
                <a:solidFill>
                  <a:srgbClr val="5A5A5A"/>
                </a:solidFill>
                <a:latin typeface="Calibri"/>
              </a:rPr>
              <a:t>the honest schedule from board direction to a defensible, FAA-consented instrument — not the 6–12 months a real-estate pro forma assumes.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92024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Choose the lease, not the sale.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Fee-simple conveyance — the 2018 instrument — is the weakest way to enforce restrictions over a multi-decade asset. A ground lease with reopeners and a capacity-reservation clause keeps enforcement, reversion, and runway optionality in the Authority's hands.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Be honest about jurisdiction.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On MWAA land, the screen is a binding lease and ALP condition. Off the fence, the operator is a commenter — publish the same standard as MWAA's formal position in 7460 comments, §743 framings, and county proceedings.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The upside is real too.</a:t>
            </a:r>
            <a:r>
              <a:rPr sz="1500" b="0" i="0">
                <a:solidFill>
                  <a:srgbClr val="5A5A5A"/>
                </a:solidFill>
                <a:latin typeface="Calibri"/>
              </a:rPr>
              <a:t> Grid interconnection is the scarce asset. The airport that can say “yes, here, on these terms, wired into our loads” is worth more to a developer than the airport that can only say no. Cooling type is a lease clause, not a law of physics.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8A8A8A"/>
                </a:solidFill>
                <a:latin typeface="Calibri"/>
              </a:rPr>
              <a:t>Sources: Procurement, Regulatory-Political, Airport-COO, Chief-Engineer, Virtual-Chris briefs.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Ask the questions before the concrete cures.</a:t>
            </a:r>
          </a:p>
          <a:p>
            <a:pPr>
              <a:lnSpc>
                <a:spcPct val="135000"/>
              </a:lnSpc>
              <a:spcBef>
                <a:spcPts val="2400"/>
              </a:spcBef>
            </a:pPr>
            <a:r>
              <a:rPr sz="1700" b="0" i="0">
                <a:solidFill>
                  <a:srgbClr val="C9D6E8"/>
                </a:solidFill>
                <a:latin typeface="Calibri"/>
              </a:rPr>
              <a:t>Some data centers belong near airports — engineered right, sited off the centerline. Some do not. What separates them is whether the airport tests compatibility before approval or negotiates occupancy from weakness after the building is finished — and whether, when it finally reserves land for the runway it may need in 2050, it still owns the ground to put it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355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9D6E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