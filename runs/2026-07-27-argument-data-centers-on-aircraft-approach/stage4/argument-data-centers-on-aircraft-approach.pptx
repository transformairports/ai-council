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4ad2cc564f49c0" /><Relationship Type="http://schemas.openxmlformats.org/officeDocument/2006/relationships/extended-properties" Target="/docProps/app.xml" Id="Re4759904d4804fde" /><Relationship Type="http://schemas.openxmlformats.org/officeDocument/2006/relationships/officeDocument" Target="/ppt/presentation.xml" Id="R78933efe72fa4d52" /></Relationships>
</file>

<file path=ppt/presentation.xml><?xml version="1.0" encoding="utf-8"?>
<p:presentation xmlns:p="http://schemas.openxmlformats.org/presentationml/2006/main">
  <p:sldMasterIdLst>
    <p:sldMasterId xmlns:r="http://schemas.openxmlformats.org/officeDocument/2006/relationships" id="2147483648" r:id="R38f532746a0944a0"/>
  </p:sldMasterIdLst>
  <p:notesMasterIdLst>
    <p:notesMasterId xmlns:r="http://schemas.openxmlformats.org/officeDocument/2006/relationships" r:id="Rbeadcedd056f4b3b"/>
  </p:notesMasterIdLst>
  <p:sldIdLst>
    <p:sldId xmlns:r="http://schemas.openxmlformats.org/officeDocument/2006/relationships" id="256" r:id="R56002a8482e84115"/>
    <p:sldId xmlns:r="http://schemas.openxmlformats.org/officeDocument/2006/relationships" id="257" r:id="Re9842940e4514a3c"/>
    <p:sldId xmlns:r="http://schemas.openxmlformats.org/officeDocument/2006/relationships" id="258" r:id="R517581fac0e14bcf"/>
    <p:sldId xmlns:r="http://schemas.openxmlformats.org/officeDocument/2006/relationships" id="259" r:id="R14aed41a26c340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7ea4b950944115" /><Relationship Type="http://schemas.openxmlformats.org/officeDocument/2006/relationships/slideMaster" Target="/ppt/slideMasters/slideMaster1.xml" Id="R38f532746a0944a0" /><Relationship Type="http://schemas.openxmlformats.org/officeDocument/2006/relationships/notesMaster" Target="/ppt/notesMasters/notesMaster1.xml" Id="Rbeadcedd056f4b3b" /><Relationship Type="http://schemas.openxmlformats.org/officeDocument/2006/relationships/presProps" Target="/ppt/presProps.xml" Id="Rb9020ea2238745f9" /><Relationship Type="http://schemas.openxmlformats.org/officeDocument/2006/relationships/tableStyles" Target="/ppt/tableStyles.xml" Id="R00c20541d20f4c74" /><Relationship Type="http://schemas.openxmlformats.org/officeDocument/2006/relationships/slide" Target="/ppt/slides/slide1.xml" Id="R56002a8482e84115" /><Relationship Type="http://schemas.openxmlformats.org/officeDocument/2006/relationships/slide" Target="/ppt/slides/slide2.xml" Id="Re9842940e4514a3c" /><Relationship Type="http://schemas.openxmlformats.org/officeDocument/2006/relationships/slide" Target="/ppt/slides/slide3.xml" Id="R517581fac0e14bcf" /><Relationship Type="http://schemas.openxmlformats.org/officeDocument/2006/relationships/slide" Target="/ppt/slides/slide4.xml" Id="R14aed41a26c340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96bf7da3ab4f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c8c282dff24e70" /><Relationship Type="http://schemas.openxmlformats.org/officeDocument/2006/relationships/notesMaster" Target="/ppt/notesMasters/notesMaster1.xml" Id="Ra8e4d6d8db554a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23407fd011482c" /><Relationship Type="http://schemas.openxmlformats.org/officeDocument/2006/relationships/notesMaster" Target="/ppt/notesMasters/notesMaster1.xml" Id="R4c7e3527e67d48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c02442d9094580" /><Relationship Type="http://schemas.openxmlformats.org/officeDocument/2006/relationships/notesMaster" Target="/ppt/notesMasters/notesMaster1.xml" Id="R23789fece3c04c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47660477bc4fb9" /><Relationship Type="http://schemas.openxmlformats.org/officeDocument/2006/relationships/notesMaster" Target="/ppt/notesMasters/notesMaster1.xml" Id="R4043f6937c8645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irreversibility, not the hazard list. Each hazard can be evaluated and conditioned. The permanent commitment of reserved capacity land cannot. Avoid claiming that the parcel lies on the published fifth-runway alignment; the relevant claim is the 1L/19R protected surfaces and extension capacity.</a:t>
            </a:r>
          </a:p>
          <a:p xmlns:a="http://schemas.openxmlformats.org/drawingml/2006/main">
            <a:r>
              <a:t/>
            </a:r>
          </a:p>
          <a:p xmlns:a="http://schemas.openxmlformats.org/drawingml/2006/main">
            <a:r>
              <a:t>[Sources]</a:t>
            </a:r>
          </a:p>
          <a:p xmlns:a="http://schemas.openxmlformats.org/drawingml/2006/main">
            <a:r>
              <a:t>- https://www.mwaa.com/news/dulles-master-plan-update-sets-framework-decades-airport-development</a:t>
            </a:r>
          </a:p>
          <a:p xmlns:a="http://schemas.openxmlformats.org/drawingml/2006/main">
            <a:r>
              <a:t>- https://www.ffxnow.com/2025/07/17/new-master-plan-for-dulles-airport-envisions-growth-to-90-million-annual-passengers/</a:t>
            </a:r>
          </a:p>
          <a:p xmlns:a="http://schemas.openxmlformats.org/drawingml/2006/main">
            <a:r>
              <a:t>- https://www.flydulles.com/d2-projects-future-fifth-runway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mechanism slide. The correct claim is the geometry, not a proven upset. The published surfaces leave little vertical margin for a generic 50-foot hall and rooftop plant. FAA plume guidance rates overall disruption risk low for transport-category jets; do not claim that plume will endanger heavy aircraft.</a:t>
            </a:r>
          </a:p>
          <a:p xmlns:a="http://schemas.openxmlformats.org/drawingml/2006/main">
            <a:r>
              <a:t/>
            </a:r>
          </a:p>
          <a:p xmlns:a="http://schemas.openxmlformats.org/drawingml/2006/main">
            <a:r>
              <a:t>[Sources]</a:t>
            </a:r>
          </a:p>
          <a:p xmlns:a="http://schemas.openxmlformats.org/drawingml/2006/main">
            <a:r>
              <a:t>- https://www.ecfr.gov/current/title-14/chapter-I/subchapter-E/part-77/subpart-C/section-77.19</a:t>
            </a:r>
          </a:p>
          <a:p xmlns:a="http://schemas.openxmlformats.org/drawingml/2006/main">
            <a:r>
              <a:t>- https://www.faa.gov/airports/resources/advisory_circulars/</a:t>
            </a:r>
          </a:p>
          <a:p xmlns:a="http://schemas.openxmlformats.org/drawingml/2006/main">
            <a:r>
              <a:t>- https://www.faa.gov/about/office_org/headquarters_offices/ato/service_units/techops/navservices/lsg/als</a:t>
            </a:r>
          </a:p>
          <a:p xmlns:a="http://schemas.openxmlformats.org/drawingml/2006/main">
            <a:r>
              <a:t>- https://www.faa.gov/documentLibrary/media/Advisory_Circular/150-5200-33C.pdf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caricature the opposition. Concede the verified revenue, connectivity, self-sustainability, and plume points. Then use the 2018 sale as the governing rule: MWAA protected capacity first and sold only the surplus remaining after the fourth runway and support area were built.</a:t>
            </a:r>
          </a:p>
          <a:p xmlns:a="http://schemas.openxmlformats.org/drawingml/2006/main">
            <a:r>
              <a:t/>
            </a:r>
          </a:p>
          <a:p xmlns:a="http://schemas.openxmlformats.org/drawingml/2006/main">
            <a:r>
              <a:t>[Sources]</a:t>
            </a:r>
          </a:p>
          <a:p xmlns:a="http://schemas.openxmlformats.org/drawingml/2006/main">
            <a:r>
              <a:t>- https://www.mwaa.com/news/airports-authority-announces-sale-424-acres-western-lands-dulles-international</a:t>
            </a:r>
          </a:p>
          <a:p xmlns:a="http://schemas.openxmlformats.org/drawingml/2006/main">
            <a:r>
              <a:t>- https://lightyear.ai/blogs/ashburn-colocation-data-center-alley</a:t>
            </a:r>
          </a:p>
          <a:p xmlns:a="http://schemas.openxmlformats.org/drawingml/2006/main">
            <a:r>
              <a:t>- https://www.faa.gov/airports/aip/grant_assurances/assurances-airport-sponsors-2025</a:t>
            </a:r>
          </a:p>
          <a:p xmlns:a="http://schemas.openxmlformats.org/drawingml/2006/main">
            <a:r>
              <a:t>- https://www.faa.gov/sites/faa.gov/files/airports/environmental/land_use/Technical-Guidance-Assessment-Tool-Thermal-Exhaust-Plume-Impact.pdf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a gate and a siting decision. Require every FAA study and formal plan action, then reject this location because no favorable study can cure the irreversible commitment of reserved capacity. Section 163 was revised in 2024; counsel should confirm the current framework before a formal submission.</a:t>
            </a:r>
          </a:p>
          <a:p xmlns:a="http://schemas.openxmlformats.org/drawingml/2006/main">
            <a:r>
              <a:t/>
            </a:r>
          </a:p>
          <a:p xmlns:a="http://schemas.openxmlformats.org/drawingml/2006/main">
            <a:r>
              <a:t>[Sources]</a:t>
            </a:r>
          </a:p>
          <a:p xmlns:a="http://schemas.openxmlformats.org/drawingml/2006/main">
            <a:r>
              <a:t>- https://www.ecfr.gov/current/title-14/chapter-I/subchapter-E/part-77</a:t>
            </a:r>
          </a:p>
          <a:p xmlns:a="http://schemas.openxmlformats.org/drawingml/2006/main">
            <a:r>
              <a:t>- https://www.faa.gov/sites/faa.gov/files/airports/aip/grant_assurances/airport-sponsor-assurances-aip.pdf</a:t>
            </a:r>
          </a:p>
          <a:p xmlns:a="http://schemas.openxmlformats.org/drawingml/2006/main">
            <a:r>
              <a:t>- https://www.federalregister.gov/documents/2023/12/08/2023-27017/policy-regarding-processing-land-use-changes-on-federally-acquired-or-federally-conveyed-airport</a:t>
            </a:r>
          </a:p>
          <a:p xmlns:a="http://schemas.openxmlformats.org/drawingml/2006/main">
            <a:r>
              <a:t>- https://www.ffxnow.com/2026/05/20/dulles-airport-lands-41m-federal-grant-for-concourse-e-construction/</a:t>
            </a:r>
          </a:p>
          <a:p xmlns:a="http://schemas.openxmlformats.org/drawingml/2006/main">
            <a:r>
              <a:t>- https://www.mwaa.com/news/secretary-transportation-and-airports-authority-sign-lease-extension-operation-washingtons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0c1f7afedb40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31a23e4ddb437a" /><Relationship Type="http://schemas.openxmlformats.org/officeDocument/2006/relationships/slideLayout" Target="/ppt/slideLayouts/slideLayout1.xml" Id="R1c94a1eae4024c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94a1eae4024c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e608d0bee349eb" /><Relationship Type="http://schemas.openxmlformats.org/officeDocument/2006/relationships/notesSlide" Target="/ppt/notesSlides/notesSlide1.xml" Id="Rd8a69c6981c14c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3700d39f3c46f6" /><Relationship Type="http://schemas.openxmlformats.org/officeDocument/2006/relationships/chart" Target="/ppt/slides/charts/chart1.xml" Id="R2d0edb8b9db840ae" /><Relationship Type="http://schemas.openxmlformats.org/officeDocument/2006/relationships/notesSlide" Target="/ppt/notesSlides/notesSlide2.xml" Id="Recffd586536048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d2813b576f47b3" /><Relationship Type="http://schemas.openxmlformats.org/officeDocument/2006/relationships/notesSlide" Target="/ppt/notesSlides/notesSlide3.xml" Id="R4497f822870b41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fe49460e9048c6" /><Relationship Type="http://schemas.openxmlformats.org/officeDocument/2006/relationships/notesSlide" Target="/ppt/notesSlides/notesSlide4.xml" Id="R7bd23abb802e4199" /></Relationships>
</file>

<file path=ppt/slides/charts/chart1.xml><?xml version="1.0" encoding="utf-8"?>
<c:chartSpace xmlns:c="http://schemas.openxmlformats.org/drawingml/2006/chart">
  <c:lang val="en-US"/>
  <c:chart>
    <c:plotArea>
      <c:lineChart>
        <c:grouping val="standard"/>
        <c:varyColors val="0"/>
        <c:ser>
          <c:idx val="0"/>
          <c:order val="0"/>
          <c:tx>
            <c:v>50:1 approach</c:v>
          </c:tx>
          <c:spPr>
            <a:ln xmlns:a="http://schemas.openxmlformats.org/drawingml/2006/main" w="28575">
              <a:solidFill>
                <a:srgbClr val="2E84A5"/>
              </a:solidFill>
              <a:prstDash val="solid"/>
            </a:ln>
          </c:spPr>
          <c:marker>
            <c:symbol val="none"/>
          </c:marker>
          <c:cat>
            <c:numLit>
              <c:formatCode>General</c:formatCode>
              <c:ptCount val="4"/>
              <c:pt idx="0">
                <c:v>1</c:v>
              </c:pt>
              <c:pt idx="1">
                <c:v>2</c:v>
              </c:pt>
              <c:pt idx="2">
                <c:v>3</c:v>
              </c:pt>
              <c:pt idx="3">
                <c:v>4</c:v>
              </c:pt>
            </c:numLit>
          </c:cat>
          <c:val>
            <c:numLit>
              <c:formatCode>General</c:formatCode>
              <c:ptCount val="4"/>
              <c:pt idx="0">
                <c:v>20</c:v>
              </c:pt>
              <c:pt idx="1">
                <c:v>40</c:v>
              </c:pt>
              <c:pt idx="2">
                <c:v>60</c:v>
              </c:pt>
              <c:pt idx="3">
                <c:v>80</c:v>
              </c:pt>
            </c:numLit>
          </c:val>
        </c:ser>
        <c:ser>
          <c:idx val="1"/>
          <c:order val="1"/>
          <c:tx>
            <c:v>40:1 departure</c:v>
          </c:tx>
          <c:spPr>
            <a:ln xmlns:a="http://schemas.openxmlformats.org/drawingml/2006/main" w="28575">
              <a:solidFill>
                <a:srgbClr val="415669"/>
              </a:solidFill>
              <a:prstDash val="solid"/>
            </a:ln>
          </c:spPr>
          <c:marker>
            <c:symbol val="none"/>
          </c:marker>
          <c:cat>
            <c:numLit>
              <c:formatCode>General</c:formatCode>
              <c:ptCount val="4"/>
              <c:pt idx="0">
                <c:v>1</c:v>
              </c:pt>
              <c:pt idx="1">
                <c:v>2</c:v>
              </c:pt>
              <c:pt idx="2">
                <c:v>3</c:v>
              </c:pt>
              <c:pt idx="3">
                <c:v>4</c:v>
              </c:pt>
            </c:numLit>
          </c:cat>
          <c:val>
            <c:numLit>
              <c:formatCode>General</c:formatCode>
              <c:ptCount val="4"/>
              <c:pt idx="0">
                <c:v>25</c:v>
              </c:pt>
              <c:pt idx="1">
                <c:v>50</c:v>
              </c:pt>
              <c:pt idx="2">
                <c:v>75</c:v>
              </c:pt>
              <c:pt idx="3">
                <c:v>100</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max val="10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5F9423F-5F43-4643-A126-B6F44C76CBD7}"/>
              </a:ext>
            </a:extLst>
          </p:cNvPr>
          <p:cNvSpPr>
            <a:spLocks xmlns:a="http://schemas.openxmlformats.org/drawingml/2006/main" noGrp="1"/>
          </p:cNvSpPr>
          <p:nvPr/>
        </p:nvSpPr>
        <p:spPr>
          <a:xfrm xmlns:a="http://schemas.openxmlformats.org/drawingml/2006/main">
            <a:off x="590550" y="476250"/>
            <a:ext cx="11010900" cy="0"/>
          </a:xfrm>
          <a:prstGeom xmlns:a="http://schemas.openxmlformats.org/drawingml/2006/main" prst="line">
            <a:avLst/>
          </a:prstGeom>
          <a:noFill xmlns:a="http://schemas.openxmlformats.org/drawingml/2006/main"/>
          <a:ln xmlns:a="http://schemas.openxmlformats.org/drawingml/2006/main" w="9525">
            <a:solidFill>
              <a:srgbClr val="B7C4CC"/>
            </a:solidFill>
            <a:prstDash val="solid"/>
          </a:ln>
        </p:spPr>
      </p:sp>
      <p:sp>
        <p:nvSpPr>
          <p:cNvPr id="2" name="">
            <a:extLst xmlns:a="http://schemas.openxmlformats.org/drawingml/2006/main">
              <a:ext uri="{FF2B5EF4-FFF2-40B4-BE49-F238E27FC236}">
                <a16:creationId xmlns:a16="http://schemas.microsoft.com/office/drawing/2014/main" id="{66DF03E0-FD7C-498F-9754-85F1773BDB47}"/>
              </a:ext>
            </a:extLst>
          </p:cNvPr>
          <p:cNvSpPr>
            <a:spLocks xmlns:a="http://schemas.openxmlformats.org/drawingml/2006/main" noGrp="1"/>
          </p:cNvSpPr>
          <p:nvPr/>
        </p:nvSpPr>
        <p:spPr>
          <a:xfrm xmlns:a="http://schemas.openxmlformats.org/drawingml/2006/main">
            <a:off x="590550" y="628650"/>
            <a:ext cx="110109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400" b="1">
                <a:solidFill>
                  <a:srgbClr val="0B2D4D"/>
                </a:solidFill>
              </a:defRPr>
            </a:pPr>
            <a:r>
              <a:rPr sz="4400" b="1">
                <a:solidFill>
                  <a:srgbClr val="0B2D4D"/>
                </a:solidFill>
              </a:rPr>
              <a:t>This ground is reserved capacity. A data center pours the option in concrete.</a:t>
            </a:r>
          </a:p>
        </p:txBody>
      </p:sp>
      <p:sp>
        <p:nvSpPr>
          <p:cNvPr id="3" name="">
            <a:extLst xmlns:a="http://schemas.openxmlformats.org/drawingml/2006/main">
              <a:ext uri="{FF2B5EF4-FFF2-40B4-BE49-F238E27FC236}">
                <a16:creationId xmlns:a16="http://schemas.microsoft.com/office/drawing/2014/main" id="{448FD8EB-13D2-4F11-B9F9-83F9EA530DC4}"/>
              </a:ext>
            </a:extLst>
          </p:cNvPr>
          <p:cNvSpPr>
            <a:spLocks xmlns:a="http://schemas.openxmlformats.org/drawingml/2006/main" noGrp="1"/>
          </p:cNvSpPr>
          <p:nvPr/>
        </p:nvSpPr>
        <p:spPr>
          <a:xfrm xmlns:a="http://schemas.openxmlformats.org/drawingml/2006/main">
            <a:off x="1066800" y="3171825"/>
            <a:ext cx="9067800" cy="0"/>
          </a:xfrm>
          <a:prstGeom xmlns:a="http://schemas.openxmlformats.org/drawingml/2006/main" prst="line">
            <a:avLst/>
          </a:prstGeom>
          <a:noFill xmlns:a="http://schemas.openxmlformats.org/drawingml/2006/main"/>
          <a:ln xmlns:a="http://schemas.openxmlformats.org/drawingml/2006/main" w="47625">
            <a:solidFill>
              <a:srgbClr val="0B2D4D"/>
            </a:solidFill>
            <a:prstDash val="solid"/>
          </a:ln>
        </p:spPr>
      </p:sp>
      <p:sp>
        <p:nvSpPr>
          <p:cNvPr id="4" name="">
            <a:extLst xmlns:a="http://schemas.openxmlformats.org/drawingml/2006/main">
              <a:ext uri="{FF2B5EF4-FFF2-40B4-BE49-F238E27FC236}">
                <a16:creationId xmlns:a16="http://schemas.microsoft.com/office/drawing/2014/main" id="{954FD4A1-E5E0-4FB2-A7F4-98FFFA2CDB2D}"/>
              </a:ext>
            </a:extLst>
          </p:cNvPr>
          <p:cNvSpPr>
            <a:spLocks xmlns:a="http://schemas.openxmlformats.org/drawingml/2006/main" noGrp="1"/>
          </p:cNvSpPr>
          <p:nvPr/>
        </p:nvSpPr>
        <p:spPr>
          <a:xfrm xmlns:a="http://schemas.openxmlformats.org/drawingml/2006/main">
            <a:off x="942975" y="3048000"/>
            <a:ext cx="247650" cy="2476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B2D4D"/>
            </a:solidFill>
            <a:prstDash val="solid"/>
          </a:ln>
        </p:spPr>
      </p:sp>
      <p:sp>
        <p:nvSpPr>
          <p:cNvPr id="5" name="">
            <a:extLst xmlns:a="http://schemas.openxmlformats.org/drawingml/2006/main">
              <a:ext uri="{FF2B5EF4-FFF2-40B4-BE49-F238E27FC236}">
                <a16:creationId xmlns:a16="http://schemas.microsoft.com/office/drawing/2014/main" id="{91BCCA9A-C75F-4D60-8232-0F2E2FE80B8E}"/>
              </a:ext>
            </a:extLst>
          </p:cNvPr>
          <p:cNvSpPr>
            <a:spLocks xmlns:a="http://schemas.openxmlformats.org/drawingml/2006/main" noGrp="1"/>
          </p:cNvSpPr>
          <p:nvPr/>
        </p:nvSpPr>
        <p:spPr>
          <a:xfrm xmlns:a="http://schemas.openxmlformats.org/drawingml/2006/main">
            <a:off x="514350" y="2486025"/>
            <a:ext cx="110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0B2D4D"/>
                </a:solidFill>
              </a:defRPr>
            </a:pPr>
            <a:r>
              <a:rPr sz="2400" b="1">
                <a:solidFill>
                  <a:srgbClr val="0B2D4D"/>
                </a:solidFill>
              </a:rPr>
              <a:t>1958</a:t>
            </a:r>
          </a:p>
        </p:txBody>
      </p:sp>
      <p:sp>
        <p:nvSpPr>
          <p:cNvPr id="6" name="">
            <a:extLst xmlns:a="http://schemas.openxmlformats.org/drawingml/2006/main">
              <a:ext uri="{FF2B5EF4-FFF2-40B4-BE49-F238E27FC236}">
                <a16:creationId xmlns:a16="http://schemas.microsoft.com/office/drawing/2014/main" id="{F18B32EA-1771-4A16-ADFD-AE3EE6485D9D}"/>
              </a:ext>
            </a:extLst>
          </p:cNvPr>
          <p:cNvSpPr>
            <a:spLocks xmlns:a="http://schemas.openxmlformats.org/drawingml/2006/main" noGrp="1"/>
          </p:cNvSpPr>
          <p:nvPr/>
        </p:nvSpPr>
        <p:spPr>
          <a:xfrm xmlns:a="http://schemas.openxmlformats.org/drawingml/2006/main">
            <a:off x="228600" y="3476625"/>
            <a:ext cx="1676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0">
                <a:solidFill>
                  <a:srgbClr val="17232D"/>
                </a:solidFill>
              </a:defRPr>
            </a:pPr>
            <a:r>
              <a:rPr sz="1600" b="0">
                <a:solidFill>
                  <a:srgbClr val="17232D"/>
                </a:solidFill>
              </a:rPr>
              <a:t>Fifth runway enters</a:t>
            </a:r>
          </a:p>
          <a:p xmlns:a="http://schemas.openxmlformats.org/drawingml/2006/main">
            <a:pPr algn="ctr">
              <a:defRPr sz="1600" b="0">
                <a:solidFill>
                  <a:srgbClr val="17232D"/>
                </a:solidFill>
              </a:defRPr>
            </a:pPr>
            <a:r>
              <a:rPr sz="1600" b="0">
                <a:solidFill>
                  <a:srgbClr val="17232D"/>
                </a:solidFill>
              </a:rPr>
              <a:t>Dulles designs</a:t>
            </a:r>
          </a:p>
        </p:txBody>
      </p:sp>
      <p:sp>
        <p:nvSpPr>
          <p:cNvPr id="7" name="">
            <a:extLst xmlns:a="http://schemas.openxmlformats.org/drawingml/2006/main">
              <a:ext uri="{FF2B5EF4-FFF2-40B4-BE49-F238E27FC236}">
                <a16:creationId xmlns:a16="http://schemas.microsoft.com/office/drawing/2014/main" id="{38417DCC-321E-4E1C-9489-7F4C013BAEE2}"/>
              </a:ext>
            </a:extLst>
          </p:cNvPr>
          <p:cNvSpPr>
            <a:spLocks xmlns:a="http://schemas.openxmlformats.org/drawingml/2006/main" noGrp="1"/>
          </p:cNvSpPr>
          <p:nvPr/>
        </p:nvSpPr>
        <p:spPr>
          <a:xfrm xmlns:a="http://schemas.openxmlformats.org/drawingml/2006/main">
            <a:off x="3209925" y="3048000"/>
            <a:ext cx="247650" cy="2476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B2D4D"/>
            </a:solidFill>
            <a:prstDash val="solid"/>
          </a:ln>
        </p:spPr>
      </p:sp>
      <p:sp>
        <p:nvSpPr>
          <p:cNvPr id="8" name="">
            <a:extLst xmlns:a="http://schemas.openxmlformats.org/drawingml/2006/main">
              <a:ext uri="{FF2B5EF4-FFF2-40B4-BE49-F238E27FC236}">
                <a16:creationId xmlns:a16="http://schemas.microsoft.com/office/drawing/2014/main" id="{A9B4E3B3-3F34-4382-8193-1D72720B1E9C}"/>
              </a:ext>
            </a:extLst>
          </p:cNvPr>
          <p:cNvSpPr>
            <a:spLocks xmlns:a="http://schemas.openxmlformats.org/drawingml/2006/main" noGrp="1"/>
          </p:cNvSpPr>
          <p:nvPr/>
        </p:nvSpPr>
        <p:spPr>
          <a:xfrm xmlns:a="http://schemas.openxmlformats.org/drawingml/2006/main">
            <a:off x="2781300" y="2486025"/>
            <a:ext cx="110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0B2D4D"/>
                </a:solidFill>
              </a:defRPr>
            </a:pPr>
            <a:r>
              <a:rPr sz="2400" b="1">
                <a:solidFill>
                  <a:srgbClr val="0B2D4D"/>
                </a:solidFill>
              </a:rPr>
              <a:t>1985</a:t>
            </a:r>
          </a:p>
        </p:txBody>
      </p:sp>
      <p:sp>
        <p:nvSpPr>
          <p:cNvPr id="9" name="">
            <a:extLst xmlns:a="http://schemas.openxmlformats.org/drawingml/2006/main">
              <a:ext uri="{FF2B5EF4-FFF2-40B4-BE49-F238E27FC236}">
                <a16:creationId xmlns:a16="http://schemas.microsoft.com/office/drawing/2014/main" id="{39B2A275-A96B-435D-9216-A70BA4ACDB5F}"/>
              </a:ext>
            </a:extLst>
          </p:cNvPr>
          <p:cNvSpPr>
            <a:spLocks xmlns:a="http://schemas.openxmlformats.org/drawingml/2006/main" noGrp="1"/>
          </p:cNvSpPr>
          <p:nvPr/>
        </p:nvSpPr>
        <p:spPr>
          <a:xfrm xmlns:a="http://schemas.openxmlformats.org/drawingml/2006/main">
            <a:off x="2495550" y="3476625"/>
            <a:ext cx="1676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0">
                <a:solidFill>
                  <a:srgbClr val="17232D"/>
                </a:solidFill>
              </a:defRPr>
            </a:pPr>
            <a:r>
              <a:rPr sz="1600" b="0">
                <a:solidFill>
                  <a:srgbClr val="17232D"/>
                </a:solidFill>
              </a:rPr>
              <a:t>Capacity carried in</a:t>
            </a:r>
          </a:p>
          <a:p xmlns:a="http://schemas.openxmlformats.org/drawingml/2006/main">
            <a:pPr algn="ctr">
              <a:defRPr sz="1600" b="0">
                <a:solidFill>
                  <a:srgbClr val="17232D"/>
                </a:solidFill>
              </a:defRPr>
            </a:pPr>
            <a:r>
              <a:rPr sz="1600" b="0">
                <a:solidFill>
                  <a:srgbClr val="17232D"/>
                </a:solidFill>
              </a:rPr>
              <a:t>the master plan</a:t>
            </a:r>
          </a:p>
        </p:txBody>
      </p:sp>
      <p:sp>
        <p:nvSpPr>
          <p:cNvPr id="10" name="">
            <a:extLst xmlns:a="http://schemas.openxmlformats.org/drawingml/2006/main">
              <a:ext uri="{FF2B5EF4-FFF2-40B4-BE49-F238E27FC236}">
                <a16:creationId xmlns:a16="http://schemas.microsoft.com/office/drawing/2014/main" id="{42DE6C2F-3BA7-43C3-8DEA-0ACC48E4C1A7}"/>
              </a:ext>
            </a:extLst>
          </p:cNvPr>
          <p:cNvSpPr>
            <a:spLocks xmlns:a="http://schemas.openxmlformats.org/drawingml/2006/main" noGrp="1"/>
          </p:cNvSpPr>
          <p:nvPr/>
        </p:nvSpPr>
        <p:spPr>
          <a:xfrm xmlns:a="http://schemas.openxmlformats.org/drawingml/2006/main">
            <a:off x="5476875" y="3048000"/>
            <a:ext cx="247650" cy="2476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B2D4D"/>
            </a:solidFill>
            <a:prstDash val="solid"/>
          </a:ln>
        </p:spPr>
      </p:sp>
      <p:sp>
        <p:nvSpPr>
          <p:cNvPr id="11" name="">
            <a:extLst xmlns:a="http://schemas.openxmlformats.org/drawingml/2006/main">
              <a:ext uri="{FF2B5EF4-FFF2-40B4-BE49-F238E27FC236}">
                <a16:creationId xmlns:a16="http://schemas.microsoft.com/office/drawing/2014/main" id="{1163CBC8-B1D7-4C77-9889-69D609DB4E67}"/>
              </a:ext>
            </a:extLst>
          </p:cNvPr>
          <p:cNvSpPr>
            <a:spLocks xmlns:a="http://schemas.openxmlformats.org/drawingml/2006/main" noGrp="1"/>
          </p:cNvSpPr>
          <p:nvPr/>
        </p:nvSpPr>
        <p:spPr>
          <a:xfrm xmlns:a="http://schemas.openxmlformats.org/drawingml/2006/main">
            <a:off x="5048250" y="2486025"/>
            <a:ext cx="110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0B2D4D"/>
                </a:solidFill>
              </a:defRPr>
            </a:pPr>
            <a:r>
              <a:rPr sz="2400" b="1">
                <a:solidFill>
                  <a:srgbClr val="0B2D4D"/>
                </a:solidFill>
              </a:rPr>
              <a:t>2005</a:t>
            </a:r>
          </a:p>
        </p:txBody>
      </p:sp>
      <p:sp>
        <p:nvSpPr>
          <p:cNvPr id="12" name="">
            <a:extLst xmlns:a="http://schemas.openxmlformats.org/drawingml/2006/main">
              <a:ext uri="{FF2B5EF4-FFF2-40B4-BE49-F238E27FC236}">
                <a16:creationId xmlns:a16="http://schemas.microsoft.com/office/drawing/2014/main" id="{DCA2A8C7-A40B-4708-AE67-A9FC7E158B6B}"/>
              </a:ext>
            </a:extLst>
          </p:cNvPr>
          <p:cNvSpPr>
            <a:spLocks xmlns:a="http://schemas.openxmlformats.org/drawingml/2006/main" noGrp="1"/>
          </p:cNvSpPr>
          <p:nvPr/>
        </p:nvSpPr>
        <p:spPr>
          <a:xfrm xmlns:a="http://schemas.openxmlformats.org/drawingml/2006/main">
            <a:off x="4762500" y="3476625"/>
            <a:ext cx="1676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0">
                <a:solidFill>
                  <a:srgbClr val="17232D"/>
                </a:solidFill>
              </a:defRPr>
            </a:pPr>
            <a:r>
              <a:rPr sz="1600" b="0">
                <a:solidFill>
                  <a:srgbClr val="17232D"/>
                </a:solidFill>
              </a:rPr>
              <a:t>FAA approves fourth</a:t>
            </a:r>
          </a:p>
          <a:p xmlns:a="http://schemas.openxmlformats.org/drawingml/2006/main">
            <a:pPr algn="ctr">
              <a:defRPr sz="1600" b="0">
                <a:solidFill>
                  <a:srgbClr val="17232D"/>
                </a:solidFill>
              </a:defRPr>
            </a:pPr>
            <a:r>
              <a:rPr sz="1600" b="0">
                <a:solidFill>
                  <a:srgbClr val="17232D"/>
                </a:solidFill>
              </a:rPr>
              <a:t>and fifth runways</a:t>
            </a:r>
          </a:p>
        </p:txBody>
      </p:sp>
      <p:sp>
        <p:nvSpPr>
          <p:cNvPr id="13" name="">
            <a:extLst xmlns:a="http://schemas.openxmlformats.org/drawingml/2006/main">
              <a:ext uri="{FF2B5EF4-FFF2-40B4-BE49-F238E27FC236}">
                <a16:creationId xmlns:a16="http://schemas.microsoft.com/office/drawing/2014/main" id="{D90D4A27-2E22-4667-A4F2-063D58FCAB3A}"/>
              </a:ext>
            </a:extLst>
          </p:cNvPr>
          <p:cNvSpPr>
            <a:spLocks xmlns:a="http://schemas.openxmlformats.org/drawingml/2006/main" noGrp="1"/>
          </p:cNvSpPr>
          <p:nvPr/>
        </p:nvSpPr>
        <p:spPr>
          <a:xfrm xmlns:a="http://schemas.openxmlformats.org/drawingml/2006/main">
            <a:off x="7743825" y="3048000"/>
            <a:ext cx="247650" cy="2476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B2D4D"/>
            </a:solidFill>
            <a:prstDash val="solid"/>
          </a:ln>
        </p:spPr>
      </p:sp>
      <p:sp>
        <p:nvSpPr>
          <p:cNvPr id="14" name="">
            <a:extLst xmlns:a="http://schemas.openxmlformats.org/drawingml/2006/main">
              <a:ext uri="{FF2B5EF4-FFF2-40B4-BE49-F238E27FC236}">
                <a16:creationId xmlns:a16="http://schemas.microsoft.com/office/drawing/2014/main" id="{5D626BB1-18C9-4249-BF6E-E183D7FF491D}"/>
              </a:ext>
            </a:extLst>
          </p:cNvPr>
          <p:cNvSpPr>
            <a:spLocks xmlns:a="http://schemas.openxmlformats.org/drawingml/2006/main" noGrp="1"/>
          </p:cNvSpPr>
          <p:nvPr/>
        </p:nvSpPr>
        <p:spPr>
          <a:xfrm xmlns:a="http://schemas.openxmlformats.org/drawingml/2006/main">
            <a:off x="7315200" y="2486025"/>
            <a:ext cx="110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0B2D4D"/>
                </a:solidFill>
              </a:defRPr>
            </a:pPr>
            <a:r>
              <a:rPr sz="2400" b="1">
                <a:solidFill>
                  <a:srgbClr val="0B2D4D"/>
                </a:solidFill>
              </a:rPr>
              <a:t>2024</a:t>
            </a:r>
          </a:p>
        </p:txBody>
      </p:sp>
      <p:sp>
        <p:nvSpPr>
          <p:cNvPr id="15" name="">
            <a:extLst xmlns:a="http://schemas.openxmlformats.org/drawingml/2006/main">
              <a:ext uri="{FF2B5EF4-FFF2-40B4-BE49-F238E27FC236}">
                <a16:creationId xmlns:a16="http://schemas.microsoft.com/office/drawing/2014/main" id="{0EA8E426-250B-47C0-BF1B-2243D03C1765}"/>
              </a:ext>
            </a:extLst>
          </p:cNvPr>
          <p:cNvSpPr>
            <a:spLocks xmlns:a="http://schemas.openxmlformats.org/drawingml/2006/main" noGrp="1"/>
          </p:cNvSpPr>
          <p:nvPr/>
        </p:nvSpPr>
        <p:spPr>
          <a:xfrm xmlns:a="http://schemas.openxmlformats.org/drawingml/2006/main">
            <a:off x="7029450" y="3476625"/>
            <a:ext cx="1676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0">
                <a:solidFill>
                  <a:srgbClr val="17232D"/>
                </a:solidFill>
              </a:defRPr>
            </a:pPr>
            <a:r>
              <a:rPr sz="1600" b="0">
                <a:solidFill>
                  <a:srgbClr val="17232D"/>
                </a:solidFill>
              </a:rPr>
              <a:t>27.25M passengers;</a:t>
            </a:r>
          </a:p>
          <a:p xmlns:a="http://schemas.openxmlformats.org/drawingml/2006/main">
            <a:pPr algn="ctr">
              <a:defRPr sz="1600" b="0">
                <a:solidFill>
                  <a:srgbClr val="17232D"/>
                </a:solidFill>
              </a:defRPr>
            </a:pPr>
            <a:r>
              <a:rPr sz="1600" b="0">
                <a:solidFill>
                  <a:srgbClr val="17232D"/>
                </a:solidFill>
              </a:rPr>
              <a:t>United ≈70% of flights</a:t>
            </a:r>
          </a:p>
        </p:txBody>
      </p:sp>
      <p:sp>
        <p:nvSpPr>
          <p:cNvPr id="16" name="">
            <a:extLst xmlns:a="http://schemas.openxmlformats.org/drawingml/2006/main">
              <a:ext uri="{FF2B5EF4-FFF2-40B4-BE49-F238E27FC236}">
                <a16:creationId xmlns:a16="http://schemas.microsoft.com/office/drawing/2014/main" id="{B004593D-8F03-4CF7-A853-3AED89FB1297}"/>
              </a:ext>
            </a:extLst>
          </p:cNvPr>
          <p:cNvSpPr>
            <a:spLocks xmlns:a="http://schemas.openxmlformats.org/drawingml/2006/main" noGrp="1"/>
          </p:cNvSpPr>
          <p:nvPr/>
        </p:nvSpPr>
        <p:spPr>
          <a:xfrm xmlns:a="http://schemas.openxmlformats.org/drawingml/2006/main">
            <a:off x="10010775" y="3048000"/>
            <a:ext cx="247650" cy="247650"/>
          </a:xfrm>
          <a:prstGeom xmlns:a="http://schemas.openxmlformats.org/drawingml/2006/main" prst="ellipse">
            <a:avLst/>
          </a:prstGeom>
          <a:solidFill xmlns:a="http://schemas.openxmlformats.org/drawingml/2006/main">
            <a:srgbClr val="D4A24C"/>
          </a:solidFill>
          <a:ln xmlns:a="http://schemas.openxmlformats.org/drawingml/2006/main" w="38100">
            <a:solidFill>
              <a:srgbClr val="0B2D4D"/>
            </a:solidFill>
            <a:prstDash val="solid"/>
          </a:ln>
        </p:spPr>
      </p:sp>
      <p:sp>
        <p:nvSpPr>
          <p:cNvPr id="17" name="">
            <a:extLst xmlns:a="http://schemas.openxmlformats.org/drawingml/2006/main">
              <a:ext uri="{FF2B5EF4-FFF2-40B4-BE49-F238E27FC236}">
                <a16:creationId xmlns:a16="http://schemas.microsoft.com/office/drawing/2014/main" id="{96753106-EB8B-40EE-9733-C9B8050AA028}"/>
              </a:ext>
            </a:extLst>
          </p:cNvPr>
          <p:cNvSpPr>
            <a:spLocks xmlns:a="http://schemas.openxmlformats.org/drawingml/2006/main" noGrp="1"/>
          </p:cNvSpPr>
          <p:nvPr/>
        </p:nvSpPr>
        <p:spPr>
          <a:xfrm xmlns:a="http://schemas.openxmlformats.org/drawingml/2006/main">
            <a:off x="9582150" y="2486025"/>
            <a:ext cx="110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D4A24C"/>
                </a:solidFill>
              </a:defRPr>
            </a:pPr>
            <a:r>
              <a:rPr sz="2400" b="1">
                <a:solidFill>
                  <a:srgbClr val="D4A24C"/>
                </a:solidFill>
              </a:rPr>
              <a:t>2025</a:t>
            </a:r>
          </a:p>
        </p:txBody>
      </p:sp>
      <p:sp>
        <p:nvSpPr>
          <p:cNvPr id="18" name="">
            <a:extLst xmlns:a="http://schemas.openxmlformats.org/drawingml/2006/main">
              <a:ext uri="{FF2B5EF4-FFF2-40B4-BE49-F238E27FC236}">
                <a16:creationId xmlns:a16="http://schemas.microsoft.com/office/drawing/2014/main" id="{6CE19C85-11E1-4C88-BD42-79B20BAD96CC}"/>
              </a:ext>
            </a:extLst>
          </p:cNvPr>
          <p:cNvSpPr>
            <a:spLocks xmlns:a="http://schemas.openxmlformats.org/drawingml/2006/main" noGrp="1"/>
          </p:cNvSpPr>
          <p:nvPr/>
        </p:nvSpPr>
        <p:spPr>
          <a:xfrm xmlns:a="http://schemas.openxmlformats.org/drawingml/2006/main">
            <a:off x="9296400" y="3476625"/>
            <a:ext cx="1676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0">
                <a:solidFill>
                  <a:srgbClr val="17232D"/>
                </a:solidFill>
              </a:defRPr>
            </a:pPr>
            <a:r>
              <a:rPr sz="1600" b="0">
                <a:solidFill>
                  <a:srgbClr val="17232D"/>
                </a:solidFill>
              </a:rPr>
              <a:t>Board reaffirms path</a:t>
            </a:r>
          </a:p>
          <a:p xmlns:a="http://schemas.openxmlformats.org/drawingml/2006/main">
            <a:pPr algn="ctr">
              <a:defRPr sz="1600" b="0">
                <a:solidFill>
                  <a:srgbClr val="17232D"/>
                </a:solidFill>
              </a:defRPr>
            </a:pPr>
            <a:r>
              <a:rPr sz="1600" b="0">
                <a:solidFill>
                  <a:srgbClr val="17232D"/>
                </a:solidFill>
              </a:rPr>
              <a:t>toward ≈90M passengers</a:t>
            </a:r>
          </a:p>
        </p:txBody>
      </p:sp>
      <p:sp>
        <p:nvSpPr>
          <p:cNvPr id="19" name="">
            <a:extLst xmlns:a="http://schemas.openxmlformats.org/drawingml/2006/main">
              <a:ext uri="{FF2B5EF4-FFF2-40B4-BE49-F238E27FC236}">
                <a16:creationId xmlns:a16="http://schemas.microsoft.com/office/drawing/2014/main" id="{4D662E3E-438E-43B6-9F6C-678C7ED8D289}"/>
              </a:ext>
            </a:extLst>
          </p:cNvPr>
          <p:cNvSpPr>
            <a:spLocks xmlns:a="http://schemas.openxmlformats.org/drawingml/2006/main" noGrp="1"/>
          </p:cNvSpPr>
          <p:nvPr/>
        </p:nvSpPr>
        <p:spPr>
          <a:xfrm xmlns:a="http://schemas.openxmlformats.org/drawingml/2006/main">
            <a:off x="685800" y="4762500"/>
            <a:ext cx="10820400" cy="990600"/>
          </a:xfrm>
          <a:prstGeom xmlns:a="http://schemas.openxmlformats.org/drawingml/2006/main" prst="rect">
            <a:avLst/>
          </a:prstGeom>
          <a:solidFill xmlns:a="http://schemas.openxmlformats.org/drawingml/2006/main">
            <a:srgbClr val="EDF3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9DBA55E-DA47-4ADA-9324-AA0795D19A1F}"/>
              </a:ext>
            </a:extLst>
          </p:cNvPr>
          <p:cNvSpPr>
            <a:spLocks xmlns:a="http://schemas.openxmlformats.org/drawingml/2006/main" noGrp="1"/>
          </p:cNvSpPr>
          <p:nvPr/>
        </p:nvSpPr>
        <p:spPr>
          <a:xfrm xmlns:a="http://schemas.openxmlformats.org/drawingml/2006/main">
            <a:off x="685800" y="4762500"/>
            <a:ext cx="76200" cy="990600"/>
          </a:xfrm>
          <a:prstGeom xmlns:a="http://schemas.openxmlformats.org/drawingml/2006/main" prst="rect">
            <a:avLst/>
          </a:prstGeom>
          <a:solidFill xmlns:a="http://schemas.openxmlformats.org/drawingml/2006/main">
            <a:srgbClr val="D4A24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1CEB1D5-4950-4DA8-8F78-54946E4CF800}"/>
              </a:ext>
            </a:extLst>
          </p:cNvPr>
          <p:cNvSpPr>
            <a:spLocks xmlns:a="http://schemas.openxmlformats.org/drawingml/2006/main" noGrp="1"/>
          </p:cNvSpPr>
          <p:nvPr/>
        </p:nvSpPr>
        <p:spPr>
          <a:xfrm xmlns:a="http://schemas.openxmlformats.org/drawingml/2006/main">
            <a:off x="952500" y="4933950"/>
            <a:ext cx="10306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00" b="1">
                <a:solidFill>
                  <a:srgbClr val="0B2D4D"/>
                </a:solidFill>
              </a:defRPr>
            </a:pPr>
            <a:r>
              <a:rPr sz="2500" b="1">
                <a:solidFill>
                  <a:srgbClr val="0B2D4D"/>
                </a:solidFill>
              </a:rPr>
              <a:t>The parcel sits inside the RWY 1L approach and RWY 19R departure surfaces of a growing airfield.</a:t>
            </a:r>
          </a:p>
        </p:txBody>
      </p:sp>
      <p:sp>
        <p:nvSpPr>
          <p:cNvPr id="22" name="">
            <a:extLst xmlns:a="http://schemas.openxmlformats.org/drawingml/2006/main">
              <a:ext uri="{FF2B5EF4-FFF2-40B4-BE49-F238E27FC236}">
                <a16:creationId xmlns:a16="http://schemas.microsoft.com/office/drawing/2014/main" id="{E9860349-666B-4F51-BD83-51899EDAD8B9}"/>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B7C4CC"/>
            </a:solidFill>
            <a:prstDash val="solid"/>
          </a:ln>
        </p:spPr>
      </p:sp>
      <p:sp>
        <p:nvSpPr>
          <p:cNvPr id="23" name="">
            <a:extLst xmlns:a="http://schemas.openxmlformats.org/drawingml/2006/main">
              <a:ext uri="{FF2B5EF4-FFF2-40B4-BE49-F238E27FC236}">
                <a16:creationId xmlns:a16="http://schemas.microsoft.com/office/drawing/2014/main" id="{F3E05DAE-0BAB-42EF-B7F9-516FC6FE17E8}"/>
              </a:ext>
            </a:extLst>
          </p:cNvPr>
          <p:cNvSpPr>
            <a:spLocks xmlns:a="http://schemas.openxmlformats.org/drawingml/2006/main" noGrp="1"/>
          </p:cNvSpPr>
          <p:nvPr/>
        </p:nvSpPr>
        <p:spPr>
          <a:xfrm xmlns:a="http://schemas.openxmlformats.org/drawingml/2006/main">
            <a:off x="590550" y="6477000"/>
            <a:ext cx="1101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415669"/>
                </a:solidFill>
              </a:defRPr>
            </a:pPr>
            <a:r>
              <a:rPr sz="900" b="0">
                <a:solidFill>
                  <a:srgbClr val="415669"/>
                </a:solidFill>
              </a:rPr>
              <a:t>Sources: MWAA master-plan update (2025); FAA Record of Decision (2005); FFXnow passenger record; Simple Flying market-share analysis.</a:t>
            </a:r>
          </a:p>
        </p:txBody>
      </p:sp>
    </p:spTree>
    <p:extLst>
      <p:ext uri="{BB962C8B-B14F-4D97-AF65-F5344CB8AC3E}">
        <p14:creationId xmlns:p14="http://schemas.microsoft.com/office/powerpoint/2010/main" val="18826756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583AD632-9C13-402F-9442-EBABD3DE6E96}"/>
              </a:ext>
            </a:extLst>
          </p:cNvPr>
          <p:cNvSpPr>
            <a:spLocks xmlns:a="http://schemas.openxmlformats.org/drawingml/2006/main" noGrp="1"/>
          </p:cNvSpPr>
          <p:nvPr/>
        </p:nvSpPr>
        <p:spPr>
          <a:xfrm xmlns:a="http://schemas.openxmlformats.org/drawingml/2006/main">
            <a:off x="590550" y="476250"/>
            <a:ext cx="11010900" cy="0"/>
          </a:xfrm>
          <a:prstGeom xmlns:a="http://schemas.openxmlformats.org/drawingml/2006/main" prst="line">
            <a:avLst/>
          </a:prstGeom>
          <a:noFill xmlns:a="http://schemas.openxmlformats.org/drawingml/2006/main"/>
          <a:ln xmlns:a="http://schemas.openxmlformats.org/drawingml/2006/main" w="9525">
            <a:solidFill>
              <a:srgbClr val="B7C4CC"/>
            </a:solidFill>
            <a:prstDash val="solid"/>
          </a:ln>
        </p:spPr>
      </p:sp>
      <p:sp>
        <p:nvSpPr>
          <p:cNvPr id="2" name="">
            <a:extLst xmlns:a="http://schemas.openxmlformats.org/drawingml/2006/main">
              <a:ext uri="{FF2B5EF4-FFF2-40B4-BE49-F238E27FC236}">
                <a16:creationId xmlns:a16="http://schemas.microsoft.com/office/drawing/2014/main" id="{1A835476-0026-4C11-999B-0D44D50E1BFA}"/>
              </a:ext>
            </a:extLst>
          </p:cNvPr>
          <p:cNvSpPr>
            <a:spLocks xmlns:a="http://schemas.openxmlformats.org/drawingml/2006/main" noGrp="1"/>
          </p:cNvSpPr>
          <p:nvPr/>
        </p:nvSpPr>
        <p:spPr>
          <a:xfrm xmlns:a="http://schemas.openxmlformats.org/drawingml/2006/main">
            <a:off x="590550" y="628650"/>
            <a:ext cx="11010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00" b="1">
                <a:solidFill>
                  <a:srgbClr val="0B2D4D"/>
                </a:solidFill>
              </a:defRPr>
            </a:pPr>
            <a:r>
              <a:rPr sz="3500" b="1">
                <a:solidFill>
                  <a:srgbClr val="0B2D4D"/>
                </a:solidFill>
              </a:rPr>
              <a:t>The law leaves 25 to 200 feet of air above this parcel.</a:t>
            </a:r>
          </a:p>
        </p:txBody>
      </p:sp>
      <p:sp>
        <p:nvSpPr>
          <p:cNvPr id="3" name="">
            <a:extLst xmlns:a="http://schemas.openxmlformats.org/drawingml/2006/main">
              <a:ext uri="{FF2B5EF4-FFF2-40B4-BE49-F238E27FC236}">
                <a16:creationId xmlns:a16="http://schemas.microsoft.com/office/drawing/2014/main" id="{E3A9FF23-D777-4F93-9795-38130F043743}"/>
              </a:ext>
            </a:extLst>
          </p:cNvPr>
          <p:cNvSpPr>
            <a:spLocks xmlns:a="http://schemas.openxmlformats.org/drawingml/2006/main" noGrp="1"/>
          </p:cNvSpPr>
          <p:nvPr/>
        </p:nvSpPr>
        <p:spPr>
          <a:xfrm xmlns:a="http://schemas.openxmlformats.org/drawingml/2006/main">
            <a:off x="1047750" y="4857750"/>
            <a:ext cx="9525000" cy="0"/>
          </a:xfrm>
          <a:prstGeom xmlns:a="http://schemas.openxmlformats.org/drawingml/2006/main" prst="line">
            <a:avLst/>
          </a:prstGeom>
          <a:noFill xmlns:a="http://schemas.openxmlformats.org/drawingml/2006/main"/>
          <a:ln xmlns:a="http://schemas.openxmlformats.org/drawingml/2006/main" w="28575">
            <a:solidFill>
              <a:srgbClr val="0B2D4D"/>
            </a:solidFill>
            <a:prstDash val="solid"/>
          </a:ln>
        </p:spPr>
      </p:sp>
      <p:sp>
        <p:nvSpPr>
          <p:cNvPr id="4" name="">
            <a:extLst xmlns:a="http://schemas.openxmlformats.org/drawingml/2006/main">
              <a:ext uri="{FF2B5EF4-FFF2-40B4-BE49-F238E27FC236}">
                <a16:creationId xmlns:a16="http://schemas.microsoft.com/office/drawing/2014/main" id="{A9F8579A-332C-456E-910E-B26C7B9CD1EF}"/>
              </a:ext>
            </a:extLst>
          </p:cNvPr>
          <p:cNvSpPr>
            <a:spLocks xmlns:a="http://schemas.openxmlformats.org/drawingml/2006/main" noGrp="1"/>
          </p:cNvSpPr>
          <p:nvPr/>
        </p:nvSpPr>
        <p:spPr>
          <a:xfrm xmlns:a="http://schemas.openxmlformats.org/drawingml/2006/main">
            <a:off x="1047750" y="4324350"/>
            <a:ext cx="9525000" cy="0"/>
          </a:xfrm>
          <a:prstGeom xmlns:a="http://schemas.openxmlformats.org/drawingml/2006/main" prst="line">
            <a:avLst/>
          </a:prstGeom>
          <a:noFill xmlns:a="http://schemas.openxmlformats.org/drawingml/2006/main"/>
          <a:ln xmlns:a="http://schemas.openxmlformats.org/drawingml/2006/main" w="9525">
            <a:solidFill>
              <a:srgbClr val="EDF3F6"/>
            </a:solidFill>
            <a:prstDash val="solid"/>
          </a:ln>
        </p:spPr>
      </p:sp>
      <p:sp>
        <p:nvSpPr>
          <p:cNvPr id="5" name="">
            <a:extLst xmlns:a="http://schemas.openxmlformats.org/drawingml/2006/main">
              <a:ext uri="{FF2B5EF4-FFF2-40B4-BE49-F238E27FC236}">
                <a16:creationId xmlns:a16="http://schemas.microsoft.com/office/drawing/2014/main" id="{744B4921-2893-46AE-ABB1-9342DD5EA48B}"/>
              </a:ext>
            </a:extLst>
          </p:cNvPr>
          <p:cNvSpPr>
            <a:spLocks xmlns:a="http://schemas.openxmlformats.org/drawingml/2006/main" noGrp="1"/>
          </p:cNvSpPr>
          <p:nvPr/>
        </p:nvSpPr>
        <p:spPr>
          <a:xfrm xmlns:a="http://schemas.openxmlformats.org/drawingml/2006/main">
            <a:off x="1047750" y="3790950"/>
            <a:ext cx="9525000" cy="0"/>
          </a:xfrm>
          <a:prstGeom xmlns:a="http://schemas.openxmlformats.org/drawingml/2006/main" prst="line">
            <a:avLst/>
          </a:prstGeom>
          <a:noFill xmlns:a="http://schemas.openxmlformats.org/drawingml/2006/main"/>
          <a:ln xmlns:a="http://schemas.openxmlformats.org/drawingml/2006/main" w="9525">
            <a:solidFill>
              <a:srgbClr val="EDF3F6"/>
            </a:solidFill>
            <a:prstDash val="solid"/>
          </a:ln>
        </p:spPr>
      </p:sp>
      <p:sp>
        <p:nvSpPr>
          <p:cNvPr id="6" name="">
            <a:extLst xmlns:a="http://schemas.openxmlformats.org/drawingml/2006/main">
              <a:ext uri="{FF2B5EF4-FFF2-40B4-BE49-F238E27FC236}">
                <a16:creationId xmlns:a16="http://schemas.microsoft.com/office/drawing/2014/main" id="{C05D275E-8C18-488F-84DC-DA5F79BBEC7D}"/>
              </a:ext>
            </a:extLst>
          </p:cNvPr>
          <p:cNvSpPr>
            <a:spLocks xmlns:a="http://schemas.openxmlformats.org/drawingml/2006/main" noGrp="1"/>
          </p:cNvSpPr>
          <p:nvPr/>
        </p:nvSpPr>
        <p:spPr>
          <a:xfrm xmlns:a="http://schemas.openxmlformats.org/drawingml/2006/main">
            <a:off x="1047750" y="3257550"/>
            <a:ext cx="9525000" cy="0"/>
          </a:xfrm>
          <a:prstGeom xmlns:a="http://schemas.openxmlformats.org/drawingml/2006/main" prst="line">
            <a:avLst/>
          </a:prstGeom>
          <a:noFill xmlns:a="http://schemas.openxmlformats.org/drawingml/2006/main"/>
          <a:ln xmlns:a="http://schemas.openxmlformats.org/drawingml/2006/main" w="9525">
            <a:solidFill>
              <a:srgbClr val="EDF3F6"/>
            </a:solidFill>
            <a:prstDash val="solid"/>
          </a:ln>
        </p:spPr>
      </p:sp>
      <p:sp>
        <p:nvSpPr>
          <p:cNvPr id="7" name="">
            <a:extLst xmlns:a="http://schemas.openxmlformats.org/drawingml/2006/main">
              <a:ext uri="{FF2B5EF4-FFF2-40B4-BE49-F238E27FC236}">
                <a16:creationId xmlns:a16="http://schemas.microsoft.com/office/drawing/2014/main" id="{DFE0F046-DB82-468E-97A2-A446969C9B44}"/>
              </a:ext>
            </a:extLst>
          </p:cNvPr>
          <p:cNvSpPr>
            <a:spLocks xmlns:a="http://schemas.openxmlformats.org/drawingml/2006/main" noGrp="1"/>
          </p:cNvSpPr>
          <p:nvPr/>
        </p:nvSpPr>
        <p:spPr>
          <a:xfrm xmlns:a="http://schemas.openxmlformats.org/drawingml/2006/main">
            <a:off x="1047750" y="2724150"/>
            <a:ext cx="9525000" cy="0"/>
          </a:xfrm>
          <a:prstGeom xmlns:a="http://schemas.openxmlformats.org/drawingml/2006/main" prst="line">
            <a:avLst/>
          </a:prstGeom>
          <a:noFill xmlns:a="http://schemas.openxmlformats.org/drawingml/2006/main"/>
          <a:ln xmlns:a="http://schemas.openxmlformats.org/drawingml/2006/main" w="9525">
            <a:solidFill>
              <a:srgbClr val="EDF3F6"/>
            </a:solidFill>
            <a:prstDash val="solid"/>
          </a:ln>
        </p:spPr>
      </p:sp>
      <p:sp>
        <p:nvSpPr>
          <p:cNvPr id="8" name="">
            <a:extLst xmlns:a="http://schemas.openxmlformats.org/drawingml/2006/main">
              <a:ext uri="{FF2B5EF4-FFF2-40B4-BE49-F238E27FC236}">
                <a16:creationId xmlns:a16="http://schemas.microsoft.com/office/drawing/2014/main" id="{59BDE6E4-BC2E-44F5-AA8F-18D303279E47}"/>
              </a:ext>
            </a:extLst>
          </p:cNvPr>
          <p:cNvSpPr>
            <a:spLocks xmlns:a="http://schemas.openxmlformats.org/drawingml/2006/main" noGrp="1"/>
          </p:cNvSpPr>
          <p:nvPr/>
        </p:nvSpPr>
        <p:spPr>
          <a:xfrm xmlns:a="http://schemas.openxmlformats.org/drawingml/2006/main">
            <a:off x="1047750" y="2190750"/>
            <a:ext cx="9525000" cy="0"/>
          </a:xfrm>
          <a:prstGeom xmlns:a="http://schemas.openxmlformats.org/drawingml/2006/main" prst="line">
            <a:avLst/>
          </a:prstGeom>
          <a:noFill xmlns:a="http://schemas.openxmlformats.org/drawingml/2006/main"/>
          <a:ln xmlns:a="http://schemas.openxmlformats.org/drawingml/2006/main" w="9525">
            <a:solidFill>
              <a:srgbClr val="EDF3F6"/>
            </a:solidFill>
            <a:prstDash val="solid"/>
          </a:ln>
        </p:spPr>
      </p:sp>
      <p:sp>
        <p:nvSpPr>
          <p:cNvPr id="9" name="">
            <a:extLst xmlns:a="http://schemas.openxmlformats.org/drawingml/2006/main">
              <a:ext uri="{FF2B5EF4-FFF2-40B4-BE49-F238E27FC236}">
                <a16:creationId xmlns:a16="http://schemas.microsoft.com/office/drawing/2014/main" id="{A2E5818F-231E-4446-B051-67B51E761D78}"/>
              </a:ext>
            </a:extLst>
          </p:cNvPr>
          <p:cNvSpPr>
            <a:spLocks xmlns:a="http://schemas.openxmlformats.org/drawingml/2006/main" noGrp="1"/>
          </p:cNvSpPr>
          <p:nvPr/>
        </p:nvSpPr>
        <p:spPr>
          <a:xfrm xmlns:a="http://schemas.openxmlformats.org/drawingml/2006/main">
            <a:off x="1047750" y="4857750"/>
            <a:ext cx="0" cy="76200"/>
          </a:xfrm>
          <a:prstGeom xmlns:a="http://schemas.openxmlformats.org/drawingml/2006/main" prst="line">
            <a:avLst/>
          </a:prstGeom>
          <a:noFill xmlns:a="http://schemas.openxmlformats.org/drawingml/2006/main"/>
          <a:ln xmlns:a="http://schemas.openxmlformats.org/drawingml/2006/main" w="19050">
            <a:solidFill>
              <a:srgbClr val="0B2D4D"/>
            </a:solidFill>
            <a:prstDash val="solid"/>
          </a:ln>
        </p:spPr>
      </p:sp>
      <p:sp>
        <p:nvSpPr>
          <p:cNvPr id="10" name="">
            <a:extLst xmlns:a="http://schemas.openxmlformats.org/drawingml/2006/main">
              <a:ext uri="{FF2B5EF4-FFF2-40B4-BE49-F238E27FC236}">
                <a16:creationId xmlns:a16="http://schemas.microsoft.com/office/drawing/2014/main" id="{EF095147-ECD4-4292-A7CA-BC3300ACF422}"/>
              </a:ext>
            </a:extLst>
          </p:cNvPr>
          <p:cNvSpPr>
            <a:spLocks xmlns:a="http://schemas.openxmlformats.org/drawingml/2006/main" noGrp="1"/>
          </p:cNvSpPr>
          <p:nvPr/>
        </p:nvSpPr>
        <p:spPr>
          <a:xfrm xmlns:a="http://schemas.openxmlformats.org/drawingml/2006/main">
            <a:off x="428625" y="49720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415669"/>
                </a:solidFill>
              </a:defRPr>
            </a:pPr>
            <a:r>
              <a:rPr sz="1600" b="1">
                <a:solidFill>
                  <a:srgbClr val="415669"/>
                </a:solidFill>
              </a:rPr>
              <a:t>RWY END</a:t>
            </a:r>
          </a:p>
        </p:txBody>
      </p:sp>
      <p:sp>
        <p:nvSpPr>
          <p:cNvPr id="11" name="">
            <a:extLst xmlns:a="http://schemas.openxmlformats.org/drawingml/2006/main">
              <a:ext uri="{FF2B5EF4-FFF2-40B4-BE49-F238E27FC236}">
                <a16:creationId xmlns:a16="http://schemas.microsoft.com/office/drawing/2014/main" id="{C3975793-3ABD-4982-9887-0852EA3E5D0A}"/>
              </a:ext>
            </a:extLst>
          </p:cNvPr>
          <p:cNvSpPr>
            <a:spLocks xmlns:a="http://schemas.openxmlformats.org/drawingml/2006/main" noGrp="1"/>
          </p:cNvSpPr>
          <p:nvPr/>
        </p:nvSpPr>
        <p:spPr>
          <a:xfrm xmlns:a="http://schemas.openxmlformats.org/drawingml/2006/main">
            <a:off x="3429000" y="4857750"/>
            <a:ext cx="0" cy="76200"/>
          </a:xfrm>
          <a:prstGeom xmlns:a="http://schemas.openxmlformats.org/drawingml/2006/main" prst="line">
            <a:avLst/>
          </a:prstGeom>
          <a:noFill xmlns:a="http://schemas.openxmlformats.org/drawingml/2006/main"/>
          <a:ln xmlns:a="http://schemas.openxmlformats.org/drawingml/2006/main" w="19050">
            <a:solidFill>
              <a:srgbClr val="0B2D4D"/>
            </a:solidFill>
            <a:prstDash val="solid"/>
          </a:ln>
        </p:spPr>
      </p:sp>
      <p:sp>
        <p:nvSpPr>
          <p:cNvPr id="12" name="">
            <a:extLst xmlns:a="http://schemas.openxmlformats.org/drawingml/2006/main">
              <a:ext uri="{FF2B5EF4-FFF2-40B4-BE49-F238E27FC236}">
                <a16:creationId xmlns:a16="http://schemas.microsoft.com/office/drawing/2014/main" id="{01E46C12-6249-470B-A528-255E77E32599}"/>
              </a:ext>
            </a:extLst>
          </p:cNvPr>
          <p:cNvSpPr>
            <a:spLocks xmlns:a="http://schemas.openxmlformats.org/drawingml/2006/main" noGrp="1"/>
          </p:cNvSpPr>
          <p:nvPr/>
        </p:nvSpPr>
        <p:spPr>
          <a:xfrm xmlns:a="http://schemas.openxmlformats.org/drawingml/2006/main">
            <a:off x="2809875" y="49720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0">
                <a:solidFill>
                  <a:srgbClr val="415669"/>
                </a:solidFill>
              </a:defRPr>
            </a:pPr>
            <a:r>
              <a:rPr sz="1600" b="0">
                <a:solidFill>
                  <a:srgbClr val="415669"/>
                </a:solidFill>
              </a:rPr>
              <a:t>1,000 ft</a:t>
            </a:r>
          </a:p>
        </p:txBody>
      </p:sp>
      <p:sp>
        <p:nvSpPr>
          <p:cNvPr id="13" name="">
            <a:extLst xmlns:a="http://schemas.openxmlformats.org/drawingml/2006/main">
              <a:ext uri="{FF2B5EF4-FFF2-40B4-BE49-F238E27FC236}">
                <a16:creationId xmlns:a16="http://schemas.microsoft.com/office/drawing/2014/main" id="{E48EBC84-D3D1-4411-9AB3-EA7EB3673073}"/>
              </a:ext>
            </a:extLst>
          </p:cNvPr>
          <p:cNvSpPr>
            <a:spLocks xmlns:a="http://schemas.openxmlformats.org/drawingml/2006/main" noGrp="1"/>
          </p:cNvSpPr>
          <p:nvPr/>
        </p:nvSpPr>
        <p:spPr>
          <a:xfrm xmlns:a="http://schemas.openxmlformats.org/drawingml/2006/main">
            <a:off x="5810250" y="4857750"/>
            <a:ext cx="0" cy="76200"/>
          </a:xfrm>
          <a:prstGeom xmlns:a="http://schemas.openxmlformats.org/drawingml/2006/main" prst="line">
            <a:avLst/>
          </a:prstGeom>
          <a:noFill xmlns:a="http://schemas.openxmlformats.org/drawingml/2006/main"/>
          <a:ln xmlns:a="http://schemas.openxmlformats.org/drawingml/2006/main" w="19050">
            <a:solidFill>
              <a:srgbClr val="0B2D4D"/>
            </a:solidFill>
            <a:prstDash val="solid"/>
          </a:ln>
        </p:spPr>
      </p:sp>
      <p:sp>
        <p:nvSpPr>
          <p:cNvPr id="14" name="">
            <a:extLst xmlns:a="http://schemas.openxmlformats.org/drawingml/2006/main">
              <a:ext uri="{FF2B5EF4-FFF2-40B4-BE49-F238E27FC236}">
                <a16:creationId xmlns:a16="http://schemas.microsoft.com/office/drawing/2014/main" id="{4E5F586B-4733-4011-B099-0F5213B9716B}"/>
              </a:ext>
            </a:extLst>
          </p:cNvPr>
          <p:cNvSpPr>
            <a:spLocks xmlns:a="http://schemas.openxmlformats.org/drawingml/2006/main" noGrp="1"/>
          </p:cNvSpPr>
          <p:nvPr/>
        </p:nvSpPr>
        <p:spPr>
          <a:xfrm xmlns:a="http://schemas.openxmlformats.org/drawingml/2006/main">
            <a:off x="5191125" y="49720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0">
                <a:solidFill>
                  <a:srgbClr val="415669"/>
                </a:solidFill>
              </a:defRPr>
            </a:pPr>
            <a:r>
              <a:rPr sz="1600" b="0">
                <a:solidFill>
                  <a:srgbClr val="415669"/>
                </a:solidFill>
              </a:rPr>
              <a:t>2,000 ft</a:t>
            </a:r>
          </a:p>
        </p:txBody>
      </p:sp>
      <p:sp>
        <p:nvSpPr>
          <p:cNvPr id="15" name="">
            <a:extLst xmlns:a="http://schemas.openxmlformats.org/drawingml/2006/main">
              <a:ext uri="{FF2B5EF4-FFF2-40B4-BE49-F238E27FC236}">
                <a16:creationId xmlns:a16="http://schemas.microsoft.com/office/drawing/2014/main" id="{AB5E39AF-39EA-4FAB-B290-BD4A2F419A8F}"/>
              </a:ext>
            </a:extLst>
          </p:cNvPr>
          <p:cNvSpPr>
            <a:spLocks xmlns:a="http://schemas.openxmlformats.org/drawingml/2006/main" noGrp="1"/>
          </p:cNvSpPr>
          <p:nvPr/>
        </p:nvSpPr>
        <p:spPr>
          <a:xfrm xmlns:a="http://schemas.openxmlformats.org/drawingml/2006/main">
            <a:off x="8191500" y="4857750"/>
            <a:ext cx="0" cy="76200"/>
          </a:xfrm>
          <a:prstGeom xmlns:a="http://schemas.openxmlformats.org/drawingml/2006/main" prst="line">
            <a:avLst/>
          </a:prstGeom>
          <a:noFill xmlns:a="http://schemas.openxmlformats.org/drawingml/2006/main"/>
          <a:ln xmlns:a="http://schemas.openxmlformats.org/drawingml/2006/main" w="19050">
            <a:solidFill>
              <a:srgbClr val="0B2D4D"/>
            </a:solidFill>
            <a:prstDash val="solid"/>
          </a:ln>
        </p:spPr>
      </p:sp>
      <p:sp>
        <p:nvSpPr>
          <p:cNvPr id="16" name="">
            <a:extLst xmlns:a="http://schemas.openxmlformats.org/drawingml/2006/main">
              <a:ext uri="{FF2B5EF4-FFF2-40B4-BE49-F238E27FC236}">
                <a16:creationId xmlns:a16="http://schemas.microsoft.com/office/drawing/2014/main" id="{D0D3666C-E4A2-4200-A5A8-446C8E4B4D64}"/>
              </a:ext>
            </a:extLst>
          </p:cNvPr>
          <p:cNvSpPr>
            <a:spLocks xmlns:a="http://schemas.openxmlformats.org/drawingml/2006/main" noGrp="1"/>
          </p:cNvSpPr>
          <p:nvPr/>
        </p:nvSpPr>
        <p:spPr>
          <a:xfrm xmlns:a="http://schemas.openxmlformats.org/drawingml/2006/main">
            <a:off x="7572375" y="49720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0">
                <a:solidFill>
                  <a:srgbClr val="415669"/>
                </a:solidFill>
              </a:defRPr>
            </a:pPr>
            <a:r>
              <a:rPr sz="1600" b="0">
                <a:solidFill>
                  <a:srgbClr val="415669"/>
                </a:solidFill>
              </a:rPr>
              <a:t>3,000 ft</a:t>
            </a:r>
          </a:p>
        </p:txBody>
      </p:sp>
      <p:sp>
        <p:nvSpPr>
          <p:cNvPr id="17" name="">
            <a:extLst xmlns:a="http://schemas.openxmlformats.org/drawingml/2006/main">
              <a:ext uri="{FF2B5EF4-FFF2-40B4-BE49-F238E27FC236}">
                <a16:creationId xmlns:a16="http://schemas.microsoft.com/office/drawing/2014/main" id="{B85A4A62-CFA1-47D0-8DFE-6929CEDCDC7A}"/>
              </a:ext>
            </a:extLst>
          </p:cNvPr>
          <p:cNvSpPr>
            <a:spLocks xmlns:a="http://schemas.openxmlformats.org/drawingml/2006/main" noGrp="1"/>
          </p:cNvSpPr>
          <p:nvPr/>
        </p:nvSpPr>
        <p:spPr>
          <a:xfrm xmlns:a="http://schemas.openxmlformats.org/drawingml/2006/main">
            <a:off x="10572750" y="4857750"/>
            <a:ext cx="0" cy="76200"/>
          </a:xfrm>
          <a:prstGeom xmlns:a="http://schemas.openxmlformats.org/drawingml/2006/main" prst="line">
            <a:avLst/>
          </a:prstGeom>
          <a:noFill xmlns:a="http://schemas.openxmlformats.org/drawingml/2006/main"/>
          <a:ln xmlns:a="http://schemas.openxmlformats.org/drawingml/2006/main" w="19050">
            <a:solidFill>
              <a:srgbClr val="0B2D4D"/>
            </a:solidFill>
            <a:prstDash val="solid"/>
          </a:ln>
        </p:spPr>
      </p:sp>
      <p:sp>
        <p:nvSpPr>
          <p:cNvPr id="18" name="">
            <a:extLst xmlns:a="http://schemas.openxmlformats.org/drawingml/2006/main">
              <a:ext uri="{FF2B5EF4-FFF2-40B4-BE49-F238E27FC236}">
                <a16:creationId xmlns:a16="http://schemas.microsoft.com/office/drawing/2014/main" id="{E3F4C820-2335-45BE-AD04-26DF155F4A8A}"/>
              </a:ext>
            </a:extLst>
          </p:cNvPr>
          <p:cNvSpPr>
            <a:spLocks xmlns:a="http://schemas.openxmlformats.org/drawingml/2006/main" noGrp="1"/>
          </p:cNvSpPr>
          <p:nvPr/>
        </p:nvSpPr>
        <p:spPr>
          <a:xfrm xmlns:a="http://schemas.openxmlformats.org/drawingml/2006/main">
            <a:off x="9953625" y="49720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0">
                <a:solidFill>
                  <a:srgbClr val="415669"/>
                </a:solidFill>
              </a:defRPr>
            </a:pPr>
            <a:r>
              <a:rPr sz="1600" b="0">
                <a:solidFill>
                  <a:srgbClr val="415669"/>
                </a:solidFill>
              </a:rPr>
              <a:t>4,000 ft</a:t>
            </a:r>
          </a:p>
        </p:txBody>
      </p:sp>
      <p:sp>
        <p:nvSpPr>
          <p:cNvPr id="19" name="">
            <a:extLst xmlns:a="http://schemas.openxmlformats.org/drawingml/2006/main">
              <a:ext uri="{FF2B5EF4-FFF2-40B4-BE49-F238E27FC236}">
                <a16:creationId xmlns:a16="http://schemas.microsoft.com/office/drawing/2014/main" id="{862C1712-9C99-405E-9701-F8AB036EF151}"/>
              </a:ext>
            </a:extLst>
          </p:cNvPr>
          <p:cNvSpPr>
            <a:spLocks xmlns:a="http://schemas.openxmlformats.org/drawingml/2006/main" noGrp="1"/>
          </p:cNvSpPr>
          <p:nvPr/>
        </p:nvSpPr>
        <p:spPr>
          <a:xfrm xmlns:a="http://schemas.openxmlformats.org/drawingml/2006/main">
            <a:off x="1047750" y="1924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415669"/>
                </a:solidFill>
              </a:defRPr>
            </a:pPr>
            <a:r>
              <a:rPr sz="1600" b="1">
                <a:solidFill>
                  <a:srgbClr val="415669"/>
                </a:solidFill>
              </a:rPr>
              <a:t>0–250 FT AGL</a:t>
            </a:r>
          </a:p>
        </p:txBody>
      </p:sp>
      <p:sp>
        <p:nvSpPr>
          <p:cNvPr id="20" name="">
            <a:extLst xmlns:a="http://schemas.openxmlformats.org/drawingml/2006/main">
              <a:ext uri="{FF2B5EF4-FFF2-40B4-BE49-F238E27FC236}">
                <a16:creationId xmlns:a16="http://schemas.microsoft.com/office/drawing/2014/main" id="{C49845F9-C5FC-4397-AC90-A56F504670C2}"/>
              </a:ext>
            </a:extLst>
          </p:cNvPr>
          <p:cNvSpPr>
            <a:spLocks xmlns:a="http://schemas.openxmlformats.org/drawingml/2006/main" noGrp="1"/>
          </p:cNvSpPr>
          <p:nvPr/>
        </p:nvSpPr>
        <p:spPr>
          <a:xfrm xmlns:a="http://schemas.openxmlformats.org/drawingml/2006/main" flipV="1">
            <a:off x="1047750" y="4004310"/>
            <a:ext cx="9525000" cy="853440"/>
          </a:xfrm>
          <a:prstGeom xmlns:a="http://schemas.openxmlformats.org/drawingml/2006/main" prst="line">
            <a:avLst/>
          </a:prstGeom>
          <a:noFill xmlns:a="http://schemas.openxmlformats.org/drawingml/2006/main"/>
          <a:ln xmlns:a="http://schemas.openxmlformats.org/drawingml/2006/main" w="38100">
            <a:solidFill>
              <a:srgbClr val="2E84A5"/>
            </a:solidFill>
            <a:prstDash val="solid"/>
          </a:ln>
        </p:spPr>
      </p:sp>
      <p:sp>
        <p:nvSpPr>
          <p:cNvPr id="21" name="">
            <a:extLst xmlns:a="http://schemas.openxmlformats.org/drawingml/2006/main">
              <a:ext uri="{FF2B5EF4-FFF2-40B4-BE49-F238E27FC236}">
                <a16:creationId xmlns:a16="http://schemas.microsoft.com/office/drawing/2014/main" id="{8426EED8-B987-4E20-AEFB-EAA67D87B884}"/>
              </a:ext>
            </a:extLst>
          </p:cNvPr>
          <p:cNvSpPr>
            <a:spLocks xmlns:a="http://schemas.openxmlformats.org/drawingml/2006/main" noGrp="1"/>
          </p:cNvSpPr>
          <p:nvPr/>
        </p:nvSpPr>
        <p:spPr>
          <a:xfrm xmlns:a="http://schemas.openxmlformats.org/drawingml/2006/main">
            <a:off x="7524750" y="3895344"/>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2E84A5"/>
                </a:solidFill>
              </a:defRPr>
            </a:pPr>
            <a:r>
              <a:rPr sz="1600" b="1">
                <a:solidFill>
                  <a:srgbClr val="2E84A5"/>
                </a:solidFill>
              </a:rPr>
              <a:t>50:1 APPROACH</a:t>
            </a:r>
          </a:p>
        </p:txBody>
      </p:sp>
      <p:sp>
        <p:nvSpPr>
          <p:cNvPr id="22" name="">
            <a:extLst xmlns:a="http://schemas.openxmlformats.org/drawingml/2006/main">
              <a:ext uri="{FF2B5EF4-FFF2-40B4-BE49-F238E27FC236}">
                <a16:creationId xmlns:a16="http://schemas.microsoft.com/office/drawing/2014/main" id="{84AAE5A4-CB02-4378-988E-81B0316D00F7}"/>
              </a:ext>
            </a:extLst>
          </p:cNvPr>
          <p:cNvSpPr>
            <a:spLocks xmlns:a="http://schemas.openxmlformats.org/drawingml/2006/main" noGrp="1"/>
          </p:cNvSpPr>
          <p:nvPr/>
        </p:nvSpPr>
        <p:spPr>
          <a:xfrm xmlns:a="http://schemas.openxmlformats.org/drawingml/2006/main" flipV="1">
            <a:off x="1047750" y="3790950"/>
            <a:ext cx="9525000" cy="1066800"/>
          </a:xfrm>
          <a:prstGeom xmlns:a="http://schemas.openxmlformats.org/drawingml/2006/main" prst="line">
            <a:avLst/>
          </a:prstGeom>
          <a:noFill xmlns:a="http://schemas.openxmlformats.org/drawingml/2006/main"/>
          <a:ln xmlns:a="http://schemas.openxmlformats.org/drawingml/2006/main" w="28575">
            <a:solidFill>
              <a:srgbClr val="415669"/>
            </a:solidFill>
            <a:prstDash val="solid"/>
          </a:ln>
        </p:spPr>
      </p:sp>
      <p:sp>
        <p:nvSpPr>
          <p:cNvPr id="23" name="">
            <a:extLst xmlns:a="http://schemas.openxmlformats.org/drawingml/2006/main">
              <a:ext uri="{FF2B5EF4-FFF2-40B4-BE49-F238E27FC236}">
                <a16:creationId xmlns:a16="http://schemas.microsoft.com/office/drawing/2014/main" id="{8CA072D8-8A20-4172-ACE8-C44941869147}"/>
              </a:ext>
            </a:extLst>
          </p:cNvPr>
          <p:cNvSpPr>
            <a:spLocks xmlns:a="http://schemas.openxmlformats.org/drawingml/2006/main" noGrp="1"/>
          </p:cNvSpPr>
          <p:nvPr/>
        </p:nvSpPr>
        <p:spPr>
          <a:xfrm xmlns:a="http://schemas.openxmlformats.org/drawingml/2006/main">
            <a:off x="8096250" y="3569208"/>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415669"/>
                </a:solidFill>
              </a:defRPr>
            </a:pPr>
            <a:r>
              <a:rPr sz="1600" b="1">
                <a:solidFill>
                  <a:srgbClr val="415669"/>
                </a:solidFill>
              </a:rPr>
              <a:t>40:1 DEPARTURE</a:t>
            </a:r>
          </a:p>
        </p:txBody>
      </p:sp>
      <p:sp>
        <p:nvSpPr>
          <p:cNvPr id="24" name="">
            <a:extLst xmlns:a="http://schemas.openxmlformats.org/drawingml/2006/main">
              <a:ext uri="{FF2B5EF4-FFF2-40B4-BE49-F238E27FC236}">
                <a16:creationId xmlns:a16="http://schemas.microsoft.com/office/drawing/2014/main" id="{27C58FCE-AC69-463D-AB75-30D935951E1D}"/>
              </a:ext>
            </a:extLst>
          </p:cNvPr>
          <p:cNvSpPr>
            <a:spLocks xmlns:a="http://schemas.openxmlformats.org/drawingml/2006/main" noGrp="1"/>
          </p:cNvSpPr>
          <p:nvPr/>
        </p:nvSpPr>
        <p:spPr>
          <a:xfrm xmlns:a="http://schemas.openxmlformats.org/drawingml/2006/main" flipV="1">
            <a:off x="1047750" y="2308098"/>
            <a:ext cx="8572500" cy="2016252"/>
          </a:xfrm>
          <a:prstGeom xmlns:a="http://schemas.openxmlformats.org/drawingml/2006/main" prst="line">
            <a:avLst/>
          </a:prstGeom>
          <a:noFill xmlns:a="http://schemas.openxmlformats.org/drawingml/2006/main"/>
          <a:ln xmlns:a="http://schemas.openxmlformats.org/drawingml/2006/main" w="47625">
            <a:solidFill>
              <a:srgbClr val="D4A24C"/>
            </a:solidFill>
            <a:prstDash val="solid"/>
          </a:ln>
        </p:spPr>
      </p:sp>
      <p:sp>
        <p:nvSpPr>
          <p:cNvPr id="25" name="">
            <a:extLst xmlns:a="http://schemas.openxmlformats.org/drawingml/2006/main">
              <a:ext uri="{FF2B5EF4-FFF2-40B4-BE49-F238E27FC236}">
                <a16:creationId xmlns:a16="http://schemas.microsoft.com/office/drawing/2014/main" id="{A567386C-31EE-4CD8-8B07-207B60ED0046}"/>
              </a:ext>
            </a:extLst>
          </p:cNvPr>
          <p:cNvSpPr>
            <a:spLocks xmlns:a="http://schemas.openxmlformats.org/drawingml/2006/main" noGrp="1"/>
          </p:cNvSpPr>
          <p:nvPr/>
        </p:nvSpPr>
        <p:spPr>
          <a:xfrm xmlns:a="http://schemas.openxmlformats.org/drawingml/2006/main">
            <a:off x="9620250" y="2857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D4A24C"/>
                </a:solidFill>
              </a:defRPr>
            </a:pPr>
            <a:r>
              <a:rPr sz="1600" b="1">
                <a:solidFill>
                  <a:srgbClr val="D4A24C"/>
                </a:solidFill>
              </a:rPr>
              <a:t>3° GLIDEPATH</a:t>
            </a:r>
          </a:p>
        </p:txBody>
      </p:sp>
      <p:sp>
        <p:nvSpPr>
          <p:cNvPr id="26" name="SIGNATURE VISUAL — generic 50-foot data hall">
            <a:extLst xmlns:a="http://schemas.openxmlformats.org/drawingml/2006/main">
              <a:ext uri="{FF2B5EF4-FFF2-40B4-BE49-F238E27FC236}">
                <a16:creationId xmlns:a16="http://schemas.microsoft.com/office/drawing/2014/main" id="{955D93BD-769F-4793-B66A-E6F1B6ACA153}"/>
              </a:ext>
            </a:extLst>
          </p:cNvPr>
          <p:cNvSpPr>
            <a:spLocks xmlns:a="http://schemas.openxmlformats.org/drawingml/2006/main" noGrp="1"/>
          </p:cNvSpPr>
          <p:nvPr/>
        </p:nvSpPr>
        <p:spPr>
          <a:xfrm xmlns:a="http://schemas.openxmlformats.org/drawingml/2006/main">
            <a:off x="6505575" y="4324350"/>
            <a:ext cx="990600" cy="533400"/>
          </a:xfrm>
          <a:prstGeom xmlns:a="http://schemas.openxmlformats.org/drawingml/2006/main" prst="rect">
            <a:avLst/>
          </a:prstGeom>
          <a:solidFill xmlns:a="http://schemas.openxmlformats.org/drawingml/2006/main">
            <a:srgbClr val="A6413A"/>
          </a:solidFill>
          <a:ln xmlns:a="http://schemas.openxmlformats.org/drawingml/2006/main" w="9525">
            <a:solidFill>
              <a:srgbClr val="A6413A"/>
            </a:solidFill>
            <a:prstDash val="solid"/>
          </a:ln>
        </p:spPr>
      </p:sp>
      <p:sp>
        <p:nvSpPr>
          <p:cNvPr id="27" name="">
            <a:extLst xmlns:a="http://schemas.openxmlformats.org/drawingml/2006/main">
              <a:ext uri="{FF2B5EF4-FFF2-40B4-BE49-F238E27FC236}">
                <a16:creationId xmlns:a16="http://schemas.microsoft.com/office/drawing/2014/main" id="{B9C8DAFB-6FA7-4ED2-A369-A77E7FC88F7A}"/>
              </a:ext>
            </a:extLst>
          </p:cNvPr>
          <p:cNvSpPr>
            <a:spLocks xmlns:a="http://schemas.openxmlformats.org/drawingml/2006/main" noGrp="1"/>
          </p:cNvSpPr>
          <p:nvPr/>
        </p:nvSpPr>
        <p:spPr>
          <a:xfrm xmlns:a="http://schemas.openxmlformats.org/drawingml/2006/main">
            <a:off x="6629400" y="4229100"/>
            <a:ext cx="209550" cy="95250"/>
          </a:xfrm>
          <a:prstGeom xmlns:a="http://schemas.openxmlformats.org/drawingml/2006/main" prst="rect">
            <a:avLst/>
          </a:prstGeom>
          <a:solidFill xmlns:a="http://schemas.openxmlformats.org/drawingml/2006/main">
            <a:srgbClr val="A6413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AD7C840-BB18-4E09-A7CF-935945749F9B}"/>
              </a:ext>
            </a:extLst>
          </p:cNvPr>
          <p:cNvSpPr>
            <a:spLocks xmlns:a="http://schemas.openxmlformats.org/drawingml/2006/main" noGrp="1"/>
          </p:cNvSpPr>
          <p:nvPr/>
        </p:nvSpPr>
        <p:spPr>
          <a:xfrm xmlns:a="http://schemas.openxmlformats.org/drawingml/2006/main">
            <a:off x="7162800" y="4181475"/>
            <a:ext cx="133350" cy="142875"/>
          </a:xfrm>
          <a:prstGeom xmlns:a="http://schemas.openxmlformats.org/drawingml/2006/main" prst="rect">
            <a:avLst/>
          </a:prstGeom>
          <a:solidFill xmlns:a="http://schemas.openxmlformats.org/drawingml/2006/main">
            <a:srgbClr val="A6413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4F26C00-DAE7-4293-A763-BAEC2C07CCC7}"/>
              </a:ext>
            </a:extLst>
          </p:cNvPr>
          <p:cNvSpPr>
            <a:spLocks xmlns:a="http://schemas.openxmlformats.org/drawingml/2006/main" noGrp="1"/>
          </p:cNvSpPr>
          <p:nvPr/>
        </p:nvSpPr>
        <p:spPr>
          <a:xfrm xmlns:a="http://schemas.openxmlformats.org/drawingml/2006/main">
            <a:off x="6581775" y="4343400"/>
            <a:ext cx="838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FFFFFF"/>
                </a:solidFill>
              </a:defRPr>
            </a:pPr>
            <a:r>
              <a:rPr sz="1600" b="1">
                <a:solidFill>
                  <a:srgbClr val="FFFFFF"/>
                </a:solidFill>
              </a:rPr>
              <a:t>50-FT</a:t>
            </a:r>
          </a:p>
          <a:p xmlns:a="http://schemas.openxmlformats.org/drawingml/2006/main">
            <a:pPr algn="ctr">
              <a:defRPr sz="1600" b="1">
                <a:solidFill>
                  <a:srgbClr val="FFFFFF"/>
                </a:solidFill>
              </a:defRPr>
            </a:pPr>
            <a:r>
              <a:rPr sz="1600" b="1">
                <a:solidFill>
                  <a:srgbClr val="FFFFFF"/>
                </a:solidFill>
              </a:rPr>
              <a:t>HALL</a:t>
            </a:r>
          </a:p>
        </p:txBody>
      </p:sp>
      <p:sp>
        <p:nvSpPr>
          <p:cNvPr id="30" name="">
            <a:extLst xmlns:a="http://schemas.openxmlformats.org/drawingml/2006/main">
              <a:ext uri="{FF2B5EF4-FFF2-40B4-BE49-F238E27FC236}">
                <a16:creationId xmlns:a16="http://schemas.microsoft.com/office/drawing/2014/main" id="{D1C819A9-04E0-4D90-AEF9-3775929FB222}"/>
              </a:ext>
            </a:extLst>
          </p:cNvPr>
          <p:cNvSpPr>
            <a:spLocks xmlns:a="http://schemas.openxmlformats.org/drawingml/2006/main" noGrp="1"/>
          </p:cNvSpPr>
          <p:nvPr/>
        </p:nvSpPr>
        <p:spPr>
          <a:xfrm xmlns:a="http://schemas.openxmlformats.org/drawingml/2006/main">
            <a:off x="3362325" y="3702939"/>
            <a:ext cx="133350" cy="133350"/>
          </a:xfrm>
          <a:prstGeom xmlns:a="http://schemas.openxmlformats.org/drawingml/2006/main" prst="ellipse">
            <a:avLst/>
          </a:prstGeom>
          <a:solidFill xmlns:a="http://schemas.openxmlformats.org/drawingml/2006/main">
            <a:srgbClr val="D4A24C"/>
          </a:solidFill>
          <a:ln xmlns:a="http://schemas.openxmlformats.org/drawingml/2006/main" w="19050">
            <a:solidFill>
              <a:srgbClr val="FFFFFF"/>
            </a:solidFill>
            <a:prstDash val="solid"/>
          </a:ln>
        </p:spPr>
      </p:sp>
      <p:sp>
        <p:nvSpPr>
          <p:cNvPr id="31" name="">
            <a:extLst xmlns:a="http://schemas.openxmlformats.org/drawingml/2006/main">
              <a:ext uri="{FF2B5EF4-FFF2-40B4-BE49-F238E27FC236}">
                <a16:creationId xmlns:a16="http://schemas.microsoft.com/office/drawing/2014/main" id="{A28FE083-EE81-4027-9931-B1F2DA408E3D}"/>
              </a:ext>
            </a:extLst>
          </p:cNvPr>
          <p:cNvSpPr>
            <a:spLocks xmlns:a="http://schemas.openxmlformats.org/drawingml/2006/main" noGrp="1"/>
          </p:cNvSpPr>
          <p:nvPr/>
        </p:nvSpPr>
        <p:spPr>
          <a:xfrm xmlns:a="http://schemas.openxmlformats.org/drawingml/2006/main">
            <a:off x="2905125" y="3407664"/>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D4A24C"/>
                </a:solidFill>
              </a:defRPr>
            </a:pPr>
            <a:r>
              <a:rPr sz="1600" b="1">
                <a:solidFill>
                  <a:srgbClr val="D4A24C"/>
                </a:solidFill>
              </a:rPr>
              <a:t>≈102 ft</a:t>
            </a:r>
          </a:p>
        </p:txBody>
      </p:sp>
      <p:sp>
        <p:nvSpPr>
          <p:cNvPr id="32" name="">
            <a:extLst xmlns:a="http://schemas.openxmlformats.org/drawingml/2006/main">
              <a:ext uri="{FF2B5EF4-FFF2-40B4-BE49-F238E27FC236}">
                <a16:creationId xmlns:a16="http://schemas.microsoft.com/office/drawing/2014/main" id="{03B744FA-2EAD-4DC7-A52E-59AA529A146F}"/>
              </a:ext>
            </a:extLst>
          </p:cNvPr>
          <p:cNvSpPr>
            <a:spLocks xmlns:a="http://schemas.openxmlformats.org/drawingml/2006/main" noGrp="1"/>
          </p:cNvSpPr>
          <p:nvPr/>
        </p:nvSpPr>
        <p:spPr>
          <a:xfrm xmlns:a="http://schemas.openxmlformats.org/drawingml/2006/main">
            <a:off x="5743575" y="3137535"/>
            <a:ext cx="133350" cy="133350"/>
          </a:xfrm>
          <a:prstGeom xmlns:a="http://schemas.openxmlformats.org/drawingml/2006/main" prst="ellipse">
            <a:avLst/>
          </a:prstGeom>
          <a:solidFill xmlns:a="http://schemas.openxmlformats.org/drawingml/2006/main">
            <a:srgbClr val="D4A24C"/>
          </a:solidFill>
          <a:ln xmlns:a="http://schemas.openxmlformats.org/drawingml/2006/main" w="19050">
            <a:solidFill>
              <a:srgbClr val="FFFFFF"/>
            </a:solidFill>
            <a:prstDash val="solid"/>
          </a:ln>
        </p:spPr>
      </p:sp>
      <p:sp>
        <p:nvSpPr>
          <p:cNvPr id="33" name="">
            <a:extLst xmlns:a="http://schemas.openxmlformats.org/drawingml/2006/main">
              <a:ext uri="{FF2B5EF4-FFF2-40B4-BE49-F238E27FC236}">
                <a16:creationId xmlns:a16="http://schemas.microsoft.com/office/drawing/2014/main" id="{AD932874-735D-4E1B-ADD8-479065F164B6}"/>
              </a:ext>
            </a:extLst>
          </p:cNvPr>
          <p:cNvSpPr>
            <a:spLocks xmlns:a="http://schemas.openxmlformats.org/drawingml/2006/main" noGrp="1"/>
          </p:cNvSpPr>
          <p:nvPr/>
        </p:nvSpPr>
        <p:spPr>
          <a:xfrm xmlns:a="http://schemas.openxmlformats.org/drawingml/2006/main">
            <a:off x="5286375" y="284226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D4A24C"/>
                </a:solidFill>
              </a:defRPr>
            </a:pPr>
            <a:r>
              <a:rPr sz="1600" b="1">
                <a:solidFill>
                  <a:srgbClr val="D4A24C"/>
                </a:solidFill>
              </a:rPr>
              <a:t>≈155 ft</a:t>
            </a:r>
          </a:p>
        </p:txBody>
      </p:sp>
      <p:sp>
        <p:nvSpPr>
          <p:cNvPr id="34" name="">
            <a:extLst xmlns:a="http://schemas.openxmlformats.org/drawingml/2006/main">
              <a:ext uri="{FF2B5EF4-FFF2-40B4-BE49-F238E27FC236}">
                <a16:creationId xmlns:a16="http://schemas.microsoft.com/office/drawing/2014/main" id="{E125E05A-1847-4644-A84E-D351DF4D5D65}"/>
              </a:ext>
            </a:extLst>
          </p:cNvPr>
          <p:cNvSpPr>
            <a:spLocks xmlns:a="http://schemas.openxmlformats.org/drawingml/2006/main" noGrp="1"/>
          </p:cNvSpPr>
          <p:nvPr/>
        </p:nvSpPr>
        <p:spPr>
          <a:xfrm xmlns:a="http://schemas.openxmlformats.org/drawingml/2006/main">
            <a:off x="8124825" y="2582799"/>
            <a:ext cx="133350" cy="133350"/>
          </a:xfrm>
          <a:prstGeom xmlns:a="http://schemas.openxmlformats.org/drawingml/2006/main" prst="ellipse">
            <a:avLst/>
          </a:prstGeom>
          <a:solidFill xmlns:a="http://schemas.openxmlformats.org/drawingml/2006/main">
            <a:srgbClr val="D4A24C"/>
          </a:solidFill>
          <a:ln xmlns:a="http://schemas.openxmlformats.org/drawingml/2006/main" w="19050">
            <a:solidFill>
              <a:srgbClr val="FFFFFF"/>
            </a:solidFill>
            <a:prstDash val="solid"/>
          </a:ln>
        </p:spPr>
      </p:sp>
      <p:sp>
        <p:nvSpPr>
          <p:cNvPr id="35" name="">
            <a:extLst xmlns:a="http://schemas.openxmlformats.org/drawingml/2006/main">
              <a:ext uri="{FF2B5EF4-FFF2-40B4-BE49-F238E27FC236}">
                <a16:creationId xmlns:a16="http://schemas.microsoft.com/office/drawing/2014/main" id="{B6C7EF04-1141-4162-8918-A6DE6715C170}"/>
              </a:ext>
            </a:extLst>
          </p:cNvPr>
          <p:cNvSpPr>
            <a:spLocks xmlns:a="http://schemas.openxmlformats.org/drawingml/2006/main" noGrp="1"/>
          </p:cNvSpPr>
          <p:nvPr/>
        </p:nvSpPr>
        <p:spPr>
          <a:xfrm xmlns:a="http://schemas.openxmlformats.org/drawingml/2006/main">
            <a:off x="7667625" y="2287524"/>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D4A24C"/>
                </a:solidFill>
              </a:defRPr>
            </a:pPr>
            <a:r>
              <a:rPr sz="1600" b="1">
                <a:solidFill>
                  <a:srgbClr val="D4A24C"/>
                </a:solidFill>
              </a:rPr>
              <a:t>≈207 ft</a:t>
            </a:r>
          </a:p>
        </p:txBody>
      </p:sp>
      <p:sp>
        <p:nvSpPr>
          <p:cNvPr id="36" name="">
            <a:extLst xmlns:a="http://schemas.openxmlformats.org/drawingml/2006/main">
              <a:ext uri="{FF2B5EF4-FFF2-40B4-BE49-F238E27FC236}">
                <a16:creationId xmlns:a16="http://schemas.microsoft.com/office/drawing/2014/main" id="{EBB5DEDC-D0DC-4064-80C7-EB246FEDCC06}"/>
              </a:ext>
            </a:extLst>
          </p:cNvPr>
          <p:cNvSpPr>
            <a:spLocks xmlns:a="http://schemas.openxmlformats.org/drawingml/2006/main" noGrp="1"/>
          </p:cNvSpPr>
          <p:nvPr/>
        </p:nvSpPr>
        <p:spPr>
          <a:xfrm xmlns:a="http://schemas.openxmlformats.org/drawingml/2006/main">
            <a:off x="1047750" y="4772025"/>
            <a:ext cx="5715000" cy="0"/>
          </a:xfrm>
          <a:prstGeom xmlns:a="http://schemas.openxmlformats.org/drawingml/2006/main" prst="line">
            <a:avLst/>
          </a:prstGeom>
          <a:noFill xmlns:a="http://schemas.openxmlformats.org/drawingml/2006/main"/>
          <a:ln xmlns:a="http://schemas.openxmlformats.org/drawingml/2006/main" w="47625">
            <a:solidFill>
              <a:srgbClr val="24745C"/>
            </a:solidFill>
            <a:prstDash val="solid"/>
          </a:ln>
        </p:spPr>
      </p:sp>
      <p:sp>
        <p:nvSpPr>
          <p:cNvPr id="37" name="">
            <a:extLst xmlns:a="http://schemas.openxmlformats.org/drawingml/2006/main">
              <a:ext uri="{FF2B5EF4-FFF2-40B4-BE49-F238E27FC236}">
                <a16:creationId xmlns:a16="http://schemas.microsoft.com/office/drawing/2014/main" id="{9150B8BE-B816-471F-91A1-EEFBC5CA19D3}"/>
              </a:ext>
            </a:extLst>
          </p:cNvPr>
          <p:cNvSpPr>
            <a:spLocks xmlns:a="http://schemas.openxmlformats.org/drawingml/2006/main" noGrp="1"/>
          </p:cNvSpPr>
          <p:nvPr/>
        </p:nvSpPr>
        <p:spPr>
          <a:xfrm xmlns:a="http://schemas.openxmlformats.org/drawingml/2006/main">
            <a:off x="1047750" y="4686300"/>
            <a:ext cx="0" cy="171450"/>
          </a:xfrm>
          <a:prstGeom xmlns:a="http://schemas.openxmlformats.org/drawingml/2006/main" prst="line">
            <a:avLst/>
          </a:prstGeom>
          <a:noFill xmlns:a="http://schemas.openxmlformats.org/drawingml/2006/main"/>
          <a:ln xmlns:a="http://schemas.openxmlformats.org/drawingml/2006/main" w="19050">
            <a:solidFill>
              <a:srgbClr val="24745C"/>
            </a:solidFill>
            <a:prstDash val="solid"/>
          </a:ln>
        </p:spPr>
      </p:sp>
      <p:sp>
        <p:nvSpPr>
          <p:cNvPr id="38" name="">
            <a:extLst xmlns:a="http://schemas.openxmlformats.org/drawingml/2006/main">
              <a:ext uri="{FF2B5EF4-FFF2-40B4-BE49-F238E27FC236}">
                <a16:creationId xmlns:a16="http://schemas.microsoft.com/office/drawing/2014/main" id="{8F571ECD-A63F-4F24-B2EF-BB0554D62A70}"/>
              </a:ext>
            </a:extLst>
          </p:cNvPr>
          <p:cNvSpPr>
            <a:spLocks xmlns:a="http://schemas.openxmlformats.org/drawingml/2006/main" noGrp="1"/>
          </p:cNvSpPr>
          <p:nvPr/>
        </p:nvSpPr>
        <p:spPr>
          <a:xfrm xmlns:a="http://schemas.openxmlformats.org/drawingml/2006/main">
            <a:off x="2000250" y="4686300"/>
            <a:ext cx="0" cy="171450"/>
          </a:xfrm>
          <a:prstGeom xmlns:a="http://schemas.openxmlformats.org/drawingml/2006/main" prst="line">
            <a:avLst/>
          </a:prstGeom>
          <a:noFill xmlns:a="http://schemas.openxmlformats.org/drawingml/2006/main"/>
          <a:ln xmlns:a="http://schemas.openxmlformats.org/drawingml/2006/main" w="19050">
            <a:solidFill>
              <a:srgbClr val="24745C"/>
            </a:solidFill>
            <a:prstDash val="solid"/>
          </a:ln>
        </p:spPr>
      </p:sp>
      <p:sp>
        <p:nvSpPr>
          <p:cNvPr id="39" name="">
            <a:extLst xmlns:a="http://schemas.openxmlformats.org/drawingml/2006/main">
              <a:ext uri="{FF2B5EF4-FFF2-40B4-BE49-F238E27FC236}">
                <a16:creationId xmlns:a16="http://schemas.microsoft.com/office/drawing/2014/main" id="{2B2D59AE-1188-4F60-AF41-66C499A83391}"/>
              </a:ext>
            </a:extLst>
          </p:cNvPr>
          <p:cNvSpPr>
            <a:spLocks xmlns:a="http://schemas.openxmlformats.org/drawingml/2006/main" noGrp="1"/>
          </p:cNvSpPr>
          <p:nvPr/>
        </p:nvSpPr>
        <p:spPr>
          <a:xfrm xmlns:a="http://schemas.openxmlformats.org/drawingml/2006/main">
            <a:off x="2952750" y="4686300"/>
            <a:ext cx="0" cy="171450"/>
          </a:xfrm>
          <a:prstGeom xmlns:a="http://schemas.openxmlformats.org/drawingml/2006/main" prst="line">
            <a:avLst/>
          </a:prstGeom>
          <a:noFill xmlns:a="http://schemas.openxmlformats.org/drawingml/2006/main"/>
          <a:ln xmlns:a="http://schemas.openxmlformats.org/drawingml/2006/main" w="19050">
            <a:solidFill>
              <a:srgbClr val="24745C"/>
            </a:solidFill>
            <a:prstDash val="solid"/>
          </a:ln>
        </p:spPr>
      </p:sp>
      <p:sp>
        <p:nvSpPr>
          <p:cNvPr id="40" name="">
            <a:extLst xmlns:a="http://schemas.openxmlformats.org/drawingml/2006/main">
              <a:ext uri="{FF2B5EF4-FFF2-40B4-BE49-F238E27FC236}">
                <a16:creationId xmlns:a16="http://schemas.microsoft.com/office/drawing/2014/main" id="{115A869C-4FA0-4998-B654-ACEB14643A76}"/>
              </a:ext>
            </a:extLst>
          </p:cNvPr>
          <p:cNvSpPr>
            <a:spLocks xmlns:a="http://schemas.openxmlformats.org/drawingml/2006/main" noGrp="1"/>
          </p:cNvSpPr>
          <p:nvPr/>
        </p:nvSpPr>
        <p:spPr>
          <a:xfrm xmlns:a="http://schemas.openxmlformats.org/drawingml/2006/main">
            <a:off x="3905250" y="4686300"/>
            <a:ext cx="0" cy="171450"/>
          </a:xfrm>
          <a:prstGeom xmlns:a="http://schemas.openxmlformats.org/drawingml/2006/main" prst="line">
            <a:avLst/>
          </a:prstGeom>
          <a:noFill xmlns:a="http://schemas.openxmlformats.org/drawingml/2006/main"/>
          <a:ln xmlns:a="http://schemas.openxmlformats.org/drawingml/2006/main" w="19050">
            <a:solidFill>
              <a:srgbClr val="24745C"/>
            </a:solidFill>
            <a:prstDash val="solid"/>
          </a:ln>
        </p:spPr>
      </p:sp>
      <p:sp>
        <p:nvSpPr>
          <p:cNvPr id="41" name="">
            <a:extLst xmlns:a="http://schemas.openxmlformats.org/drawingml/2006/main">
              <a:ext uri="{FF2B5EF4-FFF2-40B4-BE49-F238E27FC236}">
                <a16:creationId xmlns:a16="http://schemas.microsoft.com/office/drawing/2014/main" id="{1611DDBE-7903-4F79-8C23-F1D3039A27B5}"/>
              </a:ext>
            </a:extLst>
          </p:cNvPr>
          <p:cNvSpPr>
            <a:spLocks xmlns:a="http://schemas.openxmlformats.org/drawingml/2006/main" noGrp="1"/>
          </p:cNvSpPr>
          <p:nvPr/>
        </p:nvSpPr>
        <p:spPr>
          <a:xfrm xmlns:a="http://schemas.openxmlformats.org/drawingml/2006/main">
            <a:off x="4857750" y="4686300"/>
            <a:ext cx="0" cy="171450"/>
          </a:xfrm>
          <a:prstGeom xmlns:a="http://schemas.openxmlformats.org/drawingml/2006/main" prst="line">
            <a:avLst/>
          </a:prstGeom>
          <a:noFill xmlns:a="http://schemas.openxmlformats.org/drawingml/2006/main"/>
          <a:ln xmlns:a="http://schemas.openxmlformats.org/drawingml/2006/main" w="19050">
            <a:solidFill>
              <a:srgbClr val="24745C"/>
            </a:solidFill>
            <a:prstDash val="solid"/>
          </a:ln>
        </p:spPr>
      </p:sp>
      <p:sp>
        <p:nvSpPr>
          <p:cNvPr id="42" name="">
            <a:extLst xmlns:a="http://schemas.openxmlformats.org/drawingml/2006/main">
              <a:ext uri="{FF2B5EF4-FFF2-40B4-BE49-F238E27FC236}">
                <a16:creationId xmlns:a16="http://schemas.microsoft.com/office/drawing/2014/main" id="{79EFEF46-B8A4-453B-B840-297E0196AF6A}"/>
              </a:ext>
            </a:extLst>
          </p:cNvPr>
          <p:cNvSpPr>
            <a:spLocks xmlns:a="http://schemas.openxmlformats.org/drawingml/2006/main" noGrp="1"/>
          </p:cNvSpPr>
          <p:nvPr/>
        </p:nvSpPr>
        <p:spPr>
          <a:xfrm xmlns:a="http://schemas.openxmlformats.org/drawingml/2006/main">
            <a:off x="5810250" y="4686300"/>
            <a:ext cx="0" cy="171450"/>
          </a:xfrm>
          <a:prstGeom xmlns:a="http://schemas.openxmlformats.org/drawingml/2006/main" prst="line">
            <a:avLst/>
          </a:prstGeom>
          <a:noFill xmlns:a="http://schemas.openxmlformats.org/drawingml/2006/main"/>
          <a:ln xmlns:a="http://schemas.openxmlformats.org/drawingml/2006/main" w="19050">
            <a:solidFill>
              <a:srgbClr val="24745C"/>
            </a:solidFill>
            <a:prstDash val="solid"/>
          </a:ln>
        </p:spPr>
      </p:sp>
      <p:sp>
        <p:nvSpPr>
          <p:cNvPr id="43" name="">
            <a:extLst xmlns:a="http://schemas.openxmlformats.org/drawingml/2006/main">
              <a:ext uri="{FF2B5EF4-FFF2-40B4-BE49-F238E27FC236}">
                <a16:creationId xmlns:a16="http://schemas.microsoft.com/office/drawing/2014/main" id="{1BE18A0D-082F-4DCE-8CC5-19F44E6DE3FD}"/>
              </a:ext>
            </a:extLst>
          </p:cNvPr>
          <p:cNvSpPr>
            <a:spLocks xmlns:a="http://schemas.openxmlformats.org/drawingml/2006/main" noGrp="1"/>
          </p:cNvSpPr>
          <p:nvPr/>
        </p:nvSpPr>
        <p:spPr>
          <a:xfrm xmlns:a="http://schemas.openxmlformats.org/drawingml/2006/main">
            <a:off x="6762750" y="4686300"/>
            <a:ext cx="0" cy="171450"/>
          </a:xfrm>
          <a:prstGeom xmlns:a="http://schemas.openxmlformats.org/drawingml/2006/main" prst="line">
            <a:avLst/>
          </a:prstGeom>
          <a:noFill xmlns:a="http://schemas.openxmlformats.org/drawingml/2006/main"/>
          <a:ln xmlns:a="http://schemas.openxmlformats.org/drawingml/2006/main" w="19050">
            <a:solidFill>
              <a:srgbClr val="24745C"/>
            </a:solidFill>
            <a:prstDash val="solid"/>
          </a:ln>
        </p:spPr>
      </p:sp>
      <p:sp>
        <p:nvSpPr>
          <p:cNvPr id="44" name="">
            <a:extLst xmlns:a="http://schemas.openxmlformats.org/drawingml/2006/main">
              <a:ext uri="{FF2B5EF4-FFF2-40B4-BE49-F238E27FC236}">
                <a16:creationId xmlns:a16="http://schemas.microsoft.com/office/drawing/2014/main" id="{2F110F6A-CF58-469C-A692-F26F10CD3530}"/>
              </a:ext>
            </a:extLst>
          </p:cNvPr>
          <p:cNvSpPr>
            <a:spLocks xmlns:a="http://schemas.openxmlformats.org/drawingml/2006/main" noGrp="1"/>
          </p:cNvSpPr>
          <p:nvPr/>
        </p:nvSpPr>
        <p:spPr>
          <a:xfrm xmlns:a="http://schemas.openxmlformats.org/drawingml/2006/main">
            <a:off x="2714625" y="44386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24745C"/>
                </a:solidFill>
              </a:defRPr>
            </a:pPr>
            <a:r>
              <a:rPr sz="1600" b="1">
                <a:solidFill>
                  <a:srgbClr val="24745C"/>
                </a:solidFill>
              </a:rPr>
              <a:t>ALSF-2  ·  2,400 FT</a:t>
            </a:r>
          </a:p>
        </p:txBody>
      </p:sp>
      <p:sp>
        <p:nvSpPr>
          <p:cNvPr id="45" name="">
            <a:extLst xmlns:a="http://schemas.openxmlformats.org/drawingml/2006/main">
              <a:ext uri="{FF2B5EF4-FFF2-40B4-BE49-F238E27FC236}">
                <a16:creationId xmlns:a16="http://schemas.microsoft.com/office/drawing/2014/main" id="{A87500C7-1EC1-4840-986D-4252B0BAE945}"/>
              </a:ext>
            </a:extLst>
          </p:cNvPr>
          <p:cNvSpPr>
            <a:spLocks xmlns:a="http://schemas.openxmlformats.org/drawingml/2006/main" noGrp="1"/>
          </p:cNvSpPr>
          <p:nvPr/>
        </p:nvSpPr>
        <p:spPr>
          <a:xfrm xmlns:a="http://schemas.openxmlformats.org/drawingml/2006/main">
            <a:off x="3810000" y="1924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A6413A"/>
                </a:solidFill>
              </a:defRPr>
            </a:pPr>
            <a:r>
              <a:rPr sz="1600" b="1">
                <a:solidFill>
                  <a:srgbClr val="A6413A"/>
                </a:solidFill>
              </a:rPr>
              <a:t>50-ft object meets 50:1 surface at ≈2,500 ft</a:t>
            </a:r>
          </a:p>
        </p:txBody>
      </p:sp>
      <p:sp>
        <p:nvSpPr>
          <p:cNvPr id="46" name="">
            <a:extLst xmlns:a="http://schemas.openxmlformats.org/drawingml/2006/main">
              <a:ext uri="{FF2B5EF4-FFF2-40B4-BE49-F238E27FC236}">
                <a16:creationId xmlns:a16="http://schemas.microsoft.com/office/drawing/2014/main" id="{5BE1FF16-97D4-4F2F-A7A8-E006D56A1FB7}"/>
              </a:ext>
            </a:extLst>
          </p:cNvPr>
          <p:cNvSpPr>
            <a:spLocks xmlns:a="http://schemas.openxmlformats.org/drawingml/2006/main" noGrp="1"/>
          </p:cNvSpPr>
          <p:nvPr/>
        </p:nvSpPr>
        <p:spPr>
          <a:xfrm xmlns:a="http://schemas.openxmlformats.org/drawingml/2006/main">
            <a:off x="1066800" y="53911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415669"/>
                </a:solidFill>
              </a:defRPr>
            </a:pPr>
            <a:r>
              <a:rPr sz="1600" b="1">
                <a:solidFill>
                  <a:srgbClr val="415669"/>
                </a:solidFill>
              </a:rPr>
              <a:t>25 ft allowable at 1,000 ft on the 40:1 surface</a:t>
            </a:r>
          </a:p>
        </p:txBody>
      </p:sp>
      <p:sp>
        <p:nvSpPr>
          <p:cNvPr id="47" name="">
            <a:extLst xmlns:a="http://schemas.openxmlformats.org/drawingml/2006/main">
              <a:ext uri="{FF2B5EF4-FFF2-40B4-BE49-F238E27FC236}">
                <a16:creationId xmlns:a16="http://schemas.microsoft.com/office/drawing/2014/main" id="{788D9BDD-8D03-4F95-B74F-0EA9E41A461C}"/>
              </a:ext>
            </a:extLst>
          </p:cNvPr>
          <p:cNvSpPr>
            <a:spLocks xmlns:a="http://schemas.openxmlformats.org/drawingml/2006/main" noGrp="1"/>
          </p:cNvSpPr>
          <p:nvPr/>
        </p:nvSpPr>
        <p:spPr>
          <a:xfrm xmlns:a="http://schemas.openxmlformats.org/drawingml/2006/main">
            <a:off x="7829550" y="5467350"/>
            <a:ext cx="3676650" cy="781050"/>
          </a:xfrm>
          <a:prstGeom xmlns:a="http://schemas.openxmlformats.org/drawingml/2006/main" prst="rect">
            <a:avLst/>
          </a:prstGeom>
          <a:solidFill xmlns:a="http://schemas.openxmlformats.org/drawingml/2006/main">
            <a:srgbClr val="EDF3F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E14116C5-E429-40AC-B2DB-D3119ED9BA8D}"/>
              </a:ext>
            </a:extLst>
          </p:cNvPr>
          <p:cNvSpPr>
            <a:spLocks xmlns:a="http://schemas.openxmlformats.org/drawingml/2006/main" noGrp="1"/>
          </p:cNvSpPr>
          <p:nvPr/>
        </p:nvSpPr>
        <p:spPr>
          <a:xfrm xmlns:a="http://schemas.openxmlformats.org/drawingml/2006/main">
            <a:off x="8001000" y="55245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415669"/>
                </a:solidFill>
              </a:defRPr>
            </a:pPr>
            <a:r>
              <a:rPr sz="1600" b="1">
                <a:solidFill>
                  <a:srgbClr val="415669"/>
                </a:solidFill>
              </a:rPr>
              <a:t>WILDLIFE SEPARATION  /  10,000 FT</a:t>
            </a:r>
          </a:p>
        </p:txBody>
      </p:sp>
      <p:sp>
        <p:nvSpPr>
          <p:cNvPr id="49" name="">
            <a:extLst xmlns:a="http://schemas.openxmlformats.org/drawingml/2006/main">
              <a:ext uri="{FF2B5EF4-FFF2-40B4-BE49-F238E27FC236}">
                <a16:creationId xmlns:a16="http://schemas.microsoft.com/office/drawing/2014/main" id="{83951F0E-7A3F-40B1-B4A1-AE10D06B9A07}"/>
              </a:ext>
            </a:extLst>
          </p:cNvPr>
          <p:cNvSpPr>
            <a:spLocks xmlns:a="http://schemas.openxmlformats.org/drawingml/2006/main" noGrp="1"/>
          </p:cNvSpPr>
          <p:nvPr/>
        </p:nvSpPr>
        <p:spPr>
          <a:xfrm xmlns:a="http://schemas.openxmlformats.org/drawingml/2006/main">
            <a:off x="8020050" y="6019800"/>
            <a:ext cx="3143250" cy="0"/>
          </a:xfrm>
          <a:prstGeom xmlns:a="http://schemas.openxmlformats.org/drawingml/2006/main" prst="line">
            <a:avLst/>
          </a:prstGeom>
          <a:noFill xmlns:a="http://schemas.openxmlformats.org/drawingml/2006/main"/>
          <a:ln xmlns:a="http://schemas.openxmlformats.org/drawingml/2006/main" w="28575">
            <a:solidFill>
              <a:srgbClr val="0B2D4D"/>
            </a:solidFill>
            <a:prstDash val="solid"/>
          </a:ln>
        </p:spPr>
      </p:sp>
      <p:sp>
        <p:nvSpPr>
          <p:cNvPr id="50" name="">
            <a:extLst xmlns:a="http://schemas.openxmlformats.org/drawingml/2006/main">
              <a:ext uri="{FF2B5EF4-FFF2-40B4-BE49-F238E27FC236}">
                <a16:creationId xmlns:a16="http://schemas.microsoft.com/office/drawing/2014/main" id="{A4C4C317-F438-4000-A435-48ACDCEEF5B7}"/>
              </a:ext>
            </a:extLst>
          </p:cNvPr>
          <p:cNvSpPr>
            <a:spLocks xmlns:a="http://schemas.openxmlformats.org/drawingml/2006/main" noGrp="1"/>
          </p:cNvSpPr>
          <p:nvPr/>
        </p:nvSpPr>
        <p:spPr>
          <a:xfrm xmlns:a="http://schemas.openxmlformats.org/drawingml/2006/main">
            <a:off x="8582025" y="5915025"/>
            <a:ext cx="209550" cy="209550"/>
          </a:xfrm>
          <a:prstGeom xmlns:a="http://schemas.openxmlformats.org/drawingml/2006/main" prst="ellipse">
            <a:avLst/>
          </a:prstGeom>
          <a:solidFill xmlns:a="http://schemas.openxmlformats.org/drawingml/2006/main">
            <a:srgbClr val="2E84A5"/>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A95D812C-B3AB-4C76-BCA6-209C815D487E}"/>
              </a:ext>
            </a:extLst>
          </p:cNvPr>
          <p:cNvSpPr>
            <a:spLocks xmlns:a="http://schemas.openxmlformats.org/drawingml/2006/main" noGrp="1"/>
          </p:cNvSpPr>
          <p:nvPr/>
        </p:nvSpPr>
        <p:spPr>
          <a:xfrm xmlns:a="http://schemas.openxmlformats.org/drawingml/2006/main">
            <a:off x="8877300" y="5819775"/>
            <a:ext cx="95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2E84A5"/>
                </a:solidFill>
              </a:defRPr>
            </a:pPr>
            <a:r>
              <a:rPr sz="1600" b="1">
                <a:solidFill>
                  <a:srgbClr val="2E84A5"/>
                </a:solidFill>
              </a:rPr>
              <a:t>pond</a:t>
            </a:r>
          </a:p>
        </p:txBody>
      </p:sp>
      <p:sp>
        <p:nvSpPr>
          <p:cNvPr id="52" name="">
            <a:extLst xmlns:a="http://schemas.openxmlformats.org/drawingml/2006/main">
              <a:ext uri="{FF2B5EF4-FFF2-40B4-BE49-F238E27FC236}">
                <a16:creationId xmlns:a16="http://schemas.microsoft.com/office/drawing/2014/main" id="{E51ECED1-4DA1-441A-9730-62F7DC14F020}"/>
              </a:ext>
            </a:extLst>
          </p:cNvPr>
          <p:cNvSpPr>
            <a:spLocks xmlns:a="http://schemas.openxmlformats.org/drawingml/2006/main" noGrp="1"/>
          </p:cNvSpPr>
          <p:nvPr/>
        </p:nvSpPr>
        <p:spPr>
          <a:xfrm xmlns:a="http://schemas.openxmlformats.org/drawingml/2006/main">
            <a:off x="5429250" y="54673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415669"/>
                </a:solidFill>
              </a:defRPr>
            </a:pPr>
            <a:r>
              <a:rPr sz="1600" b="1">
                <a:solidFill>
                  <a:srgbClr val="415669"/>
                </a:solidFill>
              </a:rPr>
              <a:t>FAA HEIGHT  /  1–4K FT</a:t>
            </a:r>
          </a:p>
        </p:txBody>
      </p:sp>
      <p:graphicFrame>
        <p:nvGraphicFramePr>
          <p:cNvPr id="109" name="Chart"/>
          <p:cNvGraphicFramePr/>
          <p:nvPr/>
        </p:nvGraphicFramePr>
        <p:xfrm>
          <a:off xmlns:a="http://schemas.openxmlformats.org/drawingml/2006/main" x="5429250" y="5734050"/>
          <a:ext xmlns:a="http://schemas.openxmlformats.org/drawingml/2006/main" cx="2190750" cy="514350"/>
        </p:xfrm>
        <a:graphic xmlns:a="http://schemas.openxmlformats.org/drawingml/2006/main">
          <a:graphicData uri="http://schemas.openxmlformats.org/drawingml/2006/chart">
            <c:chart xmlns:r="http://schemas.openxmlformats.org/officeDocument/2006/relationships" xmlns:c="http://schemas.openxmlformats.org/drawingml/2006/chart" r:id="R2d0edb8b9db840ae"/>
          </a:graphicData>
        </a:graphic>
      </p:graphicFrame>
      <p:sp>
        <p:nvSpPr>
          <p:cNvPr id="54" name="">
            <a:extLst xmlns:a="http://schemas.openxmlformats.org/drawingml/2006/main">
              <a:ext uri="{FF2B5EF4-FFF2-40B4-BE49-F238E27FC236}">
                <a16:creationId xmlns:a16="http://schemas.microsoft.com/office/drawing/2014/main" id="{52E63F49-3552-414B-8756-06B5E963692A}"/>
              </a:ext>
            </a:extLst>
          </p:cNvPr>
          <p:cNvSpPr>
            <a:spLocks xmlns:a="http://schemas.openxmlformats.org/drawingml/2006/main" noGrp="1"/>
          </p:cNvSpPr>
          <p:nvPr/>
        </p:nvSpPr>
        <p:spPr>
          <a:xfrm xmlns:a="http://schemas.openxmlformats.org/drawingml/2006/main">
            <a:off x="590550" y="6191250"/>
            <a:ext cx="6991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415669"/>
                </a:solidFill>
              </a:defRPr>
            </a:pPr>
            <a:r>
              <a:rPr sz="900" b="0">
                <a:solidFill>
                  <a:srgbClr val="415669"/>
                </a:solidFill>
              </a:rPr>
              <a:t>Notes: flat terrain at runway-end elevation; generic massing; published FAA geometry, not the unpublished site plan.</a:t>
            </a:r>
          </a:p>
        </p:txBody>
      </p:sp>
      <p:sp>
        <p:nvSpPr>
          <p:cNvPr id="55" name="">
            <a:extLst xmlns:a="http://schemas.openxmlformats.org/drawingml/2006/main">
              <a:ext uri="{FF2B5EF4-FFF2-40B4-BE49-F238E27FC236}">
                <a16:creationId xmlns:a16="http://schemas.microsoft.com/office/drawing/2014/main" id="{AA18272E-B8D9-4942-9784-7A2DC0300530}"/>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B7C4CC"/>
            </a:solidFill>
            <a:prstDash val="solid"/>
          </a:ln>
        </p:spPr>
      </p:sp>
      <p:sp>
        <p:nvSpPr>
          <p:cNvPr id="56" name="">
            <a:extLst xmlns:a="http://schemas.openxmlformats.org/drawingml/2006/main">
              <a:ext uri="{FF2B5EF4-FFF2-40B4-BE49-F238E27FC236}">
                <a16:creationId xmlns:a16="http://schemas.microsoft.com/office/drawing/2014/main" id="{67F1D8E3-6E69-462C-9B3F-F50CAD901C5B}"/>
              </a:ext>
            </a:extLst>
          </p:cNvPr>
          <p:cNvSpPr>
            <a:spLocks xmlns:a="http://schemas.openxmlformats.org/drawingml/2006/main" noGrp="1"/>
          </p:cNvSpPr>
          <p:nvPr/>
        </p:nvSpPr>
        <p:spPr>
          <a:xfrm xmlns:a="http://schemas.openxmlformats.org/drawingml/2006/main">
            <a:off x="590550" y="6477000"/>
            <a:ext cx="1101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415669"/>
                </a:solidFill>
              </a:defRPr>
            </a:pPr>
            <a:r>
              <a:rPr sz="900" b="0">
                <a:solidFill>
                  <a:srgbClr val="415669"/>
                </a:solidFill>
              </a:rPr>
              <a:t>Sources: 14 CFR 77.19; FAA AC 150/5300-13B; FAA ALSF-2 specifications; FAA AC 150/5200-33C; analyst geometry.</a:t>
            </a:r>
          </a:p>
        </p:txBody>
      </p:sp>
    </p:spTree>
    <p:extLst>
      <p:ext uri="{BB962C8B-B14F-4D97-AF65-F5344CB8AC3E}">
        <p14:creationId xmlns:p14="http://schemas.microsoft.com/office/powerpoint/2010/main" val="2108396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8351E50-B47C-41FE-97D7-1EDABEB10FAF}"/>
              </a:ext>
            </a:extLst>
          </p:cNvPr>
          <p:cNvSpPr>
            <a:spLocks xmlns:a="http://schemas.openxmlformats.org/drawingml/2006/main" noGrp="1"/>
          </p:cNvSpPr>
          <p:nvPr/>
        </p:nvSpPr>
        <p:spPr>
          <a:xfrm xmlns:a="http://schemas.openxmlformats.org/drawingml/2006/main">
            <a:off x="590550" y="476250"/>
            <a:ext cx="11010900" cy="0"/>
          </a:xfrm>
          <a:prstGeom xmlns:a="http://schemas.openxmlformats.org/drawingml/2006/main" prst="line">
            <a:avLst/>
          </a:prstGeom>
          <a:noFill xmlns:a="http://schemas.openxmlformats.org/drawingml/2006/main"/>
          <a:ln xmlns:a="http://schemas.openxmlformats.org/drawingml/2006/main" w="9525">
            <a:solidFill>
              <a:srgbClr val="B7C4CC"/>
            </a:solidFill>
            <a:prstDash val="solid"/>
          </a:ln>
        </p:spPr>
      </p:sp>
      <p:sp>
        <p:nvSpPr>
          <p:cNvPr id="2" name="">
            <a:extLst xmlns:a="http://schemas.openxmlformats.org/drawingml/2006/main">
              <a:ext uri="{FF2B5EF4-FFF2-40B4-BE49-F238E27FC236}">
                <a16:creationId xmlns:a16="http://schemas.microsoft.com/office/drawing/2014/main" id="{2D9F0855-D22C-4FA1-94A2-2AFFF4508756}"/>
              </a:ext>
            </a:extLst>
          </p:cNvPr>
          <p:cNvSpPr>
            <a:spLocks xmlns:a="http://schemas.openxmlformats.org/drawingml/2006/main" noGrp="1"/>
          </p:cNvSpPr>
          <p:nvPr/>
        </p:nvSpPr>
        <p:spPr>
          <a:xfrm xmlns:a="http://schemas.openxmlformats.org/drawingml/2006/main">
            <a:off x="590550" y="628650"/>
            <a:ext cx="110109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00" b="1">
                <a:solidFill>
                  <a:srgbClr val="0B2D4D"/>
                </a:solidFill>
              </a:defRPr>
            </a:pPr>
            <a:r>
              <a:rPr sz="3500" b="1">
                <a:solidFill>
                  <a:srgbClr val="0B2D4D"/>
                </a:solidFill>
              </a:rPr>
              <a:t>The 2018 sale protected capacity first. This proposal reverses the order.</a:t>
            </a:r>
          </a:p>
        </p:txBody>
      </p:sp>
      <p:sp>
        <p:nvSpPr>
          <p:cNvPr id="3" name="">
            <a:extLst xmlns:a="http://schemas.openxmlformats.org/drawingml/2006/main">
              <a:ext uri="{FF2B5EF4-FFF2-40B4-BE49-F238E27FC236}">
                <a16:creationId xmlns:a16="http://schemas.microsoft.com/office/drawing/2014/main" id="{C47EC6D5-2E8E-442E-98A8-297F840DCA91}"/>
              </a:ext>
            </a:extLst>
          </p:cNvPr>
          <p:cNvSpPr>
            <a:spLocks xmlns:a="http://schemas.openxmlformats.org/drawingml/2006/main" noGrp="1"/>
          </p:cNvSpPr>
          <p:nvPr/>
        </p:nvSpPr>
        <p:spPr>
          <a:xfrm xmlns:a="http://schemas.openxmlformats.org/drawingml/2006/main">
            <a:off x="685800" y="21336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415669"/>
                </a:solidFill>
              </a:defRPr>
            </a:pPr>
            <a:r>
              <a:rPr sz="1800" b="1">
                <a:solidFill>
                  <a:srgbClr val="415669"/>
                </a:solidFill>
              </a:rPr>
              <a:t>THE COUNTER-CASE, AT FULL STRENGTH</a:t>
            </a:r>
          </a:p>
        </p:txBody>
      </p:sp>
      <p:sp>
        <p:nvSpPr>
          <p:cNvPr id="4" name="">
            <a:extLst xmlns:a="http://schemas.openxmlformats.org/drawingml/2006/main">
              <a:ext uri="{FF2B5EF4-FFF2-40B4-BE49-F238E27FC236}">
                <a16:creationId xmlns:a16="http://schemas.microsoft.com/office/drawing/2014/main" id="{DDFB967A-56A4-4BFD-BE3B-52FC4A6FCDE7}"/>
              </a:ext>
            </a:extLst>
          </p:cNvPr>
          <p:cNvSpPr>
            <a:spLocks xmlns:a="http://schemas.openxmlformats.org/drawingml/2006/main" noGrp="1"/>
          </p:cNvSpPr>
          <p:nvPr/>
        </p:nvSpPr>
        <p:spPr>
          <a:xfrm xmlns:a="http://schemas.openxmlformats.org/drawingml/2006/main">
            <a:off x="5848350" y="2133600"/>
            <a:ext cx="0" cy="3867150"/>
          </a:xfrm>
          <a:prstGeom xmlns:a="http://schemas.openxmlformats.org/drawingml/2006/main" prst="line">
            <a:avLst/>
          </a:prstGeom>
          <a:noFill xmlns:a="http://schemas.openxmlformats.org/drawingml/2006/main"/>
          <a:ln xmlns:a="http://schemas.openxmlformats.org/drawingml/2006/main" w="19050">
            <a:solidFill>
              <a:srgbClr val="B7C4CC"/>
            </a:solidFill>
            <a:prstDash val="solid"/>
          </a:ln>
        </p:spPr>
      </p:sp>
      <p:sp>
        <p:nvSpPr>
          <p:cNvPr id="5" name="">
            <a:extLst xmlns:a="http://schemas.openxmlformats.org/drawingml/2006/main">
              <a:ext uri="{FF2B5EF4-FFF2-40B4-BE49-F238E27FC236}">
                <a16:creationId xmlns:a16="http://schemas.microsoft.com/office/drawing/2014/main" id="{2DBADF6A-B94F-49D9-87A8-0E7D79B5751B}"/>
              </a:ext>
            </a:extLst>
          </p:cNvPr>
          <p:cNvSpPr>
            <a:spLocks xmlns:a="http://schemas.openxmlformats.org/drawingml/2006/main" noGrp="1"/>
          </p:cNvSpPr>
          <p:nvPr/>
        </p:nvSpPr>
        <p:spPr>
          <a:xfrm xmlns:a="http://schemas.openxmlformats.org/drawingml/2006/main">
            <a:off x="704850" y="28003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2E84A5"/>
                </a:solidFill>
              </a:defRPr>
            </a:pPr>
            <a:r>
              <a:rPr sz="2400" b="1">
                <a:solidFill>
                  <a:srgbClr val="2E84A5"/>
                </a:solidFill>
              </a:rPr>
              <a:t>$236.5M</a:t>
            </a:r>
          </a:p>
        </p:txBody>
      </p:sp>
      <p:sp>
        <p:nvSpPr>
          <p:cNvPr id="6" name="">
            <a:extLst xmlns:a="http://schemas.openxmlformats.org/drawingml/2006/main">
              <a:ext uri="{FF2B5EF4-FFF2-40B4-BE49-F238E27FC236}">
                <a16:creationId xmlns:a16="http://schemas.microsoft.com/office/drawing/2014/main" id="{6B6D240E-E03B-4765-B525-54724906BCB8}"/>
              </a:ext>
            </a:extLst>
          </p:cNvPr>
          <p:cNvSpPr>
            <a:spLocks xmlns:a="http://schemas.openxmlformats.org/drawingml/2006/main" noGrp="1"/>
          </p:cNvSpPr>
          <p:nvPr/>
        </p:nvSpPr>
        <p:spPr>
          <a:xfrm xmlns:a="http://schemas.openxmlformats.org/drawingml/2006/main">
            <a:off x="2571750" y="2781300"/>
            <a:ext cx="278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0">
                <a:solidFill>
                  <a:srgbClr val="17232D"/>
                </a:solidFill>
              </a:defRPr>
            </a:pPr>
            <a:r>
              <a:rPr sz="1600" b="0">
                <a:solidFill>
                  <a:srgbClr val="17232D"/>
                </a:solidFill>
              </a:rPr>
              <a:t>424 acres · ≈$558K per acre</a:t>
            </a:r>
          </a:p>
        </p:txBody>
      </p:sp>
      <p:sp>
        <p:nvSpPr>
          <p:cNvPr id="7" name="">
            <a:extLst xmlns:a="http://schemas.openxmlformats.org/drawingml/2006/main">
              <a:ext uri="{FF2B5EF4-FFF2-40B4-BE49-F238E27FC236}">
                <a16:creationId xmlns:a16="http://schemas.microsoft.com/office/drawing/2014/main" id="{86AB0E75-D48A-4C6F-BD3E-844FB20C6716}"/>
              </a:ext>
            </a:extLst>
          </p:cNvPr>
          <p:cNvSpPr>
            <a:spLocks xmlns:a="http://schemas.openxmlformats.org/drawingml/2006/main" noGrp="1"/>
          </p:cNvSpPr>
          <p:nvPr/>
        </p:nvSpPr>
        <p:spPr>
          <a:xfrm xmlns:a="http://schemas.openxmlformats.org/drawingml/2006/main">
            <a:off x="704850" y="34861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2E84A5"/>
                </a:solidFill>
              </a:defRPr>
            </a:pPr>
            <a:r>
              <a:rPr sz="2400" b="1">
                <a:solidFill>
                  <a:srgbClr val="2E84A5"/>
                </a:solidFill>
              </a:rPr>
              <a:t>≈70%</a:t>
            </a:r>
          </a:p>
        </p:txBody>
      </p:sp>
      <p:sp>
        <p:nvSpPr>
          <p:cNvPr id="8" name="">
            <a:extLst xmlns:a="http://schemas.openxmlformats.org/drawingml/2006/main">
              <a:ext uri="{FF2B5EF4-FFF2-40B4-BE49-F238E27FC236}">
                <a16:creationId xmlns:a16="http://schemas.microsoft.com/office/drawing/2014/main" id="{1EFED3CD-542E-4BA2-BB90-1000B6E9906D}"/>
              </a:ext>
            </a:extLst>
          </p:cNvPr>
          <p:cNvSpPr>
            <a:spLocks xmlns:a="http://schemas.openxmlformats.org/drawingml/2006/main" noGrp="1"/>
          </p:cNvSpPr>
          <p:nvPr/>
        </p:nvSpPr>
        <p:spPr>
          <a:xfrm xmlns:a="http://schemas.openxmlformats.org/drawingml/2006/main">
            <a:off x="2571750" y="3467100"/>
            <a:ext cx="278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0">
                <a:solidFill>
                  <a:srgbClr val="17232D"/>
                </a:solidFill>
              </a:defRPr>
            </a:pPr>
            <a:r>
              <a:rPr sz="1600" b="0">
                <a:solidFill>
                  <a:srgbClr val="17232D"/>
                </a:solidFill>
              </a:rPr>
              <a:t>Estimated global internet traffic through Ashburn</a:t>
            </a:r>
          </a:p>
        </p:txBody>
      </p:sp>
      <p:sp>
        <p:nvSpPr>
          <p:cNvPr id="9" name="">
            <a:extLst xmlns:a="http://schemas.openxmlformats.org/drawingml/2006/main">
              <a:ext uri="{FF2B5EF4-FFF2-40B4-BE49-F238E27FC236}">
                <a16:creationId xmlns:a16="http://schemas.microsoft.com/office/drawing/2014/main" id="{FCB6F5DF-0CED-4227-A9ED-65BA06F396A9}"/>
              </a:ext>
            </a:extLst>
          </p:cNvPr>
          <p:cNvSpPr>
            <a:spLocks xmlns:a="http://schemas.openxmlformats.org/drawingml/2006/main" noGrp="1"/>
          </p:cNvSpPr>
          <p:nvPr/>
        </p:nvSpPr>
        <p:spPr>
          <a:xfrm xmlns:a="http://schemas.openxmlformats.org/drawingml/2006/main">
            <a:off x="704850" y="41719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2E84A5"/>
                </a:solidFill>
              </a:defRPr>
            </a:pPr>
            <a:r>
              <a:rPr sz="2400" b="1">
                <a:solidFill>
                  <a:srgbClr val="2E84A5"/>
                </a:solidFill>
              </a:rPr>
              <a:t>GA 24</a:t>
            </a:r>
          </a:p>
        </p:txBody>
      </p:sp>
      <p:sp>
        <p:nvSpPr>
          <p:cNvPr id="10" name="">
            <a:extLst xmlns:a="http://schemas.openxmlformats.org/drawingml/2006/main">
              <a:ext uri="{FF2B5EF4-FFF2-40B4-BE49-F238E27FC236}">
                <a16:creationId xmlns:a16="http://schemas.microsoft.com/office/drawing/2014/main" id="{80B8143E-0DC6-494B-8718-FABCFD7C5477}"/>
              </a:ext>
            </a:extLst>
          </p:cNvPr>
          <p:cNvSpPr>
            <a:spLocks xmlns:a="http://schemas.openxmlformats.org/drawingml/2006/main" noGrp="1"/>
          </p:cNvSpPr>
          <p:nvPr/>
        </p:nvSpPr>
        <p:spPr>
          <a:xfrm xmlns:a="http://schemas.openxmlformats.org/drawingml/2006/main">
            <a:off x="2571750" y="4152900"/>
            <a:ext cx="278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0">
                <a:solidFill>
                  <a:srgbClr val="17232D"/>
                </a:solidFill>
              </a:defRPr>
            </a:pPr>
            <a:r>
              <a:rPr sz="1600" b="0">
                <a:solidFill>
                  <a:srgbClr val="17232D"/>
                </a:solidFill>
              </a:rPr>
              <a:t>Airport should be self-sustaining</a:t>
            </a:r>
          </a:p>
        </p:txBody>
      </p:sp>
      <p:sp>
        <p:nvSpPr>
          <p:cNvPr id="11" name="">
            <a:extLst xmlns:a="http://schemas.openxmlformats.org/drawingml/2006/main">
              <a:ext uri="{FF2B5EF4-FFF2-40B4-BE49-F238E27FC236}">
                <a16:creationId xmlns:a16="http://schemas.microsoft.com/office/drawing/2014/main" id="{50997325-186B-40DF-A103-3870E94E0C7B}"/>
              </a:ext>
            </a:extLst>
          </p:cNvPr>
          <p:cNvSpPr>
            <a:spLocks xmlns:a="http://schemas.openxmlformats.org/drawingml/2006/main" noGrp="1"/>
          </p:cNvSpPr>
          <p:nvPr/>
        </p:nvSpPr>
        <p:spPr>
          <a:xfrm xmlns:a="http://schemas.openxmlformats.org/drawingml/2006/main">
            <a:off x="704850" y="48577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2E84A5"/>
                </a:solidFill>
              </a:defRPr>
            </a:pPr>
            <a:r>
              <a:rPr sz="2400" b="1">
                <a:solidFill>
                  <a:srgbClr val="2E84A5"/>
                </a:solidFill>
              </a:rPr>
              <a:t>LOW</a:t>
            </a:r>
          </a:p>
        </p:txBody>
      </p:sp>
      <p:sp>
        <p:nvSpPr>
          <p:cNvPr id="12" name="">
            <a:extLst xmlns:a="http://schemas.openxmlformats.org/drawingml/2006/main">
              <a:ext uri="{FF2B5EF4-FFF2-40B4-BE49-F238E27FC236}">
                <a16:creationId xmlns:a16="http://schemas.microsoft.com/office/drawing/2014/main" id="{E130C12E-DF57-4655-B778-8952E983D314}"/>
              </a:ext>
            </a:extLst>
          </p:cNvPr>
          <p:cNvSpPr>
            <a:spLocks xmlns:a="http://schemas.openxmlformats.org/drawingml/2006/main" noGrp="1"/>
          </p:cNvSpPr>
          <p:nvPr/>
        </p:nvSpPr>
        <p:spPr>
          <a:xfrm xmlns:a="http://schemas.openxmlformats.org/drawingml/2006/main">
            <a:off x="2571750" y="4838700"/>
            <a:ext cx="2781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0">
                <a:solidFill>
                  <a:srgbClr val="17232D"/>
                </a:solidFill>
              </a:defRPr>
            </a:pPr>
            <a:r>
              <a:rPr sz="1600" b="0">
                <a:solidFill>
                  <a:srgbClr val="17232D"/>
                </a:solidFill>
              </a:rPr>
              <a:t>FAA overall plume disruption risk</a:t>
            </a:r>
          </a:p>
        </p:txBody>
      </p:sp>
      <p:sp>
        <p:nvSpPr>
          <p:cNvPr id="13" name="">
            <a:extLst xmlns:a="http://schemas.openxmlformats.org/drawingml/2006/main">
              <a:ext uri="{FF2B5EF4-FFF2-40B4-BE49-F238E27FC236}">
                <a16:creationId xmlns:a16="http://schemas.microsoft.com/office/drawing/2014/main" id="{E1DB0780-0D16-411E-B6D1-0D02B1FF02CB}"/>
              </a:ext>
            </a:extLst>
          </p:cNvPr>
          <p:cNvSpPr>
            <a:spLocks xmlns:a="http://schemas.openxmlformats.org/drawingml/2006/main" noGrp="1"/>
          </p:cNvSpPr>
          <p:nvPr/>
        </p:nvSpPr>
        <p:spPr>
          <a:xfrm xmlns:a="http://schemas.openxmlformats.org/drawingml/2006/main">
            <a:off x="6286500" y="21336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2D4D"/>
                </a:solidFill>
              </a:defRPr>
            </a:pPr>
            <a:r>
              <a:rPr sz="1800" b="1">
                <a:solidFill>
                  <a:srgbClr val="0B2D4D"/>
                </a:solidFill>
              </a:rPr>
              <a:t>THE ANSWER, FROM THE SAME RECORD</a:t>
            </a:r>
          </a:p>
        </p:txBody>
      </p:sp>
      <p:sp>
        <p:nvSpPr>
          <p:cNvPr id="14" name="">
            <a:extLst xmlns:a="http://schemas.openxmlformats.org/drawingml/2006/main">
              <a:ext uri="{FF2B5EF4-FFF2-40B4-BE49-F238E27FC236}">
                <a16:creationId xmlns:a16="http://schemas.microsoft.com/office/drawing/2014/main" id="{C580D9CE-AAC6-4B29-BDFC-E7C4457D3B06}"/>
              </a:ext>
            </a:extLst>
          </p:cNvPr>
          <p:cNvSpPr>
            <a:spLocks xmlns:a="http://schemas.openxmlformats.org/drawingml/2006/main" noGrp="1"/>
          </p:cNvSpPr>
          <p:nvPr/>
        </p:nvSpPr>
        <p:spPr>
          <a:xfrm xmlns:a="http://schemas.openxmlformats.org/drawingml/2006/main">
            <a:off x="62865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415669"/>
                </a:solidFill>
              </a:defRPr>
            </a:pPr>
            <a:r>
              <a:rPr sz="1600" b="1">
                <a:solidFill>
                  <a:srgbClr val="415669"/>
                </a:solidFill>
              </a:rPr>
              <a:t>2018 DISCIPLINE</a:t>
            </a:r>
          </a:p>
        </p:txBody>
      </p:sp>
      <p:sp>
        <p:nvSpPr>
          <p:cNvPr id="15" name="">
            <a:extLst xmlns:a="http://schemas.openxmlformats.org/drawingml/2006/main">
              <a:ext uri="{FF2B5EF4-FFF2-40B4-BE49-F238E27FC236}">
                <a16:creationId xmlns:a16="http://schemas.microsoft.com/office/drawing/2014/main" id="{2E615A51-6695-4FE9-863E-8C22B034D5F6}"/>
              </a:ext>
            </a:extLst>
          </p:cNvPr>
          <p:cNvSpPr>
            <a:spLocks xmlns:a="http://schemas.openxmlformats.org/drawingml/2006/main" noGrp="1"/>
          </p:cNvSpPr>
          <p:nvPr/>
        </p:nvSpPr>
        <p:spPr>
          <a:xfrm xmlns:a="http://schemas.openxmlformats.org/drawingml/2006/main">
            <a:off x="6286500" y="3124200"/>
            <a:ext cx="2095500" cy="819150"/>
          </a:xfrm>
          <a:prstGeom xmlns:a="http://schemas.openxmlformats.org/drawingml/2006/main" prst="roundRect">
            <a:avLst>
              <a:gd name="adj" fmla="val 9302"/>
            </a:avLst>
          </a:prstGeom>
          <a:solidFill xmlns:a="http://schemas.openxmlformats.org/drawingml/2006/main">
            <a:srgbClr val="EDF3F6"/>
          </a:solidFill>
          <a:ln xmlns:a="http://schemas.openxmlformats.org/drawingml/2006/main" w="19050">
            <a:solidFill>
              <a:srgbClr val="2E84A5"/>
            </a:solidFill>
            <a:prstDash val="solid"/>
          </a:ln>
        </p:spPr>
      </p:sp>
      <p:sp>
        <p:nvSpPr>
          <p:cNvPr id="16" name="">
            <a:extLst xmlns:a="http://schemas.openxmlformats.org/drawingml/2006/main">
              <a:ext uri="{FF2B5EF4-FFF2-40B4-BE49-F238E27FC236}">
                <a16:creationId xmlns:a16="http://schemas.microsoft.com/office/drawing/2014/main" id="{D55B3D58-7FAD-426A-A177-C8F1C90F3C66}"/>
              </a:ext>
            </a:extLst>
          </p:cNvPr>
          <p:cNvSpPr>
            <a:spLocks xmlns:a="http://schemas.openxmlformats.org/drawingml/2006/main" noGrp="1"/>
          </p:cNvSpPr>
          <p:nvPr/>
        </p:nvSpPr>
        <p:spPr>
          <a:xfrm xmlns:a="http://schemas.openxmlformats.org/drawingml/2006/main">
            <a:off x="6429375" y="323850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0B2D4D"/>
                </a:solidFill>
              </a:defRPr>
            </a:pPr>
            <a:r>
              <a:rPr sz="1600" b="1">
                <a:solidFill>
                  <a:srgbClr val="0B2D4D"/>
                </a:solidFill>
              </a:rPr>
              <a:t>Build runway +</a:t>
            </a:r>
          </a:p>
          <a:p xmlns:a="http://schemas.openxmlformats.org/drawingml/2006/main">
            <a:pPr algn="ctr">
              <a:defRPr sz="1600" b="1">
                <a:solidFill>
                  <a:srgbClr val="0B2D4D"/>
                </a:solidFill>
              </a:defRPr>
            </a:pPr>
            <a:r>
              <a:rPr sz="1600" b="1">
                <a:solidFill>
                  <a:srgbClr val="0B2D4D"/>
                </a:solidFill>
              </a:rPr>
              <a:t>support area</a:t>
            </a:r>
          </a:p>
        </p:txBody>
      </p:sp>
      <p:sp>
        <p:nvSpPr>
          <p:cNvPr id="17" name="">
            <a:extLst xmlns:a="http://schemas.openxmlformats.org/drawingml/2006/main">
              <a:ext uri="{FF2B5EF4-FFF2-40B4-BE49-F238E27FC236}">
                <a16:creationId xmlns:a16="http://schemas.microsoft.com/office/drawing/2014/main" id="{BE85DDF9-B401-4116-BE08-20C5A327A266}"/>
              </a:ext>
            </a:extLst>
          </p:cNvPr>
          <p:cNvSpPr>
            <a:spLocks xmlns:a="http://schemas.openxmlformats.org/drawingml/2006/main" noGrp="1"/>
          </p:cNvSpPr>
          <p:nvPr/>
        </p:nvSpPr>
        <p:spPr>
          <a:xfrm xmlns:a="http://schemas.openxmlformats.org/drawingml/2006/main">
            <a:off x="9163050" y="3124200"/>
            <a:ext cx="2095500" cy="819150"/>
          </a:xfrm>
          <a:prstGeom xmlns:a="http://schemas.openxmlformats.org/drawingml/2006/main" prst="roundRect">
            <a:avLst>
              <a:gd name="adj" fmla="val 9302"/>
            </a:avLst>
          </a:prstGeom>
          <a:solidFill xmlns:a="http://schemas.openxmlformats.org/drawingml/2006/main">
            <a:srgbClr val="EDF3F6"/>
          </a:solidFill>
          <a:ln xmlns:a="http://schemas.openxmlformats.org/drawingml/2006/main" w="19050">
            <a:solidFill>
              <a:srgbClr val="2E84A5"/>
            </a:solidFill>
            <a:prstDash val="solid"/>
          </a:ln>
        </p:spPr>
      </p:sp>
      <p:sp>
        <p:nvSpPr>
          <p:cNvPr id="18" name="">
            <a:extLst xmlns:a="http://schemas.openxmlformats.org/drawingml/2006/main">
              <a:ext uri="{FF2B5EF4-FFF2-40B4-BE49-F238E27FC236}">
                <a16:creationId xmlns:a16="http://schemas.microsoft.com/office/drawing/2014/main" id="{6E253396-09E5-47F9-8569-F4640C403EEA}"/>
              </a:ext>
            </a:extLst>
          </p:cNvPr>
          <p:cNvSpPr>
            <a:spLocks xmlns:a="http://schemas.openxmlformats.org/drawingml/2006/main" noGrp="1"/>
          </p:cNvSpPr>
          <p:nvPr/>
        </p:nvSpPr>
        <p:spPr>
          <a:xfrm xmlns:a="http://schemas.openxmlformats.org/drawingml/2006/main">
            <a:off x="9305925" y="323850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0B2D4D"/>
                </a:solidFill>
              </a:defRPr>
            </a:pPr>
            <a:r>
              <a:rPr sz="1600" b="1">
                <a:solidFill>
                  <a:srgbClr val="0B2D4D"/>
                </a:solidFill>
              </a:rPr>
              <a:t>Sell remaining</a:t>
            </a:r>
          </a:p>
          <a:p xmlns:a="http://schemas.openxmlformats.org/drawingml/2006/main">
            <a:pPr algn="ctr">
              <a:defRPr sz="1600" b="1">
                <a:solidFill>
                  <a:srgbClr val="0B2D4D"/>
                </a:solidFill>
              </a:defRPr>
            </a:pPr>
            <a:r>
              <a:rPr sz="1600" b="1">
                <a:solidFill>
                  <a:srgbClr val="0B2D4D"/>
                </a:solidFill>
              </a:rPr>
              <a:t>surplus</a:t>
            </a:r>
          </a:p>
        </p:txBody>
      </p:sp>
      <p:cxnSp>
        <p:nvCxnSpPr>
          <p:cNvPr id="48" name=""/>
          <p:cNvCxnSpPr>
            <a:stCxn xmlns:a="http://schemas.openxmlformats.org/drawingml/2006/main" id="15" idx="3"/>
            <a:endCxn xmlns:a="http://schemas.openxmlformats.org/drawingml/2006/main" id="17" idx="1"/>
          </p:cNvCxnSpPr>
          <p:nvPr/>
        </p:nvCxnSpPr>
        <p:spPr>
          <a:xfrm xmlns:a="http://schemas.openxmlformats.org/drawingml/2006/main">
            <a:off x="8382000" y="3533775"/>
            <a:ext cx="781050" cy="0"/>
          </a:xfrm>
          <a:prstGeom xmlns:a="http://schemas.openxmlformats.org/drawingml/2006/main" prst="straightConnector1">
            <a:avLst/>
          </a:prstGeom>
          <a:ln xmlns:a="http://schemas.openxmlformats.org/drawingml/2006/main" w="28575">
            <a:solidFill>
              <a:srgbClr val="2E84A5"/>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B923125A-6ADA-41F7-86B8-B7179DDEE3F7}"/>
              </a:ext>
            </a:extLst>
          </p:cNvPr>
          <p:cNvSpPr>
            <a:spLocks xmlns:a="http://schemas.openxmlformats.org/drawingml/2006/main" noGrp="1"/>
          </p:cNvSpPr>
          <p:nvPr/>
        </p:nvSpPr>
        <p:spPr>
          <a:xfrm xmlns:a="http://schemas.openxmlformats.org/drawingml/2006/main">
            <a:off x="6286500" y="41719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A6413A"/>
                </a:solidFill>
              </a:defRPr>
            </a:pPr>
            <a:r>
              <a:rPr sz="1600" b="1">
                <a:solidFill>
                  <a:srgbClr val="A6413A"/>
                </a:solidFill>
              </a:rPr>
              <a:t>CURRENT PROPOSAL</a:t>
            </a:r>
          </a:p>
        </p:txBody>
      </p:sp>
      <p:sp>
        <p:nvSpPr>
          <p:cNvPr id="21" name="">
            <a:extLst xmlns:a="http://schemas.openxmlformats.org/drawingml/2006/main">
              <a:ext uri="{FF2B5EF4-FFF2-40B4-BE49-F238E27FC236}">
                <a16:creationId xmlns:a16="http://schemas.microsoft.com/office/drawing/2014/main" id="{8B69FA2F-EC41-4916-B175-76DCE6D64ED8}"/>
              </a:ext>
            </a:extLst>
          </p:cNvPr>
          <p:cNvSpPr>
            <a:spLocks xmlns:a="http://schemas.openxmlformats.org/drawingml/2006/main" noGrp="1"/>
          </p:cNvSpPr>
          <p:nvPr/>
        </p:nvSpPr>
        <p:spPr>
          <a:xfrm xmlns:a="http://schemas.openxmlformats.org/drawingml/2006/main">
            <a:off x="6286500" y="4514850"/>
            <a:ext cx="2095500" cy="819150"/>
          </a:xfrm>
          <a:prstGeom xmlns:a="http://schemas.openxmlformats.org/drawingml/2006/main" prst="roundRect">
            <a:avLst>
              <a:gd name="adj" fmla="val 9302"/>
            </a:avLst>
          </a:prstGeom>
          <a:solidFill xmlns:a="http://schemas.openxmlformats.org/drawingml/2006/main">
            <a:srgbClr val="F5E9D1"/>
          </a:solidFill>
          <a:ln xmlns:a="http://schemas.openxmlformats.org/drawingml/2006/main" w="28575">
            <a:solidFill>
              <a:srgbClr val="A6413A"/>
            </a:solidFill>
            <a:prstDash val="solid"/>
          </a:ln>
        </p:spPr>
      </p:sp>
      <p:sp>
        <p:nvSpPr>
          <p:cNvPr id="22" name="">
            <a:extLst xmlns:a="http://schemas.openxmlformats.org/drawingml/2006/main">
              <a:ext uri="{FF2B5EF4-FFF2-40B4-BE49-F238E27FC236}">
                <a16:creationId xmlns:a16="http://schemas.microsoft.com/office/drawing/2014/main" id="{8AC7A10F-BFBE-48B0-B15B-26F8173F94CA}"/>
              </a:ext>
            </a:extLst>
          </p:cNvPr>
          <p:cNvSpPr>
            <a:spLocks xmlns:a="http://schemas.openxmlformats.org/drawingml/2006/main" noGrp="1"/>
          </p:cNvSpPr>
          <p:nvPr/>
        </p:nvSpPr>
        <p:spPr>
          <a:xfrm xmlns:a="http://schemas.openxmlformats.org/drawingml/2006/main">
            <a:off x="6429375" y="46291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A6413A"/>
                </a:solidFill>
              </a:defRPr>
            </a:pPr>
            <a:r>
              <a:rPr sz="1600" b="1">
                <a:solidFill>
                  <a:srgbClr val="A6413A"/>
                </a:solidFill>
              </a:rPr>
              <a:t>Sell reserved</a:t>
            </a:r>
          </a:p>
          <a:p xmlns:a="http://schemas.openxmlformats.org/drawingml/2006/main">
            <a:pPr algn="ctr">
              <a:defRPr sz="1600" b="1">
                <a:solidFill>
                  <a:srgbClr val="A6413A"/>
                </a:solidFill>
              </a:defRPr>
            </a:pPr>
            <a:r>
              <a:rPr sz="1600" b="1">
                <a:solidFill>
                  <a:srgbClr val="A6413A"/>
                </a:solidFill>
              </a:rPr>
              <a:t>capacity</a:t>
            </a:r>
          </a:p>
        </p:txBody>
      </p:sp>
      <p:sp>
        <p:nvSpPr>
          <p:cNvPr id="23" name="">
            <a:extLst xmlns:a="http://schemas.openxmlformats.org/drawingml/2006/main">
              <a:ext uri="{FF2B5EF4-FFF2-40B4-BE49-F238E27FC236}">
                <a16:creationId xmlns:a16="http://schemas.microsoft.com/office/drawing/2014/main" id="{1CD42453-D283-48B6-ADFC-912BA4015589}"/>
              </a:ext>
            </a:extLst>
          </p:cNvPr>
          <p:cNvSpPr>
            <a:spLocks xmlns:a="http://schemas.openxmlformats.org/drawingml/2006/main" noGrp="1"/>
          </p:cNvSpPr>
          <p:nvPr/>
        </p:nvSpPr>
        <p:spPr>
          <a:xfrm xmlns:a="http://schemas.openxmlformats.org/drawingml/2006/main">
            <a:off x="9163050" y="4514850"/>
            <a:ext cx="2095500" cy="819150"/>
          </a:xfrm>
          <a:prstGeom xmlns:a="http://schemas.openxmlformats.org/drawingml/2006/main" prst="roundRect">
            <a:avLst>
              <a:gd name="adj" fmla="val 9302"/>
            </a:avLst>
          </a:prstGeom>
          <a:solidFill xmlns:a="http://schemas.openxmlformats.org/drawingml/2006/main">
            <a:srgbClr val="F5E9D1"/>
          </a:solidFill>
          <a:ln xmlns:a="http://schemas.openxmlformats.org/drawingml/2006/main" w="28575">
            <a:solidFill>
              <a:srgbClr val="A6413A"/>
            </a:solidFill>
            <a:prstDash val="solid"/>
          </a:ln>
        </p:spPr>
      </p:sp>
      <p:sp>
        <p:nvSpPr>
          <p:cNvPr id="24" name="">
            <a:extLst xmlns:a="http://schemas.openxmlformats.org/drawingml/2006/main">
              <a:ext uri="{FF2B5EF4-FFF2-40B4-BE49-F238E27FC236}">
                <a16:creationId xmlns:a16="http://schemas.microsoft.com/office/drawing/2014/main" id="{E59575E4-E790-4C17-9252-C17277E0EA39}"/>
              </a:ext>
            </a:extLst>
          </p:cNvPr>
          <p:cNvSpPr>
            <a:spLocks xmlns:a="http://schemas.openxmlformats.org/drawingml/2006/main" noGrp="1"/>
          </p:cNvSpPr>
          <p:nvPr/>
        </p:nvSpPr>
        <p:spPr>
          <a:xfrm xmlns:a="http://schemas.openxmlformats.org/drawingml/2006/main">
            <a:off x="9305925" y="46291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00" b="1">
                <a:solidFill>
                  <a:srgbClr val="A6413A"/>
                </a:solidFill>
              </a:defRPr>
            </a:pPr>
            <a:r>
              <a:rPr sz="1600" b="1">
                <a:solidFill>
                  <a:srgbClr val="A6413A"/>
                </a:solidFill>
              </a:rPr>
              <a:t>Foreclose the</a:t>
            </a:r>
          </a:p>
          <a:p xmlns:a="http://schemas.openxmlformats.org/drawingml/2006/main">
            <a:pPr algn="ctr">
              <a:defRPr sz="1600" b="1">
                <a:solidFill>
                  <a:srgbClr val="A6413A"/>
                </a:solidFill>
              </a:defRPr>
            </a:pPr>
            <a:r>
              <a:rPr sz="1600" b="1">
                <a:solidFill>
                  <a:srgbClr val="A6413A"/>
                </a:solidFill>
              </a:rPr>
              <a:t>1L/19R option</a:t>
            </a:r>
          </a:p>
        </p:txBody>
      </p:sp>
      <p:cxnSp>
        <p:nvCxnSpPr>
          <p:cNvPr id="54" name=""/>
          <p:cNvCxnSpPr>
            <a:stCxn xmlns:a="http://schemas.openxmlformats.org/drawingml/2006/main" id="21" idx="3"/>
            <a:endCxn xmlns:a="http://schemas.openxmlformats.org/drawingml/2006/main" id="23" idx="1"/>
          </p:cNvCxnSpPr>
          <p:nvPr/>
        </p:nvCxnSpPr>
        <p:spPr>
          <a:xfrm xmlns:a="http://schemas.openxmlformats.org/drawingml/2006/main">
            <a:off x="8382000" y="4924425"/>
            <a:ext cx="781050" cy="0"/>
          </a:xfrm>
          <a:prstGeom xmlns:a="http://schemas.openxmlformats.org/drawingml/2006/main" prst="straightConnector1">
            <a:avLst/>
          </a:prstGeom>
          <a:ln xmlns:a="http://schemas.openxmlformats.org/drawingml/2006/main" w="28575">
            <a:solidFill>
              <a:srgbClr val="A6413A"/>
            </a:solidFill>
            <a:prstDash val="solid"/>
            <a:tailEnd type="triangle" w="med" len="med"/>
          </a:ln>
        </p:spPr>
      </p:cxnSp>
      <p:sp>
        <p:nvSpPr>
          <p:cNvPr id="26" name="">
            <a:extLst xmlns:a="http://schemas.openxmlformats.org/drawingml/2006/main">
              <a:ext uri="{FF2B5EF4-FFF2-40B4-BE49-F238E27FC236}">
                <a16:creationId xmlns:a16="http://schemas.microsoft.com/office/drawing/2014/main" id="{B1F2FFA0-E3C4-4FCF-BE90-16B414C77ED4}"/>
              </a:ext>
            </a:extLst>
          </p:cNvPr>
          <p:cNvSpPr>
            <a:spLocks xmlns:a="http://schemas.openxmlformats.org/drawingml/2006/main" noGrp="1"/>
          </p:cNvSpPr>
          <p:nvPr/>
        </p:nvSpPr>
        <p:spPr>
          <a:xfrm xmlns:a="http://schemas.openxmlformats.org/drawingml/2006/main">
            <a:off x="6191250" y="5562600"/>
            <a:ext cx="5219700" cy="628650"/>
          </a:xfrm>
          <a:prstGeom xmlns:a="http://schemas.openxmlformats.org/drawingml/2006/main" prst="rect">
            <a:avLst/>
          </a:prstGeom>
          <a:solidFill xmlns:a="http://schemas.openxmlformats.org/drawingml/2006/main">
            <a:srgbClr val="0B2D4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532D2FD-F7A8-4C2A-9B58-33A9D98F7AE6}"/>
              </a:ext>
            </a:extLst>
          </p:cNvPr>
          <p:cNvSpPr>
            <a:spLocks xmlns:a="http://schemas.openxmlformats.org/drawingml/2006/main" noGrp="1"/>
          </p:cNvSpPr>
          <p:nvPr/>
        </p:nvSpPr>
        <p:spPr>
          <a:xfrm xmlns:a="http://schemas.openxmlformats.org/drawingml/2006/main">
            <a:off x="6429375" y="5657850"/>
            <a:ext cx="4743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Condition every hazard. You still cannot reverse a land commitment.</a:t>
            </a:r>
          </a:p>
        </p:txBody>
      </p:sp>
      <p:sp>
        <p:nvSpPr>
          <p:cNvPr id="28" name="">
            <a:extLst xmlns:a="http://schemas.openxmlformats.org/drawingml/2006/main">
              <a:ext uri="{FF2B5EF4-FFF2-40B4-BE49-F238E27FC236}">
                <a16:creationId xmlns:a16="http://schemas.microsoft.com/office/drawing/2014/main" id="{CAB9EDE0-12F5-400C-AD03-BD651ABCCE69}"/>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B7C4CC"/>
            </a:solidFill>
            <a:prstDash val="solid"/>
          </a:ln>
        </p:spPr>
      </p:sp>
      <p:sp>
        <p:nvSpPr>
          <p:cNvPr id="29" name="">
            <a:extLst xmlns:a="http://schemas.openxmlformats.org/drawingml/2006/main">
              <a:ext uri="{FF2B5EF4-FFF2-40B4-BE49-F238E27FC236}">
                <a16:creationId xmlns:a16="http://schemas.microsoft.com/office/drawing/2014/main" id="{EDB9F860-ED22-4D94-AC75-24E0D082B2B6}"/>
              </a:ext>
            </a:extLst>
          </p:cNvPr>
          <p:cNvSpPr>
            <a:spLocks xmlns:a="http://schemas.openxmlformats.org/drawingml/2006/main" noGrp="1"/>
          </p:cNvSpPr>
          <p:nvPr/>
        </p:nvSpPr>
        <p:spPr>
          <a:xfrm xmlns:a="http://schemas.openxmlformats.org/drawingml/2006/main">
            <a:off x="590550" y="6477000"/>
            <a:ext cx="1101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415669"/>
                </a:solidFill>
              </a:defRPr>
            </a:pPr>
            <a:r>
              <a:rPr sz="900" b="0">
                <a:solidFill>
                  <a:srgbClr val="415669"/>
                </a:solidFill>
              </a:rPr>
              <a:t>Sources: MWAA Western Lands sale; Lightyear Data Center Alley guide; FAA Grant Assurance 24; FAA thermal-plume guidance.</a:t>
            </a:r>
          </a:p>
        </p:txBody>
      </p:sp>
    </p:spTree>
    <p:extLst>
      <p:ext uri="{BB962C8B-B14F-4D97-AF65-F5344CB8AC3E}">
        <p14:creationId xmlns:p14="http://schemas.microsoft.com/office/powerpoint/2010/main" val="16186783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A196B202-2925-4550-BEF4-878F9A69E1EA}"/>
              </a:ext>
            </a:extLst>
          </p:cNvPr>
          <p:cNvSpPr>
            <a:spLocks xmlns:a="http://schemas.openxmlformats.org/drawingml/2006/main" noGrp="1"/>
          </p:cNvSpPr>
          <p:nvPr/>
        </p:nvSpPr>
        <p:spPr>
          <a:xfrm xmlns:a="http://schemas.openxmlformats.org/drawingml/2006/main">
            <a:off x="590550" y="476250"/>
            <a:ext cx="11010900" cy="0"/>
          </a:xfrm>
          <a:prstGeom xmlns:a="http://schemas.openxmlformats.org/drawingml/2006/main" prst="line">
            <a:avLst/>
          </a:prstGeom>
          <a:noFill xmlns:a="http://schemas.openxmlformats.org/drawingml/2006/main"/>
          <a:ln xmlns:a="http://schemas.openxmlformats.org/drawingml/2006/main" w="9525">
            <a:solidFill>
              <a:srgbClr val="B7C4CC"/>
            </a:solidFill>
            <a:prstDash val="solid"/>
          </a:ln>
        </p:spPr>
      </p:sp>
      <p:sp>
        <p:nvSpPr>
          <p:cNvPr id="2" name="">
            <a:extLst xmlns:a="http://schemas.openxmlformats.org/drawingml/2006/main">
              <a:ext uri="{FF2B5EF4-FFF2-40B4-BE49-F238E27FC236}">
                <a16:creationId xmlns:a16="http://schemas.microsoft.com/office/drawing/2014/main" id="{911E3A02-61DA-4C99-B331-93D6F49897ED}"/>
              </a:ext>
            </a:extLst>
          </p:cNvPr>
          <p:cNvSpPr>
            <a:spLocks xmlns:a="http://schemas.openxmlformats.org/drawingml/2006/main" noGrp="1"/>
          </p:cNvSpPr>
          <p:nvPr/>
        </p:nvSpPr>
        <p:spPr>
          <a:xfrm xmlns:a="http://schemas.openxmlformats.org/drawingml/2006/main">
            <a:off x="590550" y="628650"/>
            <a:ext cx="11010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500" b="1">
                <a:solidFill>
                  <a:srgbClr val="0B2D4D"/>
                </a:solidFill>
              </a:defRPr>
            </a:pPr>
            <a:r>
              <a:rPr sz="3500" b="1">
                <a:solidFill>
                  <a:srgbClr val="0B2D4D"/>
                </a:solidFill>
              </a:rPr>
              <a:t>The ask: the gate, not a slogan — sell the surplus, keep the runway.</a:t>
            </a:r>
          </a:p>
        </p:txBody>
      </p:sp>
      <p:sp>
        <p:nvSpPr>
          <p:cNvPr id="3" name="">
            <a:extLst xmlns:a="http://schemas.openxmlformats.org/drawingml/2006/main">
              <a:ext uri="{FF2B5EF4-FFF2-40B4-BE49-F238E27FC236}">
                <a16:creationId xmlns:a16="http://schemas.microsoft.com/office/drawing/2014/main" id="{CAA56A77-F789-4DFF-A026-2BAC9ED14D08}"/>
              </a:ext>
            </a:extLst>
          </p:cNvPr>
          <p:cNvSpPr>
            <a:spLocks xmlns:a="http://schemas.openxmlformats.org/drawingml/2006/main" noGrp="1"/>
          </p:cNvSpPr>
          <p:nvPr/>
        </p:nvSpPr>
        <p:spPr>
          <a:xfrm xmlns:a="http://schemas.openxmlformats.org/drawingml/2006/main">
            <a:off x="685800" y="2000250"/>
            <a:ext cx="2057400" cy="1943100"/>
          </a:xfrm>
          <a:prstGeom xmlns:a="http://schemas.openxmlformats.org/drawingml/2006/main" prst="rect">
            <a:avLst/>
          </a:prstGeom>
          <a:solidFill xmlns:a="http://schemas.openxmlformats.org/drawingml/2006/main">
            <a:srgbClr val="EDF3F6"/>
          </a:solidFill>
          <a:ln xmlns:a="http://schemas.openxmlformats.org/drawingml/2006/main" w="9525">
            <a:solidFill>
              <a:srgbClr val="B7C4CC"/>
            </a:solidFill>
            <a:prstDash val="solid"/>
          </a:ln>
        </p:spPr>
      </p:sp>
      <p:sp>
        <p:nvSpPr>
          <p:cNvPr id="4" name="">
            <a:extLst xmlns:a="http://schemas.openxmlformats.org/drawingml/2006/main">
              <a:ext uri="{FF2B5EF4-FFF2-40B4-BE49-F238E27FC236}">
                <a16:creationId xmlns:a16="http://schemas.microsoft.com/office/drawing/2014/main" id="{2A05A9C9-2BB8-456D-B03A-2683847D4C2B}"/>
              </a:ext>
            </a:extLst>
          </p:cNvPr>
          <p:cNvSpPr>
            <a:spLocks xmlns:a="http://schemas.openxmlformats.org/drawingml/2006/main" noGrp="1"/>
          </p:cNvSpPr>
          <p:nvPr/>
        </p:nvSpPr>
        <p:spPr>
          <a:xfrm xmlns:a="http://schemas.openxmlformats.org/drawingml/2006/main">
            <a:off x="828675" y="21145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E84A5"/>
                </a:solidFill>
              </a:defRPr>
            </a:pPr>
            <a:r>
              <a:rPr sz="2700" b="1">
                <a:solidFill>
                  <a:srgbClr val="2E84A5"/>
                </a:solidFill>
              </a:rPr>
              <a:t>1</a:t>
            </a:r>
          </a:p>
        </p:txBody>
      </p:sp>
      <p:sp>
        <p:nvSpPr>
          <p:cNvPr id="5" name="">
            <a:extLst xmlns:a="http://schemas.openxmlformats.org/drawingml/2006/main">
              <a:ext uri="{FF2B5EF4-FFF2-40B4-BE49-F238E27FC236}">
                <a16:creationId xmlns:a16="http://schemas.microsoft.com/office/drawing/2014/main" id="{8C68696B-9322-4AEF-BB3D-E0FA6ABFC76C}"/>
              </a:ext>
            </a:extLst>
          </p:cNvPr>
          <p:cNvSpPr>
            <a:spLocks xmlns:a="http://schemas.openxmlformats.org/drawingml/2006/main" noGrp="1"/>
          </p:cNvSpPr>
          <p:nvPr/>
        </p:nvSpPr>
        <p:spPr>
          <a:xfrm xmlns:a="http://schemas.openxmlformats.org/drawingml/2006/main">
            <a:off x="828675" y="25527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0B2D4D"/>
                </a:solidFill>
              </a:defRPr>
            </a:pPr>
            <a:r>
              <a:rPr sz="1600" b="1">
                <a:solidFill>
                  <a:srgbClr val="0B2D4D"/>
                </a:solidFill>
              </a:rPr>
              <a:t>NO APPROVAL</a:t>
            </a:r>
          </a:p>
        </p:txBody>
      </p:sp>
      <p:sp>
        <p:nvSpPr>
          <p:cNvPr id="6" name="">
            <a:extLst xmlns:a="http://schemas.openxmlformats.org/drawingml/2006/main">
              <a:ext uri="{FF2B5EF4-FFF2-40B4-BE49-F238E27FC236}">
                <a16:creationId xmlns:a16="http://schemas.microsoft.com/office/drawing/2014/main" id="{21C37587-F8E1-4EC8-8EC2-64B542C77476}"/>
              </a:ext>
            </a:extLst>
          </p:cNvPr>
          <p:cNvSpPr>
            <a:spLocks xmlns:a="http://schemas.openxmlformats.org/drawingml/2006/main" noGrp="1"/>
          </p:cNvSpPr>
          <p:nvPr/>
        </p:nvSpPr>
        <p:spPr>
          <a:xfrm xmlns:a="http://schemas.openxmlformats.org/drawingml/2006/main">
            <a:off x="828675" y="3086100"/>
            <a:ext cx="1771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0">
                <a:solidFill>
                  <a:srgbClr val="17232D"/>
                </a:solidFill>
              </a:defRPr>
            </a:pPr>
            <a:r>
              <a:rPr sz="1600" b="0">
                <a:solidFill>
                  <a:srgbClr val="17232D"/>
                </a:solidFill>
              </a:rPr>
              <a:t>Do not approve from a circulated project email.</a:t>
            </a:r>
          </a:p>
        </p:txBody>
      </p:sp>
      <p:sp>
        <p:nvSpPr>
          <p:cNvPr id="7" name="">
            <a:extLst xmlns:a="http://schemas.openxmlformats.org/drawingml/2006/main">
              <a:ext uri="{FF2B5EF4-FFF2-40B4-BE49-F238E27FC236}">
                <a16:creationId xmlns:a16="http://schemas.microsoft.com/office/drawing/2014/main" id="{0A723626-9EE3-414C-B8A8-BDA9896CFA9F}"/>
              </a:ext>
            </a:extLst>
          </p:cNvPr>
          <p:cNvSpPr>
            <a:spLocks xmlns:a="http://schemas.openxmlformats.org/drawingml/2006/main" noGrp="1"/>
          </p:cNvSpPr>
          <p:nvPr/>
        </p:nvSpPr>
        <p:spPr>
          <a:xfrm xmlns:a="http://schemas.openxmlformats.org/drawingml/2006/main">
            <a:off x="2714625" y="27241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00" b="1">
                <a:solidFill>
                  <a:srgbClr val="D4A24C"/>
                </a:solidFill>
              </a:defRPr>
            </a:pPr>
            <a:r>
              <a:rPr sz="2500" b="1">
                <a:solidFill>
                  <a:srgbClr val="D4A24C"/>
                </a:solidFill>
              </a:rPr>
              <a:t>→</a:t>
            </a:r>
          </a:p>
        </p:txBody>
      </p:sp>
      <p:sp>
        <p:nvSpPr>
          <p:cNvPr id="8" name="">
            <a:extLst xmlns:a="http://schemas.openxmlformats.org/drawingml/2006/main">
              <a:ext uri="{FF2B5EF4-FFF2-40B4-BE49-F238E27FC236}">
                <a16:creationId xmlns:a16="http://schemas.microsoft.com/office/drawing/2014/main" id="{6FE6C8F7-97CE-4E91-93FD-53A80F9B2E15}"/>
              </a:ext>
            </a:extLst>
          </p:cNvPr>
          <p:cNvSpPr>
            <a:spLocks xmlns:a="http://schemas.openxmlformats.org/drawingml/2006/main" noGrp="1"/>
          </p:cNvSpPr>
          <p:nvPr/>
        </p:nvSpPr>
        <p:spPr>
          <a:xfrm xmlns:a="http://schemas.openxmlformats.org/drawingml/2006/main">
            <a:off x="2876550" y="2000250"/>
            <a:ext cx="2057400" cy="1943100"/>
          </a:xfrm>
          <a:prstGeom xmlns:a="http://schemas.openxmlformats.org/drawingml/2006/main" prst="rect">
            <a:avLst/>
          </a:prstGeom>
          <a:solidFill xmlns:a="http://schemas.openxmlformats.org/drawingml/2006/main">
            <a:srgbClr val="EDF3F6"/>
          </a:solidFill>
          <a:ln xmlns:a="http://schemas.openxmlformats.org/drawingml/2006/main" w="9525">
            <a:solidFill>
              <a:srgbClr val="B7C4CC"/>
            </a:solidFill>
            <a:prstDash val="solid"/>
          </a:ln>
        </p:spPr>
      </p:sp>
      <p:sp>
        <p:nvSpPr>
          <p:cNvPr id="9" name="">
            <a:extLst xmlns:a="http://schemas.openxmlformats.org/drawingml/2006/main">
              <a:ext uri="{FF2B5EF4-FFF2-40B4-BE49-F238E27FC236}">
                <a16:creationId xmlns:a16="http://schemas.microsoft.com/office/drawing/2014/main" id="{4C3B6321-25F3-441C-B171-2FFCA3B01193}"/>
              </a:ext>
            </a:extLst>
          </p:cNvPr>
          <p:cNvSpPr>
            <a:spLocks xmlns:a="http://schemas.openxmlformats.org/drawingml/2006/main" noGrp="1"/>
          </p:cNvSpPr>
          <p:nvPr/>
        </p:nvSpPr>
        <p:spPr>
          <a:xfrm xmlns:a="http://schemas.openxmlformats.org/drawingml/2006/main">
            <a:off x="3019425" y="21145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E84A5"/>
                </a:solidFill>
              </a:defRPr>
            </a:pPr>
            <a:r>
              <a:rPr sz="2700" b="1">
                <a:solidFill>
                  <a:srgbClr val="2E84A5"/>
                </a:solidFill>
              </a:rPr>
              <a:t>2</a:t>
            </a:r>
          </a:p>
        </p:txBody>
      </p:sp>
      <p:sp>
        <p:nvSpPr>
          <p:cNvPr id="10" name="">
            <a:extLst xmlns:a="http://schemas.openxmlformats.org/drawingml/2006/main">
              <a:ext uri="{FF2B5EF4-FFF2-40B4-BE49-F238E27FC236}">
                <a16:creationId xmlns:a16="http://schemas.microsoft.com/office/drawing/2014/main" id="{CF8A99A2-88F7-4A6B-AA7F-25D2BB022CDB}"/>
              </a:ext>
            </a:extLst>
          </p:cNvPr>
          <p:cNvSpPr>
            <a:spLocks xmlns:a="http://schemas.openxmlformats.org/drawingml/2006/main" noGrp="1"/>
          </p:cNvSpPr>
          <p:nvPr/>
        </p:nvSpPr>
        <p:spPr>
          <a:xfrm xmlns:a="http://schemas.openxmlformats.org/drawingml/2006/main">
            <a:off x="3019425" y="25527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0B2D4D"/>
                </a:solidFill>
              </a:defRPr>
            </a:pPr>
            <a:r>
              <a:rPr sz="1600" b="1">
                <a:solidFill>
                  <a:srgbClr val="0B2D4D"/>
                </a:solidFill>
              </a:rPr>
              <a:t>FAA REVIEW</a:t>
            </a:r>
          </a:p>
        </p:txBody>
      </p:sp>
      <p:sp>
        <p:nvSpPr>
          <p:cNvPr id="11" name="">
            <a:extLst xmlns:a="http://schemas.openxmlformats.org/drawingml/2006/main">
              <a:ext uri="{FF2B5EF4-FFF2-40B4-BE49-F238E27FC236}">
                <a16:creationId xmlns:a16="http://schemas.microsoft.com/office/drawing/2014/main" id="{AC26F0FA-554D-4137-8D5C-13F51D59EFDF}"/>
              </a:ext>
            </a:extLst>
          </p:cNvPr>
          <p:cNvSpPr>
            <a:spLocks xmlns:a="http://schemas.openxmlformats.org/drawingml/2006/main" noGrp="1"/>
          </p:cNvSpPr>
          <p:nvPr/>
        </p:nvSpPr>
        <p:spPr>
          <a:xfrm xmlns:a="http://schemas.openxmlformats.org/drawingml/2006/main">
            <a:off x="3019425" y="3086100"/>
            <a:ext cx="1771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0">
                <a:solidFill>
                  <a:srgbClr val="17232D"/>
                </a:solidFill>
              </a:defRPr>
            </a:pPr>
            <a:r>
              <a:rPr sz="1600" b="0">
                <a:solidFill>
                  <a:srgbClr val="17232D"/>
                </a:solidFill>
              </a:rPr>
              <a:t>ADO coordination + Form 7460-1 evaluation.</a:t>
            </a:r>
          </a:p>
        </p:txBody>
      </p:sp>
      <p:sp>
        <p:nvSpPr>
          <p:cNvPr id="12" name="">
            <a:extLst xmlns:a="http://schemas.openxmlformats.org/drawingml/2006/main">
              <a:ext uri="{FF2B5EF4-FFF2-40B4-BE49-F238E27FC236}">
                <a16:creationId xmlns:a16="http://schemas.microsoft.com/office/drawing/2014/main" id="{F520FC0A-F1D4-4950-A2D2-4E19E49AD755}"/>
              </a:ext>
            </a:extLst>
          </p:cNvPr>
          <p:cNvSpPr>
            <a:spLocks xmlns:a="http://schemas.openxmlformats.org/drawingml/2006/main" noGrp="1"/>
          </p:cNvSpPr>
          <p:nvPr/>
        </p:nvSpPr>
        <p:spPr>
          <a:xfrm xmlns:a="http://schemas.openxmlformats.org/drawingml/2006/main">
            <a:off x="4905375" y="27241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00" b="1">
                <a:solidFill>
                  <a:srgbClr val="D4A24C"/>
                </a:solidFill>
              </a:defRPr>
            </a:pPr>
            <a:r>
              <a:rPr sz="2500" b="1">
                <a:solidFill>
                  <a:srgbClr val="D4A24C"/>
                </a:solidFill>
              </a:rPr>
              <a:t>→</a:t>
            </a:r>
          </a:p>
        </p:txBody>
      </p:sp>
      <p:sp>
        <p:nvSpPr>
          <p:cNvPr id="13" name="">
            <a:extLst xmlns:a="http://schemas.openxmlformats.org/drawingml/2006/main">
              <a:ext uri="{FF2B5EF4-FFF2-40B4-BE49-F238E27FC236}">
                <a16:creationId xmlns:a16="http://schemas.microsoft.com/office/drawing/2014/main" id="{2706D3CD-FCBA-4CD4-AEC4-C0F7EA9055F3}"/>
              </a:ext>
            </a:extLst>
          </p:cNvPr>
          <p:cNvSpPr>
            <a:spLocks xmlns:a="http://schemas.openxmlformats.org/drawingml/2006/main" noGrp="1"/>
          </p:cNvSpPr>
          <p:nvPr/>
        </p:nvSpPr>
        <p:spPr>
          <a:xfrm xmlns:a="http://schemas.openxmlformats.org/drawingml/2006/main">
            <a:off x="5067300" y="2000250"/>
            <a:ext cx="2057400" cy="1943100"/>
          </a:xfrm>
          <a:prstGeom xmlns:a="http://schemas.openxmlformats.org/drawingml/2006/main" prst="rect">
            <a:avLst/>
          </a:prstGeom>
          <a:solidFill xmlns:a="http://schemas.openxmlformats.org/drawingml/2006/main">
            <a:srgbClr val="EDF3F6"/>
          </a:solidFill>
          <a:ln xmlns:a="http://schemas.openxmlformats.org/drawingml/2006/main" w="9525">
            <a:solidFill>
              <a:srgbClr val="B7C4CC"/>
            </a:solidFill>
            <a:prstDash val="solid"/>
          </a:ln>
        </p:spPr>
      </p:sp>
      <p:sp>
        <p:nvSpPr>
          <p:cNvPr id="14" name="">
            <a:extLst xmlns:a="http://schemas.openxmlformats.org/drawingml/2006/main">
              <a:ext uri="{FF2B5EF4-FFF2-40B4-BE49-F238E27FC236}">
                <a16:creationId xmlns:a16="http://schemas.microsoft.com/office/drawing/2014/main" id="{5AC86B99-047A-4A53-9B86-6A2ABA266D16}"/>
              </a:ext>
            </a:extLst>
          </p:cNvPr>
          <p:cNvSpPr>
            <a:spLocks xmlns:a="http://schemas.openxmlformats.org/drawingml/2006/main" noGrp="1"/>
          </p:cNvSpPr>
          <p:nvPr/>
        </p:nvSpPr>
        <p:spPr>
          <a:xfrm xmlns:a="http://schemas.openxmlformats.org/drawingml/2006/main">
            <a:off x="5210175" y="21145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E84A5"/>
                </a:solidFill>
              </a:defRPr>
            </a:pPr>
            <a:r>
              <a:rPr sz="2700" b="1">
                <a:solidFill>
                  <a:srgbClr val="2E84A5"/>
                </a:solidFill>
              </a:rPr>
              <a:t>3</a:t>
            </a:r>
          </a:p>
        </p:txBody>
      </p:sp>
      <p:sp>
        <p:nvSpPr>
          <p:cNvPr id="15" name="">
            <a:extLst xmlns:a="http://schemas.openxmlformats.org/drawingml/2006/main">
              <a:ext uri="{FF2B5EF4-FFF2-40B4-BE49-F238E27FC236}">
                <a16:creationId xmlns:a16="http://schemas.microsoft.com/office/drawing/2014/main" id="{BD19A9F4-BF9E-4027-8D80-21BFE1BBFA99}"/>
              </a:ext>
            </a:extLst>
          </p:cNvPr>
          <p:cNvSpPr>
            <a:spLocks xmlns:a="http://schemas.openxmlformats.org/drawingml/2006/main" noGrp="1"/>
          </p:cNvSpPr>
          <p:nvPr/>
        </p:nvSpPr>
        <p:spPr>
          <a:xfrm xmlns:a="http://schemas.openxmlformats.org/drawingml/2006/main">
            <a:off x="5210175" y="25527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0B2D4D"/>
                </a:solidFill>
              </a:defRPr>
            </a:pPr>
            <a:r>
              <a:rPr sz="1600" b="1">
                <a:solidFill>
                  <a:srgbClr val="0B2D4D"/>
                </a:solidFill>
              </a:rPr>
              <a:t>TECHNICAL PROOF</a:t>
            </a:r>
          </a:p>
        </p:txBody>
      </p:sp>
      <p:sp>
        <p:nvSpPr>
          <p:cNvPr id="16" name="">
            <a:extLst xmlns:a="http://schemas.openxmlformats.org/drawingml/2006/main">
              <a:ext uri="{FF2B5EF4-FFF2-40B4-BE49-F238E27FC236}">
                <a16:creationId xmlns:a16="http://schemas.microsoft.com/office/drawing/2014/main" id="{216A9A19-FBDF-4E84-83A4-D390A86F71A5}"/>
              </a:ext>
            </a:extLst>
          </p:cNvPr>
          <p:cNvSpPr>
            <a:spLocks xmlns:a="http://schemas.openxmlformats.org/drawingml/2006/main" noGrp="1"/>
          </p:cNvSpPr>
          <p:nvPr/>
        </p:nvSpPr>
        <p:spPr>
          <a:xfrm xmlns:a="http://schemas.openxmlformats.org/drawingml/2006/main">
            <a:off x="5210175" y="3086100"/>
            <a:ext cx="1771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0">
                <a:solidFill>
                  <a:srgbClr val="17232D"/>
                </a:solidFill>
              </a:defRPr>
            </a:pPr>
            <a:r>
              <a:rPr sz="1600" b="0">
                <a:solidFill>
                  <a:srgbClr val="17232D"/>
                </a:solidFill>
              </a:rPr>
              <a:t>Glare, plume, EMI + wildlife-safe stormwater.</a:t>
            </a:r>
          </a:p>
        </p:txBody>
      </p:sp>
      <p:sp>
        <p:nvSpPr>
          <p:cNvPr id="17" name="">
            <a:extLst xmlns:a="http://schemas.openxmlformats.org/drawingml/2006/main">
              <a:ext uri="{FF2B5EF4-FFF2-40B4-BE49-F238E27FC236}">
                <a16:creationId xmlns:a16="http://schemas.microsoft.com/office/drawing/2014/main" id="{4D8CF0BD-669A-4612-9F05-02F56574EDC2}"/>
              </a:ext>
            </a:extLst>
          </p:cNvPr>
          <p:cNvSpPr>
            <a:spLocks xmlns:a="http://schemas.openxmlformats.org/drawingml/2006/main" noGrp="1"/>
          </p:cNvSpPr>
          <p:nvPr/>
        </p:nvSpPr>
        <p:spPr>
          <a:xfrm xmlns:a="http://schemas.openxmlformats.org/drawingml/2006/main">
            <a:off x="7096125" y="27241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00" b="1">
                <a:solidFill>
                  <a:srgbClr val="D4A24C"/>
                </a:solidFill>
              </a:defRPr>
            </a:pPr>
            <a:r>
              <a:rPr sz="2500" b="1">
                <a:solidFill>
                  <a:srgbClr val="D4A24C"/>
                </a:solidFill>
              </a:rPr>
              <a:t>→</a:t>
            </a:r>
          </a:p>
        </p:txBody>
      </p:sp>
      <p:sp>
        <p:nvSpPr>
          <p:cNvPr id="18" name="">
            <a:extLst xmlns:a="http://schemas.openxmlformats.org/drawingml/2006/main">
              <a:ext uri="{FF2B5EF4-FFF2-40B4-BE49-F238E27FC236}">
                <a16:creationId xmlns:a16="http://schemas.microsoft.com/office/drawing/2014/main" id="{FD253DD0-DE5A-490D-8064-08ED64367318}"/>
              </a:ext>
            </a:extLst>
          </p:cNvPr>
          <p:cNvSpPr>
            <a:spLocks xmlns:a="http://schemas.openxmlformats.org/drawingml/2006/main" noGrp="1"/>
          </p:cNvSpPr>
          <p:nvPr/>
        </p:nvSpPr>
        <p:spPr>
          <a:xfrm xmlns:a="http://schemas.openxmlformats.org/drawingml/2006/main">
            <a:off x="7258050" y="2000250"/>
            <a:ext cx="2057400" cy="1943100"/>
          </a:xfrm>
          <a:prstGeom xmlns:a="http://schemas.openxmlformats.org/drawingml/2006/main" prst="rect">
            <a:avLst/>
          </a:prstGeom>
          <a:solidFill xmlns:a="http://schemas.openxmlformats.org/drawingml/2006/main">
            <a:srgbClr val="EDF3F6"/>
          </a:solidFill>
          <a:ln xmlns:a="http://schemas.openxmlformats.org/drawingml/2006/main" w="9525">
            <a:solidFill>
              <a:srgbClr val="B7C4CC"/>
            </a:solidFill>
            <a:prstDash val="solid"/>
          </a:ln>
        </p:spPr>
      </p:sp>
      <p:sp>
        <p:nvSpPr>
          <p:cNvPr id="19" name="">
            <a:extLst xmlns:a="http://schemas.openxmlformats.org/drawingml/2006/main">
              <a:ext uri="{FF2B5EF4-FFF2-40B4-BE49-F238E27FC236}">
                <a16:creationId xmlns:a16="http://schemas.microsoft.com/office/drawing/2014/main" id="{8EECECFA-A587-4024-AA19-8B9D89555FED}"/>
              </a:ext>
            </a:extLst>
          </p:cNvPr>
          <p:cNvSpPr>
            <a:spLocks xmlns:a="http://schemas.openxmlformats.org/drawingml/2006/main" noGrp="1"/>
          </p:cNvSpPr>
          <p:nvPr/>
        </p:nvSpPr>
        <p:spPr>
          <a:xfrm xmlns:a="http://schemas.openxmlformats.org/drawingml/2006/main">
            <a:off x="7400925" y="21145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E84A5"/>
                </a:solidFill>
              </a:defRPr>
            </a:pPr>
            <a:r>
              <a:rPr sz="2700" b="1">
                <a:solidFill>
                  <a:srgbClr val="2E84A5"/>
                </a:solidFill>
              </a:rPr>
              <a:t>4</a:t>
            </a:r>
          </a:p>
        </p:txBody>
      </p:sp>
      <p:sp>
        <p:nvSpPr>
          <p:cNvPr id="20" name="">
            <a:extLst xmlns:a="http://schemas.openxmlformats.org/drawingml/2006/main">
              <a:ext uri="{FF2B5EF4-FFF2-40B4-BE49-F238E27FC236}">
                <a16:creationId xmlns:a16="http://schemas.microsoft.com/office/drawing/2014/main" id="{63062F58-6A6C-4270-9407-6ACA8745646B}"/>
              </a:ext>
            </a:extLst>
          </p:cNvPr>
          <p:cNvSpPr>
            <a:spLocks xmlns:a="http://schemas.openxmlformats.org/drawingml/2006/main" noGrp="1"/>
          </p:cNvSpPr>
          <p:nvPr/>
        </p:nvSpPr>
        <p:spPr>
          <a:xfrm xmlns:a="http://schemas.openxmlformats.org/drawingml/2006/main">
            <a:off x="7400925" y="25527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0B2D4D"/>
                </a:solidFill>
              </a:defRPr>
            </a:pPr>
            <a:r>
              <a:rPr sz="1600" b="1">
                <a:solidFill>
                  <a:srgbClr val="0B2D4D"/>
                </a:solidFill>
              </a:rPr>
              <a:t>FORMAL PLAN</a:t>
            </a:r>
          </a:p>
        </p:txBody>
      </p:sp>
      <p:sp>
        <p:nvSpPr>
          <p:cNvPr id="21" name="">
            <a:extLst xmlns:a="http://schemas.openxmlformats.org/drawingml/2006/main">
              <a:ext uri="{FF2B5EF4-FFF2-40B4-BE49-F238E27FC236}">
                <a16:creationId xmlns:a16="http://schemas.microsoft.com/office/drawing/2014/main" id="{DFC1BE07-F41C-42F4-9F48-B715D54BD94C}"/>
              </a:ext>
            </a:extLst>
          </p:cNvPr>
          <p:cNvSpPr>
            <a:spLocks xmlns:a="http://schemas.openxmlformats.org/drawingml/2006/main" noGrp="1"/>
          </p:cNvSpPr>
          <p:nvPr/>
        </p:nvSpPr>
        <p:spPr>
          <a:xfrm xmlns:a="http://schemas.openxmlformats.org/drawingml/2006/main">
            <a:off x="7400925" y="3086100"/>
            <a:ext cx="1771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0">
                <a:solidFill>
                  <a:srgbClr val="17232D"/>
                </a:solidFill>
              </a:defRPr>
            </a:pPr>
            <a:r>
              <a:rPr sz="1600" b="0">
                <a:solidFill>
                  <a:srgbClr val="17232D"/>
                </a:solidFill>
              </a:rPr>
              <a:t>ALP amendment consistent with the master plan.</a:t>
            </a:r>
          </a:p>
        </p:txBody>
      </p:sp>
      <p:sp>
        <p:nvSpPr>
          <p:cNvPr id="22" name="">
            <a:extLst xmlns:a="http://schemas.openxmlformats.org/drawingml/2006/main">
              <a:ext uri="{FF2B5EF4-FFF2-40B4-BE49-F238E27FC236}">
                <a16:creationId xmlns:a16="http://schemas.microsoft.com/office/drawing/2014/main" id="{B129DFBA-39C4-4D64-9C70-F6FD5D7AB9DE}"/>
              </a:ext>
            </a:extLst>
          </p:cNvPr>
          <p:cNvSpPr>
            <a:spLocks xmlns:a="http://schemas.openxmlformats.org/drawingml/2006/main" noGrp="1"/>
          </p:cNvSpPr>
          <p:nvPr/>
        </p:nvSpPr>
        <p:spPr>
          <a:xfrm xmlns:a="http://schemas.openxmlformats.org/drawingml/2006/main">
            <a:off x="9286875" y="27241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00" b="1">
                <a:solidFill>
                  <a:srgbClr val="D4A24C"/>
                </a:solidFill>
              </a:defRPr>
            </a:pPr>
            <a:r>
              <a:rPr sz="2500" b="1">
                <a:solidFill>
                  <a:srgbClr val="D4A24C"/>
                </a:solidFill>
              </a:rPr>
              <a:t>→</a:t>
            </a:r>
          </a:p>
        </p:txBody>
      </p:sp>
      <p:sp>
        <p:nvSpPr>
          <p:cNvPr id="23" name="">
            <a:extLst xmlns:a="http://schemas.openxmlformats.org/drawingml/2006/main">
              <a:ext uri="{FF2B5EF4-FFF2-40B4-BE49-F238E27FC236}">
                <a16:creationId xmlns:a16="http://schemas.microsoft.com/office/drawing/2014/main" id="{B8C4DF59-2FAD-4E9F-8CD2-002149027FA5}"/>
              </a:ext>
            </a:extLst>
          </p:cNvPr>
          <p:cNvSpPr>
            <a:spLocks xmlns:a="http://schemas.openxmlformats.org/drawingml/2006/main" noGrp="1"/>
          </p:cNvSpPr>
          <p:nvPr/>
        </p:nvSpPr>
        <p:spPr>
          <a:xfrm xmlns:a="http://schemas.openxmlformats.org/drawingml/2006/main">
            <a:off x="9448800" y="2000250"/>
            <a:ext cx="2057400" cy="1943100"/>
          </a:xfrm>
          <a:prstGeom xmlns:a="http://schemas.openxmlformats.org/drawingml/2006/main" prst="rect">
            <a:avLst/>
          </a:prstGeom>
          <a:solidFill xmlns:a="http://schemas.openxmlformats.org/drawingml/2006/main">
            <a:srgbClr val="0B2D4D"/>
          </a:solidFill>
          <a:ln xmlns:a="http://schemas.openxmlformats.org/drawingml/2006/main" w="0">
            <a:solidFill>
              <a:srgbClr val="0B2D4D"/>
            </a:solidFill>
            <a:prstDash val="solid"/>
          </a:ln>
        </p:spPr>
      </p:sp>
      <p:sp>
        <p:nvSpPr>
          <p:cNvPr id="24" name="">
            <a:extLst xmlns:a="http://schemas.openxmlformats.org/drawingml/2006/main">
              <a:ext uri="{FF2B5EF4-FFF2-40B4-BE49-F238E27FC236}">
                <a16:creationId xmlns:a16="http://schemas.microsoft.com/office/drawing/2014/main" id="{7776B760-265C-4A77-A58B-6366E981DF40}"/>
              </a:ext>
            </a:extLst>
          </p:cNvPr>
          <p:cNvSpPr>
            <a:spLocks xmlns:a="http://schemas.openxmlformats.org/drawingml/2006/main" noGrp="1"/>
          </p:cNvSpPr>
          <p:nvPr/>
        </p:nvSpPr>
        <p:spPr>
          <a:xfrm xmlns:a="http://schemas.openxmlformats.org/drawingml/2006/main">
            <a:off x="9591675" y="21145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D4A24C"/>
                </a:solidFill>
              </a:defRPr>
            </a:pPr>
            <a:r>
              <a:rPr sz="2700" b="1">
                <a:solidFill>
                  <a:srgbClr val="D4A24C"/>
                </a:solidFill>
              </a:rPr>
              <a:t>5</a:t>
            </a:r>
          </a:p>
        </p:txBody>
      </p:sp>
      <p:sp>
        <p:nvSpPr>
          <p:cNvPr id="25" name="">
            <a:extLst xmlns:a="http://schemas.openxmlformats.org/drawingml/2006/main">
              <a:ext uri="{FF2B5EF4-FFF2-40B4-BE49-F238E27FC236}">
                <a16:creationId xmlns:a16="http://schemas.microsoft.com/office/drawing/2014/main" id="{CE365BCA-9B9B-41FF-95E9-3EFF8601506B}"/>
              </a:ext>
            </a:extLst>
          </p:cNvPr>
          <p:cNvSpPr>
            <a:spLocks xmlns:a="http://schemas.openxmlformats.org/drawingml/2006/main" noGrp="1"/>
          </p:cNvSpPr>
          <p:nvPr/>
        </p:nvSpPr>
        <p:spPr>
          <a:xfrm xmlns:a="http://schemas.openxmlformats.org/drawingml/2006/main">
            <a:off x="9591675" y="25527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FFFFFF"/>
                </a:solidFill>
              </a:defRPr>
            </a:pPr>
            <a:r>
              <a:rPr sz="1600" b="1">
                <a:solidFill>
                  <a:srgbClr val="FFFFFF"/>
                </a:solidFill>
              </a:rPr>
              <a:t>REJECT THIS SITE</a:t>
            </a:r>
          </a:p>
        </p:txBody>
      </p:sp>
      <p:sp>
        <p:nvSpPr>
          <p:cNvPr id="26" name="">
            <a:extLst xmlns:a="http://schemas.openxmlformats.org/drawingml/2006/main">
              <a:ext uri="{FF2B5EF4-FFF2-40B4-BE49-F238E27FC236}">
                <a16:creationId xmlns:a16="http://schemas.microsoft.com/office/drawing/2014/main" id="{E7879C0D-1637-4799-AC86-E79A6EC3342F}"/>
              </a:ext>
            </a:extLst>
          </p:cNvPr>
          <p:cNvSpPr>
            <a:spLocks xmlns:a="http://schemas.openxmlformats.org/drawingml/2006/main" noGrp="1"/>
          </p:cNvSpPr>
          <p:nvPr/>
        </p:nvSpPr>
        <p:spPr>
          <a:xfrm xmlns:a="http://schemas.openxmlformats.org/drawingml/2006/main">
            <a:off x="9591675" y="3086100"/>
            <a:ext cx="1771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FFFFFF"/>
                </a:solidFill>
              </a:defRPr>
            </a:pPr>
            <a:r>
              <a:rPr sz="1600" b="1">
                <a:solidFill>
                  <a:srgbClr val="FFFFFF"/>
                </a:solidFill>
              </a:rPr>
              <a:t>No study cures foreclosure of reserved capacity.</a:t>
            </a:r>
          </a:p>
        </p:txBody>
      </p:sp>
      <p:sp>
        <p:nvSpPr>
          <p:cNvPr id="27" name="">
            <a:extLst xmlns:a="http://schemas.openxmlformats.org/drawingml/2006/main">
              <a:ext uri="{FF2B5EF4-FFF2-40B4-BE49-F238E27FC236}">
                <a16:creationId xmlns:a16="http://schemas.microsoft.com/office/drawing/2014/main" id="{C9B1B456-6A54-4500-9138-3BF6BE0651E3}"/>
              </a:ext>
            </a:extLst>
          </p:cNvPr>
          <p:cNvSpPr>
            <a:spLocks xmlns:a="http://schemas.openxmlformats.org/drawingml/2006/main" noGrp="1"/>
          </p:cNvSpPr>
          <p:nvPr/>
        </p:nvSpPr>
        <p:spPr>
          <a:xfrm xmlns:a="http://schemas.openxmlformats.org/drawingml/2006/main">
            <a:off x="685800" y="41148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2D4D"/>
                </a:solidFill>
              </a:defRPr>
            </a:pPr>
            <a:r>
              <a:rPr sz="1800" b="1">
                <a:solidFill>
                  <a:srgbClr val="0B2D4D"/>
                </a:solidFill>
              </a:rPr>
              <a:t>ARGUE ON THE FAA'S OWN STANDARD</a:t>
            </a:r>
          </a:p>
        </p:txBody>
      </p:sp>
      <p:sp>
        <p:nvSpPr>
          <p:cNvPr id="28" name="">
            <a:extLst xmlns:a="http://schemas.openxmlformats.org/drawingml/2006/main">
              <a:ext uri="{FF2B5EF4-FFF2-40B4-BE49-F238E27FC236}">
                <a16:creationId xmlns:a16="http://schemas.microsoft.com/office/drawing/2014/main" id="{6EBDFE57-53F1-4DFB-A6D8-CF88FB42228A}"/>
              </a:ext>
            </a:extLst>
          </p:cNvPr>
          <p:cNvSpPr>
            <a:spLocks xmlns:a="http://schemas.openxmlformats.org/drawingml/2006/main" noGrp="1"/>
          </p:cNvSpPr>
          <p:nvPr/>
        </p:nvSpPr>
        <p:spPr>
          <a:xfrm xmlns:a="http://schemas.openxmlformats.org/drawingml/2006/main">
            <a:off x="6858000" y="4114800"/>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600" b="1">
                <a:solidFill>
                  <a:srgbClr val="415669"/>
                </a:solidFill>
              </a:defRPr>
            </a:pPr>
            <a:r>
              <a:rPr sz="1600" b="1">
                <a:solidFill>
                  <a:srgbClr val="415669"/>
                </a:solidFill>
              </a:rPr>
              <a:t>SECTION 163  ·  CONFIRM WITH COUNSEL</a:t>
            </a:r>
          </a:p>
        </p:txBody>
      </p:sp>
      <p:sp>
        <p:nvSpPr>
          <p:cNvPr id="29" name="">
            <a:extLst xmlns:a="http://schemas.openxmlformats.org/drawingml/2006/main">
              <a:ext uri="{FF2B5EF4-FFF2-40B4-BE49-F238E27FC236}">
                <a16:creationId xmlns:a16="http://schemas.microsoft.com/office/drawing/2014/main" id="{292E7097-1A97-4B76-8D76-2FBC5F3FA4DF}"/>
              </a:ext>
            </a:extLst>
          </p:cNvPr>
          <p:cNvSpPr>
            <a:spLocks xmlns:a="http://schemas.openxmlformats.org/drawingml/2006/main" noGrp="1"/>
          </p:cNvSpPr>
          <p:nvPr/>
        </p:nvSpPr>
        <p:spPr>
          <a:xfrm xmlns:a="http://schemas.openxmlformats.org/drawingml/2006/main">
            <a:off x="685800" y="4533900"/>
            <a:ext cx="10820400" cy="1295400"/>
          </a:xfrm>
          <a:prstGeom xmlns:a="http://schemas.openxmlformats.org/drawingml/2006/main" prst="rect">
            <a:avLst/>
          </a:prstGeom>
          <a:solidFill xmlns:a="http://schemas.openxmlformats.org/drawingml/2006/main">
            <a:srgbClr val="FFFFFF"/>
          </a:solidFill>
          <a:ln xmlns:a="http://schemas.openxmlformats.org/drawingml/2006/main" w="19050">
            <a:solidFill>
              <a:srgbClr val="0B2D4D"/>
            </a:solidFill>
            <a:prstDash val="solid"/>
          </a:ln>
        </p:spPr>
      </p:sp>
      <p:sp>
        <p:nvSpPr>
          <p:cNvPr id="30" name="">
            <a:extLst xmlns:a="http://schemas.openxmlformats.org/drawingml/2006/main">
              <a:ext uri="{FF2B5EF4-FFF2-40B4-BE49-F238E27FC236}">
                <a16:creationId xmlns:a16="http://schemas.microsoft.com/office/drawing/2014/main" id="{28C45A82-EA23-41E0-A346-69C827F75EE4}"/>
              </a:ext>
            </a:extLst>
          </p:cNvPr>
          <p:cNvSpPr>
            <a:spLocks xmlns:a="http://schemas.openxmlformats.org/drawingml/2006/main" noGrp="1"/>
          </p:cNvSpPr>
          <p:nvPr/>
        </p:nvSpPr>
        <p:spPr>
          <a:xfrm xmlns:a="http://schemas.openxmlformats.org/drawingml/2006/main">
            <a:off x="904875" y="4762500"/>
            <a:ext cx="457200" cy="457200"/>
          </a:xfrm>
          <a:prstGeom xmlns:a="http://schemas.openxmlformats.org/drawingml/2006/main" prst="ellipse">
            <a:avLst/>
          </a:prstGeom>
          <a:solidFill xmlns:a="http://schemas.openxmlformats.org/drawingml/2006/main">
            <a:srgbClr val="0B2D4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986D89B-5E3A-42DD-8E9C-BADA6C5C06F6}"/>
              </a:ext>
            </a:extLst>
          </p:cNvPr>
          <p:cNvSpPr>
            <a:spLocks xmlns:a="http://schemas.openxmlformats.org/drawingml/2006/main" noGrp="1"/>
          </p:cNvSpPr>
          <p:nvPr/>
        </p:nvSpPr>
        <p:spPr>
          <a:xfrm xmlns:a="http://schemas.openxmlformats.org/drawingml/2006/main">
            <a:off x="904875" y="47625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00" b="1">
                <a:solidFill>
                  <a:srgbClr val="FFFFFF"/>
                </a:solidFill>
              </a:defRPr>
            </a:pPr>
            <a:r>
              <a:rPr sz="2300" b="1">
                <a:solidFill>
                  <a:srgbClr val="FFFFFF"/>
                </a:solidFill>
              </a:rPr>
              <a:t>A</a:t>
            </a:r>
          </a:p>
        </p:txBody>
      </p:sp>
      <p:sp>
        <p:nvSpPr>
          <p:cNvPr id="32" name="">
            <a:extLst xmlns:a="http://schemas.openxmlformats.org/drawingml/2006/main">
              <a:ext uri="{FF2B5EF4-FFF2-40B4-BE49-F238E27FC236}">
                <a16:creationId xmlns:a16="http://schemas.microsoft.com/office/drawing/2014/main" id="{F18B89EA-B395-404F-909E-7DC48EE581F7}"/>
              </a:ext>
            </a:extLst>
          </p:cNvPr>
          <p:cNvSpPr>
            <a:spLocks xmlns:a="http://schemas.openxmlformats.org/drawingml/2006/main" noGrp="1"/>
          </p:cNvSpPr>
          <p:nvPr/>
        </p:nvSpPr>
        <p:spPr>
          <a:xfrm xmlns:a="http://schemas.openxmlformats.org/drawingml/2006/main">
            <a:off x="1495425" y="46482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17232D"/>
                </a:solidFill>
              </a:defRPr>
            </a:pPr>
            <a:r>
              <a:rPr sz="1600" b="1">
                <a:solidFill>
                  <a:srgbClr val="17232D"/>
                </a:solidFill>
              </a:rPr>
              <a:t>Materially affects safe, efficient aircraft operation</a:t>
            </a:r>
          </a:p>
        </p:txBody>
      </p:sp>
      <p:sp>
        <p:nvSpPr>
          <p:cNvPr id="33" name="">
            <a:extLst xmlns:a="http://schemas.openxmlformats.org/drawingml/2006/main">
              <a:ext uri="{FF2B5EF4-FFF2-40B4-BE49-F238E27FC236}">
                <a16:creationId xmlns:a16="http://schemas.microsoft.com/office/drawing/2014/main" id="{E1A8D60B-B595-426C-986D-ADAC03822BC9}"/>
              </a:ext>
            </a:extLst>
          </p:cNvPr>
          <p:cNvSpPr>
            <a:spLocks xmlns:a="http://schemas.openxmlformats.org/drawingml/2006/main" noGrp="1"/>
          </p:cNvSpPr>
          <p:nvPr/>
        </p:nvSpPr>
        <p:spPr>
          <a:xfrm xmlns:a="http://schemas.openxmlformats.org/drawingml/2006/main">
            <a:off x="4400550" y="4762500"/>
            <a:ext cx="457200" cy="457200"/>
          </a:xfrm>
          <a:prstGeom xmlns:a="http://schemas.openxmlformats.org/drawingml/2006/main" prst="ellipse">
            <a:avLst/>
          </a:prstGeom>
          <a:solidFill xmlns:a="http://schemas.openxmlformats.org/drawingml/2006/main">
            <a:srgbClr val="0B2D4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4C849FF-7672-4872-A1C1-D3185735990C}"/>
              </a:ext>
            </a:extLst>
          </p:cNvPr>
          <p:cNvSpPr>
            <a:spLocks xmlns:a="http://schemas.openxmlformats.org/drawingml/2006/main" noGrp="1"/>
          </p:cNvSpPr>
          <p:nvPr/>
        </p:nvSpPr>
        <p:spPr>
          <a:xfrm xmlns:a="http://schemas.openxmlformats.org/drawingml/2006/main">
            <a:off x="4400550" y="47625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00" b="1">
                <a:solidFill>
                  <a:srgbClr val="FFFFFF"/>
                </a:solidFill>
              </a:defRPr>
            </a:pPr>
            <a:r>
              <a:rPr sz="2300" b="1">
                <a:solidFill>
                  <a:srgbClr val="FFFFFF"/>
                </a:solidFill>
              </a:rPr>
              <a:t>B</a:t>
            </a:r>
          </a:p>
        </p:txBody>
      </p:sp>
      <p:sp>
        <p:nvSpPr>
          <p:cNvPr id="35" name="">
            <a:extLst xmlns:a="http://schemas.openxmlformats.org/drawingml/2006/main">
              <a:ext uri="{FF2B5EF4-FFF2-40B4-BE49-F238E27FC236}">
                <a16:creationId xmlns:a16="http://schemas.microsoft.com/office/drawing/2014/main" id="{3DC0366D-3CB3-4AF0-B436-76210582F9DD}"/>
              </a:ext>
            </a:extLst>
          </p:cNvPr>
          <p:cNvSpPr>
            <a:spLocks xmlns:a="http://schemas.openxmlformats.org/drawingml/2006/main" noGrp="1"/>
          </p:cNvSpPr>
          <p:nvPr/>
        </p:nvSpPr>
        <p:spPr>
          <a:xfrm xmlns:a="http://schemas.openxmlformats.org/drawingml/2006/main">
            <a:off x="4991100" y="46482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17232D"/>
                </a:solidFill>
              </a:defRPr>
            </a:pPr>
            <a:r>
              <a:rPr sz="1600" b="1">
                <a:solidFill>
                  <a:srgbClr val="17232D"/>
                </a:solidFill>
              </a:rPr>
              <a:t>Endangers people or property on the ground</a:t>
            </a:r>
          </a:p>
        </p:txBody>
      </p:sp>
      <p:sp>
        <p:nvSpPr>
          <p:cNvPr id="36" name="">
            <a:extLst xmlns:a="http://schemas.openxmlformats.org/drawingml/2006/main">
              <a:ext uri="{FF2B5EF4-FFF2-40B4-BE49-F238E27FC236}">
                <a16:creationId xmlns:a16="http://schemas.microsoft.com/office/drawing/2014/main" id="{10556FBA-EE30-4D3E-BB47-86FCA584B469}"/>
              </a:ext>
            </a:extLst>
          </p:cNvPr>
          <p:cNvSpPr>
            <a:spLocks xmlns:a="http://schemas.openxmlformats.org/drawingml/2006/main" noGrp="1"/>
          </p:cNvSpPr>
          <p:nvPr/>
        </p:nvSpPr>
        <p:spPr>
          <a:xfrm xmlns:a="http://schemas.openxmlformats.org/drawingml/2006/main">
            <a:off x="7896225" y="4762500"/>
            <a:ext cx="457200" cy="457200"/>
          </a:xfrm>
          <a:prstGeom xmlns:a="http://schemas.openxmlformats.org/drawingml/2006/main" prst="ellipse">
            <a:avLst/>
          </a:prstGeom>
          <a:solidFill xmlns:a="http://schemas.openxmlformats.org/drawingml/2006/main">
            <a:srgbClr val="D4A24C"/>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4BB1826-D589-42D2-82E4-56FB8C252F9B}"/>
              </a:ext>
            </a:extLst>
          </p:cNvPr>
          <p:cNvSpPr>
            <a:spLocks xmlns:a="http://schemas.openxmlformats.org/drawingml/2006/main" noGrp="1"/>
          </p:cNvSpPr>
          <p:nvPr/>
        </p:nvSpPr>
        <p:spPr>
          <a:xfrm xmlns:a="http://schemas.openxmlformats.org/drawingml/2006/main">
            <a:off x="7896225" y="47625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00" b="1">
                <a:solidFill>
                  <a:srgbClr val="FFFFFF"/>
                </a:solidFill>
              </a:defRPr>
            </a:pPr>
            <a:r>
              <a:rPr sz="2300" b="1">
                <a:solidFill>
                  <a:srgbClr val="FFFFFF"/>
                </a:solidFill>
              </a:rPr>
              <a:t>C</a:t>
            </a:r>
          </a:p>
        </p:txBody>
      </p:sp>
      <p:sp>
        <p:nvSpPr>
          <p:cNvPr id="38" name="">
            <a:extLst xmlns:a="http://schemas.openxmlformats.org/drawingml/2006/main">
              <a:ext uri="{FF2B5EF4-FFF2-40B4-BE49-F238E27FC236}">
                <a16:creationId xmlns:a16="http://schemas.microsoft.com/office/drawing/2014/main" id="{3C77B711-3763-4C90-B527-D6FBB97B1E74}"/>
              </a:ext>
            </a:extLst>
          </p:cNvPr>
          <p:cNvSpPr>
            <a:spLocks xmlns:a="http://schemas.openxmlformats.org/drawingml/2006/main" noGrp="1"/>
          </p:cNvSpPr>
          <p:nvPr/>
        </p:nvSpPr>
        <p:spPr>
          <a:xfrm xmlns:a="http://schemas.openxmlformats.org/drawingml/2006/main">
            <a:off x="8486775" y="46482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17232D"/>
                </a:solidFill>
              </a:defRPr>
            </a:pPr>
            <a:r>
              <a:rPr sz="1600" b="1">
                <a:solidFill>
                  <a:srgbClr val="17232D"/>
                </a:solidFill>
              </a:rPr>
              <a:t>Diminishes prior federal investment</a:t>
            </a:r>
          </a:p>
        </p:txBody>
      </p:sp>
      <p:sp>
        <p:nvSpPr>
          <p:cNvPr id="39" name="">
            <a:extLst xmlns:a="http://schemas.openxmlformats.org/drawingml/2006/main">
              <a:ext uri="{FF2B5EF4-FFF2-40B4-BE49-F238E27FC236}">
                <a16:creationId xmlns:a16="http://schemas.microsoft.com/office/drawing/2014/main" id="{C2BC6CEF-BAE6-420D-93EC-6DD9AF134560}"/>
              </a:ext>
            </a:extLst>
          </p:cNvPr>
          <p:cNvSpPr>
            <a:spLocks xmlns:a="http://schemas.openxmlformats.org/drawingml/2006/main" noGrp="1"/>
          </p:cNvSpPr>
          <p:nvPr/>
        </p:nvSpPr>
        <p:spPr>
          <a:xfrm xmlns:a="http://schemas.openxmlformats.org/drawingml/2006/main">
            <a:off x="8486775" y="53149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00" b="1">
                <a:solidFill>
                  <a:srgbClr val="D4A24C"/>
                </a:solidFill>
              </a:defRPr>
            </a:pPr>
            <a:r>
              <a:rPr sz="1600" b="1">
                <a:solidFill>
                  <a:srgbClr val="D4A24C"/>
                </a:solidFill>
              </a:rPr>
              <a:t>≈$64M in two 2026 grants</a:t>
            </a:r>
          </a:p>
        </p:txBody>
      </p:sp>
      <p:sp>
        <p:nvSpPr>
          <p:cNvPr id="40" name="">
            <a:extLst xmlns:a="http://schemas.openxmlformats.org/drawingml/2006/main">
              <a:ext uri="{FF2B5EF4-FFF2-40B4-BE49-F238E27FC236}">
                <a16:creationId xmlns:a16="http://schemas.microsoft.com/office/drawing/2014/main" id="{CFF112A8-A1BE-477E-BF6E-D3E20E9BBC23}"/>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00" b="1">
                <a:solidFill>
                  <a:srgbClr val="0B2D4D"/>
                </a:solidFill>
              </a:defRPr>
            </a:pPr>
            <a:r>
              <a:rPr sz="1900" b="1">
                <a:solidFill>
                  <a:srgbClr val="0B2D4D"/>
                </a:solidFill>
              </a:rPr>
              <a:t>Grant Assurances 19–22 and 29 bind MWAA. The federal lease runs to 2100.</a:t>
            </a:r>
          </a:p>
        </p:txBody>
      </p:sp>
      <p:sp>
        <p:nvSpPr>
          <p:cNvPr id="41" name="">
            <a:extLst xmlns:a="http://schemas.openxmlformats.org/drawingml/2006/main">
              <a:ext uri="{FF2B5EF4-FFF2-40B4-BE49-F238E27FC236}">
                <a16:creationId xmlns:a16="http://schemas.microsoft.com/office/drawing/2014/main" id="{A7DE38A7-7454-46FF-8A78-25D50350E2B9}"/>
              </a:ext>
            </a:extLst>
          </p:cNvPr>
          <p:cNvSpPr>
            <a:spLocks xmlns:a="http://schemas.openxmlformats.org/drawingml/2006/main" noGrp="1"/>
          </p:cNvSpPr>
          <p:nvPr/>
        </p:nvSpPr>
        <p:spPr>
          <a:xfrm xmlns:a="http://schemas.openxmlformats.org/drawingml/2006/main">
            <a:off x="590550" y="6419850"/>
            <a:ext cx="11010900" cy="0"/>
          </a:xfrm>
          <a:prstGeom xmlns:a="http://schemas.openxmlformats.org/drawingml/2006/main" prst="line">
            <a:avLst/>
          </a:prstGeom>
          <a:noFill xmlns:a="http://schemas.openxmlformats.org/drawingml/2006/main"/>
          <a:ln xmlns:a="http://schemas.openxmlformats.org/drawingml/2006/main" w="9525">
            <a:solidFill>
              <a:srgbClr val="B7C4CC"/>
            </a:solidFill>
            <a:prstDash val="solid"/>
          </a:ln>
        </p:spPr>
      </p:sp>
      <p:sp>
        <p:nvSpPr>
          <p:cNvPr id="42" name="">
            <a:extLst xmlns:a="http://schemas.openxmlformats.org/drawingml/2006/main">
              <a:ext uri="{FF2B5EF4-FFF2-40B4-BE49-F238E27FC236}">
                <a16:creationId xmlns:a16="http://schemas.microsoft.com/office/drawing/2014/main" id="{9472A4F0-835C-451A-9BE8-EBA6673F968E}"/>
              </a:ext>
            </a:extLst>
          </p:cNvPr>
          <p:cNvSpPr>
            <a:spLocks xmlns:a="http://schemas.openxmlformats.org/drawingml/2006/main" noGrp="1"/>
          </p:cNvSpPr>
          <p:nvPr/>
        </p:nvSpPr>
        <p:spPr>
          <a:xfrm xmlns:a="http://schemas.openxmlformats.org/drawingml/2006/main">
            <a:off x="590550" y="6477000"/>
            <a:ext cx="11010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0">
                <a:solidFill>
                  <a:srgbClr val="415669"/>
                </a:solidFill>
              </a:defRPr>
            </a:pPr>
            <a:r>
              <a:rPr sz="900" b="0">
                <a:solidFill>
                  <a:srgbClr val="415669"/>
                </a:solidFill>
              </a:rPr>
              <a:t>Sources: 14 CFR Part 77; FAA Sponsor Assurances; 49 U.S.C. 47107; Section 163; FY2026 grants; MWAA federal lease.</a:t>
            </a:r>
          </a:p>
        </p:txBody>
      </p:sp>
    </p:spTree>
    <p:extLst>
      <p:ext uri="{BB962C8B-B14F-4D97-AF65-F5344CB8AC3E}">
        <p14:creationId xmlns:p14="http://schemas.microsoft.com/office/powerpoint/2010/main" val="17831178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2026-07-27T19:15:44.8520000Z</dcterms:created>
  <dcterms:modified xsi:type="dcterms:W3CDTF">2026-07-27T19:15:44.8520000Z</dcterms:modified>
</coreProperties>
</file>