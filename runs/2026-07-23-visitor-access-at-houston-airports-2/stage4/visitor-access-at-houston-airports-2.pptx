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332720" cy="2011680"/>
          </a:xfrm>
          <a:prstGeom prst="rect">
            <a:avLst/>
          </a:prstGeom>
          <a:noFill/>
        </p:spPr>
        <p:txBody>
          <a:bodyPr wrap="square">
            <a:spAutoFit/>
          </a:bodyPr>
          <a:lstStyle/>
          <a:p>
            <a:pPr>
              <a:lnSpc>
                <a:spcPct val="105000"/>
              </a:lnSpc>
            </a:pPr>
            <a:r>
              <a:rPr sz="4400" b="1" i="0">
                <a:solidFill>
                  <a:srgbClr val="FFFFFF"/>
                </a:solidFill>
                <a:latin typeface="Georgia"/>
              </a:rPr>
              <a:t>The Velvet Rope at the Oversubscribed Door</a:t>
            </a:r>
          </a:p>
          <a:p>
            <a:pPr>
              <a:spcBef>
                <a:spcPts val="1800"/>
              </a:spcBef>
            </a:pPr>
            <a:r>
              <a:rPr sz="2000" b="0" i="0">
                <a:solidFill>
                  <a:srgbClr val="C9D6E8"/>
                </a:solidFill>
                <a:latin typeface="Calibri"/>
              </a:rPr>
              <a:t>A visitor pass program for Houston Airports — what it costs, what it buys, and where it should live</a:t>
            </a:r>
          </a:p>
        </p:txBody>
      </p:sp>
      <p:sp>
        <p:nvSpPr>
          <p:cNvPr id="4" name="TextBox 3"/>
          <p:cNvSpPr txBox="1"/>
          <p:nvPr/>
        </p:nvSpPr>
        <p:spPr>
          <a:xfrm>
            <a:off x="914400" y="5806440"/>
            <a:ext cx="10332720" cy="731520"/>
          </a:xfrm>
          <a:prstGeom prst="rect">
            <a:avLst/>
          </a:prstGeom>
          <a:noFill/>
        </p:spPr>
        <p:txBody>
          <a:bodyPr wrap="square">
            <a:spAutoFit/>
          </a:bodyPr>
          <a:lstStyle/>
          <a:p>
            <a:r>
              <a:rPr sz="1300" b="0" i="0">
                <a:solidFill>
                  <a:srgbClr val="9AB0CC"/>
                </a:solidFill>
                <a:latin typeface="Calibri"/>
              </a:rPr>
              <a:t>Executive briefing  |  Houston Airport System  |  July 2026</a:t>
            </a:r>
          </a:p>
        </p:txBody>
      </p:sp>
      <p:sp>
        <p:nvSpPr>
          <p:cNvPr id="5" name="Rectangle 4"/>
          <p:cNvSpPr/>
          <p:nvPr/>
        </p:nvSpPr>
        <p:spPr>
          <a:xfrm>
            <a:off x="914400" y="1828800"/>
            <a:ext cx="128016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THESIS</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200" b="1" i="0">
                <a:solidFill>
                  <a:srgbClr val="143C6E"/>
                </a:solidFill>
                <a:latin typeface="Georgia"/>
              </a:rPr>
              <a:t>The answer is a narrow yes — and the narrowness is the answer.</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94560"/>
            <a:ext cx="10058400" cy="3108960"/>
          </a:xfrm>
          <a:prstGeom prst="rect">
            <a:avLst/>
          </a:prstGeom>
          <a:noFill/>
        </p:spPr>
        <p:txBody>
          <a:bodyPr wrap="square">
            <a:spAutoFit/>
          </a:bodyPr>
          <a:lstStyle/>
          <a:p>
            <a:pPr>
              <a:lnSpc>
                <a:spcPct val="125000"/>
              </a:lnSpc>
            </a:pPr>
            <a:r>
              <a:rPr sz="2600" b="0" i="0">
                <a:solidFill>
                  <a:srgbClr val="143C6E"/>
                </a:solidFill>
                <a:latin typeface="Georgia"/>
              </a:rPr>
              <a:t>A hard-capped, off-peak, advance-vetted, twelve-month pilot at Hobby — funded outside the airline rate base and sold as community relations.</a:t>
            </a:r>
          </a:p>
          <a:p>
            <a:pPr>
              <a:lnSpc>
                <a:spcPct val="120000"/>
              </a:lnSpc>
              <a:spcBef>
                <a:spcPts val="2000"/>
              </a:spcBef>
            </a:pPr>
            <a:r>
              <a:rPr sz="1700" b="0" i="0">
                <a:solidFill>
                  <a:srgbClr val="5A6472"/>
                </a:solidFill>
                <a:latin typeface="Calibri"/>
              </a:rPr>
              <a:t>Anything larger — at Bush, at scale, justified by revenue or efficiency, layered onto active construction — will be switched off in front of angry families on the days they most want it, and it deserves to fail.</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EVIDENCE — COST</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The program is financially invisible, so money cannot decide it.</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03120"/>
            <a:ext cx="3291840" cy="1828800"/>
          </a:xfrm>
          <a:prstGeom prst="rect">
            <a:avLst/>
          </a:prstGeom>
          <a:noFill/>
        </p:spPr>
        <p:txBody>
          <a:bodyPr wrap="square">
            <a:spAutoFit/>
          </a:bodyPr>
          <a:lstStyle/>
          <a:p>
            <a:r>
              <a:rPr sz="5400" b="1" i="0">
                <a:solidFill>
                  <a:srgbClr val="143C6E"/>
                </a:solidFill>
                <a:latin typeface="Georgia"/>
              </a:rPr>
              <a:t>$778.4M</a:t>
            </a:r>
          </a:p>
          <a:p>
            <a:pPr>
              <a:lnSpc>
                <a:spcPct val="110000"/>
              </a:lnSpc>
              <a:spcBef>
                <a:spcPts val="400"/>
              </a:spcBef>
            </a:pPr>
            <a:r>
              <a:rPr sz="1200" b="0" i="0">
                <a:solidFill>
                  <a:srgbClr val="5A6472"/>
                </a:solidFill>
                <a:latin typeface="Calibri"/>
              </a:rPr>
              <a:t>Houston Airport System annual revenue-fund budget (FY2027)</a:t>
            </a:r>
          </a:p>
        </p:txBody>
      </p:sp>
      <p:sp>
        <p:nvSpPr>
          <p:cNvPr id="6" name="TextBox 5"/>
          <p:cNvSpPr txBox="1"/>
          <p:nvPr/>
        </p:nvSpPr>
        <p:spPr>
          <a:xfrm>
            <a:off x="4526280" y="2103120"/>
            <a:ext cx="3291840" cy="1828800"/>
          </a:xfrm>
          <a:prstGeom prst="rect">
            <a:avLst/>
          </a:prstGeom>
          <a:noFill/>
        </p:spPr>
        <p:txBody>
          <a:bodyPr wrap="square">
            <a:spAutoFit/>
          </a:bodyPr>
          <a:lstStyle/>
          <a:p>
            <a:r>
              <a:rPr sz="5400" b="1" i="0">
                <a:solidFill>
                  <a:srgbClr val="143C6E"/>
                </a:solidFill>
                <a:latin typeface="Georgia"/>
              </a:rPr>
              <a:t>$2.92B</a:t>
            </a:r>
          </a:p>
          <a:p>
            <a:pPr>
              <a:lnSpc>
                <a:spcPct val="110000"/>
              </a:lnSpc>
              <a:spcBef>
                <a:spcPts val="400"/>
              </a:spcBef>
            </a:pPr>
            <a:r>
              <a:rPr sz="1200" b="0" i="0">
                <a:solidFill>
                  <a:srgbClr val="5A6472"/>
                </a:solidFill>
                <a:latin typeface="Calibri"/>
              </a:rPr>
              <a:t>Five-year capital plan, FY2026–2030</a:t>
            </a:r>
          </a:p>
        </p:txBody>
      </p:sp>
      <p:sp>
        <p:nvSpPr>
          <p:cNvPr id="7" name="TextBox 6"/>
          <p:cNvSpPr txBox="1"/>
          <p:nvPr/>
        </p:nvSpPr>
        <p:spPr>
          <a:xfrm>
            <a:off x="8229600" y="2103120"/>
            <a:ext cx="3291840" cy="1828800"/>
          </a:xfrm>
          <a:prstGeom prst="rect">
            <a:avLst/>
          </a:prstGeom>
          <a:noFill/>
        </p:spPr>
        <p:txBody>
          <a:bodyPr wrap="square">
            <a:spAutoFit/>
          </a:bodyPr>
          <a:lstStyle/>
          <a:p>
            <a:r>
              <a:rPr sz="4400" b="1" i="0">
                <a:solidFill>
                  <a:srgbClr val="143C6E"/>
                </a:solidFill>
                <a:latin typeface="Georgia"/>
              </a:rPr>
              <a:t>$0.3–1.5M</a:t>
            </a:r>
          </a:p>
          <a:p>
            <a:pPr>
              <a:lnSpc>
                <a:spcPct val="110000"/>
              </a:lnSpc>
              <a:spcBef>
                <a:spcPts val="400"/>
              </a:spcBef>
            </a:pPr>
            <a:r>
              <a:rPr sz="1200" b="0" i="0">
                <a:solidFill>
                  <a:srgbClr val="5A6472"/>
                </a:solidFill>
                <a:latin typeface="Calibri"/>
              </a:rPr>
              <a:t>Estimated all-in annual program cost — analyst estimate; no peer airport publishes one; to be confirmed with a bottom-up model</a:t>
            </a:r>
          </a:p>
        </p:txBody>
      </p:sp>
      <p:sp>
        <p:nvSpPr>
          <p:cNvPr id="8" name="TextBox 7"/>
          <p:cNvSpPr txBox="1"/>
          <p:nvPr/>
        </p:nvSpPr>
        <p:spPr>
          <a:xfrm>
            <a:off x="685800" y="4160520"/>
            <a:ext cx="10820095" cy="4389120"/>
          </a:xfrm>
          <a:prstGeom prst="rect">
            <a:avLst/>
          </a:prstGeom>
          <a:noFill/>
        </p:spPr>
        <p:txBody>
          <a:bodyPr wrap="square">
            <a:spAutoFit/>
          </a:bodyPr>
          <a:lstStyle/>
          <a:p>
            <a:pPr>
              <a:lnSpc>
                <a:spcPct val="112000"/>
              </a:lnSpc>
              <a:spcAft>
                <a:spcPts val="1000"/>
              </a:spcAft>
            </a:pPr>
            <a:r>
              <a:rPr sz="1400" b="1" i="0">
                <a:solidFill>
                  <a:srgbClr val="143C6E"/>
                </a:solidFill>
                <a:latin typeface="Calibri"/>
              </a:rPr>
              <a:t>Less than two-tenths of one percent of the annual budget. </a:t>
            </a:r>
            <a:r>
              <a:rPr sz="1400" b="0" i="0">
                <a:solidFill>
                  <a:srgbClr val="5A6472"/>
                </a:solidFill>
                <a:latin typeface="Calibri"/>
              </a:rPr>
              <a:t>It moves neither the 1.8x debt-service coverage ratio, the AA- credit, nor cost per enplanement. “We can’t afford it” is not an available answer.</a:t>
            </a:r>
          </a:p>
          <a:p>
            <a:pPr>
              <a:lnSpc>
                <a:spcPct val="112000"/>
              </a:lnSpc>
              <a:spcAft>
                <a:spcPts val="1000"/>
              </a:spcAft>
            </a:pPr>
            <a:r>
              <a:rPr sz="1400" b="1" i="0">
                <a:solidFill>
                  <a:srgbClr val="143C6E"/>
                </a:solidFill>
                <a:latin typeface="Calibri"/>
              </a:rPr>
              <a:t>Neither is “it pays for itself.” </a:t>
            </a:r>
            <a:r>
              <a:rPr sz="1400" b="0" i="0">
                <a:solidFill>
                  <a:srgbClr val="5A6472"/>
                </a:solidFill>
                <a:latin typeface="Calibri"/>
              </a:rPr>
              <a:t>At $10.16 of non-airline revenue per passenger, even 300 visitors a day yields $0.5–1.1M gross before costs — most of it fictional, because greeters get dropped off and buy nothing.</a:t>
            </a:r>
          </a:p>
          <a:p>
            <a:pPr>
              <a:lnSpc>
                <a:spcPct val="112000"/>
              </a:lnSpc>
              <a:spcAft>
                <a:spcPts val="1000"/>
              </a:spcAft>
            </a:pPr>
            <a:r>
              <a:rPr sz="1400" b="1" i="0">
                <a:solidFill>
                  <a:srgbClr val="143C6E"/>
                </a:solidFill>
                <a:latin typeface="Calibri"/>
              </a:rPr>
              <a:t>Seattle already ran this experiment. </a:t>
            </a:r>
            <a:r>
              <a:rPr sz="1400" b="0" i="0">
                <a:solidFill>
                  <a:srgbClr val="5A6472"/>
                </a:solidFill>
                <a:latin typeface="Calibri"/>
              </a:rPr>
              <a:t>Its program launched to grow non-aeronautical revenue and, in the Port’s own words, “took on a life of its own, turning into more of a customer experience initiative.”</a:t>
            </a:r>
          </a:p>
        </p:txBody>
      </p:sp>
      <p:sp>
        <p:nvSpPr>
          <p:cNvPr id="9" name="TextBox 8"/>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EVIDENCE — THE REAL CONSTRAINT</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The scarce asset is a checkpoint lane at 6:10 a.m. — and Houston just ran out of them.</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03120"/>
            <a:ext cx="3566160" cy="1828800"/>
          </a:xfrm>
          <a:prstGeom prst="rect">
            <a:avLst/>
          </a:prstGeom>
          <a:noFill/>
        </p:spPr>
        <p:txBody>
          <a:bodyPr wrap="square">
            <a:spAutoFit/>
          </a:bodyPr>
          <a:lstStyle/>
          <a:p>
            <a:r>
              <a:rPr sz="5400" b="1" i="0">
                <a:solidFill>
                  <a:srgbClr val="143C6E"/>
                </a:solidFill>
                <a:latin typeface="Georgia"/>
              </a:rPr>
              <a:t>42.4%</a:t>
            </a:r>
          </a:p>
          <a:p>
            <a:pPr>
              <a:lnSpc>
                <a:spcPct val="110000"/>
              </a:lnSpc>
              <a:spcBef>
                <a:spcPts val="400"/>
              </a:spcBef>
            </a:pPr>
            <a:r>
              <a:rPr sz="1200" b="0" i="0">
                <a:solidFill>
                  <a:srgbClr val="5A6472"/>
                </a:solidFill>
                <a:latin typeface="Calibri"/>
              </a:rPr>
              <a:t>TSA officer callout rate at Bush during the March 2026 shutdown — with Hobby at 47.4%, the two worst in the nation</a:t>
            </a:r>
          </a:p>
        </p:txBody>
      </p:sp>
      <p:sp>
        <p:nvSpPr>
          <p:cNvPr id="6" name="TextBox 5"/>
          <p:cNvSpPr txBox="1"/>
          <p:nvPr/>
        </p:nvSpPr>
        <p:spPr>
          <a:xfrm>
            <a:off x="4572000" y="2103120"/>
            <a:ext cx="3383280" cy="1828800"/>
          </a:xfrm>
          <a:prstGeom prst="rect">
            <a:avLst/>
          </a:prstGeom>
          <a:noFill/>
        </p:spPr>
        <p:txBody>
          <a:bodyPr wrap="square">
            <a:spAutoFit/>
          </a:bodyPr>
          <a:lstStyle/>
          <a:p>
            <a:r>
              <a:rPr sz="5400" b="1" i="0">
                <a:solidFill>
                  <a:srgbClr val="143C6E"/>
                </a:solidFill>
                <a:latin typeface="Georgia"/>
              </a:rPr>
              <a:t>4+ hrs</a:t>
            </a:r>
          </a:p>
          <a:p>
            <a:pPr>
              <a:lnSpc>
                <a:spcPct val="110000"/>
              </a:lnSpc>
              <a:spcBef>
                <a:spcPts val="400"/>
              </a:spcBef>
            </a:pPr>
            <a:r>
              <a:rPr sz="1200" b="0" i="0">
                <a:solidFill>
                  <a:srgbClr val="5A6472"/>
                </a:solidFill>
                <a:latin typeface="Calibri"/>
              </a:rPr>
              <a:t>Peak security waits at Bush during the shutdown, with roughly half of all lanes dark</a:t>
            </a:r>
          </a:p>
        </p:txBody>
      </p:sp>
      <p:sp>
        <p:nvSpPr>
          <p:cNvPr id="7" name="TextBox 6"/>
          <p:cNvSpPr txBox="1"/>
          <p:nvPr/>
        </p:nvSpPr>
        <p:spPr>
          <a:xfrm>
            <a:off x="8229600" y="2103120"/>
            <a:ext cx="3291840" cy="1828800"/>
          </a:xfrm>
          <a:prstGeom prst="rect">
            <a:avLst/>
          </a:prstGeom>
          <a:noFill/>
        </p:spPr>
        <p:txBody>
          <a:bodyPr wrap="square">
            <a:spAutoFit/>
          </a:bodyPr>
          <a:lstStyle/>
          <a:p>
            <a:r>
              <a:rPr sz="5400" b="1" i="0">
                <a:solidFill>
                  <a:srgbClr val="143C6E"/>
                </a:solidFill>
                <a:latin typeface="Georgia"/>
              </a:rPr>
              <a:t>45 min</a:t>
            </a:r>
          </a:p>
          <a:p>
            <a:pPr>
              <a:lnSpc>
                <a:spcPct val="110000"/>
              </a:lnSpc>
              <a:spcBef>
                <a:spcPts val="400"/>
              </a:spcBef>
            </a:pPr>
            <a:r>
              <a:rPr sz="1200" b="0" i="0">
                <a:solidFill>
                  <a:srgbClr val="5A6472"/>
                </a:solidFill>
                <a:latin typeface="Calibri"/>
              </a:rPr>
              <a:t>Terminal E peak waits on ordinary days — even after the new International Central Processor checkpoints came online</a:t>
            </a:r>
          </a:p>
        </p:txBody>
      </p:sp>
      <p:sp>
        <p:nvSpPr>
          <p:cNvPr id="8" name="TextBox 7"/>
          <p:cNvSpPr txBox="1"/>
          <p:nvPr/>
        </p:nvSpPr>
        <p:spPr>
          <a:xfrm>
            <a:off x="685800" y="4297680"/>
            <a:ext cx="10820095" cy="4389120"/>
          </a:xfrm>
          <a:prstGeom prst="rect">
            <a:avLst/>
          </a:prstGeom>
          <a:noFill/>
        </p:spPr>
        <p:txBody>
          <a:bodyPr wrap="square">
            <a:spAutoFit/>
          </a:bodyPr>
          <a:lstStyle/>
          <a:p>
            <a:pPr>
              <a:lnSpc>
                <a:spcPct val="112000"/>
              </a:lnSpc>
              <a:spcAft>
                <a:spcPts val="1000"/>
              </a:spcAft>
            </a:pPr>
            <a:r>
              <a:rPr sz="1400" b="1" i="0">
                <a:solidFill>
                  <a:srgbClr val="143C6E"/>
                </a:solidFill>
                <a:latin typeface="Calibri"/>
              </a:rPr>
              <a:t>The cost of this program is not on the balance sheet. </a:t>
            </a:r>
            <a:r>
              <a:rPr sz="1400" b="0" i="0">
                <a:solidFill>
                  <a:srgbClr val="5A6472"/>
                </a:solidFill>
                <a:latin typeface="Calibri"/>
              </a:rPr>
              <a:t>It is peak-hour lane-minutes, concentrated at specific lanes and hours — at a system that periodically has none to give.</a:t>
            </a:r>
          </a:p>
          <a:p>
            <a:pPr>
              <a:lnSpc>
                <a:spcPct val="112000"/>
              </a:lnSpc>
              <a:spcAft>
                <a:spcPts val="1000"/>
              </a:spcAft>
            </a:pPr>
            <a:r>
              <a:rPr sz="1400" b="1" i="0">
                <a:solidFill>
                  <a:srgbClr val="143C6E"/>
                </a:solidFill>
                <a:latin typeface="Calibri"/>
              </a:rPr>
              <a:t>The airport does not own the lane. </a:t>
            </a:r>
            <a:r>
              <a:rPr sz="1400" b="0" i="0">
                <a:solidFill>
                  <a:srgbClr val="5A6472"/>
                </a:solidFill>
                <a:latin typeface="Calibri"/>
              </a:rPr>
              <a:t>TSA owns the lane, staffed to a federal budget the airport neither sets nor funds. The airport owns the permission slip: the cap, the hours, the checkpoint, the blackout dates, the off switch.</a:t>
            </a:r>
          </a:p>
        </p:txBody>
      </p:sp>
      <p:sp>
        <p:nvSpPr>
          <p:cNvPr id="9" name="TextBox 8"/>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EVIDENCE — THE PEER RECORD</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Every functioning peer program is small, rationed, and built to be switched off.</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56816"/>
            <a:ext cx="10820095" cy="8229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2286000" cy="731520"/>
          </a:xfrm>
          <a:prstGeom prst="rect">
            <a:avLst/>
          </a:prstGeom>
          <a:noFill/>
        </p:spPr>
        <p:txBody>
          <a:bodyPr wrap="square" anchor="ctr">
            <a:spAutoFit/>
          </a:bodyPr>
          <a:lstStyle/>
          <a:p>
            <a:r>
              <a:rPr sz="1500" b="1" i="0">
                <a:solidFill>
                  <a:srgbClr val="143C6E"/>
                </a:solidFill>
                <a:latin typeface="Calibri"/>
              </a:rPr>
              <a:t>Seattle (SEA)</a:t>
            </a:r>
          </a:p>
        </p:txBody>
      </p:sp>
      <p:sp>
        <p:nvSpPr>
          <p:cNvPr id="7" name="TextBox 6"/>
          <p:cNvSpPr txBox="1"/>
          <p:nvPr/>
        </p:nvSpPr>
        <p:spPr>
          <a:xfrm>
            <a:off x="3200400" y="2011680"/>
            <a:ext cx="1920240" cy="731520"/>
          </a:xfrm>
          <a:prstGeom prst="rect">
            <a:avLst/>
          </a:prstGeom>
          <a:noFill/>
        </p:spPr>
        <p:txBody>
          <a:bodyPr wrap="square" anchor="ctr">
            <a:spAutoFit/>
          </a:bodyPr>
          <a:lstStyle/>
          <a:p>
            <a:r>
              <a:rPr sz="1900" b="1" i="0">
                <a:solidFill>
                  <a:srgbClr val="143C6E"/>
                </a:solidFill>
                <a:latin typeface="Georgia"/>
              </a:rPr>
              <a:t>300/day</a:t>
            </a:r>
          </a:p>
        </p:txBody>
      </p:sp>
      <p:sp>
        <p:nvSpPr>
          <p:cNvPr id="8" name="TextBox 7"/>
          <p:cNvSpPr txBox="1"/>
          <p:nvPr/>
        </p:nvSpPr>
        <p:spPr>
          <a:xfrm>
            <a:off x="5212080" y="2011680"/>
            <a:ext cx="6217920" cy="786384"/>
          </a:xfrm>
          <a:prstGeom prst="rect">
            <a:avLst/>
          </a:prstGeom>
          <a:noFill/>
        </p:spPr>
        <p:txBody>
          <a:bodyPr wrap="square" anchor="ctr">
            <a:spAutoFit/>
          </a:bodyPr>
          <a:lstStyle/>
          <a:p>
            <a:pPr>
              <a:lnSpc>
                <a:spcPct val="105000"/>
              </a:lnSpc>
            </a:pPr>
            <a:r>
              <a:rPr sz="1250" b="0" i="0">
                <a:solidFill>
                  <a:srgbClr val="5A6472"/>
                </a:solidFill>
                <a:latin typeface="Calibri"/>
              </a:rPr>
              <a:t>One checkpoint only; visitors told to arrive “two or more hours” early; suspended for World Cup and summer 2026 peaks</a:t>
            </a:r>
          </a:p>
        </p:txBody>
      </p:sp>
      <p:sp>
        <p:nvSpPr>
          <p:cNvPr id="9" name="TextBox 8"/>
          <p:cNvSpPr txBox="1"/>
          <p:nvPr/>
        </p:nvSpPr>
        <p:spPr>
          <a:xfrm>
            <a:off x="822960" y="2852928"/>
            <a:ext cx="2286000" cy="731520"/>
          </a:xfrm>
          <a:prstGeom prst="rect">
            <a:avLst/>
          </a:prstGeom>
          <a:noFill/>
        </p:spPr>
        <p:txBody>
          <a:bodyPr wrap="square" anchor="ctr">
            <a:spAutoFit/>
          </a:bodyPr>
          <a:lstStyle/>
          <a:p>
            <a:r>
              <a:rPr sz="1500" b="1" i="0">
                <a:solidFill>
                  <a:srgbClr val="143C6E"/>
                </a:solidFill>
                <a:latin typeface="Calibri"/>
              </a:rPr>
              <a:t>Philadelphia (PHL)</a:t>
            </a:r>
          </a:p>
        </p:txBody>
      </p:sp>
      <p:sp>
        <p:nvSpPr>
          <p:cNvPr id="10" name="TextBox 9"/>
          <p:cNvSpPr txBox="1"/>
          <p:nvPr/>
        </p:nvSpPr>
        <p:spPr>
          <a:xfrm>
            <a:off x="3200400" y="2852928"/>
            <a:ext cx="1920240" cy="731520"/>
          </a:xfrm>
          <a:prstGeom prst="rect">
            <a:avLst/>
          </a:prstGeom>
          <a:noFill/>
        </p:spPr>
        <p:txBody>
          <a:bodyPr wrap="square" anchor="ctr">
            <a:spAutoFit/>
          </a:bodyPr>
          <a:lstStyle/>
          <a:p>
            <a:r>
              <a:rPr sz="1900" b="1" i="0">
                <a:solidFill>
                  <a:srgbClr val="143C6E"/>
                </a:solidFill>
                <a:latin typeface="Georgia"/>
              </a:rPr>
              <a:t>100/day</a:t>
            </a:r>
          </a:p>
        </p:txBody>
      </p:sp>
      <p:sp>
        <p:nvSpPr>
          <p:cNvPr id="11" name="TextBox 10"/>
          <p:cNvSpPr txBox="1"/>
          <p:nvPr/>
        </p:nvSpPr>
        <p:spPr>
          <a:xfrm>
            <a:off x="5212080" y="2852928"/>
            <a:ext cx="6217920" cy="786384"/>
          </a:xfrm>
          <a:prstGeom prst="rect">
            <a:avLst/>
          </a:prstGeom>
          <a:noFill/>
        </p:spPr>
        <p:txBody>
          <a:bodyPr wrap="square" anchor="ctr">
            <a:spAutoFit/>
          </a:bodyPr>
          <a:lstStyle/>
          <a:p>
            <a:pPr>
              <a:lnSpc>
                <a:spcPct val="105000"/>
              </a:lnSpc>
            </a:pPr>
            <a:r>
              <a:rPr sz="1250" b="0" i="0">
                <a:solidFill>
                  <a:srgbClr val="5A6472"/>
                </a:solidFill>
                <a:latin typeface="Calibri"/>
              </a:rPr>
              <a:t>No same-day sign-up; TSA-adjudicated 1–7 days in advance — just 10,300 visitors in ~2 years against a 36,500/yr ceiling</a:t>
            </a:r>
          </a:p>
        </p:txBody>
      </p:sp>
      <p:sp>
        <p:nvSpPr>
          <p:cNvPr id="12" name="Rectangle 11"/>
          <p:cNvSpPr/>
          <p:nvPr/>
        </p:nvSpPr>
        <p:spPr>
          <a:xfrm>
            <a:off x="685800" y="3639312"/>
            <a:ext cx="10820095" cy="8229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94176"/>
            <a:ext cx="2286000" cy="731520"/>
          </a:xfrm>
          <a:prstGeom prst="rect">
            <a:avLst/>
          </a:prstGeom>
          <a:noFill/>
        </p:spPr>
        <p:txBody>
          <a:bodyPr wrap="square" anchor="ctr">
            <a:spAutoFit/>
          </a:bodyPr>
          <a:lstStyle/>
          <a:p>
            <a:r>
              <a:rPr sz="1500" b="1" i="0">
                <a:solidFill>
                  <a:srgbClr val="143C6E"/>
                </a:solidFill>
                <a:latin typeface="Calibri"/>
              </a:rPr>
              <a:t>Detroit (DTW)</a:t>
            </a:r>
          </a:p>
        </p:txBody>
      </p:sp>
      <p:sp>
        <p:nvSpPr>
          <p:cNvPr id="14" name="TextBox 13"/>
          <p:cNvSpPr txBox="1"/>
          <p:nvPr/>
        </p:nvSpPr>
        <p:spPr>
          <a:xfrm>
            <a:off x="3200400" y="3694176"/>
            <a:ext cx="1920240" cy="731520"/>
          </a:xfrm>
          <a:prstGeom prst="rect">
            <a:avLst/>
          </a:prstGeom>
          <a:noFill/>
        </p:spPr>
        <p:txBody>
          <a:bodyPr wrap="square" anchor="ctr">
            <a:spAutoFit/>
          </a:bodyPr>
          <a:lstStyle/>
          <a:p>
            <a:r>
              <a:rPr sz="1900" b="1" i="0">
                <a:solidFill>
                  <a:srgbClr val="143C6E"/>
                </a:solidFill>
                <a:latin typeface="Georgia"/>
              </a:rPr>
              <a:t>75/day</a:t>
            </a:r>
          </a:p>
        </p:txBody>
      </p:sp>
      <p:sp>
        <p:nvSpPr>
          <p:cNvPr id="15" name="TextBox 14"/>
          <p:cNvSpPr txBox="1"/>
          <p:nvPr/>
        </p:nvSpPr>
        <p:spPr>
          <a:xfrm>
            <a:off x="5212080" y="3694176"/>
            <a:ext cx="6217920" cy="786384"/>
          </a:xfrm>
          <a:prstGeom prst="rect">
            <a:avLst/>
          </a:prstGeom>
          <a:noFill/>
        </p:spPr>
        <p:txBody>
          <a:bodyPr wrap="square" anchor="ctr">
            <a:spAutoFit/>
          </a:bodyPr>
          <a:lstStyle/>
          <a:p>
            <a:pPr>
              <a:lnSpc>
                <a:spcPct val="105000"/>
              </a:lnSpc>
            </a:pPr>
            <a:r>
              <a:rPr sz="1250" b="0" i="0">
                <a:solidFill>
                  <a:srgbClr val="5A6472"/>
                </a:solidFill>
                <a:latin typeface="Calibri"/>
              </a:rPr>
              <a:t>~25,000 passes since Oct 2023 — roughly 40 a day, about half the cap</a:t>
            </a:r>
          </a:p>
        </p:txBody>
      </p:sp>
      <p:sp>
        <p:nvSpPr>
          <p:cNvPr id="16" name="TextBox 15"/>
          <p:cNvSpPr txBox="1"/>
          <p:nvPr/>
        </p:nvSpPr>
        <p:spPr>
          <a:xfrm>
            <a:off x="822960" y="4535424"/>
            <a:ext cx="2286000" cy="731520"/>
          </a:xfrm>
          <a:prstGeom prst="rect">
            <a:avLst/>
          </a:prstGeom>
          <a:noFill/>
        </p:spPr>
        <p:txBody>
          <a:bodyPr wrap="square" anchor="ctr">
            <a:spAutoFit/>
          </a:bodyPr>
          <a:lstStyle/>
          <a:p>
            <a:r>
              <a:rPr sz="1500" b="1" i="0">
                <a:solidFill>
                  <a:srgbClr val="143C6E"/>
                </a:solidFill>
                <a:latin typeface="Calibri"/>
              </a:rPr>
              <a:t>New Orleans (MSY)</a:t>
            </a:r>
          </a:p>
        </p:txBody>
      </p:sp>
      <p:sp>
        <p:nvSpPr>
          <p:cNvPr id="17" name="TextBox 16"/>
          <p:cNvSpPr txBox="1"/>
          <p:nvPr/>
        </p:nvSpPr>
        <p:spPr>
          <a:xfrm>
            <a:off x="3200400" y="4535424"/>
            <a:ext cx="1920240" cy="731520"/>
          </a:xfrm>
          <a:prstGeom prst="rect">
            <a:avLst/>
          </a:prstGeom>
          <a:noFill/>
        </p:spPr>
        <p:txBody>
          <a:bodyPr wrap="square" anchor="ctr">
            <a:spAutoFit/>
          </a:bodyPr>
          <a:lstStyle/>
          <a:p>
            <a:r>
              <a:rPr sz="1900" b="1" i="0">
                <a:solidFill>
                  <a:srgbClr val="143C6E"/>
                </a:solidFill>
                <a:latin typeface="Georgia"/>
              </a:rPr>
              <a:t>50/day wk</a:t>
            </a:r>
          </a:p>
        </p:txBody>
      </p:sp>
      <p:sp>
        <p:nvSpPr>
          <p:cNvPr id="18" name="TextBox 17"/>
          <p:cNvSpPr txBox="1"/>
          <p:nvPr/>
        </p:nvSpPr>
        <p:spPr>
          <a:xfrm>
            <a:off x="5212080" y="4535424"/>
            <a:ext cx="6217920" cy="786384"/>
          </a:xfrm>
          <a:prstGeom prst="rect">
            <a:avLst/>
          </a:prstGeom>
          <a:noFill/>
        </p:spPr>
        <p:txBody>
          <a:bodyPr wrap="square" anchor="ctr">
            <a:spAutoFit/>
          </a:bodyPr>
          <a:lstStyle/>
          <a:p>
            <a:pPr>
              <a:lnSpc>
                <a:spcPct val="105000"/>
              </a:lnSpc>
            </a:pPr>
            <a:r>
              <a:rPr sz="1250" b="0" i="0">
                <a:solidFill>
                  <a:srgbClr val="5A6472"/>
                </a:solidFill>
                <a:latin typeface="Calibri"/>
              </a:rPr>
              <a:t>Opens at 11 a.m., skipping the entire morning bank; one visit per person per month</a:t>
            </a:r>
          </a:p>
        </p:txBody>
      </p:sp>
      <p:sp>
        <p:nvSpPr>
          <p:cNvPr id="19" name="Rectangle 18"/>
          <p:cNvSpPr/>
          <p:nvPr/>
        </p:nvSpPr>
        <p:spPr>
          <a:xfrm>
            <a:off x="685800" y="5321808"/>
            <a:ext cx="10820095" cy="8229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376672"/>
            <a:ext cx="2286000" cy="731520"/>
          </a:xfrm>
          <a:prstGeom prst="rect">
            <a:avLst/>
          </a:prstGeom>
          <a:noFill/>
        </p:spPr>
        <p:txBody>
          <a:bodyPr wrap="square" anchor="ctr">
            <a:spAutoFit/>
          </a:bodyPr>
          <a:lstStyle/>
          <a:p>
            <a:r>
              <a:rPr sz="1500" b="1" i="0">
                <a:solidFill>
                  <a:srgbClr val="143C6E"/>
                </a:solidFill>
                <a:latin typeface="Calibri"/>
              </a:rPr>
              <a:t>Pittsburgh (PIT)</a:t>
            </a:r>
          </a:p>
        </p:txBody>
      </p:sp>
      <p:sp>
        <p:nvSpPr>
          <p:cNvPr id="21" name="TextBox 20"/>
          <p:cNvSpPr txBox="1"/>
          <p:nvPr/>
        </p:nvSpPr>
        <p:spPr>
          <a:xfrm>
            <a:off x="3200400" y="5376672"/>
            <a:ext cx="1920240" cy="731520"/>
          </a:xfrm>
          <a:prstGeom prst="rect">
            <a:avLst/>
          </a:prstGeom>
          <a:noFill/>
        </p:spPr>
        <p:txBody>
          <a:bodyPr wrap="square" anchor="ctr">
            <a:spAutoFit/>
          </a:bodyPr>
          <a:lstStyle/>
          <a:p>
            <a:r>
              <a:rPr sz="1900" b="1" i="0">
                <a:solidFill>
                  <a:srgbClr val="143C6E"/>
                </a:solidFill>
                <a:latin typeface="Georgia"/>
              </a:rPr>
              <a:t>Dark since 2020</a:t>
            </a:r>
          </a:p>
        </p:txBody>
      </p:sp>
      <p:sp>
        <p:nvSpPr>
          <p:cNvPr id="22" name="TextBox 21"/>
          <p:cNvSpPr txBox="1"/>
          <p:nvPr/>
        </p:nvSpPr>
        <p:spPr>
          <a:xfrm>
            <a:off x="5212080" y="5376672"/>
            <a:ext cx="6217920" cy="786384"/>
          </a:xfrm>
          <a:prstGeom prst="rect">
            <a:avLst/>
          </a:prstGeom>
          <a:noFill/>
        </p:spPr>
        <p:txBody>
          <a:bodyPr wrap="square" anchor="ctr">
            <a:spAutoFit/>
          </a:bodyPr>
          <a:lstStyle/>
          <a:p>
            <a:pPr>
              <a:lnSpc>
                <a:spcPct val="105000"/>
              </a:lnSpc>
            </a:pPr>
            <a:r>
              <a:rPr sz="1250" b="0" i="0">
                <a:solidFill>
                  <a:srgbClr val="5A6472"/>
                </a:solidFill>
                <a:latin typeface="Calibri"/>
              </a:rPr>
              <a:t>The 2017 pioneer. COVID ended it; terminal construction kept it dark. Its slack was a dehubbed terminal — capacity Houston does not have</a:t>
            </a:r>
          </a:p>
        </p:txBody>
      </p:sp>
      <p:sp>
        <p:nvSpPr>
          <p:cNvPr id="23" name="TextBox 22"/>
          <p:cNvSpPr txBox="1"/>
          <p:nvPr/>
        </p:nvSpPr>
        <p:spPr>
          <a:xfrm>
            <a:off x="685800" y="6291072"/>
            <a:ext cx="10180015" cy="411480"/>
          </a:xfrm>
          <a:prstGeom prst="rect">
            <a:avLst/>
          </a:prstGeom>
          <a:noFill/>
        </p:spPr>
        <p:txBody>
          <a:bodyPr wrap="square">
            <a:spAutoFit/>
          </a:bodyPr>
          <a:lstStyle/>
          <a:p>
            <a:r>
              <a:rPr sz="950" b="0" i="1">
                <a:solidFill>
                  <a:srgbClr val="8A96A6"/>
                </a:solidFill>
                <a:latin typeface="Calibri"/>
              </a:rPr>
              <a:t>Realized demand runs far below cap everywhere — which shrinks the congestion risk and the benefit case together. The cap is the design, not a caveat.</a:t>
            </a:r>
          </a:p>
        </p:txBody>
      </p:sp>
      <p:sp>
        <p:nvSpPr>
          <p:cNvPr id="24" name="TextBox 23"/>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EVIDENCE — SIZING THE PILOT</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The recommended load is trivial: six visitors an hour at the smaller airport.</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03120"/>
            <a:ext cx="3474720" cy="1828800"/>
          </a:xfrm>
          <a:prstGeom prst="rect">
            <a:avLst/>
          </a:prstGeom>
          <a:noFill/>
        </p:spPr>
        <p:txBody>
          <a:bodyPr wrap="square">
            <a:spAutoFit/>
          </a:bodyPr>
          <a:lstStyle/>
          <a:p>
            <a:r>
              <a:rPr sz="5400" b="1" i="0">
                <a:solidFill>
                  <a:srgbClr val="143C6E"/>
                </a:solidFill>
                <a:latin typeface="Georgia"/>
              </a:rPr>
              <a:t>~6/hr</a:t>
            </a:r>
          </a:p>
          <a:p>
            <a:pPr>
              <a:lnSpc>
                <a:spcPct val="110000"/>
              </a:lnSpc>
              <a:spcBef>
                <a:spcPts val="400"/>
              </a:spcBef>
            </a:pPr>
            <a:r>
              <a:rPr sz="1200" b="0" i="0">
                <a:solidFill>
                  <a:srgbClr val="5A6472"/>
                </a:solidFill>
                <a:latin typeface="Calibri"/>
              </a:rPr>
              <a:t>50 passes a day at Hobby across a midday-to-evening window — about six visitors an hour through one designated checkpoint</a:t>
            </a:r>
          </a:p>
        </p:txBody>
      </p:sp>
      <p:sp>
        <p:nvSpPr>
          <p:cNvPr id="6" name="TextBox 5"/>
          <p:cNvSpPr txBox="1"/>
          <p:nvPr/>
        </p:nvSpPr>
        <p:spPr>
          <a:xfrm>
            <a:off x="4526280" y="2103120"/>
            <a:ext cx="3383280" cy="1828800"/>
          </a:xfrm>
          <a:prstGeom prst="rect">
            <a:avLst/>
          </a:prstGeom>
          <a:noFill/>
        </p:spPr>
        <p:txBody>
          <a:bodyPr wrap="square">
            <a:spAutoFit/>
          </a:bodyPr>
          <a:lstStyle/>
          <a:p>
            <a:r>
              <a:rPr sz="5400" b="1" i="0">
                <a:solidFill>
                  <a:srgbClr val="143C6E"/>
                </a:solidFill>
                <a:latin typeface="Georgia"/>
              </a:rPr>
              <a:t>2–4%</a:t>
            </a:r>
          </a:p>
          <a:p>
            <a:pPr>
              <a:lnSpc>
                <a:spcPct val="110000"/>
              </a:lnSpc>
              <a:spcBef>
                <a:spcPts val="400"/>
              </a:spcBef>
            </a:pPr>
            <a:r>
              <a:rPr sz="1200" b="0" i="0">
                <a:solidFill>
                  <a:srgbClr val="5A6472"/>
                </a:solidFill>
                <a:latin typeface="Calibri"/>
              </a:rPr>
              <a:t>Share of a single real-world screening lane (150–250 passengers/hour planning range) that load represents</a:t>
            </a:r>
          </a:p>
        </p:txBody>
      </p:sp>
      <p:sp>
        <p:nvSpPr>
          <p:cNvPr id="7" name="TextBox 6"/>
          <p:cNvSpPr txBox="1"/>
          <p:nvPr/>
        </p:nvSpPr>
        <p:spPr>
          <a:xfrm>
            <a:off x="8229600" y="2103120"/>
            <a:ext cx="3291840" cy="1828800"/>
          </a:xfrm>
          <a:prstGeom prst="rect">
            <a:avLst/>
          </a:prstGeom>
          <a:noFill/>
        </p:spPr>
        <p:txBody>
          <a:bodyPr wrap="square">
            <a:spAutoFit/>
          </a:bodyPr>
          <a:lstStyle/>
          <a:p>
            <a:r>
              <a:rPr sz="5400" b="1" i="0">
                <a:solidFill>
                  <a:srgbClr val="143C6E"/>
                </a:solidFill>
                <a:latin typeface="Georgia"/>
              </a:rPr>
              <a:t>14.6M</a:t>
            </a:r>
          </a:p>
          <a:p>
            <a:pPr>
              <a:lnSpc>
                <a:spcPct val="110000"/>
              </a:lnSpc>
              <a:spcBef>
                <a:spcPts val="400"/>
              </a:spcBef>
            </a:pPr>
            <a:r>
              <a:rPr sz="1200" b="0" i="0">
                <a:solidFill>
                  <a:srgbClr val="5A6472"/>
                </a:solidFill>
                <a:latin typeface="Calibri"/>
              </a:rPr>
              <a:t>Hobby’s annual passengers — a single 24-hour terminal, versus Bush’s 48.45 million across nine checkpoints</a:t>
            </a:r>
          </a:p>
        </p:txBody>
      </p:sp>
      <p:sp>
        <p:nvSpPr>
          <p:cNvPr id="8" name="TextBox 7"/>
          <p:cNvSpPr txBox="1"/>
          <p:nvPr/>
        </p:nvSpPr>
        <p:spPr>
          <a:xfrm>
            <a:off x="685800" y="4297680"/>
            <a:ext cx="10820095" cy="4389120"/>
          </a:xfrm>
          <a:prstGeom prst="rect">
            <a:avLst/>
          </a:prstGeom>
          <a:noFill/>
        </p:spPr>
        <p:txBody>
          <a:bodyPr wrap="square">
            <a:spAutoFit/>
          </a:bodyPr>
          <a:lstStyle/>
          <a:p>
            <a:pPr>
              <a:lnSpc>
                <a:spcPct val="112000"/>
              </a:lnSpc>
              <a:spcAft>
                <a:spcPts val="1000"/>
              </a:spcAft>
            </a:pPr>
            <a:r>
              <a:rPr sz="1400" b="1" i="0">
                <a:solidFill>
                  <a:srgbClr val="143C6E"/>
                </a:solidFill>
                <a:latin typeface="Calibri"/>
              </a:rPr>
              <a:t>The load is not annual and it is not average. </a:t>
            </a:r>
            <a:r>
              <a:rPr sz="1400" b="0" i="0">
                <a:solidFill>
                  <a:srgbClr val="5A6472"/>
                </a:solidFill>
                <a:latin typeface="Calibri"/>
              </a:rPr>
              <a:t>It is a handful of extra bodies at one checkpoint during one hour — which is why the design confines it to the trough between departure banks, as all five peer operators do.</a:t>
            </a:r>
          </a:p>
          <a:p>
            <a:pPr>
              <a:lnSpc>
                <a:spcPct val="112000"/>
              </a:lnSpc>
              <a:spcAft>
                <a:spcPts val="1000"/>
              </a:spcAft>
            </a:pPr>
            <a:r>
              <a:rPr sz="1400" b="1" i="0">
                <a:solidFill>
                  <a:srgbClr val="143C6E"/>
                </a:solidFill>
                <a:latin typeface="Calibri"/>
              </a:rPr>
              <a:t>One number the public record does not supply: </a:t>
            </a:r>
            <a:r>
              <a:rPr sz="1400" b="0" i="0">
                <a:solidFill>
                  <a:srgbClr val="5A6472"/>
                </a:solidFill>
                <a:latin typeface="Calibri"/>
              </a:rPr>
              <a:t>Hobby’s checkpoint count. The final cap must be set from Hobby’s own by-hour, by-checkpoint throughput before launch — a stated launch condition, not an assumption.</a:t>
            </a:r>
          </a:p>
        </p:txBody>
      </p:sp>
      <p:sp>
        <p:nvSpPr>
          <p:cNvPr id="9" name="TextBox 8"/>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EVIDENCE — SECURITY</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The security question is federally settled; the accountability question is not.</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11680"/>
            <a:ext cx="5257800" cy="457200"/>
          </a:xfrm>
          <a:prstGeom prst="rect">
            <a:avLst/>
          </a:prstGeom>
          <a:noFill/>
        </p:spPr>
        <p:txBody>
          <a:bodyPr wrap="square">
            <a:spAutoFit/>
          </a:bodyPr>
          <a:lstStyle/>
          <a:p>
            <a:r>
              <a:rPr sz="1800" b="1" i="0">
                <a:solidFill>
                  <a:srgbClr val="143C6E"/>
                </a:solidFill>
                <a:latin typeface="Georgia"/>
              </a:rPr>
              <a:t>Settled by regulation</a:t>
            </a:r>
          </a:p>
        </p:txBody>
      </p:sp>
      <p:sp>
        <p:nvSpPr>
          <p:cNvPr id="6" name="TextBox 5"/>
          <p:cNvSpPr txBox="1"/>
          <p:nvPr/>
        </p:nvSpPr>
        <p:spPr>
          <a:xfrm>
            <a:off x="685800" y="2514600"/>
            <a:ext cx="5257800" cy="4389120"/>
          </a:xfrm>
          <a:prstGeom prst="rect">
            <a:avLst/>
          </a:prstGeom>
          <a:noFill/>
        </p:spPr>
        <p:txBody>
          <a:bodyPr wrap="square">
            <a:spAutoFit/>
          </a:bodyPr>
          <a:lstStyle/>
          <a:p>
            <a:pPr>
              <a:lnSpc>
                <a:spcPct val="112000"/>
              </a:lnSpc>
              <a:spcAft>
                <a:spcPts val="1000"/>
              </a:spcAft>
            </a:pPr>
            <a:r>
              <a:rPr sz="1350" b="1" i="0">
                <a:solidFill>
                  <a:srgbClr val="143C6E"/>
                </a:solidFill>
                <a:latin typeface="Calibri"/>
              </a:rPr>
              <a:t>Identical screening, watch-list vetted. </a:t>
            </a:r>
            <a:r>
              <a:rPr sz="1350" b="0" i="0">
                <a:solidFill>
                  <a:srgbClr val="5A6472"/>
                </a:solidFill>
                <a:latin typeface="Calibri"/>
              </a:rPr>
              <a:t>Every visitor is screened exactly like a ticketed passenger and vetted against Secure Flight watch lists before entry, under 49 CFR Parts 1542 and 1560.</a:t>
            </a:r>
          </a:p>
          <a:p>
            <a:pPr>
              <a:lnSpc>
                <a:spcPct val="112000"/>
              </a:lnSpc>
              <a:spcAft>
                <a:spcPts val="1000"/>
              </a:spcAft>
            </a:pPr>
            <a:r>
              <a:rPr sz="1350" b="1" i="0">
                <a:solidFill>
                  <a:srgbClr val="143C6E"/>
                </a:solidFill>
                <a:latin typeface="Calibri"/>
              </a:rPr>
              <a:t>A vetted visitor is arguably a lower individual risk </a:t>
            </a:r>
            <a:r>
              <a:rPr sz="1350" b="0" i="0">
                <a:solidFill>
                  <a:srgbClr val="5A6472"/>
                </a:solidFill>
                <a:latin typeface="Calibri"/>
              </a:rPr>
              <a:t>than a walk-up passenger — a bad actor can already buy a $39 fare, same-day, vetted only at booking.</a:t>
            </a:r>
          </a:p>
          <a:p>
            <a:pPr>
              <a:lnSpc>
                <a:spcPct val="112000"/>
              </a:lnSpc>
              <a:spcAft>
                <a:spcPts val="1000"/>
              </a:spcAft>
            </a:pPr>
            <a:r>
              <a:rPr sz="1350" b="1" i="0">
                <a:solidFill>
                  <a:srgbClr val="143C6E"/>
                </a:solidFill>
                <a:latin typeface="Calibri"/>
              </a:rPr>
              <a:t>No breach on the record. </a:t>
            </a:r>
            <a:r>
              <a:rPr sz="1350" b="0" i="0">
                <a:solidFill>
                  <a:srgbClr val="5A6472"/>
                </a:solidFill>
                <a:latin typeface="Calibri"/>
              </a:rPr>
              <a:t>Roughly two dozen programs over a decade; no reported mass-casualty event or catastrophic breach in the public record.</a:t>
            </a:r>
          </a:p>
        </p:txBody>
      </p:sp>
      <p:sp>
        <p:nvSpPr>
          <p:cNvPr id="7" name="TextBox 6"/>
          <p:cNvSpPr txBox="1"/>
          <p:nvPr/>
        </p:nvSpPr>
        <p:spPr>
          <a:xfrm>
            <a:off x="6263640" y="2011680"/>
            <a:ext cx="5257800" cy="457200"/>
          </a:xfrm>
          <a:prstGeom prst="rect">
            <a:avLst/>
          </a:prstGeom>
          <a:noFill/>
        </p:spPr>
        <p:txBody>
          <a:bodyPr wrap="square">
            <a:spAutoFit/>
          </a:bodyPr>
          <a:lstStyle/>
          <a:p>
            <a:r>
              <a:rPr sz="1800" b="1" i="0">
                <a:solidFill>
                  <a:srgbClr val="143C6E"/>
                </a:solidFill>
                <a:latin typeface="Georgia"/>
              </a:rPr>
              <a:t>Unsettled — and owned by the airport</a:t>
            </a:r>
          </a:p>
        </p:txBody>
      </p:sp>
      <p:sp>
        <p:nvSpPr>
          <p:cNvPr id="8" name="TextBox 7"/>
          <p:cNvSpPr txBox="1"/>
          <p:nvPr/>
        </p:nvSpPr>
        <p:spPr>
          <a:xfrm>
            <a:off x="6263640" y="2514600"/>
            <a:ext cx="5257800" cy="4389120"/>
          </a:xfrm>
          <a:prstGeom prst="rect">
            <a:avLst/>
          </a:prstGeom>
          <a:noFill/>
        </p:spPr>
        <p:txBody>
          <a:bodyPr wrap="square">
            <a:spAutoFit/>
          </a:bodyPr>
          <a:lstStyle/>
          <a:p>
            <a:pPr>
              <a:lnSpc>
                <a:spcPct val="112000"/>
              </a:lnSpc>
              <a:spcAft>
                <a:spcPts val="1000"/>
              </a:spcAft>
            </a:pPr>
            <a:r>
              <a:rPr sz="1350" b="1" i="0">
                <a:solidFill>
                  <a:srgbClr val="143C6E"/>
                </a:solidFill>
                <a:latin typeface="Calibri"/>
              </a:rPr>
              <a:t>Fort Lauderdale, 2017: </a:t>
            </a:r>
            <a:r>
              <a:rPr sz="1350" b="0" i="0">
                <a:solidFill>
                  <a:srgbClr val="5A6472"/>
                </a:solidFill>
                <a:latin typeface="Calibri"/>
              </a:rPr>
              <a:t>a ticketed passenger killed five in baggage claim in under 80 seconds — in the public zone no pass touches — then a phantom-shooter rumor drove a self-evacuation onto the tarmac.</a:t>
            </a:r>
          </a:p>
          <a:p>
            <a:pPr>
              <a:lnSpc>
                <a:spcPct val="112000"/>
              </a:lnSpc>
              <a:spcAft>
                <a:spcPts val="1000"/>
              </a:spcAft>
            </a:pPr>
            <a:r>
              <a:rPr sz="1350" b="1" i="0">
                <a:solidFill>
                  <a:srgbClr val="143C6E"/>
                </a:solidFill>
                <a:latin typeface="Calibri"/>
              </a:rPr>
              <a:t>Visitors appear on no manifest. </a:t>
            </a:r>
            <a:r>
              <a:rPr sz="1350" b="0" i="0">
                <a:solidFill>
                  <a:srgbClr val="5A6472"/>
                </a:solidFill>
                <a:latin typeface="Calibri"/>
              </a:rPr>
              <a:t>Concourse density turns “is everyone out?” into an unanswerable question — hence the live registry, the single location, and the public-safety veto.</a:t>
            </a:r>
          </a:p>
          <a:p>
            <a:pPr>
              <a:lnSpc>
                <a:spcPct val="112000"/>
              </a:lnSpc>
              <a:spcAft>
                <a:spcPts val="1000"/>
              </a:spcAft>
            </a:pPr>
            <a:r>
              <a:rPr sz="1350" b="1" i="0">
                <a:solidFill>
                  <a:srgbClr val="143C6E"/>
                </a:solidFill>
                <a:latin typeface="Calibri"/>
              </a:rPr>
              <a:t>TSA takes no stance on program design, </a:t>
            </a:r>
            <a:r>
              <a:rPr sz="1350" b="0" i="0">
                <a:solidFill>
                  <a:srgbClr val="5A6472"/>
                </a:solidFill>
                <a:latin typeface="Calibri"/>
              </a:rPr>
              <a:t>so the airport absorbs every residual risk the federal government declines to opine on.</a:t>
            </a:r>
          </a:p>
        </p:txBody>
      </p:sp>
      <p:sp>
        <p:nvSpPr>
          <p:cNvPr id="9" name="TextBox 8"/>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EVIDENCE — GOVERNANCE</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In Houston the airlines are the governance structure. Keep every dollar off the rate base.</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03120"/>
            <a:ext cx="3474720" cy="1828800"/>
          </a:xfrm>
          <a:prstGeom prst="rect">
            <a:avLst/>
          </a:prstGeom>
          <a:noFill/>
        </p:spPr>
        <p:txBody>
          <a:bodyPr wrap="square">
            <a:spAutoFit/>
          </a:bodyPr>
          <a:lstStyle/>
          <a:p>
            <a:r>
              <a:rPr sz="5400" b="1" i="0">
                <a:solidFill>
                  <a:srgbClr val="143C6E"/>
                </a:solidFill>
                <a:latin typeface="Georgia"/>
              </a:rPr>
              <a:t>58.7%</a:t>
            </a:r>
          </a:p>
          <a:p>
            <a:pPr>
              <a:lnSpc>
                <a:spcPct val="110000"/>
              </a:lnSpc>
              <a:spcBef>
                <a:spcPts val="400"/>
              </a:spcBef>
            </a:pPr>
            <a:r>
              <a:rPr sz="1200" b="0" i="0">
                <a:solidFill>
                  <a:srgbClr val="5A6472"/>
                </a:solidFill>
                <a:latin typeface="Calibri"/>
              </a:rPr>
              <a:t>United’s market share at Bush — roughly 80% of flights, its third-largest hub</a:t>
            </a:r>
          </a:p>
        </p:txBody>
      </p:sp>
      <p:sp>
        <p:nvSpPr>
          <p:cNvPr id="6" name="TextBox 5"/>
          <p:cNvSpPr txBox="1"/>
          <p:nvPr/>
        </p:nvSpPr>
        <p:spPr>
          <a:xfrm>
            <a:off x="4526280" y="2103120"/>
            <a:ext cx="3383280" cy="1828800"/>
          </a:xfrm>
          <a:prstGeom prst="rect">
            <a:avLst/>
          </a:prstGeom>
          <a:noFill/>
        </p:spPr>
        <p:txBody>
          <a:bodyPr wrap="square">
            <a:spAutoFit/>
          </a:bodyPr>
          <a:lstStyle/>
          <a:p>
            <a:r>
              <a:rPr sz="5400" b="1" i="0">
                <a:solidFill>
                  <a:srgbClr val="143C6E"/>
                </a:solidFill>
                <a:latin typeface="Georgia"/>
              </a:rPr>
              <a:t>&gt;93%</a:t>
            </a:r>
          </a:p>
          <a:p>
            <a:pPr>
              <a:lnSpc>
                <a:spcPct val="110000"/>
              </a:lnSpc>
              <a:spcBef>
                <a:spcPts val="400"/>
              </a:spcBef>
            </a:pPr>
            <a:r>
              <a:rPr sz="1200" b="0" i="0">
                <a:solidFill>
                  <a:srgbClr val="5A6472"/>
                </a:solidFill>
                <a:latin typeface="Calibri"/>
              </a:rPr>
              <a:t>Southwest’s share at Hobby — a near-monopoly signatory that punishes holdroom crowding on every 30–40-minute turn</a:t>
            </a:r>
          </a:p>
        </p:txBody>
      </p:sp>
      <p:sp>
        <p:nvSpPr>
          <p:cNvPr id="7" name="TextBox 6"/>
          <p:cNvSpPr txBox="1"/>
          <p:nvPr/>
        </p:nvSpPr>
        <p:spPr>
          <a:xfrm>
            <a:off x="8229600" y="2103120"/>
            <a:ext cx="3291840" cy="1828800"/>
          </a:xfrm>
          <a:prstGeom prst="rect">
            <a:avLst/>
          </a:prstGeom>
          <a:noFill/>
        </p:spPr>
        <p:txBody>
          <a:bodyPr wrap="square">
            <a:spAutoFit/>
          </a:bodyPr>
          <a:lstStyle/>
          <a:p>
            <a:r>
              <a:rPr sz="4000" b="1" i="0">
                <a:solidFill>
                  <a:srgbClr val="143C6E"/>
                </a:solidFill>
                <a:latin typeface="Georgia"/>
              </a:rPr>
              <a:t>Jan 2030</a:t>
            </a:r>
          </a:p>
          <a:p>
            <a:pPr>
              <a:lnSpc>
                <a:spcPct val="110000"/>
              </a:lnSpc>
              <a:spcBef>
                <a:spcPts val="400"/>
              </a:spcBef>
            </a:pPr>
            <a:r>
              <a:rPr sz="1200" b="0" i="0">
                <a:solidFill>
                  <a:srgbClr val="5A6472"/>
                </a:solidFill>
                <a:latin typeface="Calibri"/>
              </a:rPr>
              <a:t>Terminal E lease expiration — the next real ratemaking window with United</a:t>
            </a:r>
          </a:p>
        </p:txBody>
      </p:sp>
      <p:sp>
        <p:nvSpPr>
          <p:cNvPr id="8" name="TextBox 7"/>
          <p:cNvSpPr txBox="1"/>
          <p:nvPr/>
        </p:nvSpPr>
        <p:spPr>
          <a:xfrm>
            <a:off x="685800" y="4297680"/>
            <a:ext cx="10820095" cy="4389120"/>
          </a:xfrm>
          <a:prstGeom prst="rect">
            <a:avLst/>
          </a:prstGeom>
          <a:noFill/>
        </p:spPr>
        <p:txBody>
          <a:bodyPr wrap="square">
            <a:spAutoFit/>
          </a:bodyPr>
          <a:lstStyle/>
          <a:p>
            <a:pPr>
              <a:lnSpc>
                <a:spcPct val="112000"/>
              </a:lnSpc>
              <a:spcAft>
                <a:spcPts val="1000"/>
              </a:spcAft>
            </a:pPr>
            <a:r>
              <a:rPr sz="1400" b="1" i="0">
                <a:solidFill>
                  <a:srgbClr val="143C6E"/>
                </a:solidFill>
                <a:latin typeface="Calibri"/>
              </a:rPr>
              <a:t>Fund any part of this through the airline rate base </a:t>
            </a:r>
            <a:r>
              <a:rPr sz="1400" b="0" i="0">
                <a:solidFill>
                  <a:srgbClr val="5A6472"/>
                </a:solidFill>
                <a:latin typeface="Calibri"/>
              </a:rPr>
              <a:t>and it enters the Majority-in-Interest clause — handing United, at ~59% activity, a near-decisive procedural lever right before the 2030 negotiation. A bad trade for a rounding error.</a:t>
            </a:r>
          </a:p>
          <a:p>
            <a:pPr>
              <a:lnSpc>
                <a:spcPct val="112000"/>
              </a:lnSpc>
              <a:spcAft>
                <a:spcPts val="1000"/>
              </a:spcAft>
            </a:pPr>
            <a:r>
              <a:rPr sz="1400" b="1" i="0">
                <a:solidFill>
                  <a:srgbClr val="143C6E"/>
                </a:solidFill>
                <a:latin typeface="Calibri"/>
              </a:rPr>
              <a:t>Kept on the non-airline side of the ledger, </a:t>
            </a:r>
            <a:r>
              <a:rPr sz="1400" b="0" i="0">
                <a:solidFill>
                  <a:srgbClr val="5A6472"/>
                </a:solidFill>
                <a:latin typeface="Calibri"/>
              </a:rPr>
              <a:t>it stays the airport’s decision. Whether visitor concession revenue flows to the airport or offsets airline costs is unconfirmed in the public record — resolving it is a 90-day action item, not a rhetorical crutch.</a:t>
            </a:r>
          </a:p>
        </p:txBody>
      </p:sp>
      <p:sp>
        <p:nvSpPr>
          <p:cNvPr id="9" name="TextBox 8"/>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COUNTER-CASE, HONESTLY PRESENTED</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The strongest case against: marginal load on a saturated checkpoint, marginal benefit of a rounding error.</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48840"/>
            <a:ext cx="10820095" cy="4389120"/>
          </a:xfrm>
          <a:prstGeom prst="rect">
            <a:avLst/>
          </a:prstGeom>
          <a:noFill/>
        </p:spPr>
        <p:txBody>
          <a:bodyPr wrap="square">
            <a:spAutoFit/>
          </a:bodyPr>
          <a:lstStyle/>
          <a:p>
            <a:pPr>
              <a:lnSpc>
                <a:spcPct val="112000"/>
              </a:lnSpc>
              <a:spcAft>
                <a:spcPts val="1100"/>
              </a:spcAft>
            </a:pPr>
            <a:r>
              <a:rPr sz="1400" b="1" i="0">
                <a:solidFill>
                  <a:srgbClr val="143C6E"/>
                </a:solidFill>
                <a:latin typeface="Calibri"/>
              </a:rPr>
              <a:t>You do not add discretionary bodies to a queue that cannot clear paying passengers. </a:t>
            </a:r>
            <a:r>
              <a:rPr sz="1400" b="0" i="0">
                <a:solidFill>
                  <a:srgbClr val="5A6472"/>
                </a:solidFill>
                <a:latin typeface="Calibri"/>
              </a:rPr>
              <a:t>Houston’s 2026 shutdown waits were the worst in the nation — and visitors load the slowest lanes specifically, since PreCheck and CLEAR are unavailable to pass holders.</a:t>
            </a:r>
          </a:p>
          <a:p>
            <a:pPr>
              <a:lnSpc>
                <a:spcPct val="112000"/>
              </a:lnSpc>
              <a:spcAft>
                <a:spcPts val="1100"/>
              </a:spcAft>
            </a:pPr>
            <a:r>
              <a:rPr sz="1400" b="1" i="0">
                <a:solidFill>
                  <a:srgbClr val="143C6E"/>
                </a:solidFill>
                <a:latin typeface="Calibri"/>
              </a:rPr>
              <a:t>The benefit vanishes exactly when it is most wanted. </a:t>
            </a:r>
            <a:r>
              <a:rPr sz="1400" b="0" i="0">
                <a:solidFill>
                  <a:srgbClr val="5A6472"/>
                </a:solidFill>
                <a:latin typeface="Calibri"/>
              </a:rPr>
              <a:t>Seattle suspends for the World Cup and summer weekends. The program is engineered to disappear on the days families most want to walk someone to a gate — a promise built to be revoked.</a:t>
            </a:r>
          </a:p>
          <a:p>
            <a:pPr>
              <a:lnSpc>
                <a:spcPct val="112000"/>
              </a:lnSpc>
              <a:spcAft>
                <a:spcPts val="1100"/>
              </a:spcAft>
            </a:pPr>
            <a:r>
              <a:rPr sz="1400" b="1" i="0">
                <a:solidFill>
                  <a:srgbClr val="143C6E"/>
                </a:solidFill>
                <a:latin typeface="Calibri"/>
              </a:rPr>
              <a:t>The “avoided escort labor” line is close to fictional. </a:t>
            </a:r>
            <a:r>
              <a:rPr sz="1400" b="0" i="0">
                <a:solidFill>
                  <a:srgbClr val="5A6472"/>
                </a:solidFill>
                <a:latin typeface="Calibri"/>
              </a:rPr>
              <a:t>The categories that consume labor — unaccompanied minors, reduced-mobility passengers, badged employees — are airline-run or SIDA-controlled and do not convert to a public pass.</a:t>
            </a:r>
          </a:p>
          <a:p>
            <a:pPr>
              <a:lnSpc>
                <a:spcPct val="112000"/>
              </a:lnSpc>
              <a:spcAft>
                <a:spcPts val="1100"/>
              </a:spcAft>
            </a:pPr>
            <a:r>
              <a:rPr sz="1400" b="1" i="0">
                <a:solidFill>
                  <a:srgbClr val="143C6E"/>
                </a:solidFill>
                <a:latin typeface="Calibri"/>
              </a:rPr>
              <a:t>The staffing cannot follow the launch. </a:t>
            </a:r>
            <a:r>
              <a:rPr sz="1400" b="0" i="0">
                <a:solidFill>
                  <a:srgbClr val="5A6472"/>
                </a:solidFill>
                <a:latin typeface="Calibri"/>
              </a:rPr>
              <a:t>49 CFR 1542.217 requires “adequate” law-enforcement coverage; sworn hiring at HPD runs 12–18 months. The program can launch in 90 days. The staffing to support it cannot.</a:t>
            </a:r>
          </a:p>
          <a:p>
            <a:pPr>
              <a:lnSpc>
                <a:spcPct val="112000"/>
              </a:lnSpc>
              <a:spcAft>
                <a:spcPts val="1100"/>
              </a:spcAft>
            </a:pPr>
            <a:r>
              <a:rPr sz="1400" b="1" i="0">
                <a:solidFill>
                  <a:srgbClr val="143C6E"/>
                </a:solidFill>
                <a:latin typeface="Calibri"/>
              </a:rPr>
              <a:t>Houston is choosing the hard version of an easy program: </a:t>
            </a:r>
            <a:r>
              <a:rPr sz="1400" b="0" i="0">
                <a:solidFill>
                  <a:srgbClr val="5A6472"/>
                </a:solidFill>
                <a:latin typeface="Calibri"/>
              </a:rPr>
              <a:t>no stranded Pittsburgh capacity, a dominant carrier absorbing rising cost per enplanement ($10.66 → $11.17), multi-year construction, and a City-department governance structure that turns every incident into a council hearing.</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WHY THE COUNTER-CASE IS INSUFFICIENT</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Every objection indicts a specific bad program — and the good program is defined by conceding them.</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11680"/>
            <a:ext cx="1920240" cy="777240"/>
          </a:xfrm>
          <a:prstGeom prst="rect">
            <a:avLst/>
          </a:prstGeom>
          <a:noFill/>
        </p:spPr>
        <p:txBody>
          <a:bodyPr wrap="square">
            <a:spAutoFit/>
          </a:bodyPr>
          <a:lstStyle/>
          <a:p>
            <a:r>
              <a:rPr sz="1550" b="1" i="0">
                <a:solidFill>
                  <a:srgbClr val="143C6E"/>
                </a:solidFill>
                <a:latin typeface="Georgia"/>
              </a:rPr>
              <a:t>Saturation</a:t>
            </a:r>
          </a:p>
        </p:txBody>
      </p:sp>
      <p:sp>
        <p:nvSpPr>
          <p:cNvPr id="6" name="TextBox 5"/>
          <p:cNvSpPr txBox="1"/>
          <p:nvPr/>
        </p:nvSpPr>
        <p:spPr>
          <a:xfrm>
            <a:off x="2788920" y="2011680"/>
            <a:ext cx="8686800" cy="822960"/>
          </a:xfrm>
          <a:prstGeom prst="rect">
            <a:avLst/>
          </a:prstGeom>
          <a:noFill/>
        </p:spPr>
        <p:txBody>
          <a:bodyPr wrap="square">
            <a:spAutoFit/>
          </a:bodyPr>
          <a:lstStyle/>
          <a:p>
            <a:pPr>
              <a:lnSpc>
                <a:spcPct val="108000"/>
              </a:lnSpc>
            </a:pPr>
            <a:r>
              <a:rPr sz="1250" b="0" i="0">
                <a:solidFill>
                  <a:srgbClr val="5A6472"/>
                </a:solidFill>
                <a:latin typeface="Calibri"/>
              </a:rPr>
              <a:t>An objection to United’s peak-bank checkpoint at Bush on a shutdown morning — not to 50 vetted visitors at one Hobby checkpoint on an ordinary Tuesday, auto-paused the instant waits cross a published threshold.</a:t>
            </a:r>
          </a:p>
        </p:txBody>
      </p:sp>
      <p:sp>
        <p:nvSpPr>
          <p:cNvPr id="7" name="TextBox 6"/>
          <p:cNvSpPr txBox="1"/>
          <p:nvPr/>
        </p:nvSpPr>
        <p:spPr>
          <a:xfrm>
            <a:off x="685800" y="2880360"/>
            <a:ext cx="1920240" cy="777240"/>
          </a:xfrm>
          <a:prstGeom prst="rect">
            <a:avLst/>
          </a:prstGeom>
          <a:noFill/>
        </p:spPr>
        <p:txBody>
          <a:bodyPr wrap="square">
            <a:spAutoFit/>
          </a:bodyPr>
          <a:lstStyle/>
          <a:p>
            <a:r>
              <a:rPr sz="1550" b="1" i="0">
                <a:solidFill>
                  <a:srgbClr val="143C6E"/>
                </a:solidFill>
                <a:latin typeface="Georgia"/>
              </a:rPr>
              <a:t>Suspension</a:t>
            </a:r>
          </a:p>
        </p:txBody>
      </p:sp>
      <p:sp>
        <p:nvSpPr>
          <p:cNvPr id="8" name="TextBox 7"/>
          <p:cNvSpPr txBox="1"/>
          <p:nvPr/>
        </p:nvSpPr>
        <p:spPr>
          <a:xfrm>
            <a:off x="2788920" y="2880360"/>
            <a:ext cx="8686800" cy="822960"/>
          </a:xfrm>
          <a:prstGeom prst="rect">
            <a:avLst/>
          </a:prstGeom>
          <a:noFill/>
        </p:spPr>
        <p:txBody>
          <a:bodyPr wrap="square">
            <a:spAutoFit/>
          </a:bodyPr>
          <a:lstStyle/>
          <a:p>
            <a:pPr>
              <a:lnSpc>
                <a:spcPct val="108000"/>
              </a:lnSpc>
            </a:pPr>
            <a:r>
              <a:rPr sz="1250" b="0" i="0">
                <a:solidFill>
                  <a:srgbClr val="5A6472"/>
                </a:solidFill>
                <a:latin typeface="Calibri"/>
              </a:rPr>
              <a:t>The ability to switch it off unilaterally is the entire reason it is safe to run. The failure mode is unmanaged suspension — cured by a blackout calendar published before launch, as Seattle did for the World Cup.</a:t>
            </a:r>
          </a:p>
        </p:txBody>
      </p:sp>
      <p:sp>
        <p:nvSpPr>
          <p:cNvPr id="9" name="TextBox 8"/>
          <p:cNvSpPr txBox="1"/>
          <p:nvPr/>
        </p:nvSpPr>
        <p:spPr>
          <a:xfrm>
            <a:off x="685800" y="3749040"/>
            <a:ext cx="1920240" cy="777240"/>
          </a:xfrm>
          <a:prstGeom prst="rect">
            <a:avLst/>
          </a:prstGeom>
          <a:noFill/>
        </p:spPr>
        <p:txBody>
          <a:bodyPr wrap="square">
            <a:spAutoFit/>
          </a:bodyPr>
          <a:lstStyle/>
          <a:p>
            <a:r>
              <a:rPr sz="1550" b="1" i="0">
                <a:solidFill>
                  <a:srgbClr val="143C6E"/>
                </a:solidFill>
                <a:latin typeface="Georgia"/>
              </a:rPr>
              <a:t>Security</a:t>
            </a:r>
          </a:p>
        </p:txBody>
      </p:sp>
      <p:sp>
        <p:nvSpPr>
          <p:cNvPr id="10" name="TextBox 9"/>
          <p:cNvSpPr txBox="1"/>
          <p:nvPr/>
        </p:nvSpPr>
        <p:spPr>
          <a:xfrm>
            <a:off x="2788920" y="3749040"/>
            <a:ext cx="8686800" cy="822960"/>
          </a:xfrm>
          <a:prstGeom prst="rect">
            <a:avLst/>
          </a:prstGeom>
          <a:noFill/>
        </p:spPr>
        <p:txBody>
          <a:bodyPr wrap="square">
            <a:spAutoFit/>
          </a:bodyPr>
          <a:lstStyle/>
          <a:p>
            <a:pPr>
              <a:lnSpc>
                <a:spcPct val="108000"/>
              </a:lnSpc>
            </a:pPr>
            <a:r>
              <a:rPr sz="1250" b="0" i="0">
                <a:solidFill>
                  <a:srgbClr val="5A6472"/>
                </a:solidFill>
                <a:latin typeface="Calibri"/>
              </a:rPr>
              <a:t>The Fort Lauderdale logic leads not to “no program” but to its shape: capped hard, one location, a live registry of who is inside, and a public-safety veto written into the rules.</a:t>
            </a:r>
          </a:p>
        </p:txBody>
      </p:sp>
      <p:sp>
        <p:nvSpPr>
          <p:cNvPr id="11" name="TextBox 10"/>
          <p:cNvSpPr txBox="1"/>
          <p:nvPr/>
        </p:nvSpPr>
        <p:spPr>
          <a:xfrm>
            <a:off x="685800" y="4617720"/>
            <a:ext cx="1920240" cy="777240"/>
          </a:xfrm>
          <a:prstGeom prst="rect">
            <a:avLst/>
          </a:prstGeom>
          <a:noFill/>
        </p:spPr>
        <p:txBody>
          <a:bodyPr wrap="square">
            <a:spAutoFit/>
          </a:bodyPr>
          <a:lstStyle/>
          <a:p>
            <a:r>
              <a:rPr sz="1550" b="1" i="0">
                <a:solidFill>
                  <a:srgbClr val="143C6E"/>
                </a:solidFill>
                <a:latin typeface="Georgia"/>
              </a:rPr>
              <a:t>Staffing lag</a:t>
            </a:r>
          </a:p>
        </p:txBody>
      </p:sp>
      <p:sp>
        <p:nvSpPr>
          <p:cNvPr id="12" name="TextBox 11"/>
          <p:cNvSpPr txBox="1"/>
          <p:nvPr/>
        </p:nvSpPr>
        <p:spPr>
          <a:xfrm>
            <a:off x="2788920" y="4617720"/>
            <a:ext cx="8686800" cy="822960"/>
          </a:xfrm>
          <a:prstGeom prst="rect">
            <a:avLst/>
          </a:prstGeom>
          <a:noFill/>
        </p:spPr>
        <p:txBody>
          <a:bodyPr wrap="square">
            <a:spAutoFit/>
          </a:bodyPr>
          <a:lstStyle/>
          <a:p>
            <a:pPr>
              <a:lnSpc>
                <a:spcPct val="108000"/>
              </a:lnSpc>
            </a:pPr>
            <a:r>
              <a:rPr sz="1250" b="0" i="0">
                <a:solidFill>
                  <a:srgbClr val="5A6472"/>
                </a:solidFill>
                <a:latin typeface="Calibri"/>
              </a:rPr>
              <a:t>It does not kill the pilot; it sizes it — 50 a day at one checkpoint at the smaller airport, with a written HPD/HFD understanding as a precondition, not a follow-up.</a:t>
            </a:r>
          </a:p>
        </p:txBody>
      </p:sp>
      <p:sp>
        <p:nvSpPr>
          <p:cNvPr id="13" name="TextBox 12"/>
          <p:cNvSpPr txBox="1"/>
          <p:nvPr/>
        </p:nvSpPr>
        <p:spPr>
          <a:xfrm>
            <a:off x="685800" y="5486400"/>
            <a:ext cx="1920240" cy="777240"/>
          </a:xfrm>
          <a:prstGeom prst="rect">
            <a:avLst/>
          </a:prstGeom>
          <a:noFill/>
        </p:spPr>
        <p:txBody>
          <a:bodyPr wrap="square">
            <a:spAutoFit/>
          </a:bodyPr>
          <a:lstStyle/>
          <a:p>
            <a:r>
              <a:rPr sz="1550" b="1" i="0">
                <a:solidFill>
                  <a:srgbClr val="143C6E"/>
                </a:solidFill>
                <a:latin typeface="Georgia"/>
              </a:rPr>
              <a:t>The hard version</a:t>
            </a:r>
          </a:p>
        </p:txBody>
      </p:sp>
      <p:sp>
        <p:nvSpPr>
          <p:cNvPr id="14" name="TextBox 13"/>
          <p:cNvSpPr txBox="1"/>
          <p:nvPr/>
        </p:nvSpPr>
        <p:spPr>
          <a:xfrm>
            <a:off x="2788920" y="5486400"/>
            <a:ext cx="8686800" cy="822960"/>
          </a:xfrm>
          <a:prstGeom prst="rect">
            <a:avLst/>
          </a:prstGeom>
          <a:noFill/>
        </p:spPr>
        <p:txBody>
          <a:bodyPr wrap="square">
            <a:spAutoFit/>
          </a:bodyPr>
          <a:lstStyle/>
          <a:p>
            <a:pPr>
              <a:lnSpc>
                <a:spcPct val="108000"/>
              </a:lnSpc>
            </a:pPr>
            <a:r>
              <a:rPr sz="1250" b="0" i="0">
                <a:solidFill>
                  <a:srgbClr val="5A6472"/>
                </a:solidFill>
                <a:latin typeface="Calibri"/>
              </a:rPr>
              <a:t>Standing — and it is why the yes is narrow. Refuse the hard version; build the easy one on purpose, at Hobby, where the downside is smallest.</a:t>
            </a:r>
          </a:p>
        </p:txBody>
      </p:sp>
      <p:sp>
        <p:nvSpPr>
          <p:cNvPr id="15" name="TextBox 14"/>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THE RECOMMENDATION</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Yes — as a pilot, not a program, and at Hobby, not Bush.</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57400"/>
            <a:ext cx="5303520" cy="4389120"/>
          </a:xfrm>
          <a:prstGeom prst="rect">
            <a:avLst/>
          </a:prstGeom>
          <a:noFill/>
        </p:spPr>
        <p:txBody>
          <a:bodyPr wrap="square">
            <a:spAutoFit/>
          </a:bodyPr>
          <a:lstStyle/>
          <a:p>
            <a:pPr>
              <a:lnSpc>
                <a:spcPct val="112000"/>
              </a:lnSpc>
              <a:spcAft>
                <a:spcPts val="1000"/>
              </a:spcAft>
            </a:pPr>
            <a:r>
              <a:rPr sz="1300" b="1" i="0">
                <a:solidFill>
                  <a:srgbClr val="143C6E"/>
                </a:solidFill>
                <a:latin typeface="Calibri"/>
              </a:rPr>
              <a:t>Site: </a:t>
            </a:r>
            <a:r>
              <a:rPr sz="1300" b="0" i="0">
                <a:solidFill>
                  <a:srgbClr val="5A6472"/>
                </a:solidFill>
                <a:latin typeface="Calibri"/>
              </a:rPr>
              <a:t>Hobby. One terminal, one signatory, one checkpoint to protect — but confirm West Concourse phasing first; if geometry is compromised, launch after 2027 completion.</a:t>
            </a:r>
          </a:p>
          <a:p>
            <a:pPr>
              <a:lnSpc>
                <a:spcPct val="112000"/>
              </a:lnSpc>
              <a:spcAft>
                <a:spcPts val="1000"/>
              </a:spcAft>
            </a:pPr>
            <a:r>
              <a:rPr sz="1300" b="1" i="0">
                <a:solidFill>
                  <a:srgbClr val="143C6E"/>
                </a:solidFill>
                <a:latin typeface="Calibri"/>
              </a:rPr>
              <a:t>Cap: </a:t>
            </a:r>
            <a:r>
              <a:rPr sz="1300" b="0" i="0">
                <a:solidFill>
                  <a:srgbClr val="5A6472"/>
                </a:solidFill>
                <a:latin typeface="Calibri"/>
              </a:rPr>
              <a:t>50 a day, one designated checkpoint, with an operations-center throttle that pauses issuance automatically — cap set from Hobby’s own hourly checkpoint data.</a:t>
            </a:r>
          </a:p>
          <a:p>
            <a:pPr>
              <a:lnSpc>
                <a:spcPct val="112000"/>
              </a:lnSpc>
              <a:spcAft>
                <a:spcPts val="1000"/>
              </a:spcAft>
            </a:pPr>
            <a:r>
              <a:rPr sz="1300" b="1" i="0">
                <a:solidFill>
                  <a:srgbClr val="143C6E"/>
                </a:solidFill>
                <a:latin typeface="Calibri"/>
              </a:rPr>
              <a:t>Hours: </a:t>
            </a:r>
            <a:r>
              <a:rPr sz="1300" b="0" i="0">
                <a:solidFill>
                  <a:srgbClr val="5A6472"/>
                </a:solidFill>
                <a:latin typeface="Calibri"/>
              </a:rPr>
              <a:t>Midday to evening only. Morning bank and every peak date blacked out on a calendar published before launch.</a:t>
            </a:r>
          </a:p>
          <a:p>
            <a:pPr>
              <a:lnSpc>
                <a:spcPct val="112000"/>
              </a:lnSpc>
              <a:spcAft>
                <a:spcPts val="1000"/>
              </a:spcAft>
            </a:pPr>
            <a:r>
              <a:rPr sz="1300" b="1" i="0">
                <a:solidFill>
                  <a:srgbClr val="143C6E"/>
                </a:solidFill>
                <a:latin typeface="Calibri"/>
              </a:rPr>
              <a:t>Vetting: </a:t>
            </a:r>
            <a:r>
              <a:rPr sz="1300" b="0" i="0">
                <a:solidFill>
                  <a:srgbClr val="5A6472"/>
                </a:solidFill>
                <a:latin typeface="Calibri"/>
              </a:rPr>
              <a:t>The Philadelphia firewall — advance application 1–7 days out, TSA-adjudicated before arrival. No same-day curbside kiosks.</a:t>
            </a:r>
          </a:p>
        </p:txBody>
      </p:sp>
      <p:sp>
        <p:nvSpPr>
          <p:cNvPr id="6" name="TextBox 5"/>
          <p:cNvSpPr txBox="1"/>
          <p:nvPr/>
        </p:nvSpPr>
        <p:spPr>
          <a:xfrm>
            <a:off x="6263640" y="2057400"/>
            <a:ext cx="5257800" cy="4389120"/>
          </a:xfrm>
          <a:prstGeom prst="rect">
            <a:avLst/>
          </a:prstGeom>
          <a:noFill/>
        </p:spPr>
        <p:txBody>
          <a:bodyPr wrap="square">
            <a:spAutoFit/>
          </a:bodyPr>
          <a:lstStyle/>
          <a:p>
            <a:pPr>
              <a:lnSpc>
                <a:spcPct val="112000"/>
              </a:lnSpc>
              <a:spcAft>
                <a:spcPts val="1000"/>
              </a:spcAft>
            </a:pPr>
            <a:r>
              <a:rPr sz="1300" b="1" i="0">
                <a:solidFill>
                  <a:srgbClr val="143C6E"/>
                </a:solidFill>
                <a:latin typeface="Calibri"/>
              </a:rPr>
              <a:t>Eligibility: </a:t>
            </a:r>
            <a:r>
              <a:rPr sz="1300" b="0" i="0">
                <a:solidFill>
                  <a:srgbClr val="5A6472"/>
                </a:solidFill>
                <a:latin typeface="Calibri"/>
              </a:rPr>
              <a:t>Narrow and sympathetic — military send-offs, elder and first-time-traveler assistance, sanctioned events and tours.</a:t>
            </a:r>
          </a:p>
          <a:p>
            <a:pPr>
              <a:lnSpc>
                <a:spcPct val="112000"/>
              </a:lnSpc>
              <a:spcAft>
                <a:spcPts val="1000"/>
              </a:spcAft>
            </a:pPr>
            <a:r>
              <a:rPr sz="1300" b="1" i="0">
                <a:solidFill>
                  <a:srgbClr val="143C6E"/>
                </a:solidFill>
                <a:latin typeface="Calibri"/>
              </a:rPr>
              <a:t>Funding: </a:t>
            </a:r>
            <a:r>
              <a:rPr sz="1300" b="0" i="0">
                <a:solidFill>
                  <a:srgbClr val="5A6472"/>
                </a:solidFill>
                <a:latin typeface="Calibri"/>
              </a:rPr>
              <a:t>Non-airline sources only. The moment any cost touches the rate base, United gets a grievance for free.</a:t>
            </a:r>
          </a:p>
          <a:p>
            <a:pPr>
              <a:lnSpc>
                <a:spcPct val="112000"/>
              </a:lnSpc>
              <a:spcAft>
                <a:spcPts val="1000"/>
              </a:spcAft>
            </a:pPr>
            <a:r>
              <a:rPr sz="1300" b="1" i="0">
                <a:solidFill>
                  <a:srgbClr val="143C6E"/>
                </a:solidFill>
                <a:latin typeface="Calibri"/>
              </a:rPr>
              <a:t>Stop criteria, published at launch: </a:t>
            </a:r>
            <a:r>
              <a:rPr sz="1300" b="0" i="0">
                <a:solidFill>
                  <a:srgbClr val="5A6472"/>
                </a:solidFill>
                <a:latin typeface="Calibri"/>
              </a:rPr>
              <a:t>pause at a 20-minute standard-lane wait (provisional); suspend on any security event; do not renew below 40% cap utilization (provisional).</a:t>
            </a:r>
          </a:p>
          <a:p>
            <a:pPr>
              <a:lnSpc>
                <a:spcPct val="112000"/>
              </a:lnSpc>
              <a:spcAft>
                <a:spcPts val="1000"/>
              </a:spcAft>
            </a:pPr>
            <a:r>
              <a:rPr sz="1300" b="1" i="0">
                <a:solidFill>
                  <a:srgbClr val="143C6E"/>
                </a:solidFill>
                <a:latin typeface="Calibri"/>
              </a:rPr>
              <a:t>Duration: </a:t>
            </a:r>
            <a:r>
              <a:rPr sz="1300" b="0" i="0">
                <a:solidFill>
                  <a:srgbClr val="5A6472"/>
                </a:solidFill>
                <a:latin typeface="Calibri"/>
              </a:rPr>
              <a:t>Twelve months — a full seasonal cycle including one peak blackout — with renewal contingent on published criteria, not automatic.</a:t>
            </a:r>
          </a:p>
        </p:txBody>
      </p:sp>
      <p:sp>
        <p:nvSpPr>
          <p:cNvPr id="7" name="TextBox 6"/>
          <p:cNvSpPr txBox="1"/>
          <p:nvPr/>
        </p:nvSpPr>
        <p:spPr>
          <a:xfrm>
            <a:off x="685800" y="6291072"/>
            <a:ext cx="10180015" cy="411480"/>
          </a:xfrm>
          <a:prstGeom prst="rect">
            <a:avLst/>
          </a:prstGeom>
          <a:noFill/>
        </p:spPr>
        <p:txBody>
          <a:bodyPr wrap="square">
            <a:spAutoFit/>
          </a:bodyPr>
          <a:lstStyle/>
          <a:p>
            <a:r>
              <a:rPr sz="950" b="0" i="1">
                <a:solidFill>
                  <a:srgbClr val="8A96A6"/>
                </a:solidFill>
                <a:latin typeface="Calibri"/>
              </a:rPr>
              <a:t>Estimated all-in cost: $0.3M–$1.5M/year — analyst estimate, not a sourced total; to be confirmed with a bottom-up Houston cost model. Phase 0: landside programming needs no ASP amendment and can start now.</a:t>
            </a:r>
          </a:p>
        </p:txBody>
      </p:sp>
      <p:sp>
        <p:nvSpPr>
          <p:cNvPr id="8" name="TextBox 7"/>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56032"/>
            <a:ext cx="10820095" cy="320040"/>
          </a:xfrm>
          <a:prstGeom prst="rect">
            <a:avLst/>
          </a:prstGeom>
          <a:noFill/>
        </p:spPr>
        <p:txBody>
          <a:bodyPr wrap="square">
            <a:spAutoFit/>
          </a:bodyPr>
          <a:lstStyle/>
          <a:p>
            <a:r>
              <a:rPr sz="1100" b="1" i="0">
                <a:solidFill>
                  <a:srgbClr val="8A96A6"/>
                </a:solidFill>
                <a:latin typeface="Calibri"/>
              </a:rPr>
              <a:t>IMPLEMENTATION</a:t>
            </a:r>
          </a:p>
        </p:txBody>
      </p:sp>
      <p:sp>
        <p:nvSpPr>
          <p:cNvPr id="3" name="TextBox 2"/>
          <p:cNvSpPr txBox="1"/>
          <p:nvPr/>
        </p:nvSpPr>
        <p:spPr>
          <a:xfrm>
            <a:off x="685800" y="502920"/>
            <a:ext cx="10820095" cy="1371600"/>
          </a:xfrm>
          <a:prstGeom prst="rect">
            <a:avLst/>
          </a:prstGeom>
          <a:noFill/>
        </p:spPr>
        <p:txBody>
          <a:bodyPr wrap="square">
            <a:spAutoFit/>
          </a:bodyPr>
          <a:lstStyle/>
          <a:p>
            <a:pPr>
              <a:lnSpc>
                <a:spcPct val="105000"/>
              </a:lnSpc>
            </a:pPr>
            <a:r>
              <a:rPr sz="3000" b="1" i="0">
                <a:solidFill>
                  <a:srgbClr val="143C6E"/>
                </a:solidFill>
                <a:latin typeface="Georgia"/>
              </a:rPr>
              <a:t>The first 90 days: the security-program amendment, not vendor selection, is the critical path.</a:t>
            </a:r>
          </a:p>
        </p:txBody>
      </p:sp>
      <p:sp>
        <p:nvSpPr>
          <p:cNvPr id="4" name="Rectangle 3"/>
          <p:cNvSpPr/>
          <p:nvPr/>
        </p:nvSpPr>
        <p:spPr>
          <a:xfrm>
            <a:off x="685800" y="1691640"/>
            <a:ext cx="1097280" cy="381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03120"/>
            <a:ext cx="4023360" cy="1828800"/>
          </a:xfrm>
          <a:prstGeom prst="rect">
            <a:avLst/>
          </a:prstGeom>
          <a:noFill/>
        </p:spPr>
        <p:txBody>
          <a:bodyPr wrap="square">
            <a:spAutoFit/>
          </a:bodyPr>
          <a:lstStyle/>
          <a:p>
            <a:r>
              <a:rPr sz="4400" b="1" i="0">
                <a:solidFill>
                  <a:srgbClr val="143C6E"/>
                </a:solidFill>
                <a:latin typeface="Georgia"/>
              </a:rPr>
              <a:t>6–12 mo</a:t>
            </a:r>
          </a:p>
          <a:p>
            <a:pPr>
              <a:lnSpc>
                <a:spcPct val="110000"/>
              </a:lnSpc>
              <a:spcBef>
                <a:spcPts val="400"/>
              </a:spcBef>
            </a:pPr>
            <a:r>
              <a:rPr sz="1200" b="0" i="0">
                <a:solidFill>
                  <a:srgbClr val="5A6472"/>
                </a:solidFill>
                <a:latin typeface="Calibri"/>
              </a:rPr>
              <a:t>Realistic TSA timeline for the Airport Security Program amendment — a discretionary, revocable permission on the Federal Security Director’s calendar, which no vendor selection can shorten</a:t>
            </a:r>
          </a:p>
        </p:txBody>
      </p:sp>
      <p:sp>
        <p:nvSpPr>
          <p:cNvPr id="6" name="TextBox 5"/>
          <p:cNvSpPr txBox="1"/>
          <p:nvPr/>
        </p:nvSpPr>
        <p:spPr>
          <a:xfrm>
            <a:off x="5120640" y="2103120"/>
            <a:ext cx="6400800" cy="4389120"/>
          </a:xfrm>
          <a:prstGeom prst="rect">
            <a:avLst/>
          </a:prstGeom>
          <a:noFill/>
        </p:spPr>
        <p:txBody>
          <a:bodyPr wrap="square">
            <a:spAutoFit/>
          </a:bodyPr>
          <a:lstStyle/>
          <a:p>
            <a:pPr>
              <a:lnSpc>
                <a:spcPct val="112000"/>
              </a:lnSpc>
              <a:spcAft>
                <a:spcPts val="1000"/>
              </a:spcAft>
            </a:pPr>
            <a:r>
              <a:rPr sz="1350" b="1" i="0">
                <a:solidFill>
                  <a:srgbClr val="143C6E"/>
                </a:solidFill>
                <a:latin typeface="Calibri"/>
              </a:rPr>
              <a:t>File the ASP amendment with the Federal Security Director </a:t>
            </a:r>
            <a:r>
              <a:rPr sz="1350" b="0" i="0">
                <a:solidFill>
                  <a:srgbClr val="5A6472"/>
                </a:solidFill>
                <a:latin typeface="Calibri"/>
              </a:rPr>
              <a:t>in week one, and manage to its calendar.</a:t>
            </a:r>
          </a:p>
          <a:p>
            <a:pPr>
              <a:lnSpc>
                <a:spcPct val="112000"/>
              </a:lnSpc>
              <a:spcAft>
                <a:spcPts val="1000"/>
              </a:spcAft>
            </a:pPr>
            <a:r>
              <a:rPr sz="1350" b="1" i="0">
                <a:solidFill>
                  <a:srgbClr val="143C6E"/>
                </a:solidFill>
                <a:latin typeface="Calibri"/>
              </a:rPr>
              <a:t>Brief City Council before they read the line item </a:t>
            </a:r>
            <a:r>
              <a:rPr sz="1350" b="0" i="0">
                <a:solidFill>
                  <a:srgbClr val="5A6472"/>
                </a:solidFill>
                <a:latin typeface="Calibri"/>
              </a:rPr>
              <a:t>as “spending so non-passengers can shop” — and hand communications the labor rebuttal in advance: identical screening, watch-list vetted, capped, sheddable.</a:t>
            </a:r>
          </a:p>
          <a:p>
            <a:pPr>
              <a:lnSpc>
                <a:spcPct val="112000"/>
              </a:lnSpc>
              <a:spcAft>
                <a:spcPts val="1000"/>
              </a:spcAft>
            </a:pPr>
            <a:r>
              <a:rPr sz="1350" b="1" i="0">
                <a:solidFill>
                  <a:srgbClr val="143C6E"/>
                </a:solidFill>
                <a:latin typeface="Calibri"/>
              </a:rPr>
              <a:t>Confirm how the use-and-lease agreement treats visitor concession revenue, </a:t>
            </a:r>
            <a:r>
              <a:rPr sz="1350" b="0" i="0">
                <a:solidFill>
                  <a:srgbClr val="5A6472"/>
                </a:solidFill>
                <a:latin typeface="Calibri"/>
              </a:rPr>
              <a:t>so the funding decision rests on fact rather than assumption.</a:t>
            </a:r>
          </a:p>
          <a:p>
            <a:pPr>
              <a:lnSpc>
                <a:spcPct val="112000"/>
              </a:lnSpc>
              <a:spcAft>
                <a:spcPts val="1000"/>
              </a:spcAft>
            </a:pPr>
            <a:r>
              <a:rPr sz="1350" b="1" i="0">
                <a:solidFill>
                  <a:srgbClr val="143C6E"/>
                </a:solidFill>
                <a:latin typeface="Calibri"/>
              </a:rPr>
              <a:t>Draft the throttle protocol, blackout calendar, and published stop criteria </a:t>
            </a:r>
            <a:r>
              <a:rPr sz="1350" b="0" i="0">
                <a:solidFill>
                  <a:srgbClr val="5A6472"/>
                </a:solidFill>
                <a:latin typeface="Calibri"/>
              </a:rPr>
              <a:t>with the operations center and the public-safety chair.</a:t>
            </a:r>
          </a:p>
          <a:p>
            <a:pPr>
              <a:lnSpc>
                <a:spcPct val="112000"/>
              </a:lnSpc>
              <a:spcAft>
                <a:spcPts val="1000"/>
              </a:spcAft>
            </a:pPr>
            <a:r>
              <a:rPr sz="1350" b="1" i="0">
                <a:solidFill>
                  <a:srgbClr val="143C6E"/>
                </a:solidFill>
                <a:latin typeface="Calibri"/>
              </a:rPr>
              <a:t>Negotiate the written HPD/HFD staffing understanding </a:t>
            </a:r>
            <a:r>
              <a:rPr sz="1350" b="0" i="0">
                <a:solidFill>
                  <a:srgbClr val="5A6472"/>
                </a:solidFill>
                <a:latin typeface="Calibri"/>
              </a:rPr>
              <a:t>before booking a benefit whose cost lands on departments the airport does not command.</a:t>
            </a:r>
          </a:p>
        </p:txBody>
      </p:sp>
      <p:sp>
        <p:nvSpPr>
          <p:cNvPr id="7" name="TextBox 6"/>
          <p:cNvSpPr txBox="1"/>
          <p:nvPr/>
        </p:nvSpPr>
        <p:spPr>
          <a:xfrm>
            <a:off x="11277295" y="6446520"/>
            <a:ext cx="548640" cy="274320"/>
          </a:xfrm>
          <a:prstGeom prst="rect">
            <a:avLst/>
          </a:prstGeom>
          <a:noFill/>
        </p:spPr>
        <p:txBody>
          <a:bodyPr wrap="square">
            <a:spAutoFit/>
          </a:bodyPr>
          <a:lstStyle/>
          <a:p>
            <a:pPr algn="r"/>
            <a:r>
              <a:rPr sz="1000" b="0" i="0">
                <a:solidFill>
                  <a:srgbClr val="8A96A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926080"/>
          </a:xfrm>
          <a:prstGeom prst="rect">
            <a:avLst/>
          </a:prstGeom>
          <a:noFill/>
        </p:spPr>
        <p:txBody>
          <a:bodyPr wrap="square">
            <a:spAutoFit/>
          </a:bodyPr>
          <a:lstStyle/>
          <a:p>
            <a:pPr>
              <a:lnSpc>
                <a:spcPct val="115000"/>
              </a:lnSpc>
            </a:pPr>
            <a:r>
              <a:rPr sz="3200" b="1" i="0">
                <a:solidFill>
                  <a:srgbClr val="FFFFFF"/>
                </a:solidFill>
                <a:latin typeface="Georgia"/>
              </a:rPr>
              <a:t>The question is not whether Houston can afford the velvet rope.</a:t>
            </a:r>
          </a:p>
          <a:p>
            <a:pPr>
              <a:lnSpc>
                <a:spcPct val="120000"/>
              </a:lnSpc>
              <a:spcBef>
                <a:spcPts val="2000"/>
              </a:spcBef>
            </a:pPr>
            <a:r>
              <a:rPr sz="2400" b="0" i="0">
                <a:solidFill>
                  <a:srgbClr val="C9D6E8"/>
                </a:solidFill>
                <a:latin typeface="Georgia"/>
              </a:rPr>
              <a:t>It is whether it has the discipline to keep the rope small, to hang it at the right door, and to take it down without apology on the mornings the line already runs to the arrivals hall.</a:t>
            </a:r>
          </a:p>
        </p:txBody>
      </p:sp>
      <p:sp>
        <p:nvSpPr>
          <p:cNvPr id="4" name="TextBox 3"/>
          <p:cNvSpPr txBox="1"/>
          <p:nvPr/>
        </p:nvSpPr>
        <p:spPr>
          <a:xfrm>
            <a:off x="914400" y="5669280"/>
            <a:ext cx="10332720" cy="548640"/>
          </a:xfrm>
          <a:prstGeom prst="rect">
            <a:avLst/>
          </a:prstGeom>
          <a:noFill/>
        </p:spPr>
        <p:txBody>
          <a:bodyPr wrap="square">
            <a:spAutoFit/>
          </a:bodyPr>
          <a:lstStyle/>
          <a:p>
            <a:r>
              <a:rPr sz="1500" b="0" i="1">
                <a:solidFill>
                  <a:srgbClr val="9AB0CC"/>
                </a:solidFill>
                <a:latin typeface="Calibri"/>
              </a:rPr>
              <a:t>The test, in 2030: does this sit in a footnote — or across the negotiating table?</a:t>
            </a:r>
          </a:p>
        </p:txBody>
      </p:sp>
      <p:sp>
        <p:nvSpPr>
          <p:cNvPr id="5" name="Rectangle 4"/>
          <p:cNvSpPr/>
          <p:nvPr/>
        </p:nvSpPr>
        <p:spPr>
          <a:xfrm>
            <a:off x="914400" y="1828800"/>
            <a:ext cx="128016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000" b="0" i="0">
                <a:solidFill>
                  <a:srgbClr val="9AB0CC"/>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