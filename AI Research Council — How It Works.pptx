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28216417be47e0" /><Relationship Type="http://schemas.openxmlformats.org/officeDocument/2006/relationships/extended-properties" Target="/docProps/app.xml" Id="Rd662bba4a9ca43cb" /><Relationship Type="http://schemas.openxmlformats.org/officeDocument/2006/relationships/officeDocument" Target="/ppt/presentation.xml" Id="Rd658d8ec15ac40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88f8422322c4f36"/>
  </p:sldMasterIdLst>
  <p:notesMasterIdLst>
    <p:notesMasterId xmlns:r="http://schemas.openxmlformats.org/officeDocument/2006/relationships" r:id="R74d6a2b9c9ff4b7a"/>
  </p:notesMasterIdLst>
  <p:sldIdLst>
    <p:sldId xmlns:r="http://schemas.openxmlformats.org/officeDocument/2006/relationships" id="256" r:id="R3eea258603794fef"/>
    <p:sldId xmlns:r="http://schemas.openxmlformats.org/officeDocument/2006/relationships" id="257" r:id="Re223e863b97a4dbb"/>
    <p:sldId xmlns:r="http://schemas.openxmlformats.org/officeDocument/2006/relationships" id="258" r:id="R23b2f828268b4e7e"/>
    <p:sldId xmlns:r="http://schemas.openxmlformats.org/officeDocument/2006/relationships" id="259" r:id="Ra5e52708b495444f"/>
    <p:sldId xmlns:r="http://schemas.openxmlformats.org/officeDocument/2006/relationships" id="260" r:id="R43eed890959045d3"/>
    <p:sldId xmlns:r="http://schemas.openxmlformats.org/officeDocument/2006/relationships" id="261" r:id="Rd55bebd1ad1a487e"/>
    <p:sldId xmlns:r="http://schemas.openxmlformats.org/officeDocument/2006/relationships" id="262" r:id="R4db820eb672249c6"/>
    <p:sldId xmlns:r="http://schemas.openxmlformats.org/officeDocument/2006/relationships" id="263" r:id="Rf9e34da88f2b4dff"/>
    <p:sldId xmlns:r="http://schemas.openxmlformats.org/officeDocument/2006/relationships" id="264" r:id="Re936cae858594b92"/>
    <p:sldId xmlns:r="http://schemas.openxmlformats.org/officeDocument/2006/relationships" id="265" r:id="R728fc3a1e49f496d"/>
    <p:sldId xmlns:r="http://schemas.openxmlformats.org/officeDocument/2006/relationships" id="266" r:id="R1e26b2c3248c4195"/>
    <p:sldId xmlns:r="http://schemas.openxmlformats.org/officeDocument/2006/relationships" id="267" r:id="Rc79cb41491854afd"/>
    <p:sldId xmlns:r="http://schemas.openxmlformats.org/officeDocument/2006/relationships" id="268" r:id="Rb10bcd02d3c94266"/>
  </p:sldIdLst>
  <p:sldSz cx="12191999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61ce1f6864c0e" /><Relationship Type="http://schemas.openxmlformats.org/officeDocument/2006/relationships/slideMaster" Target="/ppt/slideMasters/slideMaster1.xml" Id="Rc88f8422322c4f36" /><Relationship Type="http://schemas.openxmlformats.org/officeDocument/2006/relationships/notesMaster" Target="/ppt/notesMasters/notesMaster1.xml" Id="R74d6a2b9c9ff4b7a" /><Relationship Type="http://schemas.openxmlformats.org/officeDocument/2006/relationships/presProps" Target="/ppt/presProps.xml" Id="R2e8c3a5988114c62" /><Relationship Type="http://schemas.openxmlformats.org/officeDocument/2006/relationships/viewProps" Target="/ppt/viewProps.xml" Id="R9ea5eaa9e5ec478d" /><Relationship Type="http://schemas.openxmlformats.org/officeDocument/2006/relationships/tableStyles" Target="/ppt/tableStyles.xml" Id="R3952caaf141b4465" /><Relationship Type="http://schemas.openxmlformats.org/officeDocument/2006/relationships/slide" Target="/ppt/slides/slide1.xml" Id="R3eea258603794fef" /><Relationship Type="http://schemas.openxmlformats.org/officeDocument/2006/relationships/slide" Target="/ppt/slides/slide2.xml" Id="Re223e863b97a4dbb" /><Relationship Type="http://schemas.openxmlformats.org/officeDocument/2006/relationships/slide" Target="/ppt/slides/slide3.xml" Id="R23b2f828268b4e7e" /><Relationship Type="http://schemas.openxmlformats.org/officeDocument/2006/relationships/slide" Target="/ppt/slides/slide4.xml" Id="Ra5e52708b495444f" /><Relationship Type="http://schemas.openxmlformats.org/officeDocument/2006/relationships/slide" Target="/ppt/slides/slide5.xml" Id="R43eed890959045d3" /><Relationship Type="http://schemas.openxmlformats.org/officeDocument/2006/relationships/slide" Target="/ppt/slides/slide6.xml" Id="Rd55bebd1ad1a487e" /><Relationship Type="http://schemas.openxmlformats.org/officeDocument/2006/relationships/slide" Target="/ppt/slides/slide7.xml" Id="R4db820eb672249c6" /><Relationship Type="http://schemas.openxmlformats.org/officeDocument/2006/relationships/slide" Target="/ppt/slides/slide8.xml" Id="Rf9e34da88f2b4dff" /><Relationship Type="http://schemas.openxmlformats.org/officeDocument/2006/relationships/slide" Target="/ppt/slides/slide9.xml" Id="Re936cae858594b92" /><Relationship Type="http://schemas.openxmlformats.org/officeDocument/2006/relationships/slide" Target="/ppt/slides/slide10.xml" Id="R728fc3a1e49f496d" /><Relationship Type="http://schemas.openxmlformats.org/officeDocument/2006/relationships/slide" Target="/ppt/slides/slide11.xml" Id="R1e26b2c3248c4195" /><Relationship Type="http://schemas.openxmlformats.org/officeDocument/2006/relationships/slide" Target="/ppt/slides/slide12.xml" Id="Rc79cb41491854afd" /><Relationship Type="http://schemas.openxmlformats.org/officeDocument/2006/relationships/slide" Target="/ppt/slides/slide13.xml" Id="Rb10bcd02d3c942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fc6eeeeb2547d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bebf9036942dd" /><Relationship Type="http://schemas.openxmlformats.org/officeDocument/2006/relationships/notesMaster" Target="/ppt/notesMasters/notesMaster1.xml" Id="R22d1ff6179c642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3b57444e92422d" /><Relationship Type="http://schemas.openxmlformats.org/officeDocument/2006/relationships/notesMaster" Target="/ppt/notesMasters/notesMaster1.xml" Id="R9fa2593edabc45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5875e3d7a04fac" /><Relationship Type="http://schemas.openxmlformats.org/officeDocument/2006/relationships/notesMaster" Target="/ppt/notesMasters/notesMaster1.xml" Id="R4f0dd3cd9a4c41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88b4a1fe54b48" /><Relationship Type="http://schemas.openxmlformats.org/officeDocument/2006/relationships/notesMaster" Target="/ppt/notesMasters/notesMaster1.xml" Id="Rc209047f805148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475031ea854d74" /><Relationship Type="http://schemas.openxmlformats.org/officeDocument/2006/relationships/notesMaster" Target="/ppt/notesMasters/notesMaster1.xml" Id="R2368088b71a349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12e741d3a34671" /><Relationship Type="http://schemas.openxmlformats.org/officeDocument/2006/relationships/notesMaster" Target="/ppt/notesMasters/notesMaster1.xml" Id="R9ccca19f1c0d44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c9da3a503549cd" /><Relationship Type="http://schemas.openxmlformats.org/officeDocument/2006/relationships/notesMaster" Target="/ppt/notesMasters/notesMaster1.xml" Id="R6547aaa669ea46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e0d4e2984c0462c" /><Relationship Type="http://schemas.openxmlformats.org/officeDocument/2006/relationships/notesMaster" Target="/ppt/notesMasters/notesMaster1.xml" Id="R77d32e9f9c174e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bd069e6e62a4eab" /><Relationship Type="http://schemas.openxmlformats.org/officeDocument/2006/relationships/notesMaster" Target="/ppt/notesMasters/notesMaster1.xml" Id="Rbaf6b6871f9745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2a24d14ea54bdc" /><Relationship Type="http://schemas.openxmlformats.org/officeDocument/2006/relationships/notesMaster" Target="/ppt/notesMasters/notesMaster1.xml" Id="R985473f9bbd44c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65ee8c2adb24acd" /><Relationship Type="http://schemas.openxmlformats.org/officeDocument/2006/relationships/notesMaster" Target="/ppt/notesMasters/notesMaster1.xml" Id="R6334af2ba82a41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4c58c238ae44a0" /><Relationship Type="http://schemas.openxmlformats.org/officeDocument/2006/relationships/notesMaster" Target="/ppt/notesMasters/notesMaster1.xml" Id="R38df36a65f524d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118d53b92a9453f" /><Relationship Type="http://schemas.openxmlformats.org/officeDocument/2006/relationships/notesMaster" Target="/ppt/notesMasters/notesMaster1.xml" Id="R900bbefef83e41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Communication job: By the end, airport executives and board members should understand how the Council produces a defensible decision package because independent research becomes curated evidence, survives two distinct challenges, is verified in fresh context, and cannot release without traceable QA.</a:t>
            </a:r>
          </a:p>
          <a:p xmlns:a="http://schemas.openxmlformats.org/drawingml/2006/main"/>
          <a:p xmlns:a="http://schemas.openxmlformats.org/drawingml/2006/main">
            <a:r>
              <a:t>Sources: README.md; prompts/orchestration.md; cli/orchestrator.py; cli/agents.py; council.toml. Repository reviewed 23 July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“How a run works”; prompts/orchestration.md; cli/orchestrator.py PIPELINE_DEFINITION and run_pipeline().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cli/agents.py RESEARCH_AGENT_NAMES, SUPPLEMENTAL_AGENT_NAMES, PROCESS_AGENT_NAMES; .claude/agents/ (54 current definitions); tests/test_council_v2_registry.py.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.claude/agents/airport-context-builder.md; prompts/orchestration.md “Public stage 1”; cli/orchestrator.py airport-context pipeline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prompts/research-contract.md; prompts/orchestration.md; cli/orchestrator.py run_stage1(); cli/evidence.py; .claude/agents/evidence-curator.md.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cli/evidence.py; cli/quality_gate.py; prompts/orchestration.md “Edit, verify, and release gate”; docs/methodology.md “Evidence is a typed artifact”; cli/orchestrator.py run_quality_gate_with_remediation().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.claude/agents/creative-director.md; .claude/agents/strategist.md; cli/orchestrator.py _stage2_prompts() and PIPELINE_DEFINITION.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.claude/agents/evidence-prosecutor.md; .claude/agents/airport-executive-reviewer.md; prompts/orchestration.md “Creative framing and adversarial synthesis”; cli/orchestrator.py PIPELINE_DEFINITION.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.claude/agents/editor.md; .claude/agents/humanizer.md; .claude/agents/fact-checker.md; cli/config.py DEFAULT_MODELS; council.toml; cli/orchestrator.py _stage3_prompts() and run_stage3().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council.toml; cli/config.py; cli/orchestrator.py CostTally, _run_agent(), _run_openai_deep_research(); tests/test_orchestrator_runtime.py; docs/how-to-run.md budget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cli/events.py WebSink; cli/server.py WebSocket stream and active run registry; cli/webapp/app.js event handling; docs/how-to-run.md “Live agent telemetry”; tests/test_events.py.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V1 already used multiple specialists and a structured synthesis pipeline. V2 preserves that parallel speed, then adds shared airport context, claim-level evidence custody, two distinct adversarial reviews, independent source verification, rendered visual QA, resumable receipts, and live operating telemetry. The upgrade is governance around the intelligence—not simply more agents.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.claude/agents/art-director.md; .claude/agents/presentation-designer.md; cli/docx_builder.py; cli/presentation_qa.py; cli/publishing_quality.py; cli/run_manifest.py; cli/archive.py; cli/publish.py; prompts/orchestration.md.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72535c412402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ee9d9ca2dd49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ca45aad62e4ec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2f6919e91499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b425e909ed4e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bc39f90b2f4ad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e0e57a940843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e46f465516475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147f1ff9c143b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91d526067436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525fe2c4d4577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63165D-EE5E-41EE-B6EF-3DCFF257CE0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DE50C8A4-5D4D-47DC-9473-52CD650EC1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7615044-F297-45B0-A7D3-EF684F906D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385B8F0-8E22-486A-9AD1-3C71BF48AD9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3BD26F-193C-45BC-B2F3-43AFDF7F39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2DD397-6951-4F70-9EC9-F741592E48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9180CB-1E9D-4982-A415-4DD42E97A0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D9AF450-7702-4F8A-BF17-F5D44954FF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DC4C4BE-395D-44C0-B518-D71CCBB734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3EBF9E-E312-45EE-AA25-084E0CD727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8D97EB-77E9-42D1-BA06-1D2B59117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C72C02-F642-4558-BF9D-BE9463BD4C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D378A7-CCE1-46C4-BC0C-4385CF53C1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1179DE-C367-4805-B906-6ED1F9F70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EFB87B-719C-4596-8A93-722D777B70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6C6A9D-89C4-40B6-A8C8-DD8BF9B88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CD116F3-6D01-4754-BEA2-30732073E0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88A6D243-7531-4C64-8345-125BF84F822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A78F54A5-89ED-4BAF-86DC-A4494B8559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FF16A9C-0B9B-4742-B8AB-34C632F31A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81AC5BF2-97F1-4210-80C0-256BF0998D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15496E1-737D-4527-8342-FBB8AF0B77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E26EB0-102A-4869-AF27-A39E194E34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7143CDD-F04B-4B86-85C2-7A21D678367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ED26C09-5DE2-43FA-878B-2B3BDE37B43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B28A13C-1806-4D5E-9A9A-E3F304A2BAC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FC3C92D2-9C39-4631-ADC7-8C21E2880F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06CBF17-AF5C-4D86-A628-9A87C28911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F767C28-6367-4FB2-9460-A1F7442C15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4B44D25-1D80-460F-8C30-87BE459E5C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0DC12D6-6CBC-4E73-9BD5-CF1F27144C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60D4C3E-3B8B-46B5-8D52-0E2EBE5CF4A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650F2CB-F9D8-4E04-9B20-45CC3CEB25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FDE10C3-FADA-406A-B41E-1D5139F88A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BB1B276-43E2-4F40-8140-A86D3BDB7E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9361496-76D5-40A2-A960-D1A2E459273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5F208B-5DD8-4758-A174-605454384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F9705BF-9B93-4E7F-BB12-80A87EA5F4A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AB2A482-03C5-43AC-AF82-F5CE0025A5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8F682C-B17E-4875-B903-CE0E07EEE3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9BAC01C-B6E9-492B-9FAA-90C1E499F9D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4D746CF-4763-46D4-A4B7-A5713B8C0B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BF7089-F69F-4995-AB22-886CF23CE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FBA91205-260F-4C08-8792-EFDCDC328FC9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E9CEB4B-B7C8-4F6F-A632-09CFA94A2F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40E83C7-0B01-4673-8167-6910AE0910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A314E37-3F5F-437F-BEC9-37E42CD8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993DB8-02B4-421D-BA52-4F1F18FDC4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BD79D6C-DFF6-4B84-8DAD-0FF98D4C0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D8F80D0-F4E0-4A6F-9B69-5BE036B743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C59AD12-EDB5-432C-8F64-86DBE4A7C0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A96AA9-CDAC-43A0-BCB2-21D17B4FE9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5AD85-59E6-4ADE-A988-8DF3480532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23EEE0F-B54B-4AFE-96A4-6D8C1ECD3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6FA616E-0FEE-4FF5-8054-624E254432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49EDF72-F268-4125-AA72-946041C961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E71C4C8-7BB7-4619-97B1-84DA885838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4BA6DB-77CB-4FE0-AA82-979D714291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49423a3a02475d" /><Relationship Type="http://schemas.openxmlformats.org/officeDocument/2006/relationships/slideLayout" Target="/ppt/slideLayouts/slideLayout1.xml" Id="Ra6a7c73c4b674b31" /><Relationship Type="http://schemas.openxmlformats.org/officeDocument/2006/relationships/slideLayout" Target="/ppt/slideLayouts/slideLayout2.xml" Id="Rb0318212e0634d2c" /><Relationship Type="http://schemas.openxmlformats.org/officeDocument/2006/relationships/slideLayout" Target="/ppt/slideLayouts/slideLayout3.xml" Id="R4be504bf665c443c" /><Relationship Type="http://schemas.openxmlformats.org/officeDocument/2006/relationships/slideLayout" Target="/ppt/slideLayouts/slideLayout4.xml" Id="R67db285f8b3d4f22" /><Relationship Type="http://schemas.openxmlformats.org/officeDocument/2006/relationships/slideLayout" Target="/ppt/slideLayouts/slideLayout5.xml" Id="R5226e4d975034143" /><Relationship Type="http://schemas.openxmlformats.org/officeDocument/2006/relationships/slideLayout" Target="/ppt/slideLayouts/slideLayout6.xml" Id="R384df3a639044ad2" /><Relationship Type="http://schemas.openxmlformats.org/officeDocument/2006/relationships/slideLayout" Target="/ppt/slideLayouts/slideLayout7.xml" Id="R324c5319a5d545a3" /><Relationship Type="http://schemas.openxmlformats.org/officeDocument/2006/relationships/slideLayout" Target="/ppt/slideLayouts/slideLayout8.xml" Id="R2d4ce1c9308344c6" /><Relationship Type="http://schemas.openxmlformats.org/officeDocument/2006/relationships/slideLayout" Target="/ppt/slideLayouts/slideLayout9.xml" Id="R7473cd661c0a48d0" /><Relationship Type="http://schemas.openxmlformats.org/officeDocument/2006/relationships/slideLayout" Target="/ppt/slideLayouts/slideLayout10.xml" Id="Rc518872bd3e0489c" /><Relationship Type="http://schemas.openxmlformats.org/officeDocument/2006/relationships/slideLayout" Target="/ppt/slideLayouts/slideLayout11.xml" Id="Rb4f0325fa0df46a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0EB311E-C091-413F-ADAB-132D0C9E64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08EF2E7-094B-4ACC-B9A5-D07D52BE28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E4BD392-DCDD-4EBF-AC74-88561C4C3F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279201-8430-4F59-94B3-DE9C62C679B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C3EB83C-917F-445B-9A7B-A244BD68AE0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a7c73c4b674b31"/>
    <p:sldLayoutId xmlns:r="http://schemas.openxmlformats.org/officeDocument/2006/relationships" id="2147483650" r:id="Rb0318212e0634d2c"/>
    <p:sldLayoutId xmlns:r="http://schemas.openxmlformats.org/officeDocument/2006/relationships" id="2147483651" r:id="R4be504bf665c443c"/>
    <p:sldLayoutId xmlns:r="http://schemas.openxmlformats.org/officeDocument/2006/relationships" id="2147483652" r:id="R67db285f8b3d4f22"/>
    <p:sldLayoutId xmlns:r="http://schemas.openxmlformats.org/officeDocument/2006/relationships" id="2147483653" r:id="R5226e4d975034143"/>
    <p:sldLayoutId xmlns:r="http://schemas.openxmlformats.org/officeDocument/2006/relationships" id="2147483654" r:id="R384df3a639044ad2"/>
    <p:sldLayoutId xmlns:r="http://schemas.openxmlformats.org/officeDocument/2006/relationships" id="2147483655" r:id="R324c5319a5d545a3"/>
    <p:sldLayoutId xmlns:r="http://schemas.openxmlformats.org/officeDocument/2006/relationships" id="2147483656" r:id="R2d4ce1c9308344c6"/>
    <p:sldLayoutId xmlns:r="http://schemas.openxmlformats.org/officeDocument/2006/relationships" id="2147483657" r:id="R7473cd661c0a48d0"/>
    <p:sldLayoutId xmlns:r="http://schemas.openxmlformats.org/officeDocument/2006/relationships" id="2147483658" r:id="Rc518872bd3e0489c"/>
    <p:sldLayoutId xmlns:r="http://schemas.openxmlformats.org/officeDocument/2006/relationships" id="2147483659" r:id="Rb4f0325fa0df46ab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c8212228c3d4cc9" /><Relationship Type="http://schemas.openxmlformats.org/officeDocument/2006/relationships/image" Target="/ppt/media/image.png" Id="R5206347eed1a4268" /><Relationship Type="http://schemas.openxmlformats.org/officeDocument/2006/relationships/notesSlide" Target="/ppt/notesSlides/notesSlide1.xml" Id="R3b6afa748bfc43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99f83897c71419e" /><Relationship Type="http://schemas.openxmlformats.org/officeDocument/2006/relationships/notesSlide" Target="/ppt/notesSlides/notesSlide2.xml" Id="R6111580ffbfd4c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2ac2ababc848c3" /><Relationship Type="http://schemas.openxmlformats.org/officeDocument/2006/relationships/notesSlide" Target="/ppt/notesSlides/notesSlide3.xml" Id="Rb1f304f1f3f647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b652f1de62b46ee" /><Relationship Type="http://schemas.openxmlformats.org/officeDocument/2006/relationships/notesSlide" Target="/ppt/notesSlides/notesSlide4.xml" Id="R1475cc02edf746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5b13ff1d364da0" /><Relationship Type="http://schemas.openxmlformats.org/officeDocument/2006/relationships/notesSlide" Target="/ppt/notesSlides/notesSlide5.xml" Id="R61ae4023999a42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4472f07e3244da" /><Relationship Type="http://schemas.openxmlformats.org/officeDocument/2006/relationships/notesSlide" Target="/ppt/notesSlides/notesSlide6.xml" Id="R4bdace24a2c44b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c4c82b99e24e34" /><Relationship Type="http://schemas.openxmlformats.org/officeDocument/2006/relationships/notesSlide" Target="/ppt/notesSlides/notesSlide7.xml" Id="R6e6d34d07db44d4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14b9b39fe74c63" /><Relationship Type="http://schemas.openxmlformats.org/officeDocument/2006/relationships/notesSlide" Target="/ppt/notesSlides/notesSlide8.xml" Id="Rdfb5cb46564b45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f9936ec7c174927" /><Relationship Type="http://schemas.openxmlformats.org/officeDocument/2006/relationships/notesSlide" Target="/ppt/notesSlides/notesSlide9.xml" Id="R8d0ffa2b1b0447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afa21159bc4c97" /><Relationship Type="http://schemas.openxmlformats.org/officeDocument/2006/relationships/notesSlide" Target="/ppt/notesSlides/notesSlide10.xml" Id="R6786530014b749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08da73bf2947e6" /><Relationship Type="http://schemas.openxmlformats.org/officeDocument/2006/relationships/notesSlide" Target="/ppt/notesSlides/notesSlide11.xml" Id="R217b36df2caa44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b5ead16dec46fd" /><Relationship Type="http://schemas.openxmlformats.org/officeDocument/2006/relationships/notesSlide" Target="/ppt/notesSlides/notesSlide12.xml" Id="Rb0452a0754704f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fb424f8fbb428f" /><Relationship Type="http://schemas.openxmlformats.org/officeDocument/2006/relationships/notesSlide" Target="/ppt/notesSlides/notesSlide13.xml" Id="Rf8e411d3674345b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E18B105-9EAB-4F3D-965D-D7D735EB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TRANSFORM AIRPORTS / COUNCIL V2</a:t>
            </a:r>
          </a:p>
        </p:txBody>
      </p:sp>
      <p:pic>
        <p:nvPicPr>
          <p:cNvPr id="12" name="MWAA Strategy and Operational Performanc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6347eed1a42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9560" y="310896"/>
            <a:ext cx="3703320" cy="1444295"/>
          </a:xfrm>
          <a:prstGeom xmlns:a="http://schemas.openxmlformats.org/drawingml/2006/main" prst="rect">
            <a:avLst/>
          </a:prstGeom>
        </p:spPr>
      </p:pic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B1838FA3-B51F-468E-A924-F27F06AA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9222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C89C10D-B1CF-4FB9-A851-3AB437F8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12848"/>
            <a:ext cx="758952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How the AI Research</a:t>
            </a:r>
          </a:p>
          <a:p xmlns:a="http://schemas.openxmlformats.org/drawingml/2006/main"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Council works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91D5798-9E29-47B0-8077-7069B5D8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681728"/>
            <a:ext cx="1060704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One contested thesis in. Airport context, independent evidence, two distinct challenges, source verification and a governed executive packet out.</a:t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FE4BAB4D-912C-4FB3-9817-398440DE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998464"/>
            <a:ext cx="54864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F23ADE8-D308-46C2-BD9B-D7FEF721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852160"/>
            <a:ext cx="3886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CODE-REVIEWED CURRENT SYSTEM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1E6B6D4-5601-48FE-BE06-791092B1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5852160"/>
            <a:ext cx="187451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23 July 2026</a:t>
            </a:r>
          </a:p>
        </p:txBody>
      </p:sp>
    </p:spTree>
    <p:extLst>
      <p:ext uri="{BB962C8B-B14F-4D97-AF65-F5344CB8AC3E}">
        <p14:creationId xmlns:p14="http://schemas.microsoft.com/office/powerpoint/2010/main" val="10621278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4DC31DD-253E-4AE5-96E1-7BD294AD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One question moves through a governed line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23F89322-0905-46BA-BBBF-E727CDBF0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C84F969D-BB36-4E54-9F8C-EAE17157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2-source">
            <a:extLst xmlns:a="http://schemas.openxmlformats.org/drawingml/2006/main">
              <a:ext uri="{FF2B5EF4-FFF2-40B4-BE49-F238E27FC236}">
                <a16:creationId xmlns:a16="http://schemas.microsoft.com/office/drawing/2014/main" id="{C7329158-EDEE-47DA-B843-0FC5BEC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Council v2 operating contract and executable pipeline · repository review, 23 Jul 2026</a:t>
            </a:r>
          </a:p>
        </p:txBody>
      </p:sp>
      <p:sp>
        <p:nvSpPr>
          <p:cNvPr id="6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314F6F15-C5DF-4ED8-BE04-D4F3BAD5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9B4780D-BF93-40E6-86D5-F1E61434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961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No model researches, writes and approves its own answer.</a:t>
            </a:r>
          </a:p>
        </p:txBody>
      </p:sp>
      <p:sp>
        <p:nvSpPr>
          <p:cNvPr id="8" name="Right Arrow 7">
            <a:extLst xmlns:a="http://schemas.openxmlformats.org/drawingml/2006/main">
              <a:ext uri="{FF2B5EF4-FFF2-40B4-BE49-F238E27FC236}">
                <a16:creationId xmlns:a16="http://schemas.microsoft.com/office/drawing/2014/main" id="{F3CC9128-609B-427C-89F1-75CDEE18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2848" y="3355848"/>
            <a:ext cx="310896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8100FCB2-36B4-4D70-A6A2-CC7141E7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3944" y="3355848"/>
            <a:ext cx="310896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01EA350E-9EEA-4EC2-8CF8-CA53E24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355848"/>
            <a:ext cx="310896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D7C518A7-4FF3-4917-808F-1A52113E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6136" y="3355848"/>
            <a:ext cx="310896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5DC04DF9-F110-4664-9DAE-431741B7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3355848"/>
            <a:ext cx="310896" cy="128016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9307981-A23F-46CF-AE03-30CAEC78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16276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88A4EB1-0415-41F2-9B96-1E087E3C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990088"/>
            <a:ext cx="14081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Airport context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AD3E975-49F5-4D01-B595-749270FD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369417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shared facts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B23C87-DED7-4095-BC63-AA543550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2743200"/>
            <a:ext cx="16276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3F4B0B8-1F0B-421E-9C5C-2632081D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3744" y="2990088"/>
            <a:ext cx="14081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E84A5"/>
                </a:solidFill>
                <a:latin typeface="Georgia"/>
                <a:ea typeface="Georgia"/>
                <a:cs typeface="Georgia"/>
              </a:rPr>
              <a:t>Independent research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45D415-F340-492B-819E-698BE48C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369417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separate briefs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E2256A2-C512-49FD-BDD4-A752777B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743200"/>
            <a:ext cx="16276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6BD94D9-45C6-4EF1-99F3-387A744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990088"/>
            <a:ext cx="14081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4745C"/>
                </a:solidFill>
                <a:latin typeface="Georgia"/>
                <a:ea typeface="Georgia"/>
                <a:cs typeface="Georgia"/>
              </a:rPr>
              <a:t>Curate + frame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18177C4-5579-488B-AD91-E60B7374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8264" y="369417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ledger + options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9024648-4FF0-4067-B8C3-389FF3D16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208" y="2743200"/>
            <a:ext cx="16276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A641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D66A0C0-03B4-4BD4-AC92-FDFFF834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990088"/>
            <a:ext cx="14081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6413A"/>
                </a:solidFill>
                <a:latin typeface="Georgia"/>
                <a:ea typeface="Georgia"/>
                <a:cs typeface="Georgia"/>
              </a:rPr>
              <a:t>Draft + challenge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FBB61C-93E5-44D2-998E-F0CB1E424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69417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two reviews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2437D7E-B032-498E-9425-7732CE1E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304" y="2743200"/>
            <a:ext cx="16276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672F168-55CE-4616-BC8E-C21122DB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990088"/>
            <a:ext cx="14081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Edit + verify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A8BCA66-3D8B-435F-BA99-935AD18B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456" y="369417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lineage + gate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87282354-1B5F-4072-A2FB-CFDC032D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43200"/>
            <a:ext cx="1627632" cy="1417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C2CDE3F4-E437-46F8-BB97-E29BEF46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128" y="2990088"/>
            <a:ext cx="1408176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4745C"/>
                </a:solidFill>
                <a:latin typeface="Georgia"/>
                <a:ea typeface="Georgia"/>
                <a:cs typeface="Georgia"/>
              </a:rPr>
              <a:t>Produce + inspect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4EBBA5D-4736-448F-B157-2BBB7F7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3694176"/>
            <a:ext cx="148132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Word / PPT</a:t>
            </a:r>
          </a:p>
        </p:txBody>
      </p:sp>
      <p:sp>
        <p:nvSpPr>
          <p:cNvPr id="31" name="Diamond 30">
            <a:extLst xmlns:a="http://schemas.openxmlformats.org/drawingml/2006/main">
              <a:ext uri="{FF2B5EF4-FFF2-40B4-BE49-F238E27FC236}">
                <a16:creationId xmlns:a16="http://schemas.microsoft.com/office/drawing/2014/main" id="{BDC4AEFA-7C04-4BC3-B792-24D19187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370832"/>
            <a:ext cx="329184" cy="32918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4A24C"/>
          </a:solidFill>
          <a:ln xmlns:a="http://schemas.openxmlformats.org/drawingml/2006/main" w="1270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Diamond 31">
            <a:extLst xmlns:a="http://schemas.openxmlformats.org/drawingml/2006/main">
              <a:ext uri="{FF2B5EF4-FFF2-40B4-BE49-F238E27FC236}">
                <a16:creationId xmlns:a16="http://schemas.microsoft.com/office/drawing/2014/main" id="{86E6A69C-7F5B-4CC9-8C5C-342C3247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4370832"/>
            <a:ext cx="329184" cy="329184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4A24C"/>
          </a:solidFill>
          <a:ln xmlns:a="http://schemas.openxmlformats.org/drawingml/2006/main" w="1270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8EB3223-5950-4A34-AB53-F23EAA90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4745736"/>
            <a:ext cx="15727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CED43F3-B3AB-4857-A572-48175173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4745736"/>
            <a:ext cx="1554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CHECKPOINT 2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E72B094-611D-40E3-8B21-3CDBC203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21808"/>
            <a:ext cx="11183112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1D30FB46-D4FE-45E6-B3E9-FE9FF34D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58968"/>
            <a:ext cx="1071676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Typed artifacts connect each handoff. Failed contracts stop the line; valid completed work resumes.</a:t>
            </a:r>
          </a:p>
        </p:txBody>
      </p:sp>
    </p:spTree>
    <p:extLst>
      <p:ext uri="{BB962C8B-B14F-4D97-AF65-F5344CB8AC3E}">
        <p14:creationId xmlns:p14="http://schemas.microsoft.com/office/powerpoint/2010/main" val="122538034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94941CCB-135D-468A-8F26-7022878B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The 54-agent roster separates depth from control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09D55BC7-BB58-4A4A-A5E1-046C3FB9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8717DD84-0A4A-4DE7-A3F3-8FBE5995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3-source">
            <a:extLst xmlns:a="http://schemas.openxmlformats.org/drawingml/2006/main">
              <a:ext uri="{FF2B5EF4-FFF2-40B4-BE49-F238E27FC236}">
                <a16:creationId xmlns:a16="http://schemas.microsoft.com/office/drawing/2014/main" id="{64F34FAC-553B-4FAC-94F8-0FFAA78A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Executable agent registry · 20 airport research + 18 supplemental + 16 process · 23 Jul 2026</a:t>
            </a:r>
          </a:p>
        </p:txBody>
      </p:sp>
      <p:sp>
        <p:nvSpPr>
          <p:cNvPr id="6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1C7851D-729A-46B4-BD72-EEF2BA81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48353DF-41D7-4AEA-91FB-8E6C1EDC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417320"/>
            <a:ext cx="196596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76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54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FFDC60-8E65-4196-932B-CA4C97D0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350008"/>
            <a:ext cx="19659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defined agents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3B3FC8-7F5D-49B5-A9A5-52A4FDE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417320"/>
            <a:ext cx="81381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DEFINED AGENTS · CURRENT REPOSITORY · 23 JUL 2026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6F5AB68-0F66-451D-93D1-69F844B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901952"/>
            <a:ext cx="3125893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85658B-2AB6-465D-B7A4-CB46751C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148840"/>
            <a:ext cx="2979589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  AIRPORT RESEARCH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A21118B-7DA0-4BEC-8A22-829B18FE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4813" y="1901952"/>
            <a:ext cx="2813304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83EF5E4-9F2E-462D-AF4F-86772DA7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965" y="2148840"/>
            <a:ext cx="2667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  SUPPLEMENTAL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46EB240-51B4-4866-A831-48BAD08B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8117" y="1901952"/>
            <a:ext cx="2500714" cy="8412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4C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9BC992A-158F-42E8-A5DE-D2420C24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269" y="2148840"/>
            <a:ext cx="235441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16  PROCESS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04075B79-C102-43A9-B8D8-1793793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64991"/>
            <a:ext cx="36576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B2D4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37304DC-0A11-4531-B4F5-661C1F9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24612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AIRPORT RESEARCH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BC0BCC2-E2E1-4B48-A04C-F874238E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227832"/>
            <a:ext cx="5669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Economics, operations, engineering, airlines, safety and governance.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13E655F-9A5E-49EB-83EB-EA5679A61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69080"/>
            <a:ext cx="36576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155B0D-22B2-4C88-B549-7515CFB7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3950208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E84A5"/>
                </a:solidFill>
                <a:latin typeface="Aptos"/>
                <a:ea typeface="Aptos"/>
                <a:cs typeface="Aptos"/>
              </a:rPr>
              <a:t>SUPPLEMENTAL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77E7BB3-F3DC-4CBA-8E8C-2AD56EB3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931920"/>
            <a:ext cx="5669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Outside thinkers, seated only when the question benefits.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1BA740BC-BA44-4D97-8DB6-BDA104D7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73168"/>
            <a:ext cx="36576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D4A24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5BD0F31-ACB3-4648-84E8-BB1CFFA7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4654296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F4874F6-4029-4AED-A57C-218E05A0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36008"/>
            <a:ext cx="56692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Context, curation, writing, review, verification, design and production.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1054F1AB-C75C-4D46-A283-A0A343D5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559552"/>
            <a:ext cx="11000232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FCFE442-8D7B-458B-9ADB-1551590A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669280"/>
            <a:ext cx="1045159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Each run seats only the lenses it needs; the manifest records what actually ran.</a:t>
            </a:r>
          </a:p>
        </p:txBody>
      </p:sp>
    </p:spTree>
    <p:extLst>
      <p:ext uri="{BB962C8B-B14F-4D97-AF65-F5344CB8AC3E}">
        <p14:creationId xmlns:p14="http://schemas.microsoft.com/office/powerpoint/2010/main" val="18985705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3919FFAB-B773-4F65-80CD-B9FD0F4B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Airport context comes before analysis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F458D80A-69B5-4204-AB0C-069462226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AA81B58E-3E3E-4AF2-98B0-912812B5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4-source">
            <a:extLst xmlns:a="http://schemas.openxmlformats.org/drawingml/2006/main">
              <a:ext uri="{FF2B5EF4-FFF2-40B4-BE49-F238E27FC236}">
                <a16:creationId xmlns:a16="http://schemas.microsoft.com/office/drawing/2014/main" id="{29D34733-D0F1-417D-9F3E-B5C690A2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Airport Context Builder charter and Council v2 operating contract · 23 Jul 2026</a:t>
            </a:r>
          </a:p>
        </p:txBody>
      </p:sp>
      <p:sp>
        <p:nvSpPr>
          <p:cNvPr id="6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5E2A9630-3F99-4E60-8F93-54C11B3A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2AA547C-1D12-4A85-AD72-344F7A12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10789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It does not argue the thesis. It establishes the decision environment every researcher may read.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AC71EE89-B428-4090-99E0-E881DE702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3639312"/>
            <a:ext cx="7562088" cy="0"/>
          </a:xfrm>
          <a:prstGeom xmlns:a="http://schemas.openxmlformats.org/drawingml/2006/main" prst="line">
            <a:avLst/>
          </a:prstGeom>
          <a:ln xmlns:a="http://schemas.openxmlformats.org/drawingml/2006/main" w="2794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0E6F90E5-75ED-4261-9645-1907680E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3566160"/>
            <a:ext cx="694944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4A1FF62-F106-4C94-914A-67B321DB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523744"/>
            <a:ext cx="1920240" cy="1920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17CC899-D66D-405B-AC48-90637B6F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07792"/>
            <a:ext cx="1591056" cy="896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AIRPORT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CONTEXT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BUILDER</a:t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B00511F0-9871-463C-9716-0B1966CCF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057400"/>
            <a:ext cx="1490472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02CBCAA-0942-4FD9-9295-AC1B88829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240280"/>
            <a:ext cx="1344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D2125D2B-6E71-475D-AF9D-BA882F78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2057400"/>
            <a:ext cx="1490472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6A9CA3-7C29-4349-92D9-31CC1A3D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2240280"/>
            <a:ext cx="1344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6025AB5E-CB16-4658-A948-CC525939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2057400"/>
            <a:ext cx="1490472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B564614-6E65-41C5-9440-17704BE5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240280"/>
            <a:ext cx="1344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Capital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3316C2DF-DA75-4768-AC62-9E23066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206240"/>
            <a:ext cx="1490472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B7CC7C1-08C2-4608-8D03-23813C9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389120"/>
            <a:ext cx="1344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Airlines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B90B7B3-DEFE-4962-928C-84E24B42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592" y="4206240"/>
            <a:ext cx="1490472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12634D8-707C-4616-B474-9F0C9D10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9744" y="4389120"/>
            <a:ext cx="1344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Regulation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4639C470-F3A3-461C-A756-372DD103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544" y="4206240"/>
            <a:ext cx="1490472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EDAD662-29D0-4358-AEE5-30278097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4389120"/>
            <a:ext cx="134416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3996E44-9B8E-4A19-817E-B772D95A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1704" y="2386584"/>
            <a:ext cx="2542032" cy="2514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1905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7A36854-7CD6-4266-B002-DC1991CF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2651760"/>
            <a:ext cx="2066543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SHARED RECORD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D90C984-427B-4CAB-83AD-18B6755B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9448" y="3401568"/>
            <a:ext cx="2066543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Supplied facts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Authoritative records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Named gaps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Current constraints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1BF83A0-2233-4F49-B3D1-8955A51A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5321808"/>
            <a:ext cx="7726679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Context removes false assumptions without forcing consensus.</a:t>
            </a:r>
          </a:p>
        </p:txBody>
      </p:sp>
    </p:spTree>
    <p:extLst>
      <p:ext uri="{BB962C8B-B14F-4D97-AF65-F5344CB8AC3E}">
        <p14:creationId xmlns:p14="http://schemas.microsoft.com/office/powerpoint/2010/main" val="127142679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8F1E4D2-88EE-45F8-83FC-01150CDB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A parallel research swarm protects disagreement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E3A9847D-E6E6-4D6E-B9EA-92462E73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A54E3DFB-BBF8-4E95-871A-21F3F714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5-source">
            <a:extLst xmlns:a="http://schemas.openxmlformats.org/drawingml/2006/main">
              <a:ext uri="{FF2B5EF4-FFF2-40B4-BE49-F238E27FC236}">
                <a16:creationId xmlns:a16="http://schemas.microsoft.com/office/drawing/2014/main" id="{0979A655-745F-4D93-AD9E-C0D19011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Research contract, evidence schema, and Evidence Curator charter · 23 Jul 2026</a:t>
            </a:r>
          </a:p>
        </p:txBody>
      </p:sp>
      <p:sp>
        <p:nvSpPr>
          <p:cNvPr id="6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83E3D76D-0444-4D1B-91B2-04AE99F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ADAAD98-BF88-4760-91A0-6D6E87D4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Plain English: specialists investigate the same question at the same time without reading one another’s conclusions.</a:t>
            </a:r>
          </a:p>
        </p:txBody>
      </p:sp>
      <p:sp>
        <p:nvSpPr>
          <p:cNvPr id="8" name="Right Arrow 7">
            <a:extLst xmlns:a="http://schemas.openxmlformats.org/drawingml/2006/main">
              <a:ext uri="{FF2B5EF4-FFF2-40B4-BE49-F238E27FC236}">
                <a16:creationId xmlns:a16="http://schemas.microsoft.com/office/drawing/2014/main" id="{C366F656-F621-454A-9DC4-F76E76B7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429000"/>
            <a:ext cx="65836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3BF22B21-DF08-4FFC-A815-907C072E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3" y="3429000"/>
            <a:ext cx="71323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74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79114085-6804-4B0D-A6F4-33C61FB0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88920"/>
            <a:ext cx="1408176" cy="14081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85DC48-8740-4542-8DBD-C3F1D2BE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136392"/>
            <a:ext cx="1042415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THESIS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A9E3D0E-0260-4BA6-8E4E-9C1D9344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6896" y="1993392"/>
            <a:ext cx="5468112" cy="3273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1524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96ACE09-8B32-4DD3-912C-71344D012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221992"/>
            <a:ext cx="4754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SELECTED INDEPENDENT LENSES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503B1E1F-8980-4F9D-8CFF-70E60CFE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2825496"/>
            <a:ext cx="1243584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2D1B95-EADA-4564-942F-1705CD5D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02666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Economics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202F3A1-CB80-482C-A670-2C01DB31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825496"/>
            <a:ext cx="1243584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CD4EFF5-C0B2-4675-ACA1-A5025E27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02666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7F8EE8C0-C04D-4840-8809-CB296FC3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2825496"/>
            <a:ext cx="1243584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1EF29A7-E21A-435E-B0ED-7CF3349CA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026664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Airfield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CA7ABEE-5141-4463-AD5E-BA7CBD9F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928" y="4005072"/>
            <a:ext cx="1243584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2C103A-1002-4107-B5A1-3A96A6F5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20624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Airlines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8DC9C544-D6CA-4165-9B5F-8BFA4394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005072"/>
            <a:ext cx="1243584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CA96D60-C85A-48A6-B707-EB345B6A6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20624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Safety</a:t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BE14E2FB-429E-4A11-AD7D-965A720C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192" y="4005072"/>
            <a:ext cx="1243584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641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0FF892F-4F45-4446-AA68-B5481806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4206240"/>
            <a:ext cx="1097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Contrarian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269DA3F-0053-4957-86D3-D4295E9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5" y="4791456"/>
            <a:ext cx="248716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NO CROSS-READING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2D53AF17-5C0A-4206-ADB4-78B61156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395728"/>
            <a:ext cx="2770632" cy="2468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42D046B-8F2D-4155-841E-70140F317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395728"/>
            <a:ext cx="73152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B047C32-8D54-47E0-88FF-5F54F2B1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532888"/>
            <a:ext cx="2450591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24745C"/>
                </a:solidFill>
                <a:latin typeface="Georgia"/>
                <a:ea typeface="Georgia"/>
                <a:cs typeface="Georgia"/>
              </a:rPr>
              <a:t>Evidence Curator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B0B6E93-9854-4241-B90A-FDBEF538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5128" y="2926080"/>
            <a:ext cx="2450591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Deduplicates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Preserves conflict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Ranks what matters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Closes narrow gaps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34179BD-07E6-4E40-A0EB-6812976C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5559552"/>
            <a:ext cx="79187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Independence ends at curation—after each lens has left a separate record.</a:t>
            </a:r>
          </a:p>
        </p:txBody>
      </p:sp>
    </p:spTree>
    <p:extLst>
      <p:ext uri="{BB962C8B-B14F-4D97-AF65-F5344CB8AC3E}">
        <p14:creationId xmlns:p14="http://schemas.microsoft.com/office/powerpoint/2010/main" val="40859219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7BE728D2-5D69-491C-9BB3-9CCA1167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Every released claim keeps a chain of custody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18D3B718-9BDD-4B32-B2C1-203E7DB7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5CCD0415-6CE2-44BB-A37C-23E47F7F2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6-source">
            <a:extLst xmlns:a="http://schemas.openxmlformats.org/drawingml/2006/main">
              <a:ext uri="{FF2B5EF4-FFF2-40B4-BE49-F238E27FC236}">
                <a16:creationId xmlns:a16="http://schemas.microsoft.com/office/drawing/2014/main" id="{0D96BECF-C1C6-4FD0-B5A5-12424FC6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Evidence, claim-lineage, and deterministic publication-gate contracts · 23 Jul 2026</a:t>
            </a:r>
          </a:p>
        </p:txBody>
      </p:sp>
      <p:sp>
        <p:nvSpPr>
          <p:cNvPr id="6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8743A313-EFD3-4D91-8FB7-C59FD4BD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0614F3-234B-4122-B46D-3F52F3C4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1078992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 reader-facing claim must stay connected to the source that proves it.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5C622F3-52F1-4DB7-8C6F-B9109F45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65376"/>
            <a:ext cx="47548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SIGNATURE VISUAL · CLAIM CHAIN OF CUSTODY</a:t>
            </a: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2E2209D1-3AD8-40CF-A688-8C54B193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79" y="3410712"/>
            <a:ext cx="32004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C8D2DC5C-8286-42F0-9B23-B76A2199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3" y="3410712"/>
            <a:ext cx="32004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84B6A0D8-C663-412D-B5CA-E468EBA6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3410712"/>
            <a:ext cx="32004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ight Arrow 11">
            <a:extLst xmlns:a="http://schemas.openxmlformats.org/drawingml/2006/main">
              <a:ext uri="{FF2B5EF4-FFF2-40B4-BE49-F238E27FC236}">
                <a16:creationId xmlns:a16="http://schemas.microsoft.com/office/drawing/2014/main" id="{D4F6C381-4E93-4355-A6E4-BBB08B67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4311" y="3410712"/>
            <a:ext cx="32004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CB67EB-879D-4809-A71E-3D934862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05456"/>
            <a:ext cx="1874519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A5D5F65-EB94-4DD4-B8F2-5639136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68833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E9499AD-CCB1-4D72-81D3-915356BC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291840"/>
            <a:ext cx="1581911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PRIMARY SOURCE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58AE17E-2BE1-4DE3-A694-FF5512AA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767328"/>
            <a:ext cx="158191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it says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53736990-660C-4014-88DE-4C506F32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2505456"/>
            <a:ext cx="1874519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2A1061E-D7B1-4DDD-B10A-C7246D59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8833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9B4E08F-3984-453B-A8B3-CF72DC2CE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291840"/>
            <a:ext cx="1581911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E84A5"/>
                </a:solidFill>
                <a:latin typeface="Aptos"/>
                <a:ea typeface="Aptos"/>
                <a:cs typeface="Aptos"/>
              </a:rPr>
              <a:t>EVIDENCE LEDGER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41ED070-D9EE-4398-8A6C-E49FD686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767328"/>
            <a:ext cx="158191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ID + caveats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7F85E2B-9B0B-4448-8476-FE03C9AA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3208" y="2505456"/>
            <a:ext cx="1874519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4156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9F3B749C-00B6-4AE6-BCC6-21F1CCA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584" y="268833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566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FA8C9C3E-EE6C-424F-946F-A3DF5465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291840"/>
            <a:ext cx="1581911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READER CLAIM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6926BB1-9B43-476D-ACE8-EB1CEE64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3767328"/>
            <a:ext cx="158191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Exact words + footnote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9BDB2E8-C91B-4393-B1A9-729748085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505456"/>
            <a:ext cx="1874519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8E977D08-D5DE-4775-BD52-3A35F131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268833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559391E-4962-4A18-92DD-B2422B4A4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291840"/>
            <a:ext cx="1581911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CLAIM LINEAGE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24D42852-4302-458B-85E9-632C179D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56" y="3767328"/>
            <a:ext cx="158191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 checked + draft hash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164AF500-F2C3-484C-A3C3-81661AD4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496" y="2505456"/>
            <a:ext cx="1874519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A641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50F29607-8784-43FB-97F4-1F06C381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5872" y="2688336"/>
            <a:ext cx="429768" cy="4297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1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D5BEE5A-0B7A-46AA-B3F2-45E41C1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91840"/>
            <a:ext cx="1581911" cy="4480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RELEASE GATE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27FD24-FA0D-488C-B645-8FC57173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67328"/>
            <a:ext cx="1581911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Pass—or stop</a:t>
            </a:r>
          </a:p>
        </p:txBody>
      </p:sp>
      <p:sp>
        <p:nvSpPr>
          <p:cNvPr id="33" name="SIGNATURE VISUAL — claim chain of custody">
            <a:extLst xmlns:a="http://schemas.openxmlformats.org/drawingml/2006/main">
              <a:ext uri="{FF2B5EF4-FFF2-40B4-BE49-F238E27FC236}">
                <a16:creationId xmlns:a16="http://schemas.microsoft.com/office/drawing/2014/main" id="{118763BD-6E3E-41E3-8081-EE7506DE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84064"/>
            <a:ext cx="9674352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AC85588-DE06-4079-B9E7-3211A67E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257800"/>
            <a:ext cx="90525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Every link must match: claim • footnote • evidence • source • draft.</a:t>
            </a:r>
          </a:p>
        </p:txBody>
      </p:sp>
    </p:spTree>
    <p:extLst>
      <p:ext uri="{BB962C8B-B14F-4D97-AF65-F5344CB8AC3E}">
        <p14:creationId xmlns:p14="http://schemas.microsoft.com/office/powerpoint/2010/main" val="11680397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BC3951FC-B755-458A-92E7-2D602A6B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Creative framing keeps the story open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C57D2948-8EBE-413C-A0F0-6391CA99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E4A9169F-029B-4DFF-835E-43E32300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7-source">
            <a:extLst xmlns:a="http://schemas.openxmlformats.org/drawingml/2006/main">
              <a:ext uri="{FF2B5EF4-FFF2-40B4-BE49-F238E27FC236}">
                <a16:creationId xmlns:a16="http://schemas.microsoft.com/office/drawing/2014/main" id="{0AB028E7-B788-4925-9DD0-56ACDF38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Creative Director and Strategist charters; Council v2 synthesis contract · 23 Jul 2026</a:t>
            </a:r>
          </a:p>
        </p:txBody>
      </p:sp>
      <p:sp>
        <p:nvSpPr>
          <p:cNvPr id="6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CEDAB2DB-018A-416E-9EDB-3AC37A36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43D300D-3EF2-4B67-A60D-8A2C4B11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881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The Creative Director proposes truthful ways to tell the same evidence before the report’s structure hardens.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8258D4AD-4E47-4144-9103-5585D87B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06040"/>
            <a:ext cx="2286000" cy="85953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156946C4-2BDD-4011-BDE6-C558D34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65576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A6413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Connector 9">
            <a:extLst xmlns:a="http://schemas.openxmlformats.org/drawingml/2006/main">
              <a:ext uri="{FF2B5EF4-FFF2-40B4-BE49-F238E27FC236}">
                <a16:creationId xmlns:a16="http://schemas.microsoft.com/office/drawing/2014/main" id="{39E16311-3625-4750-BB24-7610F87B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14800" y="3465576"/>
            <a:ext cx="2286000" cy="859536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24745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8DD02462-398D-45CC-827C-2CB939C6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267712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C05F18-C9F8-4805-A44B-57523999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057400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E84A5"/>
                </a:solidFill>
                <a:latin typeface="Aptos"/>
                <a:ea typeface="Aptos"/>
                <a:cs typeface="Aptos"/>
              </a:rPr>
              <a:t>BOARD DECISION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5C97F2F-8053-44D8-9651-9708E5F5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450592"/>
            <a:ext cx="2834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must be approved?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6AA588A3-C0DB-42D6-A072-0937676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346704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A6413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69B33CF-2F3C-45A8-BA53-C2FFBE85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136392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COUNTERINTUITIVE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B80FA7B-6C43-4653-B319-FF6D35DA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529584"/>
            <a:ext cx="2834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changes the reader’s mind?</a:t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B8FE6D10-DB07-41A1-8108-9331AB82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425696"/>
            <a:ext cx="41148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24745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C437CB4-64F7-433C-B66C-C5D1BE42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15384"/>
            <a:ext cx="2240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OPERATIONAL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CC9501F-CEE4-4517-A7CE-012354AF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608576"/>
            <a:ext cx="28346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happens at the airport?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F04DAA0B-BEF5-4BDA-83C9-0A555F2C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414016"/>
            <a:ext cx="2103120" cy="21031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3E91729-E305-486E-A5F1-B6C4E894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6664"/>
            <a:ext cx="16459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STRATEGIST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DEB2BE8-AF42-443F-91CC-B2B2BC6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144"/>
            <a:ext cx="1645920" cy="576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chooses the frame the evidence can carry</a:t>
            </a:r>
          </a:p>
        </p:txBody>
      </p:sp>
      <p:sp>
        <p:nvSpPr>
          <p:cNvPr id="23" name="Right Arrow 22">
            <a:extLst xmlns:a="http://schemas.openxmlformats.org/drawingml/2006/main">
              <a:ext uri="{FF2B5EF4-FFF2-40B4-BE49-F238E27FC236}">
                <a16:creationId xmlns:a16="http://schemas.microsoft.com/office/drawing/2014/main" id="{0FDFE084-1D85-4F9F-A171-D5348635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364992"/>
            <a:ext cx="804672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2B069B0-21DE-498D-B9FC-03D05514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496312"/>
            <a:ext cx="2066543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B4E5253-40CD-4CB7-9050-0509F0F3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192" y="2496312"/>
            <a:ext cx="73152" cy="1965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9465BC9-860E-444E-A057-5E9CBC6E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633472"/>
            <a:ext cx="1746503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>
                <a:solidFill>
                  <a:srgbClr val="2E84A5"/>
                </a:solidFill>
                <a:latin typeface="Georgia"/>
                <a:ea typeface="Georgia"/>
                <a:cs typeface="Georgia"/>
              </a:rPr>
              <a:t>Argument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F375B9F-D6A2-4B3B-AF62-D456E9BB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026664"/>
            <a:ext cx="1746503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One narrative spine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Curated evidence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Explicit decision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273E04BF-4BBB-4E7F-98C9-908D9737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976" y="5248656"/>
            <a:ext cx="8001000" cy="5669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191AB88-7167-4A95-A57E-3F367257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5394960"/>
            <a:ext cx="7470648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Creativity changes the route through evidence—not the evidence itself.</a:t>
            </a:r>
          </a:p>
        </p:txBody>
      </p:sp>
    </p:spTree>
    <p:extLst>
      <p:ext uri="{BB962C8B-B14F-4D97-AF65-F5344CB8AC3E}">
        <p14:creationId xmlns:p14="http://schemas.microsoft.com/office/powerpoint/2010/main" val="16445182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9CC8002-561F-4A3C-B392-6E051B90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Two adversaries test different failure modes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B8E00740-0BF3-4551-8A41-7AFF6750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92873E95-8BB7-4234-8CAC-18002A7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58F7B5D4-8D83-46CD-A126-A1F37B5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Evidence Prosecutor and Airport Executive Reviewer charters · 23 Jul 2026</a:t>
            </a:r>
          </a:p>
        </p:txBody>
      </p:sp>
      <p:sp>
        <p:nvSpPr>
          <p:cNvPr id="6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98869411-43F7-4061-B56B-06F1726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952915-C059-4EAE-85FA-0A72E6D5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881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Adversarial synthesis loop: the writer must answer each critic in a new draft.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248195DB-ED59-460D-9081-7C42D72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993392"/>
            <a:ext cx="0" cy="33467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8CC071-6914-43A1-B878-EC025DAF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EVIDENCE INTEGRITY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C9D600D-BB11-4BCF-87B1-DD42977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04872"/>
            <a:ext cx="4443984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A6413A"/>
                </a:solidFill>
                <a:latin typeface="Georgia"/>
                <a:ea typeface="Georgia"/>
                <a:cs typeface="Georgia"/>
              </a:rPr>
              <a:t>EVIDENCE PROSECUTOR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5D834C-B4DD-4661-9715-713577B8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44952"/>
            <a:ext cx="19659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Arithmetic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Causality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Counterevidence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7195076-C81C-417A-B496-E1DBBB5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3081528"/>
            <a:ext cx="261518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7232D"/>
                </a:solidFill>
                <a:latin typeface="Aptos"/>
                <a:ea typeface="Aptos"/>
                <a:cs typeface="Aptos"/>
              </a:rPr>
              <a:t>Finds where the conclusion outruns the record.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9FE5ED-66E5-4C1C-BD2E-8FDF1370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65960"/>
            <a:ext cx="2560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AIRPORT EXECUTABILITY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91D3DC-22E2-4443-88FB-02608D1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404872"/>
            <a:ext cx="48828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AIRPORT EXECUTIVE REVIEWER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C8AC69-C07D-4A78-A864-BDD72C0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044952"/>
            <a:ext cx="2240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Authority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Airlines + funding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Procurement + staffing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Peak-hour operations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63E08C4-379A-4AD5-96C6-32CD13E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081528"/>
            <a:ext cx="226771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7232D"/>
                </a:solidFill>
                <a:latin typeface="Aptos"/>
                <a:ea typeface="Aptos"/>
                <a:cs typeface="Aptos"/>
              </a:rPr>
              <a:t>Finds where a sound idea fails in airport reality.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F16ED00-9ED9-4827-999E-2CBE0EF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919472"/>
            <a:ext cx="7717536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B5994E0-7906-4BEB-9BD7-7D1392F0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5138928"/>
            <a:ext cx="7223760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STRATEGIST DRAFT → CHALLENGE → REVISION → CHALLENGE → REVISION → HUMAN REVIEW</a:t>
            </a:r>
          </a:p>
        </p:txBody>
      </p:sp>
    </p:spTree>
    <p:extLst>
      <p:ext uri="{BB962C8B-B14F-4D97-AF65-F5344CB8AC3E}">
        <p14:creationId xmlns:p14="http://schemas.microsoft.com/office/powerpoint/2010/main" val="152945048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BCF00F58-8BB4-4135-AAE5-3214D800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Fresh eyes verify facts after prose is finished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12BA3453-2EA3-4331-A22D-7A21D4C1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5CA4CAB0-6FF3-4A0A-A429-883C783B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9-source">
            <a:extLst xmlns:a="http://schemas.openxmlformats.org/drawingml/2006/main">
              <a:ext uri="{FF2B5EF4-FFF2-40B4-BE49-F238E27FC236}">
                <a16:creationId xmlns:a16="http://schemas.microsoft.com/office/drawing/2014/main" id="{05EEEA80-A500-464E-963F-8AC4BB26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Editorial and Source Verifier charters; current model routing · 23 Jul 2026</a:t>
            </a:r>
          </a:p>
        </p:txBody>
      </p:sp>
      <p:sp>
        <p:nvSpPr>
          <p:cNvPr id="6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59D987F1-0C5A-49D1-8A68-9ACACFA2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6EE98C5-AEF1-45FE-8228-E5CAEBA9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881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Editor cuts; Humanizer improves voice. Neither may change facts.</a:t>
            </a:r>
          </a:p>
        </p:txBody>
      </p:sp>
      <p:sp>
        <p:nvSpPr>
          <p:cNvPr id="8" name="Right Arrow 7">
            <a:extLst xmlns:a="http://schemas.openxmlformats.org/drawingml/2006/main">
              <a:ext uri="{FF2B5EF4-FFF2-40B4-BE49-F238E27FC236}">
                <a16:creationId xmlns:a16="http://schemas.microsoft.com/office/drawing/2014/main" id="{2F21AE4E-550C-4715-8BF8-04025005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576" y="3182112"/>
            <a:ext cx="36576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4A2B78C4-FE7E-4E05-A6ED-1299B4CA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3182112"/>
            <a:ext cx="36576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FBFD7858-2DDB-409F-8B4B-C06D6AAC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5" y="3182112"/>
            <a:ext cx="36576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F9A9635D-562D-4AD9-B058-29198EFB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182112"/>
            <a:ext cx="365760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FA39076-DBC1-4B8D-8AD4-66B417B2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1764792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156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FB9B4F4-92E9-4A45-9FAF-FEB048FF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66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9661474-2D57-4A68-8FFF-7B098F5B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441448"/>
            <a:ext cx="14447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415669"/>
                </a:solidFill>
                <a:latin typeface="Georgia"/>
                <a:ea typeface="Georgia"/>
                <a:cs typeface="Georgia"/>
              </a:rPr>
              <a:t>Editor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011A21F-53F5-48CC-A7A2-4B368170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834640"/>
            <a:ext cx="144475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Cuts repetition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Tightens logic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C3714F2-1757-4B81-AA26-99281352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2304288"/>
            <a:ext cx="1764792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6DA69EEC-F282-4B27-8758-7ECCC1D0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632" y="2304288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BA36B75-629A-45B4-95F4-FE9AD2CA9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441448"/>
            <a:ext cx="144475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E84A5"/>
                </a:solidFill>
                <a:latin typeface="Georgia"/>
                <a:ea typeface="Georgia"/>
                <a:cs typeface="Georgia"/>
              </a:rPr>
              <a:t>Humanizer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924ED68-6223-4A39-A4A7-6D251CF2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34640"/>
            <a:ext cx="144475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Improves voice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Adds no facts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0076BE33-8D4F-45A0-AD92-FDA6A1C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1993392"/>
            <a:ext cx="2359152" cy="2633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1905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A0F63B3-258C-470E-A0BC-BF0AC832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1993392"/>
            <a:ext cx="73152" cy="2633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F74D284-8AEC-41BD-8901-D81CF59A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130552"/>
            <a:ext cx="203911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Source Verifier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3FAB2A5-E59B-44BC-8055-76DAA5C4C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23744"/>
            <a:ext cx="2039112" cy="19933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Opens sources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Checks exact wording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Verifies · qualifies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corrects · removes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D2E2C62-00DC-47DC-9DA5-CE712F7A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242816"/>
            <a:ext cx="1993392" cy="2834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4A24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slide-9-verifier-source">
            <a:extLst xmlns:a="http://schemas.openxmlformats.org/drawingml/2006/main">
              <a:ext uri="{FF2B5EF4-FFF2-40B4-BE49-F238E27FC236}">
                <a16:creationId xmlns:a16="http://schemas.microsoft.com/office/drawing/2014/main" id="{20BDE20D-EB4A-4366-A247-75B5641A0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9512" y="4297680"/>
            <a:ext cx="1865376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FRESH SONNET CONTEXT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3100913-95F6-4523-B18F-EA68D323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5" y="2304288"/>
            <a:ext cx="1792224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641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0A326B0-5A66-4CDA-8846-E97B5800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5" y="2304288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413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4FE1DAF-FBC1-415F-BE06-A44B1383A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441448"/>
            <a:ext cx="1472184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6413A"/>
                </a:solidFill>
                <a:latin typeface="Georgia"/>
                <a:ea typeface="Georgia"/>
                <a:cs typeface="Georgia"/>
              </a:rPr>
              <a:t>Claim lineage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2639DB5-9700-4D67-9D3A-7847822D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2834640"/>
            <a:ext cx="147218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Binds claim to source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Gate blocks defects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90053798-B9C1-4F5C-B31F-0E75BA5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04288"/>
            <a:ext cx="155448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2D360E2F-B2FF-4218-84EA-85B3D077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304288"/>
            <a:ext cx="7315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4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D6FC9B-23A2-4F4F-A1DE-84F21B5C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441448"/>
            <a:ext cx="12344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24745C"/>
                </a:solidFill>
                <a:latin typeface="Georgia"/>
                <a:ea typeface="Georgia"/>
                <a:cs typeface="Georgia"/>
              </a:rPr>
              <a:t>Human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957C13D-17DA-40F8-9421-5FC81706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9568" y="2834640"/>
            <a:ext cx="123444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Approves</a:t>
            </a:r>
          </a:p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0EF27F87-6128-4135-ACFA-16883BB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148072"/>
            <a:ext cx="9838944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6E109AB-4433-47E0-84D2-CCE428B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184" y="5294376"/>
            <a:ext cx="92354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Fresh Sonnet verifies the final draft—not the writer or polisher.</a:t>
            </a:r>
          </a:p>
        </p:txBody>
      </p:sp>
    </p:spTree>
    <p:extLst>
      <p:ext uri="{BB962C8B-B14F-4D97-AF65-F5344CB8AC3E}">
        <p14:creationId xmlns:p14="http://schemas.microsoft.com/office/powerpoint/2010/main" val="110086296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61EE03EF-3300-41A4-955E-DDE69615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Model routing adds fresh eyes and hard cost limits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F0DA01FC-059E-4563-A175-C2B3F35E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7B67E3B9-AA10-4047-9F28-58C10BF4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10-source">
            <a:extLst xmlns:a="http://schemas.openxmlformats.org/drawingml/2006/main">
              <a:ext uri="{FF2B5EF4-FFF2-40B4-BE49-F238E27FC236}">
                <a16:creationId xmlns:a16="http://schemas.microsoft.com/office/drawing/2014/main" id="{25B28366-6B1B-45F2-BBA0-CD1B6A22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Current model routing and runtime budget implementation/tests · 23 Jul 2026</a:t>
            </a:r>
          </a:p>
        </p:txBody>
      </p:sp>
      <p:sp>
        <p:nvSpPr>
          <p:cNvPr id="6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2E212780-20DA-484D-A433-5BF336BA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ACBEB6E-4B24-439B-8C9A-95EAB57C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161288"/>
            <a:ext cx="1097280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Multi-model orchestration gives different models different jobs, so the model that writes the argument does not grade all of its own work.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71A8D13A-3F3A-41C0-8433-30D1B0BF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416" y="1920240"/>
            <a:ext cx="0" cy="3739896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DFC5C94-3E11-4F39-9933-EBED04B7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1938528"/>
            <a:ext cx="4206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CLAUDE CALLS · ONE SHARED CEILING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E432F5C-E47B-4450-8530-540BB358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441448"/>
            <a:ext cx="1938528" cy="2606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1C9B884-ACF2-428C-8E5B-E40EDB53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962656"/>
            <a:ext cx="14447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RUN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CEILING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7EFB3EC-8041-4508-B69A-5E51EDEA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913632"/>
            <a:ext cx="1444752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budget reserved before each call</a:t>
            </a:r>
          </a:p>
        </p:txBody>
      </p:sp>
      <p:sp>
        <p:nvSpPr>
          <p:cNvPr id="13" name="Right Arrow 12">
            <a:extLst xmlns:a="http://schemas.openxmlformats.org/drawingml/2006/main">
              <a:ext uri="{FF2B5EF4-FFF2-40B4-BE49-F238E27FC236}">
                <a16:creationId xmlns:a16="http://schemas.microsoft.com/office/drawing/2014/main" id="{8284EA86-213C-414E-A921-97491E33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593592"/>
            <a:ext cx="66751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1A99A97-F82A-48B7-AED8-447E3AC1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2432304"/>
            <a:ext cx="3529584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32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5611236-1AA2-4D9F-8C2F-E79FE02D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606040"/>
            <a:ext cx="1170432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E84A5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4B50C09-AD0B-41AC-8609-5B3B0819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596896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PER-CALL CAP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DA785CF-21C2-4341-BD3D-E62B5B14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3447288"/>
            <a:ext cx="3529584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320">
            <a:solidFill>
              <a:srgbClr val="A641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E3EE42C-8514-48D0-A4F6-DDD38EB3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621024"/>
            <a:ext cx="1170432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D8E6575-65CC-4861-8F79-82DC2A99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611880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PER-CALL CAP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DFC77D9-4264-44F1-BC20-51C309A4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280" y="4462272"/>
            <a:ext cx="3529584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32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1CE5E2A-E138-42C6-B18E-4A16D5D8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636008"/>
            <a:ext cx="1170432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3FD3F72-21D7-43B9-93AD-907A4474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4626864"/>
            <a:ext cx="199339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PER-CALL CAP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6C2128D-38E7-4ECD-BF90-6FAE326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440680"/>
            <a:ext cx="67848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Ceiling reached → stop between calls; keep valid completed work.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9DAAD1F-7701-48A8-8070-C0012ADA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93852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D4A24C"/>
                </a:solidFill>
                <a:latin typeface="Aptos"/>
                <a:ea typeface="Aptos"/>
                <a:cs typeface="Aptos"/>
              </a:rPr>
              <a:t>OPTIONAL SECOND-PROVIDER LENS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AEF2773-006A-4E80-85C1-D50A253C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441448"/>
            <a:ext cx="3328416" cy="26060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 w="25400">
            <a:solidFill>
              <a:srgbClr val="D4A24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0A3C064-0D71-4D91-B57D-790CE77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2880360"/>
            <a:ext cx="2724912" cy="694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OPENAI</a:t>
            </a:r>
          </a:p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DEEP RESEARCH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7A15DAE-282A-4BEB-9B69-3A0C8233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4504" y="3794760"/>
            <a:ext cx="2724912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Separate account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Separate bill</a:t>
            </a:r>
          </a:p>
          <a:p xmlns:a="http://schemas.openxmlformats.org/drawingml/2006/main"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Outside Claude tally</a:t>
            </a:r>
          </a:p>
        </p:txBody>
      </p:sp>
    </p:spTree>
    <p:extLst>
      <p:ext uri="{BB962C8B-B14F-4D97-AF65-F5344CB8AC3E}">
        <p14:creationId xmlns:p14="http://schemas.microsoft.com/office/powerpoint/2010/main" val="177128061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F442B1E2-DB2D-48B9-8405-A9293289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Live agent telemetry makes a run observable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F8913758-E24C-4B5C-BA42-AB7CBD31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BBBD0881-3006-4799-B177-31CE1425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11-source">
            <a:extLst xmlns:a="http://schemas.openxmlformats.org/drawingml/2006/main">
              <a:ext uri="{FF2B5EF4-FFF2-40B4-BE49-F238E27FC236}">
                <a16:creationId xmlns:a16="http://schemas.microsoft.com/office/drawing/2014/main" id="{EF555F73-206D-4B05-B42D-1EE4E565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Event stream, run screen, and reconnect behavior · repository review, 23 Jul 2026</a:t>
            </a:r>
          </a:p>
        </p:txBody>
      </p:sp>
      <p:sp>
        <p:nvSpPr>
          <p:cNvPr id="6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B5AB5CED-A30D-4AC9-AEFE-5F9C1DAA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FCB6025-14DE-4EBE-A929-8A3349DE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881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Plain English: the system streams operating state and receipts while the Council is working.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D3035FF3-E958-4508-94C1-C073CB61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3182112"/>
            <a:ext cx="8485632" cy="0"/>
          </a:xfrm>
          <a:prstGeom xmlns:a="http://schemas.openxmlformats.org/drawingml/2006/main" prst="line">
            <a:avLst/>
          </a:prstGeom>
          <a:ln xmlns:a="http://schemas.openxmlformats.org/drawingml/2006/main" w="3048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F71D240B-3F42-48E1-A771-E35F8B15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3099816"/>
            <a:ext cx="475488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C044F70F-0FB7-4E94-A20F-F180A2AF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82549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DF3583D-3AEF-4094-BE11-754EA4F4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" y="2240280"/>
            <a:ext cx="149961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E84A5"/>
                </a:solidFill>
                <a:latin typeface="Aptos"/>
                <a:ea typeface="Aptos"/>
                <a:cs typeface="Aptos"/>
              </a:rPr>
              <a:t>ROLE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B858922-9324-4B1C-81B8-9E22E227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3" y="3703320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who is active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6651138F-0CF6-4625-B815-9937D5BD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2549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B6A1765-5E13-467A-9A71-F818CE72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79" y="2240280"/>
            <a:ext cx="149961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ARTIFACT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A26F42-5532-4580-AFFE-1B1BE2BC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688" y="3703320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is being made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FE129884-140A-4267-B2B0-F06DC8C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576" y="282549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745C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D4DEF83-0FDB-40A4-8515-17040DFA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2240280"/>
            <a:ext cx="149961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D23C4E6-6CDB-4B4B-B363-347E250A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91" y="3703320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D245408-8A92-4861-A817-2150747F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82549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24C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16E545FC-9602-4C31-8E6B-82EC4E5F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240280"/>
            <a:ext cx="149961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502C42A-D82F-4797-B149-D5254B24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5896" y="3703320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call + running total</a:t>
            </a:r>
          </a:p>
        </p:txBody>
      </p:sp>
      <p:sp>
        <p:nvSpPr>
          <p:cNvPr id="22" name="Oval 21">
            <a:extLst xmlns:a="http://schemas.openxmlformats.org/drawingml/2006/main">
              <a:ext uri="{FF2B5EF4-FFF2-40B4-BE49-F238E27FC236}">
                <a16:creationId xmlns:a16="http://schemas.microsoft.com/office/drawing/2014/main" id="{1BE0D41D-66DB-4340-8BAE-097416B4C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825496"/>
            <a:ext cx="713232" cy="7132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6413A"/>
          </a:solidFill>
          <a:ln xmlns:a="http://schemas.openxmlformats.org/drawingml/2006/main" w="15240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7527642-7B2A-4CB3-B645-842A5FAB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2240280"/>
            <a:ext cx="1499616" cy="301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1FCE2F13-2191-4E2F-8B04-65312C56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3320"/>
            <a:ext cx="182880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pass, stop or review</a:t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3372F9F3-1663-4381-8647-DCBF0990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7272" y="2249424"/>
            <a:ext cx="1380744" cy="1380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918DCBF-6D11-465F-A349-ABC3E9DB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3848" y="2779776"/>
            <a:ext cx="12984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OPERATOR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7520C19-E913-4C6B-9C82-36CF5029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576" y="4809744"/>
            <a:ext cx="6565392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The screen shows artifacts and decisions—not hidden model reasoning.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7200A5E3-1260-4796-B253-9BCC279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4599432"/>
            <a:ext cx="3529584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DF3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F736142-ABDE-4604-A360-A074400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08" y="4800600"/>
            <a:ext cx="299923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Browser refresh → reconnect to the active run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C295548-80E5-422D-A741-F619F2F3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5615" y="5541264"/>
            <a:ext cx="460857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 i="1">
                <a:solidFill>
                  <a:srgbClr val="415669"/>
                </a:solidFill>
                <a:latin typeface="Aptos"/>
                <a:ea typeface="Aptos"/>
                <a:cs typeface="Aptos"/>
              </a:rPr>
              <a:t>Completed valid work does not restart.</a:t>
            </a:r>
          </a:p>
        </p:txBody>
      </p:sp>
    </p:spTree>
    <p:extLst>
      <p:ext uri="{BB962C8B-B14F-4D97-AF65-F5344CB8AC3E}">
        <p14:creationId xmlns:p14="http://schemas.microsoft.com/office/powerpoint/2010/main" val="118221078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9CC8002-561F-4A3C-B392-6E051B90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V2 governs evidence, challenge, and release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B8E00740-0BF3-4551-8A41-7AFF6750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92873E95-8BB7-4234-8CAC-18002A7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8-source">
            <a:extLst xmlns:a="http://schemas.openxmlformats.org/drawingml/2006/main">
              <a:ext uri="{FF2B5EF4-FFF2-40B4-BE49-F238E27FC236}">
                <a16:creationId xmlns:a16="http://schemas.microsoft.com/office/drawing/2014/main" id="{58F7B5D4-8D83-46CD-A126-A1F37B55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Council v1/v2 architecture, agent charters, evidence and release contracts · 23 Jul 2026</a:t>
            </a:r>
          </a:p>
        </p:txBody>
      </p:sp>
      <p:sp>
        <p:nvSpPr>
          <p:cNvPr id="6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98869411-43F7-4061-B56B-06F1726E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5952915-C059-4EAE-85FA-0A72E6D5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8813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Shared airport context, traceable claims, separate challenges, and visual QA.</a:t>
            </a:r>
          </a:p>
        </p:txBody>
      </p:sp>
      <p:sp>
        <p:nvSpPr>
          <p:cNvPr id="8" name="Connector 7">
            <a:extLst xmlns:a="http://schemas.openxmlformats.org/drawingml/2006/main">
              <a:ext uri="{FF2B5EF4-FFF2-40B4-BE49-F238E27FC236}">
                <a16:creationId xmlns:a16="http://schemas.microsoft.com/office/drawing/2014/main" id="{248195DB-ED59-460D-9081-7C42D722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1993392"/>
            <a:ext cx="0" cy="3346704"/>
          </a:xfrm>
          <a:prstGeom xmlns:a="http://schemas.openxmlformats.org/drawingml/2006/main" prst="line">
            <a:avLst/>
          </a:prstGeom>
          <a:ln xmlns:a="http://schemas.openxmlformats.org/drawingml/2006/main" w="1016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C8CC071-6914-43A1-B878-EC025DAF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65960"/>
            <a:ext cx="219456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V1 · MULTI-AGENT REPORT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C9D600D-BB11-4BCF-87B1-DD42977B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04872"/>
            <a:ext cx="4443984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A6413A"/>
                </a:solidFill>
                <a:latin typeface="Georgia"/>
                <a:ea typeface="Georgia"/>
                <a:cs typeface="Georgia"/>
              </a:rPr>
              <a:t>RESEARCH → WRITE → EDIT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45D834C-B4DD-4661-9715-713577B8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44952"/>
            <a:ext cx="196596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Parallel briefs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One synthesis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7195076-C81C-417A-B496-E1DBBB5A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8064" y="3081528"/>
            <a:ext cx="2615184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7232D"/>
                </a:solidFill>
                <a:latin typeface="Aptos"/>
                <a:ea typeface="Aptos"/>
                <a:cs typeface="Aptos"/>
              </a:rPr>
              <a:t>Strong analysis—less control of evidence and production.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69FE5ED-66E5-4C1C-BD2E-8FDF1370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965960"/>
            <a:ext cx="2560320" cy="48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V2 · AIRPORT DECISION SYSTEM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A91D3DC-22E2-4443-88FB-02608D1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404872"/>
            <a:ext cx="4882896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>
                <a:solidFill>
                  <a:srgbClr val="0B2D4D"/>
                </a:solidFill>
                <a:latin typeface="Georgia"/>
                <a:ea typeface="Georgia"/>
                <a:cs typeface="Georgia"/>
              </a:rPr>
              <a:t>GOVERN → CHALLENGE → VERIFY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DC8AC69-C07D-4A78-A864-BDD72C0F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3044952"/>
            <a:ext cx="224028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Context + lineage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Two challenges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Rendered QA</a:t>
            </a:r>
          </a:p>
          <a:p xmlns:a="http://schemas.openxmlformats.org/drawingml/2006/main"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Live telemetry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63E08C4-379A-4AD5-96C6-32CD13E6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984" y="3081528"/>
            <a:ext cx="2267712" cy="1219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>
                <a:solidFill>
                  <a:srgbClr val="17232D"/>
                </a:solidFill>
                <a:latin typeface="Aptos"/>
                <a:ea typeface="Aptos"/>
                <a:cs typeface="Aptos"/>
              </a:rPr>
              <a:t>Claims and artifacts carry records, receipts, and gates.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F16ED00-9ED9-4827-999E-2CBE0EF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4919472"/>
            <a:ext cx="7717536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B5994E0-7906-4BEB-9BD7-7D1392F0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5138928"/>
            <a:ext cx="722376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SAME PARALLEL SPEED → BETTER AIRPORT FIT → STRONGER CHALLENGE → VERIFIED RELEASE</a:t>
            </a:r>
          </a:p>
        </p:txBody>
      </p:sp>
    </p:spTree>
    <p:extLst>
      <p:ext uri="{BB962C8B-B14F-4D97-AF65-F5344CB8AC3E}">
        <p14:creationId xmlns:p14="http://schemas.microsoft.com/office/powerpoint/2010/main" val="152945048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12-title">
            <a:extLst xmlns:a="http://schemas.openxmlformats.org/drawingml/2006/main">
              <a:ext uri="{FF2B5EF4-FFF2-40B4-BE49-F238E27FC236}">
                <a16:creationId xmlns:a16="http://schemas.microsoft.com/office/drawing/2014/main" id="{5F01543D-ABC1-42E6-8275-9561118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"/>
            <a:ext cx="11018520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1" i="0">
                <a:solidFill>
                  <a:srgbClr val="17232D"/>
                </a:solidFill>
                <a:latin typeface="Georgia"/>
                <a:ea typeface="Georgia"/>
                <a:cs typeface="Georgia"/>
              </a:rPr>
              <a:t>Release requires provenance and rendered QA</a:t>
            </a:r>
          </a:p>
        </p:txBody>
      </p:sp>
      <p:sp>
        <p:nvSpPr>
          <p:cNvPr id="3" name="Connector 2">
            <a:extLst xmlns:a="http://schemas.openxmlformats.org/drawingml/2006/main">
              <a:ext uri="{FF2B5EF4-FFF2-40B4-BE49-F238E27FC236}">
                <a16:creationId xmlns:a16="http://schemas.microsoft.com/office/drawing/2014/main" id="{373FCC60-62C7-4103-95CC-D187CF5A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60704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Connector 3">
            <a:extLst xmlns:a="http://schemas.openxmlformats.org/drawingml/2006/main">
              <a:ext uri="{FF2B5EF4-FFF2-40B4-BE49-F238E27FC236}">
                <a16:creationId xmlns:a16="http://schemas.microsoft.com/office/drawing/2014/main" id="{CB0CFD0E-8FA8-4517-931F-F20E5CB8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27648"/>
            <a:ext cx="11183112" cy="0"/>
          </a:xfrm>
          <a:prstGeom xmlns:a="http://schemas.openxmlformats.org/drawingml/2006/main" prst="line">
            <a:avLst/>
          </a:prstGeom>
          <a:ln xmlns:a="http://schemas.openxmlformats.org/drawingml/2006/main" w="6985">
            <a:solidFill>
              <a:srgbClr val="41566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slide-12-source">
            <a:extLst xmlns:a="http://schemas.openxmlformats.org/drawingml/2006/main">
              <a:ext uri="{FF2B5EF4-FFF2-40B4-BE49-F238E27FC236}">
                <a16:creationId xmlns:a16="http://schemas.microsoft.com/office/drawing/2014/main" id="{53656867-C9F8-4AEB-994C-03DCC295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9944"/>
            <a:ext cx="10469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Source: Art direction, Office QA, manifest, archive, and publishing contracts · 23 Jul 2026</a:t>
            </a:r>
          </a:p>
        </p:txBody>
      </p:sp>
      <p:sp>
        <p:nvSpPr>
          <p:cNvPr id="6" name="slide-12-number">
            <a:extLst xmlns:a="http://schemas.openxmlformats.org/drawingml/2006/main">
              <a:ext uri="{FF2B5EF4-FFF2-40B4-BE49-F238E27FC236}">
                <a16:creationId xmlns:a16="http://schemas.microsoft.com/office/drawing/2014/main" id="{AFD0DCCE-B179-4AFB-92AE-30218CDA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00800"/>
            <a:ext cx="475488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19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B7B7A62-9775-4DF8-AFB5-4288C72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10972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Art Director sets the visual contract before Word or PowerPoint begins.</a:t>
            </a:r>
          </a:p>
        </p:txBody>
      </p:sp>
      <p:sp>
        <p:nvSpPr>
          <p:cNvPr id="8" name="Right Arrow 7">
            <a:extLst xmlns:a="http://schemas.openxmlformats.org/drawingml/2006/main">
              <a:ext uri="{FF2B5EF4-FFF2-40B4-BE49-F238E27FC236}">
                <a16:creationId xmlns:a16="http://schemas.microsoft.com/office/drawing/2014/main" id="{F33762D0-3D96-437F-A512-A1BC9505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953512"/>
            <a:ext cx="384048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ight Arrow 8">
            <a:extLst xmlns:a="http://schemas.openxmlformats.org/drawingml/2006/main">
              <a:ext uri="{FF2B5EF4-FFF2-40B4-BE49-F238E27FC236}">
                <a16:creationId xmlns:a16="http://schemas.microsoft.com/office/drawing/2014/main" id="{2060CC08-84F8-4CDA-B7B5-8A2001EC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53512"/>
            <a:ext cx="384048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ight Arrow 9">
            <a:extLst xmlns:a="http://schemas.openxmlformats.org/drawingml/2006/main">
              <a:ext uri="{FF2B5EF4-FFF2-40B4-BE49-F238E27FC236}">
                <a16:creationId xmlns:a16="http://schemas.microsoft.com/office/drawing/2014/main" id="{45E29C41-9BC0-4790-987F-8D9B2C10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7728" y="2953512"/>
            <a:ext cx="384048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ight Arrow 10">
            <a:extLst xmlns:a="http://schemas.openxmlformats.org/drawingml/2006/main">
              <a:ext uri="{FF2B5EF4-FFF2-40B4-BE49-F238E27FC236}">
                <a16:creationId xmlns:a16="http://schemas.microsoft.com/office/drawing/2014/main" id="{08722C17-EB52-4665-879F-4FA44DA4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6" y="2953512"/>
            <a:ext cx="384048" cy="146304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E84A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35AFD32-D389-454E-BE7E-B962BDC5B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40280"/>
            <a:ext cx="1764792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590">
            <a:solidFill>
              <a:srgbClr val="0B2D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D349B9-1F13-443A-835B-189552AB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578608"/>
            <a:ext cx="15453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ART DIRECT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5D679EC-68AA-4D93-A405-449A69C5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15453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visual contract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CAA46DB-8B55-4509-AFB9-47A7CC37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240280"/>
            <a:ext cx="1764792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590">
            <a:solidFill>
              <a:srgbClr val="2E84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C5AE976-2A1E-49D3-BE86-FDA4FD08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2578608"/>
            <a:ext cx="15453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E84A5"/>
                </a:solidFill>
                <a:latin typeface="Aptos"/>
                <a:ea typeface="Aptos"/>
                <a:cs typeface="Aptos"/>
              </a:rPr>
              <a:t>WORD + PPT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2A5B2FB-9AB1-4CA2-8FF3-57EAD0FF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368" y="3090672"/>
            <a:ext cx="15453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build + reopen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AE36F54-109D-4DFF-8AAB-DC9856E3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928" y="2240280"/>
            <a:ext cx="1764792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590">
            <a:solidFill>
              <a:srgbClr val="4156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DC93C89-C082-4F6D-9588-FD324F00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2578608"/>
            <a:ext cx="15453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STRUCTURE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813C9B4-7DF2-4A7A-BCEE-6BA699DE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3090672"/>
            <a:ext cx="15453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package checks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01DD5AF1-FC1E-425A-A086-ACCB6706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3216" y="2240280"/>
            <a:ext cx="1764792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590">
            <a:solidFill>
              <a:srgbClr val="24745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B7149D6-50C1-4DB0-976B-86F6B77D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2578608"/>
            <a:ext cx="1545336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24745C"/>
                </a:solidFill>
                <a:latin typeface="Aptos"/>
                <a:ea typeface="Aptos"/>
                <a:cs typeface="Aptos"/>
              </a:rPr>
              <a:t>RENDER + REVIEW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0FDC89E-98D6-451F-85F0-48C9F375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3090672"/>
            <a:ext cx="154533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full-size + montage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208243C-4E71-4B51-9C75-B3583624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504" y="2240280"/>
            <a:ext cx="1865376" cy="15727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1590">
            <a:solidFill>
              <a:srgbClr val="A6413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E0A34C7-DAFA-4393-BCCF-648EBF26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2578608"/>
            <a:ext cx="16459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A6413A"/>
                </a:solidFill>
                <a:latin typeface="Aptos"/>
                <a:ea typeface="Aptos"/>
                <a:cs typeface="Aptos"/>
              </a:rPr>
              <a:t>RELEASE GATE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ECEECAC-0F71-482F-AA35-DEB5AE3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7232" y="3090672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only after pass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6CEA18E7-AFA6-45DF-8879-D78C58CD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270248"/>
            <a:ext cx="502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PROVENANCE THAT TRAVELS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6B8117E9-3889-469A-8B1C-C59B626D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901184"/>
            <a:ext cx="393192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B2D4D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86B4414-D03A-40DA-BBF3-E65AB8E0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047488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RUN MANIFEST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0C768A2E-35D4-43F2-BD88-CDFB744B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404104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ran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FDE889A1-82D8-4C93-A641-59DB814E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4901184"/>
            <a:ext cx="393192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2E84A5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7644479-2BF8-4388-B3FE-52C08C49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047488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EVIDENCE LEDGER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A385B86-A740-425D-9067-CB31225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5404104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supports it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64AD2E95-24F9-4BDA-B1BE-1122A3E3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4901184"/>
            <a:ext cx="39319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24745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46766AD1-B60A-4B17-A713-86DBCDDB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047488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CLAIM LINEAGE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0365FEDC-70C6-4998-96A9-D4A42631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768" y="5404104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reached the reader</a:t>
            </a:r>
          </a:p>
        </p:txBody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EBC4D57A-9185-4A15-9D40-E0F07BE3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4901184"/>
            <a:ext cx="39319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A6413A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E73E630-7579-42BC-A717-243ADE1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047488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 i="0">
                <a:solidFill>
                  <a:srgbClr val="0B2D4D"/>
                </a:solidFill>
                <a:latin typeface="Aptos"/>
                <a:ea typeface="Aptos"/>
                <a:cs typeface="Aptos"/>
              </a:rPr>
              <a:t>INSPECTION RECEIPT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5C97465-5657-4EA0-B076-C6A4F85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1976" y="5404104"/>
            <a:ext cx="2523744" cy="2834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 i="0">
                <a:solidFill>
                  <a:srgbClr val="415669"/>
                </a:solidFill>
                <a:latin typeface="Aptos"/>
                <a:ea typeface="Aptos"/>
                <a:cs typeface="Aptos"/>
              </a:rPr>
              <a:t>what was seen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AA67D0C3-FEEC-46E3-ABD6-A6C3661A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5724144"/>
            <a:ext cx="480060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2D4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DAB7219-FDDA-4C4A-8F95-4692FBBC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304" y="5824728"/>
            <a:ext cx="4379976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 THE RECORD, NOT THE PROSE</a:t>
            </a:r>
          </a:p>
        </p:txBody>
      </p:sp>
    </p:spTree>
    <p:extLst>
      <p:ext uri="{BB962C8B-B14F-4D97-AF65-F5344CB8AC3E}">
        <p14:creationId xmlns:p14="http://schemas.microsoft.com/office/powerpoint/2010/main" val="2056383657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2026-07-23T20:51:37.0430000Z</dcterms:created>
  <dcterms:modified xsi:type="dcterms:W3CDTF">2026-07-23T20:51:37.0430000Z</dcterms:modified>
</coreProperties>
</file>